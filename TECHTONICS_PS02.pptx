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Poppins Bold" charset="1" panose="00000800000000000000"/>
      <p:regular r:id="rId18"/>
    </p:embeddedFont>
    <p:embeddedFont>
      <p:font typeface="Poppins" charset="1" panose="00000500000000000000"/>
      <p:regular r:id="rId19"/>
    </p:embeddedFont>
    <p:embeddedFont>
      <p:font typeface="Canva Sans" charset="1" panose="020B0503030501040103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jpe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jpeg" Type="http://schemas.openxmlformats.org/officeDocument/2006/relationships/image"/><Relationship Id="rId6" Target="../media/image9.png" Type="http://schemas.openxmlformats.org/officeDocument/2006/relationships/image"/><Relationship Id="rId7" Target="../media/image8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10.jpeg" Type="http://schemas.openxmlformats.org/officeDocument/2006/relationships/image"/><Relationship Id="rId6" Target="../media/image4.jpeg" Type="http://schemas.openxmlformats.org/officeDocument/2006/relationships/image"/><Relationship Id="rId7" Target="../media/image9.png" Type="http://schemas.openxmlformats.org/officeDocument/2006/relationships/image"/><Relationship Id="rId8" Target="../media/image8.png" Type="http://schemas.openxmlformats.org/officeDocument/2006/relationships/image"/><Relationship Id="rId9" Target="../media/image11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jpeg" Type="http://schemas.openxmlformats.org/officeDocument/2006/relationships/image"/><Relationship Id="rId6" Target="../media/image9.png" Type="http://schemas.openxmlformats.org/officeDocument/2006/relationships/image"/><Relationship Id="rId7" Target="../media/image8.png" Type="http://schemas.openxmlformats.org/officeDocument/2006/relationships/image"/><Relationship Id="rId8" Target="../media/image12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https://doi.org/10.1088/0950-7671/37/7/307" TargetMode="External" Type="http://schemas.openxmlformats.org/officeDocument/2006/relationships/hyperlink"/><Relationship Id="rId11" Target="https://doi.org/10.1002/sca.21042" TargetMode="External" Type="http://schemas.openxmlformats.org/officeDocument/2006/relationships/hyperlink"/><Relationship Id="rId12" Target="https://doi.org/10.1002/sca.21042" TargetMode="External" Type="http://schemas.openxmlformats.org/officeDocument/2006/relationships/hyperlink"/><Relationship Id="rId13" Target="https://doi.org/10.1063/1.369239" TargetMode="External" Type="http://schemas.openxmlformats.org/officeDocument/2006/relationships/hyperlink"/><Relationship Id="rId14" Target="../media/image13.png" Type="http://schemas.openxmlformats.org/officeDocument/2006/relationships/image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10.jpeg" Type="http://schemas.openxmlformats.org/officeDocument/2006/relationships/image"/><Relationship Id="rId6" Target="../media/image4.jpeg" Type="http://schemas.openxmlformats.org/officeDocument/2006/relationships/image"/><Relationship Id="rId7" Target="../media/image9.png" Type="http://schemas.openxmlformats.org/officeDocument/2006/relationships/image"/><Relationship Id="rId8" Target="../media/image8.png" Type="http://schemas.openxmlformats.org/officeDocument/2006/relationships/image"/><Relationship Id="rId9" Target="https://link.springer.com/book/10.1007/978-1-4939-6676-9" TargetMode="External" Type="http://schemas.openxmlformats.org/officeDocument/2006/relationships/hyperlink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10.jpeg" Type="http://schemas.openxmlformats.org/officeDocument/2006/relationships/image"/><Relationship Id="rId6" Target="../media/image4.jpeg" Type="http://schemas.openxmlformats.org/officeDocument/2006/relationships/image"/><Relationship Id="rId7" Target="../media/image9.png" Type="http://schemas.openxmlformats.org/officeDocument/2006/relationships/image"/><Relationship Id="rId8" Target="../media/image8.png" Type="http://schemas.openxmlformats.org/officeDocument/2006/relationships/image"/><Relationship Id="rId9" Target="../media/image14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10.jpeg" Type="http://schemas.openxmlformats.org/officeDocument/2006/relationships/image"/><Relationship Id="rId6" Target="../media/image4.jpeg" Type="http://schemas.openxmlformats.org/officeDocument/2006/relationships/image"/><Relationship Id="rId7" Target="../media/image9.png" Type="http://schemas.openxmlformats.org/officeDocument/2006/relationships/image"/><Relationship Id="rId8" Target="../media/image8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10.jpeg" Type="http://schemas.openxmlformats.org/officeDocument/2006/relationships/image"/><Relationship Id="rId6" Target="../media/image4.jpeg" Type="http://schemas.openxmlformats.org/officeDocument/2006/relationships/image"/><Relationship Id="rId7" Target="../media/image9.png" Type="http://schemas.openxmlformats.org/officeDocument/2006/relationships/image"/><Relationship Id="rId8" Target="../media/image8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10.jpeg" Type="http://schemas.openxmlformats.org/officeDocument/2006/relationships/image"/><Relationship Id="rId6" Target="../media/image4.jpeg" Type="http://schemas.openxmlformats.org/officeDocument/2006/relationships/image"/><Relationship Id="rId7" Target="../media/image9.png" Type="http://schemas.openxmlformats.org/officeDocument/2006/relationships/image"/><Relationship Id="rId8" Target="../media/image8.png" Type="http://schemas.openxmlformats.org/officeDocument/2006/relationships/image"/><Relationship Id="rId9" Target="../media/image15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10.jpeg" Type="http://schemas.openxmlformats.org/officeDocument/2006/relationships/image"/><Relationship Id="rId6" Target="../media/image4.jpeg" Type="http://schemas.openxmlformats.org/officeDocument/2006/relationships/image"/><Relationship Id="rId7" Target="../media/image9.png" Type="http://schemas.openxmlformats.org/officeDocument/2006/relationships/image"/><Relationship Id="rId8" Target="../media/image8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10.jpeg" Type="http://schemas.openxmlformats.org/officeDocument/2006/relationships/image"/><Relationship Id="rId6" Target="../media/image4.jpeg" Type="http://schemas.openxmlformats.org/officeDocument/2006/relationships/image"/><Relationship Id="rId7" Target="../media/image9.png" Type="http://schemas.openxmlformats.org/officeDocument/2006/relationships/image"/><Relationship Id="rId8" Target="../media/image8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7.png" Type="http://schemas.openxmlformats.org/officeDocument/2006/relationships/image"/><Relationship Id="rId11" Target="../media/image18.png" Type="http://schemas.openxmlformats.org/officeDocument/2006/relationships/image"/><Relationship Id="rId12" Target="https://github.com/DK-A/Techtonics_Drift-Sense_Wafer_Inspection_PS2" TargetMode="External" Type="http://schemas.openxmlformats.org/officeDocument/2006/relationships/hyperlink"/><Relationship Id="rId13" Target="https://drive.google.com/file/d/1sxvBWdj1c7RfX7oeG66R8FJaaMt8o1iI/view?usp=sharing" TargetMode="External" Type="http://schemas.openxmlformats.org/officeDocument/2006/relationships/hyperlink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10.jpeg" Type="http://schemas.openxmlformats.org/officeDocument/2006/relationships/image"/><Relationship Id="rId6" Target="../media/image4.jpeg" Type="http://schemas.openxmlformats.org/officeDocument/2006/relationships/image"/><Relationship Id="rId7" Target="../media/image9.png" Type="http://schemas.openxmlformats.org/officeDocument/2006/relationships/image"/><Relationship Id="rId8" Target="../media/image8.png" Type="http://schemas.openxmlformats.org/officeDocument/2006/relationships/image"/><Relationship Id="rId9" Target="../media/image16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7543" cy="10287000"/>
            <a:chOff x="0" y="0"/>
            <a:chExt cx="2438339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336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00036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7543" cy="10287000"/>
            <a:chOff x="0" y="0"/>
            <a:chExt cx="24383390" cy="13716000"/>
          </a:xfrm>
        </p:grpSpPr>
        <p:sp>
          <p:nvSpPr>
            <p:cNvPr name="Freeform 5" id="5" descr="preencoded.png"/>
            <p:cNvSpPr/>
            <p:nvPr/>
          </p:nvSpPr>
          <p:spPr>
            <a:xfrm flipH="false" flipV="false" rot="0">
              <a:off x="0" y="0"/>
              <a:ext cx="2438336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5000"/>
              </a:blip>
              <a:stretch>
                <a:fillRect l="-16360" t="0" r="-16361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857250" y="429311"/>
            <a:ext cx="16573043" cy="999896"/>
            <a:chOff x="0" y="0"/>
            <a:chExt cx="22097390" cy="133319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2097364" cy="1333246"/>
            </a:xfrm>
            <a:custGeom>
              <a:avLst/>
              <a:gdLst/>
              <a:ahLst/>
              <a:cxnLst/>
              <a:rect r="r" b="b" t="t" l="l"/>
              <a:pathLst>
                <a:path h="1333246" w="22097364">
                  <a:moveTo>
                    <a:pt x="0" y="209042"/>
                  </a:moveTo>
                  <a:cubicBezTo>
                    <a:pt x="0" y="93599"/>
                    <a:pt x="93599" y="0"/>
                    <a:pt x="209042" y="0"/>
                  </a:cubicBezTo>
                  <a:lnTo>
                    <a:pt x="21888323" y="0"/>
                  </a:lnTo>
                  <a:cubicBezTo>
                    <a:pt x="22003765" y="0"/>
                    <a:pt x="22097364" y="93599"/>
                    <a:pt x="22097364" y="209042"/>
                  </a:cubicBezTo>
                  <a:lnTo>
                    <a:pt x="22097364" y="1124204"/>
                  </a:lnTo>
                  <a:cubicBezTo>
                    <a:pt x="22097364" y="1239647"/>
                    <a:pt x="22003765" y="1333246"/>
                    <a:pt x="21888323" y="1333246"/>
                  </a:cubicBezTo>
                  <a:lnTo>
                    <a:pt x="209042" y="1333246"/>
                  </a:lnTo>
                  <a:cubicBezTo>
                    <a:pt x="93599" y="1333246"/>
                    <a:pt x="0" y="1239647"/>
                    <a:pt x="0" y="1124204"/>
                  </a:cubicBez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6287750" y="571957"/>
            <a:ext cx="714604" cy="714604"/>
            <a:chOff x="0" y="0"/>
            <a:chExt cx="952805" cy="952805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952754" cy="952754"/>
            </a:xfrm>
            <a:custGeom>
              <a:avLst/>
              <a:gdLst/>
              <a:ahLst/>
              <a:cxnLst/>
              <a:rect r="r" b="b" t="t" l="l"/>
              <a:pathLst>
                <a:path h="952754" w="952754">
                  <a:moveTo>
                    <a:pt x="0" y="0"/>
                  </a:moveTo>
                  <a:lnTo>
                    <a:pt x="952754" y="0"/>
                  </a:lnTo>
                  <a:lnTo>
                    <a:pt x="952754" y="952754"/>
                  </a:lnTo>
                  <a:lnTo>
                    <a:pt x="0" y="9527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5" b="-5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137533" y="571957"/>
            <a:ext cx="8618220" cy="701040"/>
            <a:chOff x="0" y="0"/>
            <a:chExt cx="11490960" cy="93472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1490960" cy="934720"/>
            </a:xfrm>
            <a:custGeom>
              <a:avLst/>
              <a:gdLst/>
              <a:ahLst/>
              <a:cxnLst/>
              <a:rect r="r" b="b" t="t" l="l"/>
              <a:pathLst>
                <a:path h="934720" w="11490960">
                  <a:moveTo>
                    <a:pt x="0" y="0"/>
                  </a:moveTo>
                  <a:lnTo>
                    <a:pt x="11490960" y="0"/>
                  </a:lnTo>
                  <a:lnTo>
                    <a:pt x="11490960" y="934720"/>
                  </a:lnTo>
                  <a:lnTo>
                    <a:pt x="0" y="9347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1" t="0" r="-11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0" y="0"/>
            <a:ext cx="18287543" cy="10287000"/>
            <a:chOff x="0" y="0"/>
            <a:chExt cx="24383390" cy="13716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438336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00036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0" y="0"/>
            <a:ext cx="18287543" cy="10287000"/>
            <a:chOff x="0" y="0"/>
            <a:chExt cx="24383390" cy="13716000"/>
          </a:xfrm>
        </p:grpSpPr>
        <p:sp>
          <p:nvSpPr>
            <p:cNvPr name="Freeform 15" id="15" descr="preencoded.png"/>
            <p:cNvSpPr/>
            <p:nvPr/>
          </p:nvSpPr>
          <p:spPr>
            <a:xfrm flipH="false" flipV="false" rot="0">
              <a:off x="0" y="0"/>
              <a:ext cx="2438336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5000"/>
              </a:blip>
              <a:stretch>
                <a:fillRect l="-16360" t="0" r="-16361" b="0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857250" y="1829714"/>
            <a:ext cx="71323" cy="414223"/>
            <a:chOff x="0" y="0"/>
            <a:chExt cx="95098" cy="55229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95123" cy="552323"/>
            </a:xfrm>
            <a:custGeom>
              <a:avLst/>
              <a:gdLst/>
              <a:ahLst/>
              <a:cxnLst/>
              <a:rect r="r" b="b" t="t" l="l"/>
              <a:pathLst>
                <a:path h="552323" w="95123">
                  <a:moveTo>
                    <a:pt x="0" y="0"/>
                  </a:moveTo>
                  <a:lnTo>
                    <a:pt x="95123" y="0"/>
                  </a:lnTo>
                  <a:lnTo>
                    <a:pt x="95123" y="552323"/>
                  </a:lnTo>
                  <a:lnTo>
                    <a:pt x="0" y="552323"/>
                  </a:lnTo>
                  <a:close/>
                </a:path>
              </a:pathLst>
            </a:custGeom>
            <a:solidFill>
              <a:srgbClr val="88E555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3627781" y="1746123"/>
            <a:ext cx="3813408" cy="583043"/>
            <a:chOff x="0" y="0"/>
            <a:chExt cx="4902810" cy="749605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4902835" cy="749554"/>
            </a:xfrm>
            <a:custGeom>
              <a:avLst/>
              <a:gdLst/>
              <a:ahLst/>
              <a:cxnLst/>
              <a:rect r="r" b="b" t="t" l="l"/>
              <a:pathLst>
                <a:path h="749554" w="4902835">
                  <a:moveTo>
                    <a:pt x="0" y="199263"/>
                  </a:moveTo>
                  <a:cubicBezTo>
                    <a:pt x="0" y="89154"/>
                    <a:pt x="89154" y="0"/>
                    <a:pt x="199263" y="0"/>
                  </a:cubicBezTo>
                  <a:lnTo>
                    <a:pt x="4703572" y="0"/>
                  </a:lnTo>
                  <a:cubicBezTo>
                    <a:pt x="4813681" y="0"/>
                    <a:pt x="4902835" y="89154"/>
                    <a:pt x="4902835" y="199263"/>
                  </a:cubicBezTo>
                  <a:lnTo>
                    <a:pt x="4902835" y="550291"/>
                  </a:lnTo>
                  <a:cubicBezTo>
                    <a:pt x="4902835" y="660400"/>
                    <a:pt x="4813681" y="749554"/>
                    <a:pt x="4703572" y="749554"/>
                  </a:cubicBezTo>
                  <a:lnTo>
                    <a:pt x="199263" y="749554"/>
                  </a:lnTo>
                  <a:cubicBezTo>
                    <a:pt x="89154" y="749554"/>
                    <a:pt x="0" y="660400"/>
                    <a:pt x="0" y="550291"/>
                  </a:cubicBezTo>
                  <a:close/>
                </a:path>
              </a:pathLst>
            </a:custGeom>
            <a:solidFill>
              <a:srgbClr val="FFFFFF">
                <a:alpha val="784"/>
              </a:srgbClr>
            </a:solidFill>
            <a:ln w="19050" cap="sq">
              <a:solidFill>
                <a:srgbClr val="34D399"/>
              </a:solidFill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847725" y="2559482"/>
            <a:ext cx="16592093" cy="3276600"/>
            <a:chOff x="0" y="0"/>
            <a:chExt cx="22122790" cy="4368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2122764" cy="4368800"/>
            </a:xfrm>
            <a:custGeom>
              <a:avLst/>
              <a:gdLst/>
              <a:ahLst/>
              <a:cxnLst/>
              <a:rect r="r" b="b" t="t" l="l"/>
              <a:pathLst>
                <a:path h="4368800" w="22122764">
                  <a:moveTo>
                    <a:pt x="0" y="96774"/>
                  </a:moveTo>
                  <a:cubicBezTo>
                    <a:pt x="0" y="43307"/>
                    <a:pt x="43307" y="0"/>
                    <a:pt x="96774" y="0"/>
                  </a:cubicBezTo>
                  <a:lnTo>
                    <a:pt x="22025990" y="0"/>
                  </a:lnTo>
                  <a:cubicBezTo>
                    <a:pt x="22079457" y="0"/>
                    <a:pt x="22122764" y="43307"/>
                    <a:pt x="22122764" y="96774"/>
                  </a:cubicBezTo>
                  <a:lnTo>
                    <a:pt x="22122764" y="4272026"/>
                  </a:lnTo>
                  <a:cubicBezTo>
                    <a:pt x="22122764" y="4325493"/>
                    <a:pt x="22079457" y="4368800"/>
                    <a:pt x="22025990" y="4368800"/>
                  </a:cubicBezTo>
                  <a:lnTo>
                    <a:pt x="96774" y="4368800"/>
                  </a:lnTo>
                  <a:cubicBezTo>
                    <a:pt x="43307" y="4368800"/>
                    <a:pt x="0" y="4325493"/>
                    <a:pt x="0" y="4272026"/>
                  </a:cubicBezTo>
                  <a:close/>
                </a:path>
              </a:pathLst>
            </a:custGeom>
            <a:solidFill>
              <a:srgbClr val="273383">
                <a:alpha val="8627"/>
              </a:srgbClr>
            </a:solidFill>
            <a:ln w="19050" cap="sq">
              <a:solidFill>
                <a:srgbClr val="88E555"/>
              </a:solidFill>
              <a:prstDash val="solid"/>
              <a:miter/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870966" y="2582723"/>
            <a:ext cx="1656893" cy="656996"/>
            <a:chOff x="0" y="0"/>
            <a:chExt cx="2209190" cy="875995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209165" cy="876046"/>
            </a:xfrm>
            <a:custGeom>
              <a:avLst/>
              <a:gdLst/>
              <a:ahLst/>
              <a:cxnLst/>
              <a:rect r="r" b="b" t="t" l="l"/>
              <a:pathLst>
                <a:path h="876046" w="2209165">
                  <a:moveTo>
                    <a:pt x="0" y="0"/>
                  </a:moveTo>
                  <a:lnTo>
                    <a:pt x="2209165" y="0"/>
                  </a:lnTo>
                  <a:lnTo>
                    <a:pt x="2209165" y="876046"/>
                  </a:lnTo>
                  <a:lnTo>
                    <a:pt x="0" y="876046"/>
                  </a:lnTo>
                  <a:close/>
                </a:path>
              </a:pathLst>
            </a:custGeom>
            <a:solidFill>
              <a:srgbClr val="273383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2526487" y="2582723"/>
            <a:ext cx="3315157" cy="656996"/>
            <a:chOff x="0" y="0"/>
            <a:chExt cx="4420210" cy="875995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4420235" cy="876046"/>
            </a:xfrm>
            <a:custGeom>
              <a:avLst/>
              <a:gdLst/>
              <a:ahLst/>
              <a:cxnLst/>
              <a:rect r="r" b="b" t="t" l="l"/>
              <a:pathLst>
                <a:path h="876046" w="4420235">
                  <a:moveTo>
                    <a:pt x="0" y="0"/>
                  </a:moveTo>
                  <a:lnTo>
                    <a:pt x="4420235" y="0"/>
                  </a:lnTo>
                  <a:lnTo>
                    <a:pt x="4420235" y="876046"/>
                  </a:lnTo>
                  <a:lnTo>
                    <a:pt x="0" y="876046"/>
                  </a:lnTo>
                  <a:close/>
                </a:path>
              </a:pathLst>
            </a:custGeom>
            <a:solidFill>
              <a:srgbClr val="273383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5834786" y="2582723"/>
            <a:ext cx="6628943" cy="656996"/>
            <a:chOff x="0" y="0"/>
            <a:chExt cx="8838590" cy="875995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838565" cy="876046"/>
            </a:xfrm>
            <a:custGeom>
              <a:avLst/>
              <a:gdLst/>
              <a:ahLst/>
              <a:cxnLst/>
              <a:rect r="r" b="b" t="t" l="l"/>
              <a:pathLst>
                <a:path h="876046" w="8838565">
                  <a:moveTo>
                    <a:pt x="0" y="0"/>
                  </a:moveTo>
                  <a:lnTo>
                    <a:pt x="8838565" y="0"/>
                  </a:lnTo>
                  <a:lnTo>
                    <a:pt x="8838565" y="876046"/>
                  </a:lnTo>
                  <a:lnTo>
                    <a:pt x="0" y="876046"/>
                  </a:lnTo>
                  <a:close/>
                </a:path>
              </a:pathLst>
            </a:custGeom>
            <a:solidFill>
              <a:srgbClr val="273383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12452756" y="2582723"/>
            <a:ext cx="4972050" cy="656996"/>
            <a:chOff x="0" y="0"/>
            <a:chExt cx="6629400" cy="875995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6629400" cy="876046"/>
            </a:xfrm>
            <a:custGeom>
              <a:avLst/>
              <a:gdLst/>
              <a:ahLst/>
              <a:cxnLst/>
              <a:rect r="r" b="b" t="t" l="l"/>
              <a:pathLst>
                <a:path h="876046" w="6629400">
                  <a:moveTo>
                    <a:pt x="0" y="0"/>
                  </a:moveTo>
                  <a:lnTo>
                    <a:pt x="6629400" y="0"/>
                  </a:lnTo>
                  <a:lnTo>
                    <a:pt x="6629400" y="876046"/>
                  </a:lnTo>
                  <a:lnTo>
                    <a:pt x="0" y="876046"/>
                  </a:lnTo>
                  <a:close/>
                </a:path>
              </a:pathLst>
            </a:custGeom>
            <a:solidFill>
              <a:srgbClr val="273383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870966" y="3906317"/>
            <a:ext cx="1656893" cy="13716"/>
            <a:chOff x="0" y="0"/>
            <a:chExt cx="2209190" cy="18288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2209165" cy="18288"/>
            </a:xfrm>
            <a:custGeom>
              <a:avLst/>
              <a:gdLst/>
              <a:ahLst/>
              <a:cxnLst/>
              <a:rect r="r" b="b" t="t" l="l"/>
              <a:pathLst>
                <a:path h="18288" w="2209165">
                  <a:moveTo>
                    <a:pt x="0" y="0"/>
                  </a:moveTo>
                  <a:lnTo>
                    <a:pt x="2209165" y="0"/>
                  </a:lnTo>
                  <a:lnTo>
                    <a:pt x="2209165" y="18288"/>
                  </a:lnTo>
                  <a:lnTo>
                    <a:pt x="0" y="18288"/>
                  </a:lnTo>
                  <a:close/>
                </a:path>
              </a:pathLst>
            </a:custGeom>
            <a:solidFill>
              <a:srgbClr val="FFFFFF">
                <a:alpha val="784"/>
              </a:srgbClr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2526487" y="3906317"/>
            <a:ext cx="3315157" cy="13716"/>
            <a:chOff x="0" y="0"/>
            <a:chExt cx="4420210" cy="18288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4420235" cy="18288"/>
            </a:xfrm>
            <a:custGeom>
              <a:avLst/>
              <a:gdLst/>
              <a:ahLst/>
              <a:cxnLst/>
              <a:rect r="r" b="b" t="t" l="l"/>
              <a:pathLst>
                <a:path h="18288" w="4420235">
                  <a:moveTo>
                    <a:pt x="0" y="0"/>
                  </a:moveTo>
                  <a:lnTo>
                    <a:pt x="4420235" y="0"/>
                  </a:lnTo>
                  <a:lnTo>
                    <a:pt x="4420235" y="18288"/>
                  </a:lnTo>
                  <a:lnTo>
                    <a:pt x="0" y="18288"/>
                  </a:lnTo>
                  <a:close/>
                </a:path>
              </a:pathLst>
            </a:custGeom>
            <a:solidFill>
              <a:srgbClr val="FFFFFF">
                <a:alpha val="784"/>
              </a:srgbClr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5834786" y="3906317"/>
            <a:ext cx="6628943" cy="13716"/>
            <a:chOff x="0" y="0"/>
            <a:chExt cx="8838590" cy="18288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8838565" cy="18288"/>
            </a:xfrm>
            <a:custGeom>
              <a:avLst/>
              <a:gdLst/>
              <a:ahLst/>
              <a:cxnLst/>
              <a:rect r="r" b="b" t="t" l="l"/>
              <a:pathLst>
                <a:path h="18288" w="8838565">
                  <a:moveTo>
                    <a:pt x="0" y="0"/>
                  </a:moveTo>
                  <a:lnTo>
                    <a:pt x="8838565" y="0"/>
                  </a:lnTo>
                  <a:lnTo>
                    <a:pt x="8838565" y="18288"/>
                  </a:lnTo>
                  <a:lnTo>
                    <a:pt x="0" y="18288"/>
                  </a:lnTo>
                  <a:close/>
                </a:path>
              </a:pathLst>
            </a:custGeom>
            <a:solidFill>
              <a:srgbClr val="FFFFFF">
                <a:alpha val="784"/>
              </a:srgbClr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12452756" y="3906317"/>
            <a:ext cx="4972050" cy="13716"/>
            <a:chOff x="0" y="0"/>
            <a:chExt cx="6629400" cy="18288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6629400" cy="18288"/>
            </a:xfrm>
            <a:custGeom>
              <a:avLst/>
              <a:gdLst/>
              <a:ahLst/>
              <a:cxnLst/>
              <a:rect r="r" b="b" t="t" l="l"/>
              <a:pathLst>
                <a:path h="18288" w="6629400">
                  <a:moveTo>
                    <a:pt x="0" y="0"/>
                  </a:moveTo>
                  <a:lnTo>
                    <a:pt x="6629400" y="0"/>
                  </a:lnTo>
                  <a:lnTo>
                    <a:pt x="6629400" y="18288"/>
                  </a:lnTo>
                  <a:lnTo>
                    <a:pt x="0" y="18288"/>
                  </a:lnTo>
                  <a:close/>
                </a:path>
              </a:pathLst>
            </a:custGeom>
            <a:solidFill>
              <a:srgbClr val="FFFFFF">
                <a:alpha val="784"/>
              </a:srgbClr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870966" y="3910432"/>
            <a:ext cx="16545611" cy="685800"/>
            <a:chOff x="0" y="0"/>
            <a:chExt cx="22060814" cy="9144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22060788" cy="914400"/>
            </a:xfrm>
            <a:custGeom>
              <a:avLst/>
              <a:gdLst/>
              <a:ahLst/>
              <a:cxnLst/>
              <a:rect r="r" b="b" t="t" l="l"/>
              <a:pathLst>
                <a:path h="914400" w="22060788">
                  <a:moveTo>
                    <a:pt x="0" y="0"/>
                  </a:moveTo>
                  <a:lnTo>
                    <a:pt x="22060788" y="0"/>
                  </a:lnTo>
                  <a:lnTo>
                    <a:pt x="22060788" y="914400"/>
                  </a:lnTo>
                  <a:lnTo>
                    <a:pt x="0" y="914400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870966" y="4582516"/>
            <a:ext cx="1656893" cy="13716"/>
            <a:chOff x="0" y="0"/>
            <a:chExt cx="2209190" cy="18288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2209165" cy="18288"/>
            </a:xfrm>
            <a:custGeom>
              <a:avLst/>
              <a:gdLst/>
              <a:ahLst/>
              <a:cxnLst/>
              <a:rect r="r" b="b" t="t" l="l"/>
              <a:pathLst>
                <a:path h="18288" w="2209165">
                  <a:moveTo>
                    <a:pt x="0" y="0"/>
                  </a:moveTo>
                  <a:lnTo>
                    <a:pt x="2209165" y="0"/>
                  </a:lnTo>
                  <a:lnTo>
                    <a:pt x="2209165" y="18288"/>
                  </a:lnTo>
                  <a:lnTo>
                    <a:pt x="0" y="18288"/>
                  </a:lnTo>
                  <a:close/>
                </a:path>
              </a:pathLst>
            </a:custGeom>
            <a:solidFill>
              <a:srgbClr val="FFFFFF">
                <a:alpha val="784"/>
              </a:srgbClr>
            </a:solid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2526487" y="4582516"/>
            <a:ext cx="3315157" cy="13716"/>
            <a:chOff x="0" y="0"/>
            <a:chExt cx="4420210" cy="18288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4420235" cy="18288"/>
            </a:xfrm>
            <a:custGeom>
              <a:avLst/>
              <a:gdLst/>
              <a:ahLst/>
              <a:cxnLst/>
              <a:rect r="r" b="b" t="t" l="l"/>
              <a:pathLst>
                <a:path h="18288" w="4420235">
                  <a:moveTo>
                    <a:pt x="0" y="0"/>
                  </a:moveTo>
                  <a:lnTo>
                    <a:pt x="4420235" y="0"/>
                  </a:lnTo>
                  <a:lnTo>
                    <a:pt x="4420235" y="18288"/>
                  </a:lnTo>
                  <a:lnTo>
                    <a:pt x="0" y="18288"/>
                  </a:lnTo>
                  <a:close/>
                </a:path>
              </a:pathLst>
            </a:custGeom>
            <a:solidFill>
              <a:srgbClr val="FFFFFF">
                <a:alpha val="784"/>
              </a:srgbClr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5834786" y="4582516"/>
            <a:ext cx="6628943" cy="13716"/>
            <a:chOff x="0" y="0"/>
            <a:chExt cx="8838590" cy="18288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8838565" cy="18288"/>
            </a:xfrm>
            <a:custGeom>
              <a:avLst/>
              <a:gdLst/>
              <a:ahLst/>
              <a:cxnLst/>
              <a:rect r="r" b="b" t="t" l="l"/>
              <a:pathLst>
                <a:path h="18288" w="8838565">
                  <a:moveTo>
                    <a:pt x="0" y="0"/>
                  </a:moveTo>
                  <a:lnTo>
                    <a:pt x="8838565" y="0"/>
                  </a:lnTo>
                  <a:lnTo>
                    <a:pt x="8838565" y="18288"/>
                  </a:lnTo>
                  <a:lnTo>
                    <a:pt x="0" y="18288"/>
                  </a:lnTo>
                  <a:close/>
                </a:path>
              </a:pathLst>
            </a:custGeom>
            <a:solidFill>
              <a:srgbClr val="FFFFFF">
                <a:alpha val="784"/>
              </a:srgbClr>
            </a:solid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12452756" y="4582516"/>
            <a:ext cx="4972050" cy="13716"/>
            <a:chOff x="0" y="0"/>
            <a:chExt cx="6629400" cy="18288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6629400" cy="18288"/>
            </a:xfrm>
            <a:custGeom>
              <a:avLst/>
              <a:gdLst/>
              <a:ahLst/>
              <a:cxnLst/>
              <a:rect r="r" b="b" t="t" l="l"/>
              <a:pathLst>
                <a:path h="18288" w="6629400">
                  <a:moveTo>
                    <a:pt x="0" y="0"/>
                  </a:moveTo>
                  <a:lnTo>
                    <a:pt x="6629400" y="0"/>
                  </a:lnTo>
                  <a:lnTo>
                    <a:pt x="6629400" y="18288"/>
                  </a:lnTo>
                  <a:lnTo>
                    <a:pt x="0" y="18288"/>
                  </a:lnTo>
                  <a:close/>
                </a:path>
              </a:pathLst>
            </a:custGeom>
            <a:solidFill>
              <a:srgbClr val="FFFFFF">
                <a:alpha val="784"/>
              </a:srgbClr>
            </a:solid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870966" y="5265572"/>
            <a:ext cx="1656893" cy="13716"/>
            <a:chOff x="0" y="0"/>
            <a:chExt cx="2209190" cy="18288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2209165" cy="18288"/>
            </a:xfrm>
            <a:custGeom>
              <a:avLst/>
              <a:gdLst/>
              <a:ahLst/>
              <a:cxnLst/>
              <a:rect r="r" b="b" t="t" l="l"/>
              <a:pathLst>
                <a:path h="18288" w="2209165">
                  <a:moveTo>
                    <a:pt x="0" y="0"/>
                  </a:moveTo>
                  <a:lnTo>
                    <a:pt x="2209165" y="0"/>
                  </a:lnTo>
                  <a:lnTo>
                    <a:pt x="2209165" y="18288"/>
                  </a:lnTo>
                  <a:lnTo>
                    <a:pt x="0" y="18288"/>
                  </a:lnTo>
                  <a:close/>
                </a:path>
              </a:pathLst>
            </a:custGeom>
            <a:solidFill>
              <a:srgbClr val="FFFFFF">
                <a:alpha val="784"/>
              </a:srgbClr>
            </a:solid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2526487" y="5265572"/>
            <a:ext cx="3315157" cy="13716"/>
            <a:chOff x="0" y="0"/>
            <a:chExt cx="4420210" cy="18288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4420235" cy="18288"/>
            </a:xfrm>
            <a:custGeom>
              <a:avLst/>
              <a:gdLst/>
              <a:ahLst/>
              <a:cxnLst/>
              <a:rect r="r" b="b" t="t" l="l"/>
              <a:pathLst>
                <a:path h="18288" w="4420235">
                  <a:moveTo>
                    <a:pt x="0" y="0"/>
                  </a:moveTo>
                  <a:lnTo>
                    <a:pt x="4420235" y="0"/>
                  </a:lnTo>
                  <a:lnTo>
                    <a:pt x="4420235" y="18288"/>
                  </a:lnTo>
                  <a:lnTo>
                    <a:pt x="0" y="18288"/>
                  </a:lnTo>
                  <a:close/>
                </a:path>
              </a:pathLst>
            </a:custGeom>
            <a:solidFill>
              <a:srgbClr val="FFFFFF">
                <a:alpha val="784"/>
              </a:srgbClr>
            </a:solid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5834786" y="5265572"/>
            <a:ext cx="6628943" cy="13716"/>
            <a:chOff x="0" y="0"/>
            <a:chExt cx="8838590" cy="18288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8838565" cy="18288"/>
            </a:xfrm>
            <a:custGeom>
              <a:avLst/>
              <a:gdLst/>
              <a:ahLst/>
              <a:cxnLst/>
              <a:rect r="r" b="b" t="t" l="l"/>
              <a:pathLst>
                <a:path h="18288" w="8838565">
                  <a:moveTo>
                    <a:pt x="0" y="0"/>
                  </a:moveTo>
                  <a:lnTo>
                    <a:pt x="8838565" y="0"/>
                  </a:lnTo>
                  <a:lnTo>
                    <a:pt x="8838565" y="18288"/>
                  </a:lnTo>
                  <a:lnTo>
                    <a:pt x="0" y="18288"/>
                  </a:lnTo>
                  <a:close/>
                </a:path>
              </a:pathLst>
            </a:custGeom>
            <a:solidFill>
              <a:srgbClr val="FFFFFF">
                <a:alpha val="784"/>
              </a:srgbClr>
            </a:solidFill>
          </p:spPr>
        </p:sp>
      </p:grpSp>
      <p:grpSp>
        <p:nvGrpSpPr>
          <p:cNvPr name="Group 54" id="54"/>
          <p:cNvGrpSpPr/>
          <p:nvPr/>
        </p:nvGrpSpPr>
        <p:grpSpPr>
          <a:xfrm rot="0">
            <a:off x="12452756" y="5265572"/>
            <a:ext cx="4972050" cy="13716"/>
            <a:chOff x="0" y="0"/>
            <a:chExt cx="6629400" cy="18288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6629400" cy="18288"/>
            </a:xfrm>
            <a:custGeom>
              <a:avLst/>
              <a:gdLst/>
              <a:ahLst/>
              <a:cxnLst/>
              <a:rect r="r" b="b" t="t" l="l"/>
              <a:pathLst>
                <a:path h="18288" w="6629400">
                  <a:moveTo>
                    <a:pt x="0" y="0"/>
                  </a:moveTo>
                  <a:lnTo>
                    <a:pt x="6629400" y="0"/>
                  </a:lnTo>
                  <a:lnTo>
                    <a:pt x="6629400" y="18288"/>
                  </a:lnTo>
                  <a:lnTo>
                    <a:pt x="0" y="18288"/>
                  </a:lnTo>
                  <a:close/>
                </a:path>
              </a:pathLst>
            </a:custGeom>
            <a:solidFill>
              <a:srgbClr val="FFFFFF">
                <a:alpha val="784"/>
              </a:srgbClr>
            </a:solid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870966" y="5276545"/>
            <a:ext cx="16545611" cy="685800"/>
            <a:chOff x="0" y="0"/>
            <a:chExt cx="22060814" cy="91440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22060788" cy="914400"/>
            </a:xfrm>
            <a:custGeom>
              <a:avLst/>
              <a:gdLst/>
              <a:ahLst/>
              <a:cxnLst/>
              <a:rect r="r" b="b" t="t" l="l"/>
              <a:pathLst>
                <a:path h="914400" w="22060788">
                  <a:moveTo>
                    <a:pt x="0" y="0"/>
                  </a:moveTo>
                  <a:lnTo>
                    <a:pt x="22060788" y="0"/>
                  </a:lnTo>
                  <a:lnTo>
                    <a:pt x="22060788" y="914400"/>
                  </a:lnTo>
                  <a:lnTo>
                    <a:pt x="0" y="914400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847725" y="6805955"/>
            <a:ext cx="16592093" cy="3062630"/>
            <a:chOff x="0" y="0"/>
            <a:chExt cx="22122790" cy="4083507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22122766" cy="4083431"/>
            </a:xfrm>
            <a:custGeom>
              <a:avLst/>
              <a:gdLst/>
              <a:ahLst/>
              <a:cxnLst/>
              <a:rect r="r" b="b" t="t" l="l"/>
              <a:pathLst>
                <a:path h="4083431" w="22122766">
                  <a:moveTo>
                    <a:pt x="0" y="103632"/>
                  </a:moveTo>
                  <a:cubicBezTo>
                    <a:pt x="0" y="46482"/>
                    <a:pt x="46482" y="0"/>
                    <a:pt x="103632" y="0"/>
                  </a:cubicBezTo>
                  <a:lnTo>
                    <a:pt x="22019133" y="0"/>
                  </a:lnTo>
                  <a:cubicBezTo>
                    <a:pt x="22076411" y="0"/>
                    <a:pt x="22122766" y="46482"/>
                    <a:pt x="22122766" y="103632"/>
                  </a:cubicBezTo>
                  <a:lnTo>
                    <a:pt x="22122766" y="3979799"/>
                  </a:lnTo>
                  <a:cubicBezTo>
                    <a:pt x="22122766" y="4037076"/>
                    <a:pt x="22076283" y="4083431"/>
                    <a:pt x="22019133" y="4083431"/>
                  </a:cubicBezTo>
                  <a:lnTo>
                    <a:pt x="103632" y="4083431"/>
                  </a:lnTo>
                  <a:cubicBezTo>
                    <a:pt x="46355" y="4083431"/>
                    <a:pt x="0" y="4036949"/>
                    <a:pt x="0" y="3979799"/>
                  </a:cubicBezTo>
                  <a:close/>
                </a:path>
              </a:pathLst>
            </a:custGeom>
            <a:solidFill>
              <a:srgbClr val="FFFFFF">
                <a:alpha val="0"/>
              </a:srgbClr>
            </a:solidFill>
            <a:ln w="19050" cap="sq">
              <a:solidFill>
                <a:srgbClr val="1E3A8A"/>
              </a:solidFill>
              <a:prstDash val="solid"/>
              <a:miter/>
            </a:ln>
          </p:spPr>
        </p:sp>
      </p:grpSp>
      <p:grpSp>
        <p:nvGrpSpPr>
          <p:cNvPr name="Group 60" id="60"/>
          <p:cNvGrpSpPr/>
          <p:nvPr/>
        </p:nvGrpSpPr>
        <p:grpSpPr>
          <a:xfrm rot="0">
            <a:off x="1148105" y="7563079"/>
            <a:ext cx="15992704" cy="676046"/>
            <a:chOff x="0" y="0"/>
            <a:chExt cx="21323605" cy="901395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21323680" cy="901446"/>
            </a:xfrm>
            <a:custGeom>
              <a:avLst/>
              <a:gdLst/>
              <a:ahLst/>
              <a:cxnLst/>
              <a:rect r="r" b="b" t="t" l="l"/>
              <a:pathLst>
                <a:path h="901446" w="21323680">
                  <a:moveTo>
                    <a:pt x="0" y="245491"/>
                  </a:moveTo>
                  <a:cubicBezTo>
                    <a:pt x="0" y="109855"/>
                    <a:pt x="109855" y="0"/>
                    <a:pt x="245491" y="0"/>
                  </a:cubicBezTo>
                  <a:lnTo>
                    <a:pt x="21078189" y="0"/>
                  </a:lnTo>
                  <a:cubicBezTo>
                    <a:pt x="21213699" y="0"/>
                    <a:pt x="21323680" y="109855"/>
                    <a:pt x="21323680" y="245491"/>
                  </a:cubicBezTo>
                  <a:lnTo>
                    <a:pt x="21323680" y="655955"/>
                  </a:lnTo>
                  <a:cubicBezTo>
                    <a:pt x="21323680" y="791464"/>
                    <a:pt x="21213826" y="901446"/>
                    <a:pt x="21078189" y="901446"/>
                  </a:cubicBezTo>
                  <a:lnTo>
                    <a:pt x="245491" y="901446"/>
                  </a:lnTo>
                  <a:cubicBezTo>
                    <a:pt x="109855" y="901446"/>
                    <a:pt x="0" y="791464"/>
                    <a:pt x="0" y="655955"/>
                  </a:cubicBezTo>
                  <a:close/>
                </a:path>
              </a:pathLst>
            </a:custGeom>
            <a:solidFill>
              <a:srgbClr val="FFFFFF">
                <a:alpha val="784"/>
              </a:srgbClr>
            </a:solidFill>
            <a:ln w="19050" cap="sq">
              <a:solidFill>
                <a:srgbClr val="AEFF82"/>
              </a:solidFill>
              <a:prstDash val="solid"/>
              <a:miter/>
            </a:ln>
          </p:spPr>
        </p:sp>
      </p:grpSp>
      <p:grpSp>
        <p:nvGrpSpPr>
          <p:cNvPr name="Group 62" id="62"/>
          <p:cNvGrpSpPr/>
          <p:nvPr/>
        </p:nvGrpSpPr>
        <p:grpSpPr>
          <a:xfrm rot="0">
            <a:off x="1148105" y="8892159"/>
            <a:ext cx="7863230" cy="676046"/>
            <a:chOff x="0" y="0"/>
            <a:chExt cx="10484307" cy="901395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10484358" cy="901446"/>
            </a:xfrm>
            <a:custGeom>
              <a:avLst/>
              <a:gdLst/>
              <a:ahLst/>
              <a:cxnLst/>
              <a:rect r="r" b="b" t="t" l="l"/>
              <a:pathLst>
                <a:path h="901446" w="10484358">
                  <a:moveTo>
                    <a:pt x="0" y="245491"/>
                  </a:moveTo>
                  <a:cubicBezTo>
                    <a:pt x="0" y="109855"/>
                    <a:pt x="109855" y="0"/>
                    <a:pt x="245491" y="0"/>
                  </a:cubicBezTo>
                  <a:lnTo>
                    <a:pt x="10238867" y="0"/>
                  </a:lnTo>
                  <a:cubicBezTo>
                    <a:pt x="10374376" y="0"/>
                    <a:pt x="10484358" y="109855"/>
                    <a:pt x="10484358" y="245491"/>
                  </a:cubicBezTo>
                  <a:lnTo>
                    <a:pt x="10484358" y="655955"/>
                  </a:lnTo>
                  <a:cubicBezTo>
                    <a:pt x="10484358" y="791464"/>
                    <a:pt x="10374503" y="901446"/>
                    <a:pt x="10238867" y="901446"/>
                  </a:cubicBezTo>
                  <a:lnTo>
                    <a:pt x="245491" y="901446"/>
                  </a:lnTo>
                  <a:cubicBezTo>
                    <a:pt x="109855" y="901446"/>
                    <a:pt x="0" y="791464"/>
                    <a:pt x="0" y="655955"/>
                  </a:cubicBezTo>
                  <a:close/>
                </a:path>
              </a:pathLst>
            </a:custGeom>
            <a:solidFill>
              <a:srgbClr val="FFFFFF">
                <a:alpha val="784"/>
              </a:srgbClr>
            </a:solidFill>
            <a:ln w="19050" cap="sq">
              <a:solidFill>
                <a:srgbClr val="AEFF82"/>
              </a:solidFill>
              <a:prstDash val="solid"/>
              <a:miter/>
            </a:ln>
          </p:spPr>
        </p:sp>
      </p:grpSp>
      <p:grpSp>
        <p:nvGrpSpPr>
          <p:cNvPr name="Group 64" id="64"/>
          <p:cNvGrpSpPr/>
          <p:nvPr/>
        </p:nvGrpSpPr>
        <p:grpSpPr>
          <a:xfrm rot="0">
            <a:off x="9277579" y="8892159"/>
            <a:ext cx="7863230" cy="676046"/>
            <a:chOff x="0" y="0"/>
            <a:chExt cx="10484307" cy="901395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10484358" cy="901446"/>
            </a:xfrm>
            <a:custGeom>
              <a:avLst/>
              <a:gdLst/>
              <a:ahLst/>
              <a:cxnLst/>
              <a:rect r="r" b="b" t="t" l="l"/>
              <a:pathLst>
                <a:path h="901446" w="10484358">
                  <a:moveTo>
                    <a:pt x="0" y="245491"/>
                  </a:moveTo>
                  <a:cubicBezTo>
                    <a:pt x="0" y="109855"/>
                    <a:pt x="109855" y="0"/>
                    <a:pt x="245491" y="0"/>
                  </a:cubicBezTo>
                  <a:lnTo>
                    <a:pt x="10238867" y="0"/>
                  </a:lnTo>
                  <a:cubicBezTo>
                    <a:pt x="10374376" y="0"/>
                    <a:pt x="10484358" y="109855"/>
                    <a:pt x="10484358" y="245491"/>
                  </a:cubicBezTo>
                  <a:lnTo>
                    <a:pt x="10484358" y="655955"/>
                  </a:lnTo>
                  <a:cubicBezTo>
                    <a:pt x="10484358" y="791464"/>
                    <a:pt x="10374503" y="901446"/>
                    <a:pt x="10238867" y="901446"/>
                  </a:cubicBezTo>
                  <a:lnTo>
                    <a:pt x="245491" y="901446"/>
                  </a:lnTo>
                  <a:cubicBezTo>
                    <a:pt x="109855" y="901446"/>
                    <a:pt x="0" y="791464"/>
                    <a:pt x="0" y="655955"/>
                  </a:cubicBezTo>
                  <a:close/>
                </a:path>
              </a:pathLst>
            </a:custGeom>
            <a:solidFill>
              <a:srgbClr val="FFFFFF">
                <a:alpha val="784"/>
              </a:srgbClr>
            </a:solidFill>
            <a:ln w="19050" cap="sq">
              <a:solidFill>
                <a:srgbClr val="AEFF82"/>
              </a:solidFill>
              <a:prstDash val="solid"/>
              <a:miter/>
            </a:ln>
          </p:spPr>
        </p:sp>
      </p:grpSp>
      <p:grpSp>
        <p:nvGrpSpPr>
          <p:cNvPr name="Group 66" id="66"/>
          <p:cNvGrpSpPr/>
          <p:nvPr/>
        </p:nvGrpSpPr>
        <p:grpSpPr>
          <a:xfrm rot="0">
            <a:off x="1142543" y="1720825"/>
            <a:ext cx="3080614" cy="781088"/>
            <a:chOff x="0" y="0"/>
            <a:chExt cx="4107485" cy="1041451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4107484" cy="1041451"/>
            </a:xfrm>
            <a:custGeom>
              <a:avLst/>
              <a:gdLst/>
              <a:ahLst/>
              <a:cxnLst/>
              <a:rect r="r" b="b" t="t" l="l"/>
              <a:pathLst>
                <a:path h="1041451" w="4107484">
                  <a:moveTo>
                    <a:pt x="0" y="0"/>
                  </a:moveTo>
                  <a:lnTo>
                    <a:pt x="4107484" y="0"/>
                  </a:lnTo>
                  <a:lnTo>
                    <a:pt x="4107484" y="1041451"/>
                  </a:lnTo>
                  <a:lnTo>
                    <a:pt x="0" y="1041451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40236" r="0" b="-13461"/>
              </a:stretch>
            </a:blipFill>
          </p:spPr>
        </p:sp>
        <p:sp>
          <p:nvSpPr>
            <p:cNvPr name="TextBox 68" id="68"/>
            <p:cNvSpPr txBox="true"/>
            <p:nvPr/>
          </p:nvSpPr>
          <p:spPr>
            <a:xfrm>
              <a:off x="0" y="-19050"/>
              <a:ext cx="4107485" cy="106050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79"/>
                </a:lnSpc>
              </a:pPr>
              <a:r>
                <a:rPr lang="en-US" b="true" sz="3150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TEAM DETAILS</a:t>
              </a:r>
            </a:p>
          </p:txBody>
        </p:sp>
      </p:grpSp>
      <p:grpSp>
        <p:nvGrpSpPr>
          <p:cNvPr name="Group 69" id="69"/>
          <p:cNvGrpSpPr/>
          <p:nvPr/>
        </p:nvGrpSpPr>
        <p:grpSpPr>
          <a:xfrm rot="0">
            <a:off x="11969517" y="1872234"/>
            <a:ext cx="1658264" cy="329184"/>
            <a:chOff x="0" y="0"/>
            <a:chExt cx="2211019" cy="438912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2211020" cy="438912"/>
            </a:xfrm>
            <a:custGeom>
              <a:avLst/>
              <a:gdLst/>
              <a:ahLst/>
              <a:cxnLst/>
              <a:rect r="r" b="b" t="t" l="l"/>
              <a:pathLst>
                <a:path h="438912" w="2211020">
                  <a:moveTo>
                    <a:pt x="0" y="0"/>
                  </a:moveTo>
                  <a:lnTo>
                    <a:pt x="2211020" y="0"/>
                  </a:lnTo>
                  <a:lnTo>
                    <a:pt x="221102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48155" r="0" b="-48155"/>
              </a:stretch>
            </a:blipFill>
          </p:spPr>
        </p:sp>
        <p:sp>
          <p:nvSpPr>
            <p:cNvPr name="TextBox 71" id="71"/>
            <p:cNvSpPr txBox="true"/>
            <p:nvPr/>
          </p:nvSpPr>
          <p:spPr>
            <a:xfrm>
              <a:off x="0" y="-19050"/>
              <a:ext cx="2211019" cy="45796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AEFF82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Team Name:</a:t>
              </a:r>
            </a:p>
          </p:txBody>
        </p:sp>
      </p:grpSp>
      <p:grpSp>
        <p:nvGrpSpPr>
          <p:cNvPr name="Group 72" id="72"/>
          <p:cNvGrpSpPr/>
          <p:nvPr/>
        </p:nvGrpSpPr>
        <p:grpSpPr>
          <a:xfrm rot="0">
            <a:off x="1157630" y="2754173"/>
            <a:ext cx="898398" cy="286664"/>
            <a:chOff x="0" y="0"/>
            <a:chExt cx="1197864" cy="382219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1197864" cy="382220"/>
            </a:xfrm>
            <a:custGeom>
              <a:avLst/>
              <a:gdLst/>
              <a:ahLst/>
              <a:cxnLst/>
              <a:rect r="r" b="b" t="t" l="l"/>
              <a:pathLst>
                <a:path h="382220" w="1197864">
                  <a:moveTo>
                    <a:pt x="0" y="0"/>
                  </a:moveTo>
                  <a:lnTo>
                    <a:pt x="1197864" y="0"/>
                  </a:lnTo>
                  <a:lnTo>
                    <a:pt x="1197864" y="382220"/>
                  </a:lnTo>
                  <a:lnTo>
                    <a:pt x="0" y="38222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1065" r="0" b="-11065"/>
              </a:stretch>
            </a:blipFill>
          </p:spPr>
        </p:sp>
        <p:sp>
          <p:nvSpPr>
            <p:cNvPr name="TextBox 74" id="74"/>
            <p:cNvSpPr txBox="true"/>
            <p:nvPr/>
          </p:nvSpPr>
          <p:spPr>
            <a:xfrm>
              <a:off x="0" y="-19050"/>
              <a:ext cx="1197864" cy="4012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 b="true">
                  <a:solidFill>
                    <a:srgbClr val="AEFF82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SR. NO</a:t>
              </a:r>
            </a:p>
          </p:txBody>
        </p:sp>
      </p:grpSp>
      <p:grpSp>
        <p:nvGrpSpPr>
          <p:cNvPr name="Group 75" id="75"/>
          <p:cNvGrpSpPr/>
          <p:nvPr/>
        </p:nvGrpSpPr>
        <p:grpSpPr>
          <a:xfrm rot="0">
            <a:off x="2811780" y="2754173"/>
            <a:ext cx="698144" cy="286664"/>
            <a:chOff x="0" y="0"/>
            <a:chExt cx="930859" cy="382219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930860" cy="382220"/>
            </a:xfrm>
            <a:custGeom>
              <a:avLst/>
              <a:gdLst/>
              <a:ahLst/>
              <a:cxnLst/>
              <a:rect r="r" b="b" t="t" l="l"/>
              <a:pathLst>
                <a:path h="382220" w="930860">
                  <a:moveTo>
                    <a:pt x="0" y="0"/>
                  </a:moveTo>
                  <a:lnTo>
                    <a:pt x="930860" y="0"/>
                  </a:lnTo>
                  <a:lnTo>
                    <a:pt x="930860" y="382220"/>
                  </a:lnTo>
                  <a:lnTo>
                    <a:pt x="0" y="38222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2682" t="0" r="-2682" b="0"/>
              </a:stretch>
            </a:blipFill>
          </p:spPr>
        </p:sp>
        <p:sp>
          <p:nvSpPr>
            <p:cNvPr name="TextBox 77" id="77"/>
            <p:cNvSpPr txBox="true"/>
            <p:nvPr/>
          </p:nvSpPr>
          <p:spPr>
            <a:xfrm>
              <a:off x="0" y="-19050"/>
              <a:ext cx="930859" cy="4012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 b="true">
                  <a:solidFill>
                    <a:srgbClr val="AEFF82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ROLE</a:t>
              </a:r>
            </a:p>
          </p:txBody>
        </p:sp>
      </p:grpSp>
      <p:grpSp>
        <p:nvGrpSpPr>
          <p:cNvPr name="Group 78" id="78"/>
          <p:cNvGrpSpPr/>
          <p:nvPr/>
        </p:nvGrpSpPr>
        <p:grpSpPr>
          <a:xfrm rot="0">
            <a:off x="6120079" y="2754173"/>
            <a:ext cx="798271" cy="286664"/>
            <a:chOff x="0" y="0"/>
            <a:chExt cx="1064362" cy="382219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1064362" cy="382220"/>
            </a:xfrm>
            <a:custGeom>
              <a:avLst/>
              <a:gdLst/>
              <a:ahLst/>
              <a:cxnLst/>
              <a:rect r="r" b="b" t="t" l="l"/>
              <a:pathLst>
                <a:path h="382220" w="1064362">
                  <a:moveTo>
                    <a:pt x="0" y="0"/>
                  </a:moveTo>
                  <a:lnTo>
                    <a:pt x="1064362" y="0"/>
                  </a:lnTo>
                  <a:lnTo>
                    <a:pt x="1064362" y="382220"/>
                  </a:lnTo>
                  <a:lnTo>
                    <a:pt x="0" y="38222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4259" r="0" b="-4259"/>
              </a:stretch>
            </a:blipFill>
          </p:spPr>
        </p:sp>
        <p:sp>
          <p:nvSpPr>
            <p:cNvPr name="TextBox 80" id="80"/>
            <p:cNvSpPr txBox="true"/>
            <p:nvPr/>
          </p:nvSpPr>
          <p:spPr>
            <a:xfrm>
              <a:off x="0" y="-19050"/>
              <a:ext cx="1064362" cy="4012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 b="true">
                  <a:solidFill>
                    <a:srgbClr val="AEFF82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NAME</a:t>
              </a:r>
            </a:p>
          </p:txBody>
        </p:sp>
      </p:grpSp>
      <p:grpSp>
        <p:nvGrpSpPr>
          <p:cNvPr name="Group 81" id="81"/>
          <p:cNvGrpSpPr/>
          <p:nvPr/>
        </p:nvGrpSpPr>
        <p:grpSpPr>
          <a:xfrm rot="0">
            <a:off x="12738049" y="2754173"/>
            <a:ext cx="1969618" cy="286664"/>
            <a:chOff x="0" y="0"/>
            <a:chExt cx="2626157" cy="382219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2626156" cy="382220"/>
            </a:xfrm>
            <a:custGeom>
              <a:avLst/>
              <a:gdLst/>
              <a:ahLst/>
              <a:cxnLst/>
              <a:rect r="r" b="b" t="t" l="l"/>
              <a:pathLst>
                <a:path h="382220" w="2626156">
                  <a:moveTo>
                    <a:pt x="0" y="0"/>
                  </a:moveTo>
                  <a:lnTo>
                    <a:pt x="2626156" y="0"/>
                  </a:lnTo>
                  <a:lnTo>
                    <a:pt x="2626156" y="382220"/>
                  </a:lnTo>
                  <a:lnTo>
                    <a:pt x="0" y="38222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83877" r="0" b="-83877"/>
              </a:stretch>
            </a:blipFill>
          </p:spPr>
        </p:sp>
        <p:sp>
          <p:nvSpPr>
            <p:cNvPr name="TextBox 83" id="83"/>
            <p:cNvSpPr txBox="true"/>
            <p:nvPr/>
          </p:nvSpPr>
          <p:spPr>
            <a:xfrm>
              <a:off x="0" y="-19050"/>
              <a:ext cx="2626157" cy="4012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 b="true">
                  <a:solidFill>
                    <a:srgbClr val="AEFF82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ACADEMIC YEAR</a:t>
              </a:r>
            </a:p>
          </p:txBody>
        </p:sp>
      </p:grpSp>
      <p:grpSp>
        <p:nvGrpSpPr>
          <p:cNvPr name="Group 84" id="84"/>
          <p:cNvGrpSpPr/>
          <p:nvPr/>
        </p:nvGrpSpPr>
        <p:grpSpPr>
          <a:xfrm rot="0">
            <a:off x="1157630" y="3405683"/>
            <a:ext cx="234544" cy="300380"/>
            <a:chOff x="0" y="0"/>
            <a:chExt cx="312725" cy="400507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312724" cy="400508"/>
            </a:xfrm>
            <a:custGeom>
              <a:avLst/>
              <a:gdLst/>
              <a:ahLst/>
              <a:cxnLst/>
              <a:rect r="r" b="b" t="t" l="l"/>
              <a:pathLst>
                <a:path h="400508" w="312724">
                  <a:moveTo>
                    <a:pt x="0" y="0"/>
                  </a:moveTo>
                  <a:lnTo>
                    <a:pt x="312724" y="0"/>
                  </a:lnTo>
                  <a:lnTo>
                    <a:pt x="312724" y="400508"/>
                  </a:lnTo>
                  <a:lnTo>
                    <a:pt x="0" y="400508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114318" t="0" r="-114319" b="0"/>
              </a:stretch>
            </a:blipFill>
          </p:spPr>
        </p:sp>
        <p:sp>
          <p:nvSpPr>
            <p:cNvPr name="TextBox 86" id="86"/>
            <p:cNvSpPr txBox="true"/>
            <p:nvPr/>
          </p:nvSpPr>
          <p:spPr>
            <a:xfrm>
              <a:off x="0" y="-9525"/>
              <a:ext cx="312725" cy="41003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E0E0E0"/>
                  </a:solidFill>
                  <a:latin typeface="Poppins"/>
                  <a:ea typeface="Poppins"/>
                  <a:cs typeface="Poppins"/>
                  <a:sym typeface="Poppins"/>
                </a:rPr>
                <a:t>1</a:t>
              </a:r>
            </a:p>
          </p:txBody>
        </p:sp>
      </p:grpSp>
      <p:grpSp>
        <p:nvGrpSpPr>
          <p:cNvPr name="Group 87" id="87"/>
          <p:cNvGrpSpPr/>
          <p:nvPr/>
        </p:nvGrpSpPr>
        <p:grpSpPr>
          <a:xfrm rot="0">
            <a:off x="2811780" y="3405683"/>
            <a:ext cx="1606144" cy="407327"/>
            <a:chOff x="0" y="0"/>
            <a:chExt cx="2141525" cy="543103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2141524" cy="543104"/>
            </a:xfrm>
            <a:custGeom>
              <a:avLst/>
              <a:gdLst/>
              <a:ahLst/>
              <a:cxnLst/>
              <a:rect r="r" b="b" t="t" l="l"/>
              <a:pathLst>
                <a:path h="543104" w="2141524">
                  <a:moveTo>
                    <a:pt x="0" y="0"/>
                  </a:moveTo>
                  <a:lnTo>
                    <a:pt x="2141524" y="0"/>
                  </a:lnTo>
                  <a:lnTo>
                    <a:pt x="2141524" y="543104"/>
                  </a:lnTo>
                  <a:lnTo>
                    <a:pt x="0" y="543104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9959" r="0" b="-13704"/>
              </a:stretch>
            </a:blipFill>
          </p:spPr>
        </p:sp>
        <p:sp>
          <p:nvSpPr>
            <p:cNvPr name="TextBox 89" id="89"/>
            <p:cNvSpPr txBox="true"/>
            <p:nvPr/>
          </p:nvSpPr>
          <p:spPr>
            <a:xfrm>
              <a:off x="0" y="-9525"/>
              <a:ext cx="2141525" cy="5526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b="true">
                  <a:solidFill>
                    <a:srgbClr val="E0E0E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Team Leader</a:t>
              </a:r>
            </a:p>
          </p:txBody>
        </p:sp>
      </p:grpSp>
      <p:grpSp>
        <p:nvGrpSpPr>
          <p:cNvPr name="Group 90" id="90"/>
          <p:cNvGrpSpPr/>
          <p:nvPr/>
        </p:nvGrpSpPr>
        <p:grpSpPr>
          <a:xfrm rot="0">
            <a:off x="1157630" y="4088740"/>
            <a:ext cx="292151" cy="300380"/>
            <a:chOff x="0" y="0"/>
            <a:chExt cx="389534" cy="400507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389534" cy="400508"/>
            </a:xfrm>
            <a:custGeom>
              <a:avLst/>
              <a:gdLst/>
              <a:ahLst/>
              <a:cxnLst/>
              <a:rect r="r" b="b" t="t" l="l"/>
              <a:pathLst>
                <a:path h="400508" w="389534">
                  <a:moveTo>
                    <a:pt x="0" y="0"/>
                  </a:moveTo>
                  <a:lnTo>
                    <a:pt x="389534" y="0"/>
                  </a:lnTo>
                  <a:lnTo>
                    <a:pt x="389534" y="400508"/>
                  </a:lnTo>
                  <a:lnTo>
                    <a:pt x="0" y="400508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81917" t="0" r="-81917" b="0"/>
              </a:stretch>
            </a:blipFill>
          </p:spPr>
        </p:sp>
        <p:sp>
          <p:nvSpPr>
            <p:cNvPr name="TextBox 92" id="92"/>
            <p:cNvSpPr txBox="true"/>
            <p:nvPr/>
          </p:nvSpPr>
          <p:spPr>
            <a:xfrm>
              <a:off x="0" y="-9525"/>
              <a:ext cx="389534" cy="41003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E0E0E0"/>
                  </a:solidFill>
                  <a:latin typeface="Poppins"/>
                  <a:ea typeface="Poppins"/>
                  <a:cs typeface="Poppins"/>
                  <a:sym typeface="Poppins"/>
                </a:rPr>
                <a:t>2</a:t>
              </a:r>
            </a:p>
          </p:txBody>
        </p:sp>
      </p:grpSp>
      <p:grpSp>
        <p:nvGrpSpPr>
          <p:cNvPr name="Group 93" id="93"/>
          <p:cNvGrpSpPr/>
          <p:nvPr/>
        </p:nvGrpSpPr>
        <p:grpSpPr>
          <a:xfrm rot="0">
            <a:off x="2811780" y="4088740"/>
            <a:ext cx="1207008" cy="300380"/>
            <a:chOff x="0" y="0"/>
            <a:chExt cx="1609344" cy="400507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1609344" cy="400508"/>
            </a:xfrm>
            <a:custGeom>
              <a:avLst/>
              <a:gdLst/>
              <a:ahLst/>
              <a:cxnLst/>
              <a:rect r="r" b="b" t="t" l="l"/>
              <a:pathLst>
                <a:path h="400508" w="1609344">
                  <a:moveTo>
                    <a:pt x="0" y="0"/>
                  </a:moveTo>
                  <a:lnTo>
                    <a:pt x="1609344" y="0"/>
                  </a:lnTo>
                  <a:lnTo>
                    <a:pt x="1609344" y="400508"/>
                  </a:lnTo>
                  <a:lnTo>
                    <a:pt x="0" y="400508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8295" r="0" b="-28295"/>
              </a:stretch>
            </a:blipFill>
          </p:spPr>
        </p:sp>
        <p:sp>
          <p:nvSpPr>
            <p:cNvPr name="TextBox 95" id="95"/>
            <p:cNvSpPr txBox="true"/>
            <p:nvPr/>
          </p:nvSpPr>
          <p:spPr>
            <a:xfrm>
              <a:off x="0" y="-9525"/>
              <a:ext cx="1609344" cy="41003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E0E0E0"/>
                  </a:solidFill>
                  <a:latin typeface="Poppins"/>
                  <a:ea typeface="Poppins"/>
                  <a:cs typeface="Poppins"/>
                  <a:sym typeface="Poppins"/>
                </a:rPr>
                <a:t>Member 1</a:t>
              </a:r>
            </a:p>
          </p:txBody>
        </p:sp>
      </p:grpSp>
      <p:grpSp>
        <p:nvGrpSpPr>
          <p:cNvPr name="Group 96" id="96"/>
          <p:cNvGrpSpPr/>
          <p:nvPr/>
        </p:nvGrpSpPr>
        <p:grpSpPr>
          <a:xfrm rot="0">
            <a:off x="1157630" y="4771796"/>
            <a:ext cx="292151" cy="300380"/>
            <a:chOff x="0" y="0"/>
            <a:chExt cx="389534" cy="400507"/>
          </a:xfrm>
        </p:grpSpPr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389534" cy="400508"/>
            </a:xfrm>
            <a:custGeom>
              <a:avLst/>
              <a:gdLst/>
              <a:ahLst/>
              <a:cxnLst/>
              <a:rect r="r" b="b" t="t" l="l"/>
              <a:pathLst>
                <a:path h="400508" w="389534">
                  <a:moveTo>
                    <a:pt x="0" y="0"/>
                  </a:moveTo>
                  <a:lnTo>
                    <a:pt x="389534" y="0"/>
                  </a:lnTo>
                  <a:lnTo>
                    <a:pt x="389534" y="400508"/>
                  </a:lnTo>
                  <a:lnTo>
                    <a:pt x="0" y="400508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81917" t="0" r="-81917" b="0"/>
              </a:stretch>
            </a:blipFill>
          </p:spPr>
        </p:sp>
        <p:sp>
          <p:nvSpPr>
            <p:cNvPr name="TextBox 98" id="98"/>
            <p:cNvSpPr txBox="true"/>
            <p:nvPr/>
          </p:nvSpPr>
          <p:spPr>
            <a:xfrm>
              <a:off x="0" y="-9525"/>
              <a:ext cx="389534" cy="41003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E0E0E0"/>
                  </a:solidFill>
                  <a:latin typeface="Poppins"/>
                  <a:ea typeface="Poppins"/>
                  <a:cs typeface="Poppins"/>
                  <a:sym typeface="Poppins"/>
                </a:rPr>
                <a:t>3</a:t>
              </a:r>
            </a:p>
          </p:txBody>
        </p:sp>
      </p:grpSp>
      <p:grpSp>
        <p:nvGrpSpPr>
          <p:cNvPr name="Group 99" id="99"/>
          <p:cNvGrpSpPr/>
          <p:nvPr/>
        </p:nvGrpSpPr>
        <p:grpSpPr>
          <a:xfrm rot="0">
            <a:off x="2811780" y="4771796"/>
            <a:ext cx="1263244" cy="300380"/>
            <a:chOff x="0" y="0"/>
            <a:chExt cx="1684325" cy="400507"/>
          </a:xfrm>
        </p:grpSpPr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1684324" cy="400508"/>
            </a:xfrm>
            <a:custGeom>
              <a:avLst/>
              <a:gdLst/>
              <a:ahLst/>
              <a:cxnLst/>
              <a:rect r="r" b="b" t="t" l="l"/>
              <a:pathLst>
                <a:path h="400508" w="1684324">
                  <a:moveTo>
                    <a:pt x="0" y="0"/>
                  </a:moveTo>
                  <a:lnTo>
                    <a:pt x="1684324" y="0"/>
                  </a:lnTo>
                  <a:lnTo>
                    <a:pt x="1684324" y="400508"/>
                  </a:lnTo>
                  <a:lnTo>
                    <a:pt x="0" y="400508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1943" r="0" b="-31943"/>
              </a:stretch>
            </a:blipFill>
          </p:spPr>
        </p:sp>
        <p:sp>
          <p:nvSpPr>
            <p:cNvPr name="TextBox 101" id="101"/>
            <p:cNvSpPr txBox="true"/>
            <p:nvPr/>
          </p:nvSpPr>
          <p:spPr>
            <a:xfrm>
              <a:off x="0" y="-9525"/>
              <a:ext cx="1684325" cy="41003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E0E0E0"/>
                  </a:solidFill>
                  <a:latin typeface="Poppins"/>
                  <a:ea typeface="Poppins"/>
                  <a:cs typeface="Poppins"/>
                  <a:sym typeface="Poppins"/>
                </a:rPr>
                <a:t>Member 2</a:t>
              </a:r>
            </a:p>
          </p:txBody>
        </p:sp>
      </p:grpSp>
      <p:grpSp>
        <p:nvGrpSpPr>
          <p:cNvPr name="Group 102" id="102"/>
          <p:cNvGrpSpPr/>
          <p:nvPr/>
        </p:nvGrpSpPr>
        <p:grpSpPr>
          <a:xfrm rot="0">
            <a:off x="1157630" y="5454853"/>
            <a:ext cx="305867" cy="300380"/>
            <a:chOff x="0" y="0"/>
            <a:chExt cx="407822" cy="400507"/>
          </a:xfrm>
        </p:grpSpPr>
        <p:sp>
          <p:nvSpPr>
            <p:cNvPr name="Freeform 103" id="103"/>
            <p:cNvSpPr/>
            <p:nvPr/>
          </p:nvSpPr>
          <p:spPr>
            <a:xfrm flipH="false" flipV="false" rot="0">
              <a:off x="0" y="0"/>
              <a:ext cx="407822" cy="400508"/>
            </a:xfrm>
            <a:custGeom>
              <a:avLst/>
              <a:gdLst/>
              <a:ahLst/>
              <a:cxnLst/>
              <a:rect r="r" b="b" t="t" l="l"/>
              <a:pathLst>
                <a:path h="400508" w="407822">
                  <a:moveTo>
                    <a:pt x="0" y="0"/>
                  </a:moveTo>
                  <a:lnTo>
                    <a:pt x="407822" y="0"/>
                  </a:lnTo>
                  <a:lnTo>
                    <a:pt x="407822" y="400508"/>
                  </a:lnTo>
                  <a:lnTo>
                    <a:pt x="0" y="400508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76002" t="0" r="-76002" b="0"/>
              </a:stretch>
            </a:blipFill>
          </p:spPr>
        </p:sp>
        <p:sp>
          <p:nvSpPr>
            <p:cNvPr name="TextBox 104" id="104"/>
            <p:cNvSpPr txBox="true"/>
            <p:nvPr/>
          </p:nvSpPr>
          <p:spPr>
            <a:xfrm>
              <a:off x="0" y="-9525"/>
              <a:ext cx="407822" cy="41003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E0E0E0"/>
                  </a:solidFill>
                  <a:latin typeface="Poppins"/>
                  <a:ea typeface="Poppins"/>
                  <a:cs typeface="Poppins"/>
                  <a:sym typeface="Poppins"/>
                </a:rPr>
                <a:t>4</a:t>
              </a:r>
            </a:p>
          </p:txBody>
        </p:sp>
      </p:grpSp>
      <p:grpSp>
        <p:nvGrpSpPr>
          <p:cNvPr name="Group 105" id="105"/>
          <p:cNvGrpSpPr/>
          <p:nvPr/>
        </p:nvGrpSpPr>
        <p:grpSpPr>
          <a:xfrm rot="0">
            <a:off x="2811780" y="5454853"/>
            <a:ext cx="1263244" cy="300380"/>
            <a:chOff x="0" y="0"/>
            <a:chExt cx="1684325" cy="400507"/>
          </a:xfrm>
        </p:grpSpPr>
        <p:sp>
          <p:nvSpPr>
            <p:cNvPr name="Freeform 106" id="106"/>
            <p:cNvSpPr/>
            <p:nvPr/>
          </p:nvSpPr>
          <p:spPr>
            <a:xfrm flipH="false" flipV="false" rot="0">
              <a:off x="0" y="0"/>
              <a:ext cx="1684324" cy="400508"/>
            </a:xfrm>
            <a:custGeom>
              <a:avLst/>
              <a:gdLst/>
              <a:ahLst/>
              <a:cxnLst/>
              <a:rect r="r" b="b" t="t" l="l"/>
              <a:pathLst>
                <a:path h="400508" w="1684324">
                  <a:moveTo>
                    <a:pt x="0" y="0"/>
                  </a:moveTo>
                  <a:lnTo>
                    <a:pt x="1684324" y="0"/>
                  </a:lnTo>
                  <a:lnTo>
                    <a:pt x="1684324" y="400508"/>
                  </a:lnTo>
                  <a:lnTo>
                    <a:pt x="0" y="400508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1943" r="0" b="-31943"/>
              </a:stretch>
            </a:blipFill>
          </p:spPr>
        </p:sp>
        <p:sp>
          <p:nvSpPr>
            <p:cNvPr name="TextBox 107" id="107"/>
            <p:cNvSpPr txBox="true"/>
            <p:nvPr/>
          </p:nvSpPr>
          <p:spPr>
            <a:xfrm>
              <a:off x="0" y="-9525"/>
              <a:ext cx="1684325" cy="41003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E0E0E0"/>
                  </a:solidFill>
                  <a:latin typeface="Poppins"/>
                  <a:ea typeface="Poppins"/>
                  <a:cs typeface="Poppins"/>
                  <a:sym typeface="Poppins"/>
                </a:rPr>
                <a:t>Member 3</a:t>
              </a:r>
            </a:p>
          </p:txBody>
        </p:sp>
      </p:grpSp>
      <p:grpSp>
        <p:nvGrpSpPr>
          <p:cNvPr name="Group 108" id="108"/>
          <p:cNvGrpSpPr/>
          <p:nvPr/>
        </p:nvGrpSpPr>
        <p:grpSpPr>
          <a:xfrm rot="0">
            <a:off x="1157630" y="7158380"/>
            <a:ext cx="242773" cy="229057"/>
            <a:chOff x="0" y="0"/>
            <a:chExt cx="323698" cy="305410"/>
          </a:xfrm>
        </p:grpSpPr>
        <p:sp>
          <p:nvSpPr>
            <p:cNvPr name="Freeform 109" id="109" descr="preencoded.png"/>
            <p:cNvSpPr/>
            <p:nvPr/>
          </p:nvSpPr>
          <p:spPr>
            <a:xfrm flipH="false" flipV="false" rot="0">
              <a:off x="0" y="0"/>
              <a:ext cx="323723" cy="305435"/>
            </a:xfrm>
            <a:custGeom>
              <a:avLst/>
              <a:gdLst/>
              <a:ahLst/>
              <a:cxnLst/>
              <a:rect r="r" b="b" t="t" l="l"/>
              <a:pathLst>
                <a:path h="305435" w="323723">
                  <a:moveTo>
                    <a:pt x="0" y="0"/>
                  </a:moveTo>
                  <a:lnTo>
                    <a:pt x="323723" y="0"/>
                  </a:lnTo>
                  <a:lnTo>
                    <a:pt x="323723" y="305435"/>
                  </a:lnTo>
                  <a:lnTo>
                    <a:pt x="0" y="3054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2824" t="0" r="2832" b="8"/>
              </a:stretch>
            </a:blipFill>
          </p:spPr>
        </p:sp>
      </p:grpSp>
      <p:grpSp>
        <p:nvGrpSpPr>
          <p:cNvPr name="Group 110" id="110"/>
          <p:cNvGrpSpPr/>
          <p:nvPr/>
        </p:nvGrpSpPr>
        <p:grpSpPr>
          <a:xfrm rot="0">
            <a:off x="1514246" y="7115861"/>
            <a:ext cx="2014880" cy="329184"/>
            <a:chOff x="0" y="0"/>
            <a:chExt cx="2686507" cy="438912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0" y="0"/>
              <a:ext cx="2686508" cy="438912"/>
            </a:xfrm>
            <a:custGeom>
              <a:avLst/>
              <a:gdLst/>
              <a:ahLst/>
              <a:cxnLst/>
              <a:rect r="r" b="b" t="t" l="l"/>
              <a:pathLst>
                <a:path h="438912" w="2686508">
                  <a:moveTo>
                    <a:pt x="0" y="0"/>
                  </a:moveTo>
                  <a:lnTo>
                    <a:pt x="2686508" y="0"/>
                  </a:lnTo>
                  <a:lnTo>
                    <a:pt x="2686508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69264" r="0" b="-69264"/>
              </a:stretch>
            </a:blipFill>
          </p:spPr>
        </p:sp>
        <p:sp>
          <p:nvSpPr>
            <p:cNvPr name="TextBox 112" id="112"/>
            <p:cNvSpPr txBox="true"/>
            <p:nvPr/>
          </p:nvSpPr>
          <p:spPr>
            <a:xfrm>
              <a:off x="0" y="-19050"/>
              <a:ext cx="2686507" cy="45796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AEFF82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COLLEGE NAME</a:t>
              </a:r>
            </a:p>
          </p:txBody>
        </p:sp>
      </p:grpSp>
      <p:grpSp>
        <p:nvGrpSpPr>
          <p:cNvPr name="Group 113" id="113"/>
          <p:cNvGrpSpPr/>
          <p:nvPr/>
        </p:nvGrpSpPr>
        <p:grpSpPr>
          <a:xfrm rot="0">
            <a:off x="1157630" y="8487461"/>
            <a:ext cx="242773" cy="229057"/>
            <a:chOff x="0" y="0"/>
            <a:chExt cx="323698" cy="305410"/>
          </a:xfrm>
        </p:grpSpPr>
        <p:sp>
          <p:nvSpPr>
            <p:cNvPr name="Freeform 114" id="114" descr="preencoded.png"/>
            <p:cNvSpPr/>
            <p:nvPr/>
          </p:nvSpPr>
          <p:spPr>
            <a:xfrm flipH="false" flipV="false" rot="0">
              <a:off x="0" y="0"/>
              <a:ext cx="323723" cy="305435"/>
            </a:xfrm>
            <a:custGeom>
              <a:avLst/>
              <a:gdLst/>
              <a:ahLst/>
              <a:cxnLst/>
              <a:rect r="r" b="b" t="t" l="l"/>
              <a:pathLst>
                <a:path h="305435" w="323723">
                  <a:moveTo>
                    <a:pt x="0" y="0"/>
                  </a:moveTo>
                  <a:lnTo>
                    <a:pt x="323723" y="0"/>
                  </a:lnTo>
                  <a:lnTo>
                    <a:pt x="323723" y="305435"/>
                  </a:lnTo>
                  <a:lnTo>
                    <a:pt x="0" y="3054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2824" t="0" r="2832" b="8"/>
              </a:stretch>
            </a:blipFill>
          </p:spPr>
        </p:sp>
      </p:grpSp>
      <p:grpSp>
        <p:nvGrpSpPr>
          <p:cNvPr name="Group 115" id="115"/>
          <p:cNvGrpSpPr/>
          <p:nvPr/>
        </p:nvGrpSpPr>
        <p:grpSpPr>
          <a:xfrm rot="0">
            <a:off x="1514246" y="8443570"/>
            <a:ext cx="4158691" cy="329184"/>
            <a:chOff x="0" y="0"/>
            <a:chExt cx="5544922" cy="438912"/>
          </a:xfrm>
        </p:grpSpPr>
        <p:sp>
          <p:nvSpPr>
            <p:cNvPr name="Freeform 116" id="116"/>
            <p:cNvSpPr/>
            <p:nvPr/>
          </p:nvSpPr>
          <p:spPr>
            <a:xfrm flipH="false" flipV="false" rot="0">
              <a:off x="0" y="0"/>
              <a:ext cx="5544922" cy="438912"/>
            </a:xfrm>
            <a:custGeom>
              <a:avLst/>
              <a:gdLst/>
              <a:ahLst/>
              <a:cxnLst/>
              <a:rect r="r" b="b" t="t" l="l"/>
              <a:pathLst>
                <a:path h="438912" w="5544922">
                  <a:moveTo>
                    <a:pt x="0" y="0"/>
                  </a:moveTo>
                  <a:lnTo>
                    <a:pt x="5544922" y="0"/>
                  </a:lnTo>
                  <a:lnTo>
                    <a:pt x="5544922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96160" r="0" b="-196160"/>
              </a:stretch>
            </a:blipFill>
          </p:spPr>
        </p:sp>
        <p:sp>
          <p:nvSpPr>
            <p:cNvPr name="TextBox 117" id="117"/>
            <p:cNvSpPr txBox="true"/>
            <p:nvPr/>
          </p:nvSpPr>
          <p:spPr>
            <a:xfrm>
              <a:off x="0" y="-19050"/>
              <a:ext cx="5544922" cy="45796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AEFF82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TEAM LEADER CONTACT NUMBER</a:t>
              </a:r>
            </a:p>
          </p:txBody>
        </p:sp>
      </p:grpSp>
      <p:grpSp>
        <p:nvGrpSpPr>
          <p:cNvPr name="Group 118" id="118"/>
          <p:cNvGrpSpPr/>
          <p:nvPr/>
        </p:nvGrpSpPr>
        <p:grpSpPr>
          <a:xfrm rot="0">
            <a:off x="9287104" y="8487461"/>
            <a:ext cx="242773" cy="229057"/>
            <a:chOff x="0" y="0"/>
            <a:chExt cx="323698" cy="305410"/>
          </a:xfrm>
        </p:grpSpPr>
        <p:sp>
          <p:nvSpPr>
            <p:cNvPr name="Freeform 119" id="119" descr="preencoded.png"/>
            <p:cNvSpPr/>
            <p:nvPr/>
          </p:nvSpPr>
          <p:spPr>
            <a:xfrm flipH="false" flipV="false" rot="0">
              <a:off x="0" y="0"/>
              <a:ext cx="323723" cy="305435"/>
            </a:xfrm>
            <a:custGeom>
              <a:avLst/>
              <a:gdLst/>
              <a:ahLst/>
              <a:cxnLst/>
              <a:rect r="r" b="b" t="t" l="l"/>
              <a:pathLst>
                <a:path h="305435" w="323723">
                  <a:moveTo>
                    <a:pt x="0" y="0"/>
                  </a:moveTo>
                  <a:lnTo>
                    <a:pt x="323723" y="0"/>
                  </a:lnTo>
                  <a:lnTo>
                    <a:pt x="323723" y="305435"/>
                  </a:lnTo>
                  <a:lnTo>
                    <a:pt x="0" y="3054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2824" t="0" r="2832" b="8"/>
              </a:stretch>
            </a:blipFill>
          </p:spPr>
        </p:sp>
      </p:grpSp>
      <p:grpSp>
        <p:nvGrpSpPr>
          <p:cNvPr name="Group 120" id="120"/>
          <p:cNvGrpSpPr/>
          <p:nvPr/>
        </p:nvGrpSpPr>
        <p:grpSpPr>
          <a:xfrm rot="0">
            <a:off x="9643720" y="8443570"/>
            <a:ext cx="3771900" cy="329184"/>
            <a:chOff x="0" y="0"/>
            <a:chExt cx="5029200" cy="438912"/>
          </a:xfrm>
        </p:grpSpPr>
        <p:sp>
          <p:nvSpPr>
            <p:cNvPr name="Freeform 121" id="121"/>
            <p:cNvSpPr/>
            <p:nvPr/>
          </p:nvSpPr>
          <p:spPr>
            <a:xfrm flipH="false" flipV="false" rot="0">
              <a:off x="0" y="0"/>
              <a:ext cx="5029200" cy="438912"/>
            </a:xfrm>
            <a:custGeom>
              <a:avLst/>
              <a:gdLst/>
              <a:ahLst/>
              <a:cxnLst/>
              <a:rect r="r" b="b" t="t" l="l"/>
              <a:pathLst>
                <a:path h="438912" w="5029200">
                  <a:moveTo>
                    <a:pt x="0" y="0"/>
                  </a:moveTo>
                  <a:lnTo>
                    <a:pt x="5029200" y="0"/>
                  </a:lnTo>
                  <a:lnTo>
                    <a:pt x="502920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73266" r="0" b="-173266"/>
              </a:stretch>
            </a:blipFill>
          </p:spPr>
        </p:sp>
        <p:sp>
          <p:nvSpPr>
            <p:cNvPr name="TextBox 122" id="122"/>
            <p:cNvSpPr txBox="true"/>
            <p:nvPr/>
          </p:nvSpPr>
          <p:spPr>
            <a:xfrm>
              <a:off x="0" y="-19050"/>
              <a:ext cx="5029200" cy="45796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AEFF82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TEAM LEADER EMAIL ADDRESS</a:t>
              </a:r>
            </a:p>
          </p:txBody>
        </p:sp>
      </p:grpSp>
      <p:grpSp>
        <p:nvGrpSpPr>
          <p:cNvPr name="Group 123" id="123"/>
          <p:cNvGrpSpPr/>
          <p:nvPr/>
        </p:nvGrpSpPr>
        <p:grpSpPr>
          <a:xfrm rot="0">
            <a:off x="14422374" y="1793234"/>
            <a:ext cx="2579980" cy="488822"/>
            <a:chOff x="0" y="0"/>
            <a:chExt cx="3439973" cy="651762"/>
          </a:xfrm>
        </p:grpSpPr>
        <p:sp>
          <p:nvSpPr>
            <p:cNvPr name="Freeform 124" id="124"/>
            <p:cNvSpPr/>
            <p:nvPr/>
          </p:nvSpPr>
          <p:spPr>
            <a:xfrm flipH="false" flipV="false" rot="0">
              <a:off x="0" y="0"/>
              <a:ext cx="3439972" cy="651763"/>
            </a:xfrm>
            <a:custGeom>
              <a:avLst/>
              <a:gdLst/>
              <a:ahLst/>
              <a:cxnLst/>
              <a:rect r="r" b="b" t="t" l="l"/>
              <a:pathLst>
                <a:path h="651763" w="3439972">
                  <a:moveTo>
                    <a:pt x="0" y="0"/>
                  </a:moveTo>
                  <a:lnTo>
                    <a:pt x="3439972" y="0"/>
                  </a:lnTo>
                  <a:lnTo>
                    <a:pt x="3439972" y="651763"/>
                  </a:lnTo>
                  <a:lnTo>
                    <a:pt x="0" y="651763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73519" r="0" b="-32162"/>
              </a:stretch>
            </a:blipFill>
          </p:spPr>
        </p:sp>
        <p:sp>
          <p:nvSpPr>
            <p:cNvPr name="TextBox 125" id="125"/>
            <p:cNvSpPr txBox="true"/>
            <p:nvPr/>
          </p:nvSpPr>
          <p:spPr>
            <a:xfrm>
              <a:off x="0" y="-19050"/>
              <a:ext cx="3439973" cy="6708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99"/>
                </a:lnSpc>
              </a:pPr>
              <a:r>
                <a:rPr lang="en-US" sz="1999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TECHTONICS</a:t>
              </a:r>
            </a:p>
          </p:txBody>
        </p:sp>
      </p:grpSp>
      <p:grpSp>
        <p:nvGrpSpPr>
          <p:cNvPr name="Group 126" id="126"/>
          <p:cNvGrpSpPr/>
          <p:nvPr/>
        </p:nvGrpSpPr>
        <p:grpSpPr>
          <a:xfrm rot="0">
            <a:off x="6120079" y="3413265"/>
            <a:ext cx="2337328" cy="407327"/>
            <a:chOff x="0" y="0"/>
            <a:chExt cx="3116438" cy="543103"/>
          </a:xfrm>
        </p:grpSpPr>
        <p:sp>
          <p:nvSpPr>
            <p:cNvPr name="Freeform 127" id="127"/>
            <p:cNvSpPr/>
            <p:nvPr/>
          </p:nvSpPr>
          <p:spPr>
            <a:xfrm flipH="false" flipV="false" rot="0">
              <a:off x="0" y="0"/>
              <a:ext cx="3116438" cy="543104"/>
            </a:xfrm>
            <a:custGeom>
              <a:avLst/>
              <a:gdLst/>
              <a:ahLst/>
              <a:cxnLst/>
              <a:rect r="r" b="b" t="t" l="l"/>
              <a:pathLst>
                <a:path h="543104" w="3116438">
                  <a:moveTo>
                    <a:pt x="0" y="0"/>
                  </a:moveTo>
                  <a:lnTo>
                    <a:pt x="3116438" y="0"/>
                  </a:lnTo>
                  <a:lnTo>
                    <a:pt x="3116438" y="543104"/>
                  </a:lnTo>
                  <a:lnTo>
                    <a:pt x="0" y="543104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41337" r="30050" b="-15081"/>
              </a:stretch>
            </a:blipFill>
          </p:spPr>
        </p:sp>
        <p:sp>
          <p:nvSpPr>
            <p:cNvPr name="TextBox 128" id="128"/>
            <p:cNvSpPr txBox="true"/>
            <p:nvPr/>
          </p:nvSpPr>
          <p:spPr>
            <a:xfrm>
              <a:off x="0" y="-9525"/>
              <a:ext cx="3116438" cy="5526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b="true">
                  <a:solidFill>
                    <a:srgbClr val="E0E0E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AKSHAYA SRELEKA P S</a:t>
              </a:r>
            </a:p>
          </p:txBody>
        </p:sp>
      </p:grpSp>
      <p:grpSp>
        <p:nvGrpSpPr>
          <p:cNvPr name="Group 129" id="129"/>
          <p:cNvGrpSpPr/>
          <p:nvPr/>
        </p:nvGrpSpPr>
        <p:grpSpPr>
          <a:xfrm rot="0">
            <a:off x="12738049" y="3405683"/>
            <a:ext cx="1463497" cy="407327"/>
            <a:chOff x="0" y="0"/>
            <a:chExt cx="1951330" cy="543103"/>
          </a:xfrm>
        </p:grpSpPr>
        <p:sp>
          <p:nvSpPr>
            <p:cNvPr name="Freeform 130" id="130"/>
            <p:cNvSpPr/>
            <p:nvPr/>
          </p:nvSpPr>
          <p:spPr>
            <a:xfrm flipH="false" flipV="false" rot="0">
              <a:off x="0" y="0"/>
              <a:ext cx="1951330" cy="543104"/>
            </a:xfrm>
            <a:custGeom>
              <a:avLst/>
              <a:gdLst/>
              <a:ahLst/>
              <a:cxnLst/>
              <a:rect r="r" b="b" t="t" l="l"/>
              <a:pathLst>
                <a:path h="543104" w="1951330">
                  <a:moveTo>
                    <a:pt x="0" y="0"/>
                  </a:moveTo>
                  <a:lnTo>
                    <a:pt x="1951330" y="0"/>
                  </a:lnTo>
                  <a:lnTo>
                    <a:pt x="1951330" y="543104"/>
                  </a:lnTo>
                  <a:lnTo>
                    <a:pt x="0" y="543104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3136" r="0" b="-6880"/>
              </a:stretch>
            </a:blipFill>
          </p:spPr>
        </p:sp>
        <p:sp>
          <p:nvSpPr>
            <p:cNvPr name="TextBox 131" id="131"/>
            <p:cNvSpPr txBox="true"/>
            <p:nvPr/>
          </p:nvSpPr>
          <p:spPr>
            <a:xfrm>
              <a:off x="0" y="-9525"/>
              <a:ext cx="1951330" cy="5526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b="true">
                  <a:solidFill>
                    <a:srgbClr val="E0E0E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III YEAR</a:t>
              </a:r>
            </a:p>
          </p:txBody>
        </p:sp>
      </p:grpSp>
      <p:grpSp>
        <p:nvGrpSpPr>
          <p:cNvPr name="Group 132" id="132"/>
          <p:cNvGrpSpPr/>
          <p:nvPr/>
        </p:nvGrpSpPr>
        <p:grpSpPr>
          <a:xfrm rot="0">
            <a:off x="6120079" y="4088740"/>
            <a:ext cx="2147100" cy="407327"/>
            <a:chOff x="0" y="0"/>
            <a:chExt cx="2862800" cy="543103"/>
          </a:xfrm>
        </p:grpSpPr>
        <p:sp>
          <p:nvSpPr>
            <p:cNvPr name="Freeform 133" id="133"/>
            <p:cNvSpPr/>
            <p:nvPr/>
          </p:nvSpPr>
          <p:spPr>
            <a:xfrm flipH="false" flipV="false" rot="0">
              <a:off x="0" y="0"/>
              <a:ext cx="2862800" cy="543104"/>
            </a:xfrm>
            <a:custGeom>
              <a:avLst/>
              <a:gdLst/>
              <a:ahLst/>
              <a:cxnLst/>
              <a:rect r="r" b="b" t="t" l="l"/>
              <a:pathLst>
                <a:path h="543104" w="2862800">
                  <a:moveTo>
                    <a:pt x="0" y="0"/>
                  </a:moveTo>
                  <a:lnTo>
                    <a:pt x="2862800" y="0"/>
                  </a:lnTo>
                  <a:lnTo>
                    <a:pt x="2862800" y="543104"/>
                  </a:lnTo>
                  <a:lnTo>
                    <a:pt x="0" y="543104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41337" r="23853" b="-15081"/>
              </a:stretch>
            </a:blipFill>
          </p:spPr>
        </p:sp>
        <p:sp>
          <p:nvSpPr>
            <p:cNvPr name="TextBox 134" id="134"/>
            <p:cNvSpPr txBox="true"/>
            <p:nvPr/>
          </p:nvSpPr>
          <p:spPr>
            <a:xfrm>
              <a:off x="0" y="-9525"/>
              <a:ext cx="2862800" cy="5526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b="true">
                  <a:solidFill>
                    <a:srgbClr val="E0E0E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ASHWINKUMAR K</a:t>
              </a:r>
            </a:p>
          </p:txBody>
        </p:sp>
      </p:grpSp>
      <p:grpSp>
        <p:nvGrpSpPr>
          <p:cNvPr name="Group 135" id="135"/>
          <p:cNvGrpSpPr/>
          <p:nvPr/>
        </p:nvGrpSpPr>
        <p:grpSpPr>
          <a:xfrm rot="0">
            <a:off x="12738049" y="4088740"/>
            <a:ext cx="1463497" cy="407327"/>
            <a:chOff x="0" y="0"/>
            <a:chExt cx="1951330" cy="543103"/>
          </a:xfrm>
        </p:grpSpPr>
        <p:sp>
          <p:nvSpPr>
            <p:cNvPr name="Freeform 136" id="136"/>
            <p:cNvSpPr/>
            <p:nvPr/>
          </p:nvSpPr>
          <p:spPr>
            <a:xfrm flipH="false" flipV="false" rot="0">
              <a:off x="0" y="0"/>
              <a:ext cx="1951330" cy="543104"/>
            </a:xfrm>
            <a:custGeom>
              <a:avLst/>
              <a:gdLst/>
              <a:ahLst/>
              <a:cxnLst/>
              <a:rect r="r" b="b" t="t" l="l"/>
              <a:pathLst>
                <a:path h="543104" w="1951330">
                  <a:moveTo>
                    <a:pt x="0" y="0"/>
                  </a:moveTo>
                  <a:lnTo>
                    <a:pt x="1951330" y="0"/>
                  </a:lnTo>
                  <a:lnTo>
                    <a:pt x="1951330" y="543104"/>
                  </a:lnTo>
                  <a:lnTo>
                    <a:pt x="0" y="543104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3136" r="0" b="-6880"/>
              </a:stretch>
            </a:blipFill>
          </p:spPr>
        </p:sp>
        <p:sp>
          <p:nvSpPr>
            <p:cNvPr name="TextBox 137" id="137"/>
            <p:cNvSpPr txBox="true"/>
            <p:nvPr/>
          </p:nvSpPr>
          <p:spPr>
            <a:xfrm>
              <a:off x="0" y="-9525"/>
              <a:ext cx="1951330" cy="5526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b="true">
                  <a:solidFill>
                    <a:srgbClr val="E0E0E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III YEAR</a:t>
              </a:r>
            </a:p>
          </p:txBody>
        </p:sp>
      </p:grpSp>
      <p:grpSp>
        <p:nvGrpSpPr>
          <p:cNvPr name="Group 138" id="138"/>
          <p:cNvGrpSpPr/>
          <p:nvPr/>
        </p:nvGrpSpPr>
        <p:grpSpPr>
          <a:xfrm rot="0">
            <a:off x="6120079" y="4767682"/>
            <a:ext cx="2520190" cy="407327"/>
            <a:chOff x="0" y="0"/>
            <a:chExt cx="3360254" cy="543103"/>
          </a:xfrm>
        </p:grpSpPr>
        <p:sp>
          <p:nvSpPr>
            <p:cNvPr name="Freeform 139" id="139"/>
            <p:cNvSpPr/>
            <p:nvPr/>
          </p:nvSpPr>
          <p:spPr>
            <a:xfrm flipH="false" flipV="false" rot="0">
              <a:off x="0" y="0"/>
              <a:ext cx="3360254" cy="543104"/>
            </a:xfrm>
            <a:custGeom>
              <a:avLst/>
              <a:gdLst/>
              <a:ahLst/>
              <a:cxnLst/>
              <a:rect r="r" b="b" t="t" l="l"/>
              <a:pathLst>
                <a:path h="543104" w="3360254">
                  <a:moveTo>
                    <a:pt x="0" y="0"/>
                  </a:moveTo>
                  <a:lnTo>
                    <a:pt x="3360254" y="0"/>
                  </a:lnTo>
                  <a:lnTo>
                    <a:pt x="3360254" y="543104"/>
                  </a:lnTo>
                  <a:lnTo>
                    <a:pt x="0" y="543104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41337" r="35126" b="-15081"/>
              </a:stretch>
            </a:blipFill>
          </p:spPr>
        </p:sp>
        <p:sp>
          <p:nvSpPr>
            <p:cNvPr name="TextBox 140" id="140"/>
            <p:cNvSpPr txBox="true"/>
            <p:nvPr/>
          </p:nvSpPr>
          <p:spPr>
            <a:xfrm>
              <a:off x="0" y="-9525"/>
              <a:ext cx="3360254" cy="5526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b="true">
                  <a:solidFill>
                    <a:srgbClr val="E0E0E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DHAMARAI KANNAN A</a:t>
              </a:r>
            </a:p>
          </p:txBody>
        </p:sp>
      </p:grpSp>
      <p:grpSp>
        <p:nvGrpSpPr>
          <p:cNvPr name="Group 141" id="141"/>
          <p:cNvGrpSpPr/>
          <p:nvPr/>
        </p:nvGrpSpPr>
        <p:grpSpPr>
          <a:xfrm rot="0">
            <a:off x="12738049" y="4771796"/>
            <a:ext cx="1463497" cy="407327"/>
            <a:chOff x="0" y="0"/>
            <a:chExt cx="1951330" cy="543103"/>
          </a:xfrm>
        </p:grpSpPr>
        <p:sp>
          <p:nvSpPr>
            <p:cNvPr name="Freeform 142" id="142"/>
            <p:cNvSpPr/>
            <p:nvPr/>
          </p:nvSpPr>
          <p:spPr>
            <a:xfrm flipH="false" flipV="false" rot="0">
              <a:off x="0" y="0"/>
              <a:ext cx="1951330" cy="543104"/>
            </a:xfrm>
            <a:custGeom>
              <a:avLst/>
              <a:gdLst/>
              <a:ahLst/>
              <a:cxnLst/>
              <a:rect r="r" b="b" t="t" l="l"/>
              <a:pathLst>
                <a:path h="543104" w="1951330">
                  <a:moveTo>
                    <a:pt x="0" y="0"/>
                  </a:moveTo>
                  <a:lnTo>
                    <a:pt x="1951330" y="0"/>
                  </a:lnTo>
                  <a:lnTo>
                    <a:pt x="1951330" y="543104"/>
                  </a:lnTo>
                  <a:lnTo>
                    <a:pt x="0" y="543104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3136" r="0" b="-6880"/>
              </a:stretch>
            </a:blipFill>
          </p:spPr>
        </p:sp>
        <p:sp>
          <p:nvSpPr>
            <p:cNvPr name="TextBox 143" id="143"/>
            <p:cNvSpPr txBox="true"/>
            <p:nvPr/>
          </p:nvSpPr>
          <p:spPr>
            <a:xfrm>
              <a:off x="0" y="-9525"/>
              <a:ext cx="1951330" cy="5526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b="true">
                  <a:solidFill>
                    <a:srgbClr val="E0E0E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III YEAR</a:t>
              </a:r>
            </a:p>
          </p:txBody>
        </p:sp>
      </p:grpSp>
      <p:grpSp>
        <p:nvGrpSpPr>
          <p:cNvPr name="Group 144" id="144"/>
          <p:cNvGrpSpPr/>
          <p:nvPr/>
        </p:nvGrpSpPr>
        <p:grpSpPr>
          <a:xfrm rot="0">
            <a:off x="6120079" y="5347906"/>
            <a:ext cx="1634947" cy="407327"/>
            <a:chOff x="0" y="0"/>
            <a:chExt cx="2179930" cy="543103"/>
          </a:xfrm>
        </p:grpSpPr>
        <p:sp>
          <p:nvSpPr>
            <p:cNvPr name="Freeform 145" id="145"/>
            <p:cNvSpPr/>
            <p:nvPr/>
          </p:nvSpPr>
          <p:spPr>
            <a:xfrm flipH="false" flipV="false" rot="0">
              <a:off x="0" y="0"/>
              <a:ext cx="2179930" cy="543104"/>
            </a:xfrm>
            <a:custGeom>
              <a:avLst/>
              <a:gdLst/>
              <a:ahLst/>
              <a:cxnLst/>
              <a:rect r="r" b="b" t="t" l="l"/>
              <a:pathLst>
                <a:path h="543104" w="2179930">
                  <a:moveTo>
                    <a:pt x="0" y="0"/>
                  </a:moveTo>
                  <a:lnTo>
                    <a:pt x="2179930" y="0"/>
                  </a:lnTo>
                  <a:lnTo>
                    <a:pt x="2179930" y="543104"/>
                  </a:lnTo>
                  <a:lnTo>
                    <a:pt x="0" y="543104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41337" r="0" b="-15081"/>
              </a:stretch>
            </a:blipFill>
          </p:spPr>
        </p:sp>
        <p:sp>
          <p:nvSpPr>
            <p:cNvPr name="TextBox 146" id="146"/>
            <p:cNvSpPr txBox="true"/>
            <p:nvPr/>
          </p:nvSpPr>
          <p:spPr>
            <a:xfrm>
              <a:off x="0" y="-9525"/>
              <a:ext cx="2179930" cy="5526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b="true">
                  <a:solidFill>
                    <a:srgbClr val="E0E0E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DHARSHAN S</a:t>
              </a:r>
            </a:p>
          </p:txBody>
        </p:sp>
      </p:grpSp>
      <p:grpSp>
        <p:nvGrpSpPr>
          <p:cNvPr name="Group 147" id="147"/>
          <p:cNvGrpSpPr/>
          <p:nvPr/>
        </p:nvGrpSpPr>
        <p:grpSpPr>
          <a:xfrm rot="0">
            <a:off x="12683871" y="5365013"/>
            <a:ext cx="1463497" cy="407327"/>
            <a:chOff x="0" y="0"/>
            <a:chExt cx="1951330" cy="543103"/>
          </a:xfrm>
        </p:grpSpPr>
        <p:sp>
          <p:nvSpPr>
            <p:cNvPr name="Freeform 148" id="148"/>
            <p:cNvSpPr/>
            <p:nvPr/>
          </p:nvSpPr>
          <p:spPr>
            <a:xfrm flipH="false" flipV="false" rot="0">
              <a:off x="0" y="0"/>
              <a:ext cx="1951330" cy="543104"/>
            </a:xfrm>
            <a:custGeom>
              <a:avLst/>
              <a:gdLst/>
              <a:ahLst/>
              <a:cxnLst/>
              <a:rect r="r" b="b" t="t" l="l"/>
              <a:pathLst>
                <a:path h="543104" w="1951330">
                  <a:moveTo>
                    <a:pt x="0" y="0"/>
                  </a:moveTo>
                  <a:lnTo>
                    <a:pt x="1951330" y="0"/>
                  </a:lnTo>
                  <a:lnTo>
                    <a:pt x="1951330" y="543104"/>
                  </a:lnTo>
                  <a:lnTo>
                    <a:pt x="0" y="543104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3136" r="0" b="-6880"/>
              </a:stretch>
            </a:blipFill>
          </p:spPr>
        </p:sp>
        <p:sp>
          <p:nvSpPr>
            <p:cNvPr name="TextBox 149" id="149"/>
            <p:cNvSpPr txBox="true"/>
            <p:nvPr/>
          </p:nvSpPr>
          <p:spPr>
            <a:xfrm>
              <a:off x="0" y="-9525"/>
              <a:ext cx="1951330" cy="5526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b="true">
                  <a:solidFill>
                    <a:srgbClr val="E0E0E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III YEAR</a:t>
              </a:r>
            </a:p>
          </p:txBody>
        </p:sp>
      </p:grpSp>
      <p:grpSp>
        <p:nvGrpSpPr>
          <p:cNvPr name="Group 150" id="150"/>
          <p:cNvGrpSpPr/>
          <p:nvPr/>
        </p:nvGrpSpPr>
        <p:grpSpPr>
          <a:xfrm rot="0">
            <a:off x="1385316" y="7664120"/>
            <a:ext cx="6758967" cy="440893"/>
            <a:chOff x="0" y="0"/>
            <a:chExt cx="9011956" cy="587858"/>
          </a:xfrm>
        </p:grpSpPr>
        <p:sp>
          <p:nvSpPr>
            <p:cNvPr name="Freeform 151" id="151"/>
            <p:cNvSpPr/>
            <p:nvPr/>
          </p:nvSpPr>
          <p:spPr>
            <a:xfrm flipH="false" flipV="false" rot="0">
              <a:off x="0" y="0"/>
              <a:ext cx="9011956" cy="587858"/>
            </a:xfrm>
            <a:custGeom>
              <a:avLst/>
              <a:gdLst/>
              <a:ahLst/>
              <a:cxnLst/>
              <a:rect r="r" b="b" t="t" l="l"/>
              <a:pathLst>
                <a:path h="587858" w="9011956">
                  <a:moveTo>
                    <a:pt x="0" y="0"/>
                  </a:moveTo>
                  <a:lnTo>
                    <a:pt x="9011956" y="0"/>
                  </a:lnTo>
                  <a:lnTo>
                    <a:pt x="9011956" y="587858"/>
                  </a:lnTo>
                  <a:lnTo>
                    <a:pt x="0" y="587858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99057" r="54340" b="-73720"/>
              </a:stretch>
            </a:blipFill>
          </p:spPr>
        </p:sp>
        <p:sp>
          <p:nvSpPr>
            <p:cNvPr name="TextBox 152" id="152"/>
            <p:cNvSpPr txBox="true"/>
            <p:nvPr/>
          </p:nvSpPr>
          <p:spPr>
            <a:xfrm>
              <a:off x="0" y="-19050"/>
              <a:ext cx="9011956" cy="6069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CHENNAI INSTITUTE OF TECHNOLOGY</a:t>
              </a:r>
            </a:p>
          </p:txBody>
        </p:sp>
      </p:grpSp>
      <p:grpSp>
        <p:nvGrpSpPr>
          <p:cNvPr name="Group 153" id="153"/>
          <p:cNvGrpSpPr/>
          <p:nvPr/>
        </p:nvGrpSpPr>
        <p:grpSpPr>
          <a:xfrm rot="0">
            <a:off x="1385316" y="9058046"/>
            <a:ext cx="2301545" cy="440893"/>
            <a:chOff x="0" y="0"/>
            <a:chExt cx="3068726" cy="587858"/>
          </a:xfrm>
        </p:grpSpPr>
        <p:sp>
          <p:nvSpPr>
            <p:cNvPr name="Freeform 154" id="154"/>
            <p:cNvSpPr/>
            <p:nvPr/>
          </p:nvSpPr>
          <p:spPr>
            <a:xfrm flipH="false" flipV="false" rot="0">
              <a:off x="0" y="0"/>
              <a:ext cx="3068726" cy="587858"/>
            </a:xfrm>
            <a:custGeom>
              <a:avLst/>
              <a:gdLst/>
              <a:ahLst/>
              <a:cxnLst/>
              <a:rect r="r" b="b" t="t" l="l"/>
              <a:pathLst>
                <a:path h="587858" w="3068726">
                  <a:moveTo>
                    <a:pt x="0" y="0"/>
                  </a:moveTo>
                  <a:lnTo>
                    <a:pt x="3068726" y="0"/>
                  </a:lnTo>
                  <a:lnTo>
                    <a:pt x="3068726" y="587858"/>
                  </a:lnTo>
                  <a:lnTo>
                    <a:pt x="0" y="587858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64384" r="0" b="-39047"/>
              </a:stretch>
            </a:blipFill>
          </p:spPr>
        </p:sp>
        <p:sp>
          <p:nvSpPr>
            <p:cNvPr name="TextBox 155" id="155"/>
            <p:cNvSpPr txBox="true"/>
            <p:nvPr/>
          </p:nvSpPr>
          <p:spPr>
            <a:xfrm>
              <a:off x="0" y="-19050"/>
              <a:ext cx="3068726" cy="6069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+91 7010449210</a:t>
              </a:r>
            </a:p>
          </p:txBody>
        </p:sp>
      </p:grpSp>
      <p:grpSp>
        <p:nvGrpSpPr>
          <p:cNvPr name="Group 156" id="156"/>
          <p:cNvGrpSpPr/>
          <p:nvPr/>
        </p:nvGrpSpPr>
        <p:grpSpPr>
          <a:xfrm rot="0">
            <a:off x="9529877" y="9058046"/>
            <a:ext cx="5565970" cy="440893"/>
            <a:chOff x="0" y="0"/>
            <a:chExt cx="7421293" cy="587858"/>
          </a:xfrm>
        </p:grpSpPr>
        <p:sp>
          <p:nvSpPr>
            <p:cNvPr name="Freeform 157" id="157"/>
            <p:cNvSpPr/>
            <p:nvPr/>
          </p:nvSpPr>
          <p:spPr>
            <a:xfrm flipH="false" flipV="false" rot="0">
              <a:off x="0" y="0"/>
              <a:ext cx="7421292" cy="587858"/>
            </a:xfrm>
            <a:custGeom>
              <a:avLst/>
              <a:gdLst/>
              <a:ahLst/>
              <a:cxnLst/>
              <a:rect r="r" b="b" t="t" l="l"/>
              <a:pathLst>
                <a:path h="587858" w="7421292">
                  <a:moveTo>
                    <a:pt x="0" y="0"/>
                  </a:moveTo>
                  <a:lnTo>
                    <a:pt x="7421292" y="0"/>
                  </a:lnTo>
                  <a:lnTo>
                    <a:pt x="7421292" y="587858"/>
                  </a:lnTo>
                  <a:lnTo>
                    <a:pt x="0" y="587858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87721" r="49162" b="-62384"/>
              </a:stretch>
            </a:blipFill>
          </p:spPr>
        </p:sp>
        <p:sp>
          <p:nvSpPr>
            <p:cNvPr name="TextBox 158" id="158"/>
            <p:cNvSpPr txBox="true"/>
            <p:nvPr/>
          </p:nvSpPr>
          <p:spPr>
            <a:xfrm>
              <a:off x="0" y="-19050"/>
              <a:ext cx="7421293" cy="6069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akshayasreleka2006@gmail.com</a:t>
              </a:r>
            </a:p>
          </p:txBody>
        </p:sp>
      </p:grpSp>
      <p:grpSp>
        <p:nvGrpSpPr>
          <p:cNvPr name="Group 159" id="159"/>
          <p:cNvGrpSpPr/>
          <p:nvPr/>
        </p:nvGrpSpPr>
        <p:grpSpPr>
          <a:xfrm rot="0">
            <a:off x="843534" y="207112"/>
            <a:ext cx="16573043" cy="1286561"/>
            <a:chOff x="0" y="0"/>
            <a:chExt cx="22097390" cy="1715414"/>
          </a:xfrm>
        </p:grpSpPr>
        <p:sp>
          <p:nvSpPr>
            <p:cNvPr name="Freeform 160" id="160"/>
            <p:cNvSpPr/>
            <p:nvPr/>
          </p:nvSpPr>
          <p:spPr>
            <a:xfrm flipH="false" flipV="false" rot="0">
              <a:off x="0" y="0"/>
              <a:ext cx="22097366" cy="1715389"/>
            </a:xfrm>
            <a:custGeom>
              <a:avLst/>
              <a:gdLst/>
              <a:ahLst/>
              <a:cxnLst/>
              <a:rect r="r" b="b" t="t" l="l"/>
              <a:pathLst>
                <a:path h="1715389" w="22097366">
                  <a:moveTo>
                    <a:pt x="0" y="162560"/>
                  </a:moveTo>
                  <a:cubicBezTo>
                    <a:pt x="0" y="72771"/>
                    <a:pt x="72771" y="0"/>
                    <a:pt x="162560" y="0"/>
                  </a:cubicBezTo>
                  <a:lnTo>
                    <a:pt x="21934805" y="0"/>
                  </a:lnTo>
                  <a:cubicBezTo>
                    <a:pt x="22024594" y="0"/>
                    <a:pt x="22097366" y="72771"/>
                    <a:pt x="22097366" y="162560"/>
                  </a:cubicBezTo>
                  <a:lnTo>
                    <a:pt x="22097366" y="1552829"/>
                  </a:lnTo>
                  <a:cubicBezTo>
                    <a:pt x="22097366" y="1642618"/>
                    <a:pt x="22024594" y="1715389"/>
                    <a:pt x="21934805" y="1715389"/>
                  </a:cubicBezTo>
                  <a:lnTo>
                    <a:pt x="162560" y="1715389"/>
                  </a:lnTo>
                  <a:cubicBezTo>
                    <a:pt x="72771" y="1715389"/>
                    <a:pt x="0" y="1642618"/>
                    <a:pt x="0" y="1552829"/>
                  </a:cubicBez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grpSp>
        <p:nvGrpSpPr>
          <p:cNvPr name="Group 161" id="161"/>
          <p:cNvGrpSpPr/>
          <p:nvPr/>
        </p:nvGrpSpPr>
        <p:grpSpPr>
          <a:xfrm rot="0">
            <a:off x="2257435" y="410566"/>
            <a:ext cx="13745232" cy="879653"/>
            <a:chOff x="0" y="0"/>
            <a:chExt cx="18326976" cy="1172870"/>
          </a:xfrm>
        </p:grpSpPr>
        <p:sp>
          <p:nvSpPr>
            <p:cNvPr name="Freeform 162" id="162"/>
            <p:cNvSpPr/>
            <p:nvPr/>
          </p:nvSpPr>
          <p:spPr>
            <a:xfrm flipH="false" flipV="false" rot="0">
              <a:off x="0" y="0"/>
              <a:ext cx="18326988" cy="1172845"/>
            </a:xfrm>
            <a:custGeom>
              <a:avLst/>
              <a:gdLst/>
              <a:ahLst/>
              <a:cxnLst/>
              <a:rect r="r" b="b" t="t" l="l"/>
              <a:pathLst>
                <a:path h="1172845" w="18326988">
                  <a:moveTo>
                    <a:pt x="0" y="0"/>
                  </a:moveTo>
                  <a:lnTo>
                    <a:pt x="18326988" y="0"/>
                  </a:lnTo>
                  <a:lnTo>
                    <a:pt x="18326988" y="1172845"/>
                  </a:lnTo>
                  <a:lnTo>
                    <a:pt x="0" y="11728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-2" r="0" b="-4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7543" cy="10287000"/>
            <a:chOff x="0" y="0"/>
            <a:chExt cx="2438339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336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00036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7543" cy="10287000"/>
            <a:chOff x="0" y="0"/>
            <a:chExt cx="24383390" cy="13716000"/>
          </a:xfrm>
        </p:grpSpPr>
        <p:sp>
          <p:nvSpPr>
            <p:cNvPr name="Freeform 5" id="5" descr="preencoded.png"/>
            <p:cNvSpPr/>
            <p:nvPr/>
          </p:nvSpPr>
          <p:spPr>
            <a:xfrm flipH="false" flipV="false" rot="0">
              <a:off x="0" y="0"/>
              <a:ext cx="2438336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5000"/>
              </a:blip>
              <a:stretch>
                <a:fillRect l="-16360" t="0" r="-16361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857250" y="429311"/>
            <a:ext cx="16573043" cy="999896"/>
            <a:chOff x="0" y="0"/>
            <a:chExt cx="22097390" cy="133319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2097364" cy="1333246"/>
            </a:xfrm>
            <a:custGeom>
              <a:avLst/>
              <a:gdLst/>
              <a:ahLst/>
              <a:cxnLst/>
              <a:rect r="r" b="b" t="t" l="l"/>
              <a:pathLst>
                <a:path h="1333246" w="22097364">
                  <a:moveTo>
                    <a:pt x="0" y="209042"/>
                  </a:moveTo>
                  <a:cubicBezTo>
                    <a:pt x="0" y="93599"/>
                    <a:pt x="93599" y="0"/>
                    <a:pt x="209042" y="0"/>
                  </a:cubicBezTo>
                  <a:lnTo>
                    <a:pt x="21888323" y="0"/>
                  </a:lnTo>
                  <a:cubicBezTo>
                    <a:pt x="22003765" y="0"/>
                    <a:pt x="22097364" y="93599"/>
                    <a:pt x="22097364" y="209042"/>
                  </a:cubicBezTo>
                  <a:lnTo>
                    <a:pt x="22097364" y="1124204"/>
                  </a:lnTo>
                  <a:cubicBezTo>
                    <a:pt x="22097364" y="1239647"/>
                    <a:pt x="22003765" y="1333246"/>
                    <a:pt x="21888323" y="1333246"/>
                  </a:cubicBezTo>
                  <a:lnTo>
                    <a:pt x="209042" y="1333246"/>
                  </a:lnTo>
                  <a:cubicBezTo>
                    <a:pt x="93599" y="1333246"/>
                    <a:pt x="0" y="1239647"/>
                    <a:pt x="0" y="1124204"/>
                  </a:cubicBez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6287750" y="571957"/>
            <a:ext cx="714604" cy="714604"/>
            <a:chOff x="0" y="0"/>
            <a:chExt cx="952805" cy="952805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952754" cy="952754"/>
            </a:xfrm>
            <a:custGeom>
              <a:avLst/>
              <a:gdLst/>
              <a:ahLst/>
              <a:cxnLst/>
              <a:rect r="r" b="b" t="t" l="l"/>
              <a:pathLst>
                <a:path h="952754" w="952754">
                  <a:moveTo>
                    <a:pt x="0" y="0"/>
                  </a:moveTo>
                  <a:lnTo>
                    <a:pt x="952754" y="0"/>
                  </a:lnTo>
                  <a:lnTo>
                    <a:pt x="952754" y="952754"/>
                  </a:lnTo>
                  <a:lnTo>
                    <a:pt x="0" y="9527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5" b="-5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137533" y="571957"/>
            <a:ext cx="8618220" cy="701040"/>
            <a:chOff x="0" y="0"/>
            <a:chExt cx="11490960" cy="93472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1490960" cy="934720"/>
            </a:xfrm>
            <a:custGeom>
              <a:avLst/>
              <a:gdLst/>
              <a:ahLst/>
              <a:cxnLst/>
              <a:rect r="r" b="b" t="t" l="l"/>
              <a:pathLst>
                <a:path h="934720" w="11490960">
                  <a:moveTo>
                    <a:pt x="0" y="0"/>
                  </a:moveTo>
                  <a:lnTo>
                    <a:pt x="11490960" y="0"/>
                  </a:lnTo>
                  <a:lnTo>
                    <a:pt x="11490960" y="934720"/>
                  </a:lnTo>
                  <a:lnTo>
                    <a:pt x="0" y="9347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1" t="0" r="-11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0" y="0"/>
            <a:ext cx="18287543" cy="10287000"/>
            <a:chOff x="0" y="0"/>
            <a:chExt cx="24383390" cy="13716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438336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00036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0" y="0"/>
            <a:ext cx="18287543" cy="10287000"/>
            <a:chOff x="0" y="0"/>
            <a:chExt cx="24383390" cy="13716000"/>
          </a:xfrm>
        </p:grpSpPr>
        <p:sp>
          <p:nvSpPr>
            <p:cNvPr name="Freeform 15" id="15" descr="preencoded.png"/>
            <p:cNvSpPr/>
            <p:nvPr/>
          </p:nvSpPr>
          <p:spPr>
            <a:xfrm flipH="false" flipV="false" rot="0">
              <a:off x="0" y="0"/>
              <a:ext cx="2438336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</a:blip>
              <a:stretch>
                <a:fillRect l="-16360" t="0" r="-16361" b="0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857250" y="1999793"/>
            <a:ext cx="113843" cy="614477"/>
            <a:chOff x="0" y="0"/>
            <a:chExt cx="151790" cy="81930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51765" cy="819277"/>
            </a:xfrm>
            <a:custGeom>
              <a:avLst/>
              <a:gdLst/>
              <a:ahLst/>
              <a:cxnLst/>
              <a:rect r="r" b="b" t="t" l="l"/>
              <a:pathLst>
                <a:path h="819277" w="151765">
                  <a:moveTo>
                    <a:pt x="0" y="0"/>
                  </a:moveTo>
                  <a:lnTo>
                    <a:pt x="151765" y="0"/>
                  </a:lnTo>
                  <a:lnTo>
                    <a:pt x="151765" y="819277"/>
                  </a:lnTo>
                  <a:lnTo>
                    <a:pt x="0" y="819277"/>
                  </a:lnTo>
                  <a:close/>
                </a:path>
              </a:pathLst>
            </a:custGeom>
            <a:solidFill>
              <a:srgbClr val="88E555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257757" y="1943557"/>
            <a:ext cx="8321497" cy="967969"/>
            <a:chOff x="0" y="0"/>
            <a:chExt cx="11095330" cy="1290625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1095330" cy="1290624"/>
            </a:xfrm>
            <a:custGeom>
              <a:avLst/>
              <a:gdLst/>
              <a:ahLst/>
              <a:cxnLst/>
              <a:rect r="r" b="b" t="t" l="l"/>
              <a:pathLst>
                <a:path h="1290624" w="11095330">
                  <a:moveTo>
                    <a:pt x="0" y="0"/>
                  </a:moveTo>
                  <a:lnTo>
                    <a:pt x="11095330" y="0"/>
                  </a:lnTo>
                  <a:lnTo>
                    <a:pt x="11095330" y="1290624"/>
                  </a:lnTo>
                  <a:lnTo>
                    <a:pt x="0" y="1290624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31306" r="0" b="-103714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11095330" cy="13287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b="true" sz="3900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PROBLEM STATEMENT 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914171" y="2911526"/>
            <a:ext cx="16592093" cy="7067740"/>
            <a:chOff x="0" y="0"/>
            <a:chExt cx="22122790" cy="9423654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2122764" cy="9423576"/>
            </a:xfrm>
            <a:custGeom>
              <a:avLst/>
              <a:gdLst/>
              <a:ahLst/>
              <a:cxnLst/>
              <a:rect r="r" b="b" t="t" l="l"/>
              <a:pathLst>
                <a:path h="9423576" w="22122764">
                  <a:moveTo>
                    <a:pt x="0" y="63307"/>
                  </a:moveTo>
                  <a:cubicBezTo>
                    <a:pt x="0" y="28311"/>
                    <a:pt x="27432" y="0"/>
                    <a:pt x="61341" y="0"/>
                  </a:cubicBezTo>
                  <a:lnTo>
                    <a:pt x="22061424" y="0"/>
                  </a:lnTo>
                  <a:cubicBezTo>
                    <a:pt x="22095333" y="0"/>
                    <a:pt x="22122764" y="28311"/>
                    <a:pt x="22122764" y="63307"/>
                  </a:cubicBezTo>
                  <a:lnTo>
                    <a:pt x="22122764" y="9360268"/>
                  </a:lnTo>
                  <a:cubicBezTo>
                    <a:pt x="22122764" y="9395264"/>
                    <a:pt x="22095333" y="9423576"/>
                    <a:pt x="22061424" y="9423576"/>
                  </a:cubicBezTo>
                  <a:lnTo>
                    <a:pt x="61341" y="9423576"/>
                  </a:lnTo>
                  <a:cubicBezTo>
                    <a:pt x="27432" y="9423576"/>
                    <a:pt x="0" y="9395264"/>
                    <a:pt x="0" y="9360268"/>
                  </a:cubicBezTo>
                  <a:close/>
                </a:path>
              </a:pathLst>
            </a:custGeom>
            <a:solidFill>
              <a:srgbClr val="FFFFFF">
                <a:alpha val="0"/>
              </a:srgbClr>
            </a:solidFill>
            <a:ln w="19050" cap="sq">
              <a:solidFill>
                <a:srgbClr val="88E555"/>
              </a:solidFill>
              <a:prstDash val="solid"/>
              <a:miter/>
            </a:ln>
          </p:spPr>
        </p:sp>
      </p:grpSp>
      <p:grpSp>
        <p:nvGrpSpPr>
          <p:cNvPr name="Group 23" id="23"/>
          <p:cNvGrpSpPr/>
          <p:nvPr/>
        </p:nvGrpSpPr>
        <p:grpSpPr>
          <a:xfrm rot="0">
            <a:off x="915314" y="2876036"/>
            <a:ext cx="342443" cy="342443"/>
            <a:chOff x="0" y="0"/>
            <a:chExt cx="456590" cy="45659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456565" cy="456565"/>
            </a:xfrm>
            <a:custGeom>
              <a:avLst/>
              <a:gdLst/>
              <a:ahLst/>
              <a:cxnLst/>
              <a:rect r="r" b="b" t="t" l="l"/>
              <a:pathLst>
                <a:path h="456565" w="456565">
                  <a:moveTo>
                    <a:pt x="0" y="228346"/>
                  </a:moveTo>
                  <a:cubicBezTo>
                    <a:pt x="0" y="102235"/>
                    <a:pt x="102235" y="0"/>
                    <a:pt x="228346" y="0"/>
                  </a:cubicBezTo>
                  <a:cubicBezTo>
                    <a:pt x="354457" y="0"/>
                    <a:pt x="456565" y="102235"/>
                    <a:pt x="456565" y="228346"/>
                  </a:cubicBezTo>
                  <a:cubicBezTo>
                    <a:pt x="456565" y="354457"/>
                    <a:pt x="354330" y="456565"/>
                    <a:pt x="228346" y="456565"/>
                  </a:cubicBezTo>
                  <a:cubicBezTo>
                    <a:pt x="102362" y="456565"/>
                    <a:pt x="0" y="354330"/>
                    <a:pt x="0" y="228346"/>
                  </a:cubicBez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78307" t="0" r="-78313" b="-5"/>
              </a:stretch>
            </a:blipFill>
            <a:ln w="57150" cap="sq">
              <a:solidFill>
                <a:srgbClr val="88E555"/>
              </a:solidFill>
              <a:prstDash val="solid"/>
              <a:miter/>
            </a:ln>
          </p:spPr>
        </p:sp>
      </p:grpSp>
      <p:grpSp>
        <p:nvGrpSpPr>
          <p:cNvPr name="Group 25" id="25"/>
          <p:cNvGrpSpPr/>
          <p:nvPr/>
        </p:nvGrpSpPr>
        <p:grpSpPr>
          <a:xfrm rot="0">
            <a:off x="17163821" y="2911526"/>
            <a:ext cx="342443" cy="342443"/>
            <a:chOff x="0" y="0"/>
            <a:chExt cx="456590" cy="45659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456565" cy="456565"/>
            </a:xfrm>
            <a:custGeom>
              <a:avLst/>
              <a:gdLst/>
              <a:ahLst/>
              <a:cxnLst/>
              <a:rect r="r" b="b" t="t" l="l"/>
              <a:pathLst>
                <a:path h="456565" w="456565">
                  <a:moveTo>
                    <a:pt x="0" y="0"/>
                  </a:moveTo>
                  <a:lnTo>
                    <a:pt x="456565" y="0"/>
                  </a:lnTo>
                  <a:lnTo>
                    <a:pt x="456565" y="456565"/>
                  </a:lnTo>
                  <a:lnTo>
                    <a:pt x="0" y="45656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78307" t="0" r="-78313" b="-5"/>
              </a:stretch>
            </a:blipFill>
            <a:ln w="57150" cap="sq">
              <a:solidFill>
                <a:srgbClr val="88E555"/>
              </a:solidFill>
              <a:prstDash val="solid"/>
              <a:miter/>
            </a:ln>
          </p:spPr>
        </p:sp>
      </p:grpSp>
      <p:grpSp>
        <p:nvGrpSpPr>
          <p:cNvPr name="Group 27" id="27"/>
          <p:cNvGrpSpPr/>
          <p:nvPr/>
        </p:nvGrpSpPr>
        <p:grpSpPr>
          <a:xfrm rot="0">
            <a:off x="857479" y="9636823"/>
            <a:ext cx="342443" cy="342443"/>
            <a:chOff x="0" y="0"/>
            <a:chExt cx="456590" cy="45659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456565" cy="456565"/>
            </a:xfrm>
            <a:custGeom>
              <a:avLst/>
              <a:gdLst/>
              <a:ahLst/>
              <a:cxnLst/>
              <a:rect r="r" b="b" t="t" l="l"/>
              <a:pathLst>
                <a:path h="456565" w="456565">
                  <a:moveTo>
                    <a:pt x="0" y="0"/>
                  </a:moveTo>
                  <a:lnTo>
                    <a:pt x="456565" y="0"/>
                  </a:lnTo>
                  <a:lnTo>
                    <a:pt x="456565" y="456565"/>
                  </a:lnTo>
                  <a:lnTo>
                    <a:pt x="0" y="45656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78307" t="0" r="-78313" b="-5"/>
              </a:stretch>
            </a:blipFill>
            <a:ln w="57150" cap="sq">
              <a:solidFill>
                <a:srgbClr val="88E555"/>
              </a:solidFill>
              <a:prstDash val="solid"/>
              <a:miter/>
            </a:ln>
          </p:spPr>
        </p:sp>
      </p:grpSp>
      <p:grpSp>
        <p:nvGrpSpPr>
          <p:cNvPr name="Group 29" id="29"/>
          <p:cNvGrpSpPr/>
          <p:nvPr/>
        </p:nvGrpSpPr>
        <p:grpSpPr>
          <a:xfrm rot="0">
            <a:off x="17163821" y="9636823"/>
            <a:ext cx="342443" cy="342443"/>
            <a:chOff x="0" y="0"/>
            <a:chExt cx="456590" cy="45659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456565" cy="456565"/>
            </a:xfrm>
            <a:custGeom>
              <a:avLst/>
              <a:gdLst/>
              <a:ahLst/>
              <a:cxnLst/>
              <a:rect r="r" b="b" t="t" l="l"/>
              <a:pathLst>
                <a:path h="456565" w="456565">
                  <a:moveTo>
                    <a:pt x="0" y="0"/>
                  </a:moveTo>
                  <a:lnTo>
                    <a:pt x="456565" y="0"/>
                  </a:lnTo>
                  <a:lnTo>
                    <a:pt x="456565" y="456565"/>
                  </a:lnTo>
                  <a:lnTo>
                    <a:pt x="0" y="45656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78307" t="0" r="-78313" b="-5"/>
              </a:stretch>
            </a:blipFill>
            <a:ln w="57150" cap="sq">
              <a:solidFill>
                <a:srgbClr val="88E555"/>
              </a:solidFill>
              <a:prstDash val="solid"/>
              <a:miter/>
            </a:ln>
          </p:spPr>
        </p:sp>
      </p:grpSp>
      <p:grpSp>
        <p:nvGrpSpPr>
          <p:cNvPr name="Group 31" id="31"/>
          <p:cNvGrpSpPr/>
          <p:nvPr/>
        </p:nvGrpSpPr>
        <p:grpSpPr>
          <a:xfrm rot="0">
            <a:off x="1257757" y="3047257"/>
            <a:ext cx="13791282" cy="1080440"/>
            <a:chOff x="0" y="0"/>
            <a:chExt cx="18388376" cy="1440586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8388375" cy="1440587"/>
            </a:xfrm>
            <a:custGeom>
              <a:avLst/>
              <a:gdLst/>
              <a:ahLst/>
              <a:cxnLst/>
              <a:rect r="r" b="b" t="t" l="l"/>
              <a:pathLst>
                <a:path h="1440587" w="18388375">
                  <a:moveTo>
                    <a:pt x="0" y="0"/>
                  </a:moveTo>
                  <a:lnTo>
                    <a:pt x="18388375" y="0"/>
                  </a:lnTo>
                  <a:lnTo>
                    <a:pt x="18388375" y="1440587"/>
                  </a:lnTo>
                  <a:lnTo>
                    <a:pt x="0" y="1440587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47976" r="31724" b="-91647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28575"/>
              <a:ext cx="18388376" cy="14691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AEFF82"/>
                  </a:solidFill>
                  <a:latin typeface="Poppins"/>
                  <a:ea typeface="Poppins"/>
                  <a:cs typeface="Poppins"/>
                  <a:sym typeface="Poppins"/>
                </a:rPr>
                <a:t>Drift-Sense: AI-Powered Navigation-Error Recovery for Wafer Inspection Tools</a:t>
              </a:r>
            </a:p>
            <a:p>
              <a:pPr algn="l">
                <a:lnSpc>
                  <a:spcPts val="3240"/>
                </a:lnSpc>
              </a:pP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137533" y="3927505"/>
            <a:ext cx="15420746" cy="2261902"/>
            <a:chOff x="0" y="0"/>
            <a:chExt cx="20560995" cy="3015869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20560920" cy="3015810"/>
            </a:xfrm>
            <a:custGeom>
              <a:avLst/>
              <a:gdLst/>
              <a:ahLst/>
              <a:cxnLst/>
              <a:rect r="r" b="b" t="t" l="l"/>
              <a:pathLst>
                <a:path h="3015810" w="20560920">
                  <a:moveTo>
                    <a:pt x="0" y="128939"/>
                  </a:moveTo>
                  <a:cubicBezTo>
                    <a:pt x="0" y="57785"/>
                    <a:pt x="49403" y="0"/>
                    <a:pt x="110236" y="0"/>
                  </a:cubicBezTo>
                  <a:lnTo>
                    <a:pt x="20450683" y="0"/>
                  </a:lnTo>
                  <a:cubicBezTo>
                    <a:pt x="20511644" y="0"/>
                    <a:pt x="20560920" y="57785"/>
                    <a:pt x="20560920" y="128939"/>
                  </a:cubicBezTo>
                  <a:lnTo>
                    <a:pt x="20560920" y="2886870"/>
                  </a:lnTo>
                  <a:cubicBezTo>
                    <a:pt x="20560920" y="2958173"/>
                    <a:pt x="20511517" y="3015810"/>
                    <a:pt x="20450683" y="3015810"/>
                  </a:cubicBezTo>
                  <a:lnTo>
                    <a:pt x="110236" y="3015810"/>
                  </a:lnTo>
                  <a:cubicBezTo>
                    <a:pt x="49276" y="3015810"/>
                    <a:pt x="0" y="2958024"/>
                    <a:pt x="0" y="2886870"/>
                  </a:cubicBezTo>
                  <a:close/>
                </a:path>
              </a:pathLst>
            </a:custGeom>
            <a:solidFill>
              <a:srgbClr val="1E3A8A">
                <a:alpha val="15686"/>
              </a:srgbClr>
            </a:solidFill>
            <a:ln w="19050" cap="sq">
              <a:solidFill>
                <a:srgbClr val="1D4ED8"/>
              </a:solidFill>
              <a:prstDash val="solid"/>
              <a:miter/>
            </a:ln>
          </p:spPr>
        </p:sp>
      </p:grpSp>
      <p:grpSp>
        <p:nvGrpSpPr>
          <p:cNvPr name="Group 36" id="36"/>
          <p:cNvGrpSpPr/>
          <p:nvPr/>
        </p:nvGrpSpPr>
        <p:grpSpPr>
          <a:xfrm rot="0">
            <a:off x="1800911" y="6010351"/>
            <a:ext cx="2536088" cy="373761"/>
            <a:chOff x="0" y="0"/>
            <a:chExt cx="3381451" cy="498348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3381452" cy="498349"/>
            </a:xfrm>
            <a:custGeom>
              <a:avLst/>
              <a:gdLst/>
              <a:ahLst/>
              <a:cxnLst/>
              <a:rect r="r" b="b" t="t" l="l"/>
              <a:pathLst>
                <a:path h="498349" w="3381452">
                  <a:moveTo>
                    <a:pt x="0" y="0"/>
                  </a:moveTo>
                  <a:lnTo>
                    <a:pt x="3381452" y="0"/>
                  </a:lnTo>
                  <a:lnTo>
                    <a:pt x="3381452" y="498349"/>
                  </a:lnTo>
                  <a:lnTo>
                    <a:pt x="0" y="498349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93863" r="0" b="-70560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19050"/>
              <a:ext cx="3381451" cy="5173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1418720" y="4073542"/>
            <a:ext cx="13452653" cy="2550909"/>
            <a:chOff x="0" y="0"/>
            <a:chExt cx="17936870" cy="3401212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7936869" cy="3401211"/>
            </a:xfrm>
            <a:custGeom>
              <a:avLst/>
              <a:gdLst/>
              <a:ahLst/>
              <a:cxnLst/>
              <a:rect r="r" b="b" t="t" l="l"/>
              <a:pathLst>
                <a:path h="3401211" w="17936869">
                  <a:moveTo>
                    <a:pt x="0" y="0"/>
                  </a:moveTo>
                  <a:lnTo>
                    <a:pt x="17936869" y="0"/>
                  </a:lnTo>
                  <a:lnTo>
                    <a:pt x="17936869" y="3401211"/>
                  </a:lnTo>
                  <a:lnTo>
                    <a:pt x="0" y="3401211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87890" r="0" b="-17624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19050"/>
              <a:ext cx="17936870" cy="342026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PROBLEM DESCRIPTION:</a:t>
              </a:r>
            </a:p>
            <a:p>
              <a:pPr algn="l">
                <a:lnSpc>
                  <a:spcPts val="2340"/>
                </a:lnSpc>
              </a:pPr>
            </a:p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Given a high-magnification Reference Image and a 10× shrunk Search Image, the system must:</a:t>
              </a:r>
            </a:p>
            <a:p>
              <a:pPr algn="l" marL="421005" indent="-210502" lvl="1">
                <a:lnSpc>
                  <a:spcPts val="2340"/>
                </a:lnSpc>
                <a:buFont typeface="Arial"/>
                <a:buChar char="•"/>
              </a:pPr>
              <a:r>
                <a:rPr lang="en-US" sz="195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Locate where the reference pattern appears inside the search image.</a:t>
              </a:r>
            </a:p>
            <a:p>
              <a:pPr algn="l" marL="421005" indent="-210502" lvl="1">
                <a:lnSpc>
                  <a:spcPts val="2340"/>
                </a:lnSpc>
                <a:buFont typeface="Arial"/>
                <a:buChar char="•"/>
              </a:pPr>
              <a:r>
                <a:rPr lang="en-US" sz="195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Return the matching center coordinates (x, y) in pixels.</a:t>
              </a:r>
            </a:p>
            <a:p>
              <a:pPr algn="l" marL="421005" indent="-210502" lvl="1">
                <a:lnSpc>
                  <a:spcPts val="2340"/>
                </a:lnSpc>
                <a:buFont typeface="Arial"/>
                <a:buChar char="•"/>
              </a:pPr>
              <a:r>
                <a:rPr lang="en-US" sz="195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Resolve multiple similar matches by selecting the candidate closest to the search-image center.</a:t>
              </a:r>
            </a:p>
            <a:p>
              <a:pPr algn="l">
                <a:lnSpc>
                  <a:spcPts val="2340"/>
                </a:lnSpc>
              </a:pPr>
            </a:p>
            <a:p>
              <a:pPr algn="l">
                <a:lnSpc>
                  <a:spcPts val="2340"/>
                </a:lnSpc>
              </a:pP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7938249" y="342976"/>
            <a:ext cx="2411054" cy="1175385"/>
            <a:chOff x="0" y="0"/>
            <a:chExt cx="3214738" cy="156718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3214751" cy="1567180"/>
            </a:xfrm>
            <a:custGeom>
              <a:avLst/>
              <a:gdLst/>
              <a:ahLst/>
              <a:cxnLst/>
              <a:rect r="r" b="b" t="t" l="l"/>
              <a:pathLst>
                <a:path h="1567180" w="3214751">
                  <a:moveTo>
                    <a:pt x="0" y="0"/>
                  </a:moveTo>
                  <a:lnTo>
                    <a:pt x="3214751" y="0"/>
                  </a:lnTo>
                  <a:lnTo>
                    <a:pt x="3214751" y="1567180"/>
                  </a:lnTo>
                  <a:lnTo>
                    <a:pt x="0" y="15671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857250" y="399440"/>
            <a:ext cx="16573043" cy="1286561"/>
            <a:chOff x="0" y="0"/>
            <a:chExt cx="22097390" cy="1715414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22097366" cy="1715389"/>
            </a:xfrm>
            <a:custGeom>
              <a:avLst/>
              <a:gdLst/>
              <a:ahLst/>
              <a:cxnLst/>
              <a:rect r="r" b="b" t="t" l="l"/>
              <a:pathLst>
                <a:path h="1715389" w="22097366">
                  <a:moveTo>
                    <a:pt x="0" y="162560"/>
                  </a:moveTo>
                  <a:cubicBezTo>
                    <a:pt x="0" y="72771"/>
                    <a:pt x="72771" y="0"/>
                    <a:pt x="162560" y="0"/>
                  </a:cubicBezTo>
                  <a:lnTo>
                    <a:pt x="21934805" y="0"/>
                  </a:lnTo>
                  <a:cubicBezTo>
                    <a:pt x="22024594" y="0"/>
                    <a:pt x="22097366" y="72771"/>
                    <a:pt x="22097366" y="162560"/>
                  </a:cubicBezTo>
                  <a:lnTo>
                    <a:pt x="22097366" y="1552829"/>
                  </a:lnTo>
                  <a:cubicBezTo>
                    <a:pt x="22097366" y="1642618"/>
                    <a:pt x="22024594" y="1715389"/>
                    <a:pt x="21934805" y="1715389"/>
                  </a:cubicBezTo>
                  <a:lnTo>
                    <a:pt x="162560" y="1715389"/>
                  </a:lnTo>
                  <a:cubicBezTo>
                    <a:pt x="72771" y="1715389"/>
                    <a:pt x="0" y="1642618"/>
                    <a:pt x="0" y="1552829"/>
                  </a:cubicBez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2300173" y="625221"/>
            <a:ext cx="13745232" cy="879653"/>
            <a:chOff x="0" y="0"/>
            <a:chExt cx="18326976" cy="117287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8326988" cy="1172845"/>
            </a:xfrm>
            <a:custGeom>
              <a:avLst/>
              <a:gdLst/>
              <a:ahLst/>
              <a:cxnLst/>
              <a:rect r="r" b="b" t="t" l="l"/>
              <a:pathLst>
                <a:path h="1172845" w="18326988">
                  <a:moveTo>
                    <a:pt x="0" y="0"/>
                  </a:moveTo>
                  <a:lnTo>
                    <a:pt x="18326988" y="0"/>
                  </a:lnTo>
                  <a:lnTo>
                    <a:pt x="18326988" y="1172845"/>
                  </a:lnTo>
                  <a:lnTo>
                    <a:pt x="0" y="11728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-2" r="0" b="-4"/>
              </a:stretch>
            </a:blip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1137533" y="6624451"/>
            <a:ext cx="15420746" cy="3183594"/>
            <a:chOff x="0" y="0"/>
            <a:chExt cx="20560995" cy="4244792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20560920" cy="4244708"/>
            </a:xfrm>
            <a:custGeom>
              <a:avLst/>
              <a:gdLst/>
              <a:ahLst/>
              <a:cxnLst/>
              <a:rect r="r" b="b" t="t" l="l"/>
              <a:pathLst>
                <a:path h="4244708" w="20560920">
                  <a:moveTo>
                    <a:pt x="0" y="181480"/>
                  </a:moveTo>
                  <a:cubicBezTo>
                    <a:pt x="0" y="81331"/>
                    <a:pt x="49403" y="0"/>
                    <a:pt x="110236" y="0"/>
                  </a:cubicBezTo>
                  <a:lnTo>
                    <a:pt x="20450683" y="0"/>
                  </a:lnTo>
                  <a:cubicBezTo>
                    <a:pt x="20511644" y="0"/>
                    <a:pt x="20560920" y="81331"/>
                    <a:pt x="20560920" y="181480"/>
                  </a:cubicBezTo>
                  <a:lnTo>
                    <a:pt x="20560920" y="4063228"/>
                  </a:lnTo>
                  <a:cubicBezTo>
                    <a:pt x="20560920" y="4163585"/>
                    <a:pt x="20511517" y="4244708"/>
                    <a:pt x="20450683" y="4244708"/>
                  </a:cubicBezTo>
                  <a:lnTo>
                    <a:pt x="110236" y="4244708"/>
                  </a:lnTo>
                  <a:cubicBezTo>
                    <a:pt x="49276" y="4244708"/>
                    <a:pt x="0" y="4163376"/>
                    <a:pt x="0" y="4063228"/>
                  </a:cubicBezTo>
                  <a:close/>
                </a:path>
              </a:pathLst>
            </a:custGeom>
            <a:solidFill>
              <a:srgbClr val="1E3A8A">
                <a:alpha val="15686"/>
              </a:srgbClr>
            </a:solidFill>
            <a:ln w="19050" cap="sq">
              <a:solidFill>
                <a:srgbClr val="1D4ED8"/>
              </a:solidFill>
              <a:prstDash val="solid"/>
              <a:miter/>
            </a:ln>
          </p:spPr>
        </p:sp>
      </p:grpSp>
      <p:grpSp>
        <p:nvGrpSpPr>
          <p:cNvPr name="Group 50" id="50"/>
          <p:cNvGrpSpPr/>
          <p:nvPr/>
        </p:nvGrpSpPr>
        <p:grpSpPr>
          <a:xfrm rot="0">
            <a:off x="1418720" y="6790639"/>
            <a:ext cx="14272097" cy="3141459"/>
            <a:chOff x="0" y="0"/>
            <a:chExt cx="19029463" cy="4188612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9029462" cy="4188611"/>
            </a:xfrm>
            <a:custGeom>
              <a:avLst/>
              <a:gdLst/>
              <a:ahLst/>
              <a:cxnLst/>
              <a:rect r="r" b="b" t="t" l="l"/>
              <a:pathLst>
                <a:path h="4188611" w="19029462">
                  <a:moveTo>
                    <a:pt x="0" y="0"/>
                  </a:moveTo>
                  <a:lnTo>
                    <a:pt x="19029462" y="0"/>
                  </a:lnTo>
                  <a:lnTo>
                    <a:pt x="19029462" y="4188611"/>
                  </a:lnTo>
                  <a:lnTo>
                    <a:pt x="0" y="4188611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71368" r="5741" b="4486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19050"/>
              <a:ext cx="19029463" cy="420766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SOLUTION SUMMARY:</a:t>
              </a:r>
            </a:p>
            <a:p>
              <a:pPr algn="l">
                <a:lnSpc>
                  <a:spcPts val="2340"/>
                </a:lnSpc>
              </a:pPr>
            </a:p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A physics-aware 5-phase cascade that recovers the correct SEM navigation site across magnification changes using multi-scale NCC, geometric verification, selective ML reranking, and sub-pixel Fourier refinement.</a:t>
              </a:r>
            </a:p>
            <a:p>
              <a:pPr algn="l">
                <a:lnSpc>
                  <a:spcPts val="2340"/>
                </a:lnSpc>
              </a:pPr>
            </a:p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KEY RESULT:</a:t>
              </a:r>
            </a:p>
            <a:p>
              <a:pPr algn="l">
                <a:lnSpc>
                  <a:spcPts val="2340"/>
                </a:lnSpc>
              </a:pPr>
            </a:p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98.33% Operational Accuracy (&lt;5 px) | 86.67% High-Precision Accuracy (&lt;1 px) | 0.7012 px Median Localization Error | 672.39 ms Mean Execution Latency</a:t>
              </a:r>
            </a:p>
            <a:p>
              <a:pPr algn="l">
                <a:lnSpc>
                  <a:spcPts val="2340"/>
                </a:lnSpc>
              </a:pP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7543" cy="10287000"/>
            <a:chOff x="0" y="0"/>
            <a:chExt cx="2438339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336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00036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7543" cy="10287000"/>
            <a:chOff x="0" y="0"/>
            <a:chExt cx="24383390" cy="13716000"/>
          </a:xfrm>
        </p:grpSpPr>
        <p:sp>
          <p:nvSpPr>
            <p:cNvPr name="Freeform 5" id="5" descr="preencoded.png"/>
            <p:cNvSpPr/>
            <p:nvPr/>
          </p:nvSpPr>
          <p:spPr>
            <a:xfrm flipH="false" flipV="false" rot="0">
              <a:off x="0" y="0"/>
              <a:ext cx="2438336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5000"/>
              </a:blip>
              <a:stretch>
                <a:fillRect l="-16360" t="0" r="-16361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857250" y="429311"/>
            <a:ext cx="16573043" cy="999896"/>
            <a:chOff x="0" y="0"/>
            <a:chExt cx="22097390" cy="133319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2097364" cy="1333246"/>
            </a:xfrm>
            <a:custGeom>
              <a:avLst/>
              <a:gdLst/>
              <a:ahLst/>
              <a:cxnLst/>
              <a:rect r="r" b="b" t="t" l="l"/>
              <a:pathLst>
                <a:path h="1333246" w="22097364">
                  <a:moveTo>
                    <a:pt x="0" y="209042"/>
                  </a:moveTo>
                  <a:cubicBezTo>
                    <a:pt x="0" y="93599"/>
                    <a:pt x="93599" y="0"/>
                    <a:pt x="209042" y="0"/>
                  </a:cubicBezTo>
                  <a:lnTo>
                    <a:pt x="21888323" y="0"/>
                  </a:lnTo>
                  <a:cubicBezTo>
                    <a:pt x="22003765" y="0"/>
                    <a:pt x="22097364" y="93599"/>
                    <a:pt x="22097364" y="209042"/>
                  </a:cubicBezTo>
                  <a:lnTo>
                    <a:pt x="22097364" y="1124204"/>
                  </a:lnTo>
                  <a:cubicBezTo>
                    <a:pt x="22097364" y="1239647"/>
                    <a:pt x="22003765" y="1333246"/>
                    <a:pt x="21888323" y="1333246"/>
                  </a:cubicBezTo>
                  <a:lnTo>
                    <a:pt x="209042" y="1333246"/>
                  </a:lnTo>
                  <a:cubicBezTo>
                    <a:pt x="93599" y="1333246"/>
                    <a:pt x="0" y="1239647"/>
                    <a:pt x="0" y="1124204"/>
                  </a:cubicBez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6287750" y="571957"/>
            <a:ext cx="714604" cy="714604"/>
            <a:chOff x="0" y="0"/>
            <a:chExt cx="952805" cy="952805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952754" cy="952754"/>
            </a:xfrm>
            <a:custGeom>
              <a:avLst/>
              <a:gdLst/>
              <a:ahLst/>
              <a:cxnLst/>
              <a:rect r="r" b="b" t="t" l="l"/>
              <a:pathLst>
                <a:path h="952754" w="952754">
                  <a:moveTo>
                    <a:pt x="0" y="0"/>
                  </a:moveTo>
                  <a:lnTo>
                    <a:pt x="952754" y="0"/>
                  </a:lnTo>
                  <a:lnTo>
                    <a:pt x="952754" y="952754"/>
                  </a:lnTo>
                  <a:lnTo>
                    <a:pt x="0" y="9527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5" b="-5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137533" y="571957"/>
            <a:ext cx="8618220" cy="701040"/>
            <a:chOff x="0" y="0"/>
            <a:chExt cx="11490960" cy="93472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1490960" cy="934720"/>
            </a:xfrm>
            <a:custGeom>
              <a:avLst/>
              <a:gdLst/>
              <a:ahLst/>
              <a:cxnLst/>
              <a:rect r="r" b="b" t="t" l="l"/>
              <a:pathLst>
                <a:path h="934720" w="11490960">
                  <a:moveTo>
                    <a:pt x="0" y="0"/>
                  </a:moveTo>
                  <a:lnTo>
                    <a:pt x="11490960" y="0"/>
                  </a:lnTo>
                  <a:lnTo>
                    <a:pt x="11490960" y="934720"/>
                  </a:lnTo>
                  <a:lnTo>
                    <a:pt x="0" y="9347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1" t="0" r="-11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0" y="0"/>
            <a:ext cx="18287543" cy="10287000"/>
            <a:chOff x="0" y="0"/>
            <a:chExt cx="24383390" cy="13716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438336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00036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-41953" y="-138315"/>
            <a:ext cx="18287543" cy="10287000"/>
            <a:chOff x="0" y="0"/>
            <a:chExt cx="24383390" cy="13716000"/>
          </a:xfrm>
        </p:grpSpPr>
        <p:sp>
          <p:nvSpPr>
            <p:cNvPr name="Freeform 15" id="15" descr="preencoded.png"/>
            <p:cNvSpPr/>
            <p:nvPr/>
          </p:nvSpPr>
          <p:spPr>
            <a:xfrm flipH="false" flipV="false" rot="0">
              <a:off x="0" y="0"/>
              <a:ext cx="2438336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</a:blip>
              <a:stretch>
                <a:fillRect l="-16360" t="0" r="-16361" b="0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857250" y="429311"/>
            <a:ext cx="16573043" cy="999896"/>
            <a:chOff x="0" y="0"/>
            <a:chExt cx="22097390" cy="1333195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2097364" cy="1333246"/>
            </a:xfrm>
            <a:custGeom>
              <a:avLst/>
              <a:gdLst/>
              <a:ahLst/>
              <a:cxnLst/>
              <a:rect r="r" b="b" t="t" l="l"/>
              <a:pathLst>
                <a:path h="1333246" w="22097364">
                  <a:moveTo>
                    <a:pt x="0" y="209042"/>
                  </a:moveTo>
                  <a:cubicBezTo>
                    <a:pt x="0" y="93599"/>
                    <a:pt x="93599" y="0"/>
                    <a:pt x="209042" y="0"/>
                  </a:cubicBezTo>
                  <a:lnTo>
                    <a:pt x="21888323" y="0"/>
                  </a:lnTo>
                  <a:cubicBezTo>
                    <a:pt x="22003765" y="0"/>
                    <a:pt x="22097364" y="93599"/>
                    <a:pt x="22097364" y="209042"/>
                  </a:cubicBezTo>
                  <a:lnTo>
                    <a:pt x="22097364" y="1124204"/>
                  </a:lnTo>
                  <a:cubicBezTo>
                    <a:pt x="22097364" y="1239647"/>
                    <a:pt x="22003765" y="1333246"/>
                    <a:pt x="21888323" y="1333246"/>
                  </a:cubicBezTo>
                  <a:lnTo>
                    <a:pt x="209042" y="1333246"/>
                  </a:lnTo>
                  <a:cubicBezTo>
                    <a:pt x="93599" y="1333246"/>
                    <a:pt x="0" y="1239647"/>
                    <a:pt x="0" y="1124204"/>
                  </a:cubicBez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286561" y="571957"/>
            <a:ext cx="1899666" cy="714604"/>
            <a:chOff x="0" y="0"/>
            <a:chExt cx="2532888" cy="952805"/>
          </a:xfrm>
        </p:grpSpPr>
        <p:sp>
          <p:nvSpPr>
            <p:cNvPr name="Freeform 19" id="19" descr="preencoded.png"/>
            <p:cNvSpPr/>
            <p:nvPr/>
          </p:nvSpPr>
          <p:spPr>
            <a:xfrm flipH="false" flipV="false" rot="0">
              <a:off x="0" y="0"/>
              <a:ext cx="2532888" cy="952754"/>
            </a:xfrm>
            <a:custGeom>
              <a:avLst/>
              <a:gdLst/>
              <a:ahLst/>
              <a:cxnLst/>
              <a:rect r="r" b="b" t="t" l="l"/>
              <a:pathLst>
                <a:path h="952754" w="2532888">
                  <a:moveTo>
                    <a:pt x="0" y="0"/>
                  </a:moveTo>
                  <a:lnTo>
                    <a:pt x="2532888" y="0"/>
                  </a:lnTo>
                  <a:lnTo>
                    <a:pt x="2532888" y="952754"/>
                  </a:lnTo>
                  <a:lnTo>
                    <a:pt x="0" y="9527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10" r="0" b="-14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6287750" y="571957"/>
            <a:ext cx="714604" cy="714604"/>
            <a:chOff x="0" y="0"/>
            <a:chExt cx="952805" cy="952805"/>
          </a:xfrm>
        </p:grpSpPr>
        <p:sp>
          <p:nvSpPr>
            <p:cNvPr name="Freeform 21" id="21" descr="preencoded.png"/>
            <p:cNvSpPr/>
            <p:nvPr/>
          </p:nvSpPr>
          <p:spPr>
            <a:xfrm flipH="false" flipV="false" rot="0">
              <a:off x="0" y="0"/>
              <a:ext cx="952754" cy="952754"/>
            </a:xfrm>
            <a:custGeom>
              <a:avLst/>
              <a:gdLst/>
              <a:ahLst/>
              <a:cxnLst/>
              <a:rect r="r" b="b" t="t" l="l"/>
              <a:pathLst>
                <a:path h="952754" w="952754">
                  <a:moveTo>
                    <a:pt x="0" y="0"/>
                  </a:moveTo>
                  <a:lnTo>
                    <a:pt x="952754" y="0"/>
                  </a:lnTo>
                  <a:lnTo>
                    <a:pt x="952754" y="952754"/>
                  </a:lnTo>
                  <a:lnTo>
                    <a:pt x="0" y="9527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5" b="-5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792437" y="1518883"/>
            <a:ext cx="113843" cy="614477"/>
            <a:chOff x="0" y="0"/>
            <a:chExt cx="151790" cy="819302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51765" cy="819277"/>
            </a:xfrm>
            <a:custGeom>
              <a:avLst/>
              <a:gdLst/>
              <a:ahLst/>
              <a:cxnLst/>
              <a:rect r="r" b="b" t="t" l="l"/>
              <a:pathLst>
                <a:path h="819277" w="151765">
                  <a:moveTo>
                    <a:pt x="0" y="0"/>
                  </a:moveTo>
                  <a:lnTo>
                    <a:pt x="151765" y="0"/>
                  </a:lnTo>
                  <a:lnTo>
                    <a:pt x="151765" y="819277"/>
                  </a:lnTo>
                  <a:lnTo>
                    <a:pt x="0" y="819277"/>
                  </a:lnTo>
                  <a:close/>
                </a:path>
              </a:pathLst>
            </a:custGeom>
            <a:solidFill>
              <a:srgbClr val="88E555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192944" y="1462647"/>
            <a:ext cx="16024403" cy="891311"/>
            <a:chOff x="0" y="0"/>
            <a:chExt cx="21365870" cy="1188415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1365873" cy="1188414"/>
            </a:xfrm>
            <a:custGeom>
              <a:avLst/>
              <a:gdLst/>
              <a:ahLst/>
              <a:cxnLst/>
              <a:rect r="r" b="b" t="t" l="l"/>
              <a:pathLst>
                <a:path h="1188414" w="21365873">
                  <a:moveTo>
                    <a:pt x="0" y="0"/>
                  </a:moveTo>
                  <a:lnTo>
                    <a:pt x="21365873" y="0"/>
                  </a:lnTo>
                  <a:lnTo>
                    <a:pt x="21365873" y="1188414"/>
                  </a:lnTo>
                  <a:lnTo>
                    <a:pt x="0" y="1188414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310993" r="0" b="-289629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21365870" cy="12265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b="true" sz="3600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PROPOSED END-TO-END WORKFLOW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7938249" y="342976"/>
            <a:ext cx="2411054" cy="1175385"/>
            <a:chOff x="0" y="0"/>
            <a:chExt cx="3214738" cy="156718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3214751" cy="1567180"/>
            </a:xfrm>
            <a:custGeom>
              <a:avLst/>
              <a:gdLst/>
              <a:ahLst/>
              <a:cxnLst/>
              <a:rect r="r" b="b" t="t" l="l"/>
              <a:pathLst>
                <a:path h="1567180" w="3214751">
                  <a:moveTo>
                    <a:pt x="0" y="0"/>
                  </a:moveTo>
                  <a:lnTo>
                    <a:pt x="3214751" y="0"/>
                  </a:lnTo>
                  <a:lnTo>
                    <a:pt x="3214751" y="1567180"/>
                  </a:lnTo>
                  <a:lnTo>
                    <a:pt x="0" y="15671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834390" y="142646"/>
            <a:ext cx="16573043" cy="1286561"/>
            <a:chOff x="0" y="0"/>
            <a:chExt cx="22097390" cy="1715414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22097366" cy="1715389"/>
            </a:xfrm>
            <a:custGeom>
              <a:avLst/>
              <a:gdLst/>
              <a:ahLst/>
              <a:cxnLst/>
              <a:rect r="r" b="b" t="t" l="l"/>
              <a:pathLst>
                <a:path h="1715389" w="22097366">
                  <a:moveTo>
                    <a:pt x="0" y="162560"/>
                  </a:moveTo>
                  <a:cubicBezTo>
                    <a:pt x="0" y="72771"/>
                    <a:pt x="72771" y="0"/>
                    <a:pt x="162560" y="0"/>
                  </a:cubicBezTo>
                  <a:lnTo>
                    <a:pt x="21934805" y="0"/>
                  </a:lnTo>
                  <a:cubicBezTo>
                    <a:pt x="22024594" y="0"/>
                    <a:pt x="22097366" y="72771"/>
                    <a:pt x="22097366" y="162560"/>
                  </a:cubicBezTo>
                  <a:lnTo>
                    <a:pt x="22097366" y="1552829"/>
                  </a:lnTo>
                  <a:cubicBezTo>
                    <a:pt x="22097366" y="1642618"/>
                    <a:pt x="22024594" y="1715389"/>
                    <a:pt x="21934805" y="1715389"/>
                  </a:cubicBezTo>
                  <a:lnTo>
                    <a:pt x="162560" y="1715389"/>
                  </a:lnTo>
                  <a:cubicBezTo>
                    <a:pt x="72771" y="1715389"/>
                    <a:pt x="0" y="1642618"/>
                    <a:pt x="0" y="1552829"/>
                  </a:cubicBez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2229202" y="322326"/>
            <a:ext cx="13745232" cy="879653"/>
            <a:chOff x="0" y="0"/>
            <a:chExt cx="18326976" cy="117287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8326988" cy="1172845"/>
            </a:xfrm>
            <a:custGeom>
              <a:avLst/>
              <a:gdLst/>
              <a:ahLst/>
              <a:cxnLst/>
              <a:rect r="r" b="b" t="t" l="l"/>
              <a:pathLst>
                <a:path h="1172845" w="18326988">
                  <a:moveTo>
                    <a:pt x="0" y="0"/>
                  </a:moveTo>
                  <a:lnTo>
                    <a:pt x="18326988" y="0"/>
                  </a:lnTo>
                  <a:lnTo>
                    <a:pt x="18326988" y="1172845"/>
                  </a:lnTo>
                  <a:lnTo>
                    <a:pt x="0" y="11728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-2" r="0" b="-4"/>
              </a:stretch>
            </a:blipFill>
          </p:spPr>
        </p:sp>
      </p:grpSp>
      <p:sp>
        <p:nvSpPr>
          <p:cNvPr name="Freeform 33" id="33"/>
          <p:cNvSpPr/>
          <p:nvPr/>
        </p:nvSpPr>
        <p:spPr>
          <a:xfrm flipH="false" flipV="false" rot="0">
            <a:off x="348615" y="2243696"/>
            <a:ext cx="12330678" cy="7859201"/>
          </a:xfrm>
          <a:custGeom>
            <a:avLst/>
            <a:gdLst/>
            <a:ahLst/>
            <a:cxnLst/>
            <a:rect r="r" b="b" t="t" l="l"/>
            <a:pathLst>
              <a:path h="7859201" w="12330678">
                <a:moveTo>
                  <a:pt x="0" y="0"/>
                </a:moveTo>
                <a:lnTo>
                  <a:pt x="12330678" y="0"/>
                </a:lnTo>
                <a:lnTo>
                  <a:pt x="12330678" y="7859202"/>
                </a:lnTo>
                <a:lnTo>
                  <a:pt x="0" y="785920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grpSp>
        <p:nvGrpSpPr>
          <p:cNvPr name="Group 34" id="34"/>
          <p:cNvGrpSpPr/>
          <p:nvPr/>
        </p:nvGrpSpPr>
        <p:grpSpPr>
          <a:xfrm rot="0">
            <a:off x="13159133" y="2243696"/>
            <a:ext cx="4841845" cy="7667691"/>
            <a:chOff x="0" y="0"/>
            <a:chExt cx="6455793" cy="10223588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6455785" cy="10223503"/>
            </a:xfrm>
            <a:custGeom>
              <a:avLst/>
              <a:gdLst/>
              <a:ahLst/>
              <a:cxnLst/>
              <a:rect r="r" b="b" t="t" l="l"/>
              <a:pathLst>
                <a:path h="10223503" w="6455785">
                  <a:moveTo>
                    <a:pt x="0" y="68681"/>
                  </a:moveTo>
                  <a:cubicBezTo>
                    <a:pt x="0" y="30714"/>
                    <a:pt x="8005" y="0"/>
                    <a:pt x="17900" y="0"/>
                  </a:cubicBezTo>
                  <a:lnTo>
                    <a:pt x="6437885" y="0"/>
                  </a:lnTo>
                  <a:cubicBezTo>
                    <a:pt x="6447781" y="0"/>
                    <a:pt x="6455785" y="30714"/>
                    <a:pt x="6455785" y="68681"/>
                  </a:cubicBezTo>
                  <a:lnTo>
                    <a:pt x="6455785" y="10154822"/>
                  </a:lnTo>
                  <a:cubicBezTo>
                    <a:pt x="6455785" y="10192788"/>
                    <a:pt x="6447781" y="10223503"/>
                    <a:pt x="6437885" y="10223503"/>
                  </a:cubicBezTo>
                  <a:lnTo>
                    <a:pt x="17900" y="10223503"/>
                  </a:lnTo>
                  <a:cubicBezTo>
                    <a:pt x="8005" y="10223503"/>
                    <a:pt x="0" y="10192788"/>
                    <a:pt x="0" y="10154822"/>
                  </a:cubicBezTo>
                  <a:close/>
                </a:path>
              </a:pathLst>
            </a:custGeom>
            <a:solidFill>
              <a:srgbClr val="FFFFFF">
                <a:alpha val="0"/>
              </a:srgbClr>
            </a:solidFill>
            <a:ln w="19050" cap="sq">
              <a:solidFill>
                <a:srgbClr val="88E555"/>
              </a:solidFill>
              <a:prstDash val="solid"/>
              <a:miter/>
            </a:ln>
          </p:spPr>
        </p:sp>
      </p:grpSp>
      <p:grpSp>
        <p:nvGrpSpPr>
          <p:cNvPr name="Group 36" id="36"/>
          <p:cNvGrpSpPr/>
          <p:nvPr/>
        </p:nvGrpSpPr>
        <p:grpSpPr>
          <a:xfrm rot="0">
            <a:off x="13412914" y="1852585"/>
            <a:ext cx="4344009" cy="8623345"/>
            <a:chOff x="0" y="0"/>
            <a:chExt cx="5792013" cy="11497793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5792013" cy="11497793"/>
            </a:xfrm>
            <a:custGeom>
              <a:avLst/>
              <a:gdLst/>
              <a:ahLst/>
              <a:cxnLst/>
              <a:rect r="r" b="b" t="t" l="l"/>
              <a:pathLst>
                <a:path h="11497793" w="5792013">
                  <a:moveTo>
                    <a:pt x="0" y="0"/>
                  </a:moveTo>
                  <a:lnTo>
                    <a:pt x="5792013" y="0"/>
                  </a:lnTo>
                  <a:lnTo>
                    <a:pt x="5792013" y="11497793"/>
                  </a:lnTo>
                  <a:lnTo>
                    <a:pt x="0" y="11497793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5706" r="-222659" b="62364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28575"/>
              <a:ext cx="5792013" cy="115263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AEFF82"/>
                  </a:solidFill>
                  <a:latin typeface="Poppins"/>
                  <a:ea typeface="Poppins"/>
                  <a:cs typeface="Poppins"/>
                  <a:sym typeface="Poppins"/>
                </a:rPr>
                <a:t>INPUT CHALLENGES:</a:t>
              </a:r>
            </a:p>
            <a:p>
              <a:pPr algn="l">
                <a:lnSpc>
                  <a:spcPts val="2400"/>
                </a:lnSpc>
              </a:pPr>
            </a:p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10× scale gap • SEM noise • scale/rotation variation • stage drift • periodic ambiguity</a:t>
              </a:r>
            </a:p>
            <a:p>
              <a:pPr algn="l">
                <a:lnSpc>
                  <a:spcPts val="2400"/>
                </a:lnSpc>
              </a:pPr>
            </a:p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AEFF82"/>
                  </a:solidFill>
                  <a:latin typeface="Poppins"/>
                  <a:ea typeface="Poppins"/>
                  <a:cs typeface="Poppins"/>
                  <a:sym typeface="Poppins"/>
                </a:rPr>
                <a:t>WHY CASCADE?</a:t>
              </a:r>
            </a:p>
            <a:p>
              <a:pPr algn="l">
                <a:lnSpc>
                  <a:spcPts val="2400"/>
                </a:lnSpc>
              </a:pPr>
            </a:p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Fast NCC first → deeper processing only when ambiguity remains</a:t>
              </a:r>
            </a:p>
            <a:p>
              <a:pPr algn="l">
                <a:lnSpc>
                  <a:spcPts val="2400"/>
                </a:lnSpc>
              </a:pPr>
            </a:p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AEFF82"/>
                  </a:solidFill>
                  <a:latin typeface="Poppins"/>
                  <a:ea typeface="Poppins"/>
                  <a:cs typeface="Poppins"/>
                  <a:sym typeface="Poppins"/>
                </a:rPr>
                <a:t>DECISION LOGIC:</a:t>
              </a:r>
            </a:p>
            <a:p>
              <a:pPr algn="l">
                <a:lnSpc>
                  <a:spcPts val="2400"/>
                </a:lnSpc>
              </a:pPr>
            </a:p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High confidence → Direct path</a:t>
              </a:r>
            </a:p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Low confidence / periodic ambiguity → Geometry → ML</a:t>
              </a:r>
            </a:p>
            <a:p>
              <a:pPr algn="l">
                <a:lnSpc>
                  <a:spcPts val="2400"/>
                </a:lnSpc>
              </a:pPr>
            </a:p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AEFF82"/>
                  </a:solidFill>
                  <a:latin typeface="Poppins"/>
                  <a:ea typeface="Poppins"/>
                  <a:cs typeface="Poppins"/>
                  <a:sym typeface="Poppins"/>
                </a:rPr>
                <a:t>OUTPUT:</a:t>
              </a:r>
            </a:p>
            <a:p>
              <a:pPr algn="l">
                <a:lnSpc>
                  <a:spcPts val="2400"/>
                </a:lnSpc>
              </a:pPr>
            </a:p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Predicted (x, y) → Fine local refinement → Sub-pixel coordinate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7543" cy="10287000"/>
            <a:chOff x="0" y="0"/>
            <a:chExt cx="2438339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336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00036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7543" cy="10287000"/>
            <a:chOff x="0" y="0"/>
            <a:chExt cx="24383390" cy="13716000"/>
          </a:xfrm>
        </p:grpSpPr>
        <p:sp>
          <p:nvSpPr>
            <p:cNvPr name="Freeform 5" id="5" descr="preencoded.png"/>
            <p:cNvSpPr/>
            <p:nvPr/>
          </p:nvSpPr>
          <p:spPr>
            <a:xfrm flipH="false" flipV="false" rot="0">
              <a:off x="0" y="0"/>
              <a:ext cx="2438336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5000"/>
              </a:blip>
              <a:stretch>
                <a:fillRect l="-16360" t="0" r="-16361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857250" y="429311"/>
            <a:ext cx="16573043" cy="999896"/>
            <a:chOff x="0" y="0"/>
            <a:chExt cx="22097390" cy="133319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2097364" cy="1333246"/>
            </a:xfrm>
            <a:custGeom>
              <a:avLst/>
              <a:gdLst/>
              <a:ahLst/>
              <a:cxnLst/>
              <a:rect r="r" b="b" t="t" l="l"/>
              <a:pathLst>
                <a:path h="1333246" w="22097364">
                  <a:moveTo>
                    <a:pt x="0" y="209042"/>
                  </a:moveTo>
                  <a:cubicBezTo>
                    <a:pt x="0" y="93599"/>
                    <a:pt x="93599" y="0"/>
                    <a:pt x="209042" y="0"/>
                  </a:cubicBezTo>
                  <a:lnTo>
                    <a:pt x="21888323" y="0"/>
                  </a:lnTo>
                  <a:cubicBezTo>
                    <a:pt x="22003765" y="0"/>
                    <a:pt x="22097364" y="93599"/>
                    <a:pt x="22097364" y="209042"/>
                  </a:cubicBezTo>
                  <a:lnTo>
                    <a:pt x="22097364" y="1124204"/>
                  </a:lnTo>
                  <a:cubicBezTo>
                    <a:pt x="22097364" y="1239647"/>
                    <a:pt x="22003765" y="1333246"/>
                    <a:pt x="21888323" y="1333246"/>
                  </a:cubicBezTo>
                  <a:lnTo>
                    <a:pt x="209042" y="1333246"/>
                  </a:lnTo>
                  <a:cubicBezTo>
                    <a:pt x="93599" y="1333246"/>
                    <a:pt x="0" y="1239647"/>
                    <a:pt x="0" y="1124204"/>
                  </a:cubicBez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6287750" y="571957"/>
            <a:ext cx="714604" cy="714604"/>
            <a:chOff x="0" y="0"/>
            <a:chExt cx="952805" cy="952805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952754" cy="952754"/>
            </a:xfrm>
            <a:custGeom>
              <a:avLst/>
              <a:gdLst/>
              <a:ahLst/>
              <a:cxnLst/>
              <a:rect r="r" b="b" t="t" l="l"/>
              <a:pathLst>
                <a:path h="952754" w="952754">
                  <a:moveTo>
                    <a:pt x="0" y="0"/>
                  </a:moveTo>
                  <a:lnTo>
                    <a:pt x="952754" y="0"/>
                  </a:lnTo>
                  <a:lnTo>
                    <a:pt x="952754" y="952754"/>
                  </a:lnTo>
                  <a:lnTo>
                    <a:pt x="0" y="9527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5" b="-5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137533" y="571957"/>
            <a:ext cx="8618220" cy="701040"/>
            <a:chOff x="0" y="0"/>
            <a:chExt cx="11490960" cy="93472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1490960" cy="934720"/>
            </a:xfrm>
            <a:custGeom>
              <a:avLst/>
              <a:gdLst/>
              <a:ahLst/>
              <a:cxnLst/>
              <a:rect r="r" b="b" t="t" l="l"/>
              <a:pathLst>
                <a:path h="934720" w="11490960">
                  <a:moveTo>
                    <a:pt x="0" y="0"/>
                  </a:moveTo>
                  <a:lnTo>
                    <a:pt x="11490960" y="0"/>
                  </a:lnTo>
                  <a:lnTo>
                    <a:pt x="11490960" y="934720"/>
                  </a:lnTo>
                  <a:lnTo>
                    <a:pt x="0" y="9347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1" t="0" r="-11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0" y="0"/>
            <a:ext cx="18287543" cy="10287000"/>
            <a:chOff x="0" y="0"/>
            <a:chExt cx="24383390" cy="13716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438336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00036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914857" y="1518361"/>
            <a:ext cx="113843" cy="614477"/>
            <a:chOff x="0" y="0"/>
            <a:chExt cx="151790" cy="81930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51765" cy="819277"/>
            </a:xfrm>
            <a:custGeom>
              <a:avLst/>
              <a:gdLst/>
              <a:ahLst/>
              <a:cxnLst/>
              <a:rect r="r" b="b" t="t" l="l"/>
              <a:pathLst>
                <a:path h="819277" w="151765">
                  <a:moveTo>
                    <a:pt x="0" y="0"/>
                  </a:moveTo>
                  <a:lnTo>
                    <a:pt x="151765" y="0"/>
                  </a:lnTo>
                  <a:lnTo>
                    <a:pt x="151765" y="819277"/>
                  </a:lnTo>
                  <a:lnTo>
                    <a:pt x="0" y="819277"/>
                  </a:lnTo>
                  <a:close/>
                </a:path>
              </a:pathLst>
            </a:custGeom>
            <a:solidFill>
              <a:srgbClr val="88E555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137533" y="1372057"/>
            <a:ext cx="8321497" cy="967969"/>
            <a:chOff x="0" y="0"/>
            <a:chExt cx="11095330" cy="1290625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1095330" cy="1290624"/>
            </a:xfrm>
            <a:custGeom>
              <a:avLst/>
              <a:gdLst/>
              <a:ahLst/>
              <a:cxnLst/>
              <a:rect r="r" b="b" t="t" l="l"/>
              <a:pathLst>
                <a:path h="1290624" w="11095330">
                  <a:moveTo>
                    <a:pt x="0" y="0"/>
                  </a:moveTo>
                  <a:lnTo>
                    <a:pt x="11095330" y="0"/>
                  </a:lnTo>
                  <a:lnTo>
                    <a:pt x="11095330" y="1290624"/>
                  </a:lnTo>
                  <a:lnTo>
                    <a:pt x="0" y="1290624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31306" r="0" b="-103714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11095330" cy="13287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FINFET SYNTHETIC DATA DESIGN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7938249" y="342976"/>
            <a:ext cx="2411054" cy="1175385"/>
            <a:chOff x="0" y="0"/>
            <a:chExt cx="3214738" cy="156718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3214751" cy="1567180"/>
            </a:xfrm>
            <a:custGeom>
              <a:avLst/>
              <a:gdLst/>
              <a:ahLst/>
              <a:cxnLst/>
              <a:rect r="r" b="b" t="t" l="l"/>
              <a:pathLst>
                <a:path h="1567180" w="3214751">
                  <a:moveTo>
                    <a:pt x="0" y="0"/>
                  </a:moveTo>
                  <a:lnTo>
                    <a:pt x="3214751" y="0"/>
                  </a:lnTo>
                  <a:lnTo>
                    <a:pt x="3214751" y="1567180"/>
                  </a:lnTo>
                  <a:lnTo>
                    <a:pt x="0" y="15671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971093" y="0"/>
            <a:ext cx="16573043" cy="1286561"/>
            <a:chOff x="0" y="0"/>
            <a:chExt cx="22097390" cy="1715414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2097366" cy="1715389"/>
            </a:xfrm>
            <a:custGeom>
              <a:avLst/>
              <a:gdLst/>
              <a:ahLst/>
              <a:cxnLst/>
              <a:rect r="r" b="b" t="t" l="l"/>
              <a:pathLst>
                <a:path h="1715389" w="22097366">
                  <a:moveTo>
                    <a:pt x="0" y="162560"/>
                  </a:moveTo>
                  <a:cubicBezTo>
                    <a:pt x="0" y="72771"/>
                    <a:pt x="72771" y="0"/>
                    <a:pt x="162560" y="0"/>
                  </a:cubicBezTo>
                  <a:lnTo>
                    <a:pt x="21934805" y="0"/>
                  </a:lnTo>
                  <a:cubicBezTo>
                    <a:pt x="22024594" y="0"/>
                    <a:pt x="22097366" y="72771"/>
                    <a:pt x="22097366" y="162560"/>
                  </a:cubicBezTo>
                  <a:lnTo>
                    <a:pt x="22097366" y="1552829"/>
                  </a:lnTo>
                  <a:cubicBezTo>
                    <a:pt x="22097366" y="1642618"/>
                    <a:pt x="22024594" y="1715389"/>
                    <a:pt x="21934805" y="1715389"/>
                  </a:cubicBezTo>
                  <a:lnTo>
                    <a:pt x="162560" y="1715389"/>
                  </a:lnTo>
                  <a:cubicBezTo>
                    <a:pt x="72771" y="1715389"/>
                    <a:pt x="0" y="1642618"/>
                    <a:pt x="0" y="1552829"/>
                  </a:cubicBez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2414016" y="225781"/>
            <a:ext cx="13745232" cy="879653"/>
            <a:chOff x="0" y="0"/>
            <a:chExt cx="18326976" cy="117287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8326988" cy="1172845"/>
            </a:xfrm>
            <a:custGeom>
              <a:avLst/>
              <a:gdLst/>
              <a:ahLst/>
              <a:cxnLst/>
              <a:rect r="r" b="b" t="t" l="l"/>
              <a:pathLst>
                <a:path h="1172845" w="18326988">
                  <a:moveTo>
                    <a:pt x="0" y="0"/>
                  </a:moveTo>
                  <a:lnTo>
                    <a:pt x="18326988" y="0"/>
                  </a:lnTo>
                  <a:lnTo>
                    <a:pt x="18326988" y="1172845"/>
                  </a:lnTo>
                  <a:lnTo>
                    <a:pt x="0" y="11728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-2" r="0" b="-4"/>
              </a:stretch>
            </a:blipFill>
          </p:spPr>
        </p:sp>
      </p:grpSp>
      <p:sp>
        <p:nvSpPr>
          <p:cNvPr name="Freeform 25" id="25"/>
          <p:cNvSpPr/>
          <p:nvPr/>
        </p:nvSpPr>
        <p:spPr>
          <a:xfrm flipH="false" flipV="false" rot="0">
            <a:off x="304800" y="2218563"/>
            <a:ext cx="7633449" cy="4070107"/>
          </a:xfrm>
          <a:custGeom>
            <a:avLst/>
            <a:gdLst/>
            <a:ahLst/>
            <a:cxnLst/>
            <a:rect r="r" b="b" t="t" l="l"/>
            <a:pathLst>
              <a:path h="4070107" w="7633449">
                <a:moveTo>
                  <a:pt x="0" y="0"/>
                </a:moveTo>
                <a:lnTo>
                  <a:pt x="7633449" y="0"/>
                </a:lnTo>
                <a:lnTo>
                  <a:pt x="7633449" y="4070107"/>
                </a:lnTo>
                <a:lnTo>
                  <a:pt x="0" y="407010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-103606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295275" y="6079731"/>
            <a:ext cx="7642974" cy="4075186"/>
          </a:xfrm>
          <a:custGeom>
            <a:avLst/>
            <a:gdLst/>
            <a:ahLst/>
            <a:cxnLst/>
            <a:rect r="r" b="b" t="t" l="l"/>
            <a:pathLst>
              <a:path h="4075186" w="7642974">
                <a:moveTo>
                  <a:pt x="0" y="0"/>
                </a:moveTo>
                <a:lnTo>
                  <a:pt x="7642974" y="0"/>
                </a:lnTo>
                <a:lnTo>
                  <a:pt x="7642974" y="4075185"/>
                </a:lnTo>
                <a:lnTo>
                  <a:pt x="0" y="407518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100469" t="0" r="-3137" b="0"/>
            </a:stretch>
          </a:blipFill>
        </p:spPr>
      </p:sp>
      <p:graphicFrame>
        <p:nvGraphicFramePr>
          <p:cNvPr name="Table 27" id="27"/>
          <p:cNvGraphicFramePr>
            <a:graphicFrameLocks noGrp="true"/>
          </p:cNvGraphicFramePr>
          <p:nvPr/>
        </p:nvGraphicFramePr>
        <p:xfrm>
          <a:off x="8378319" y="2606726"/>
          <a:ext cx="9051974" cy="7336462"/>
        </p:xfrm>
        <a:graphic>
          <a:graphicData uri="http://schemas.openxmlformats.org/drawingml/2006/table">
            <a:tbl>
              <a:tblPr/>
              <a:tblGrid>
                <a:gridCol w="1884758"/>
                <a:gridCol w="2456044"/>
                <a:gridCol w="4711172"/>
              </a:tblGrid>
              <a:tr h="63034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000036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CLASS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000036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CLASS NAME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000036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JUSTIFICATION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78090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P1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FIN_ARRAY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Multi-scale and angular alignment under directional gradient structure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6705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P2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FIN_CUT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Edge termination sensitivity and sub-pixel gap estimation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1858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P3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FIN_GATE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2D spatial coherence and cross-junction tracking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7937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P4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CONTACT_ARRAY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Periodic lattice ambiguity and pitch-hop disambiguation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60314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P5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LOCAL_INTERCONNECT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Structural shape matching and local asymmetry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437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P6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METAL_ROUTING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Multi-layer contrast and routing-pattern matching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0597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P7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ACTIVE_CELL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Asymmetric boundary localization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5954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P8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FINFET_FULL_CELL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Complex periodicity and multi-layer cell ambiguity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7543" cy="10287000"/>
            <a:chOff x="0" y="0"/>
            <a:chExt cx="2438339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336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00036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7543" cy="10287000"/>
            <a:chOff x="0" y="0"/>
            <a:chExt cx="24383390" cy="13716000"/>
          </a:xfrm>
        </p:grpSpPr>
        <p:sp>
          <p:nvSpPr>
            <p:cNvPr name="Freeform 5" id="5" descr="preencoded.png"/>
            <p:cNvSpPr/>
            <p:nvPr/>
          </p:nvSpPr>
          <p:spPr>
            <a:xfrm flipH="false" flipV="false" rot="0">
              <a:off x="0" y="0"/>
              <a:ext cx="2438336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5000"/>
              </a:blip>
              <a:stretch>
                <a:fillRect l="-16360" t="0" r="-16361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857250" y="429311"/>
            <a:ext cx="16573043" cy="999896"/>
            <a:chOff x="0" y="0"/>
            <a:chExt cx="22097390" cy="133319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2097364" cy="1333246"/>
            </a:xfrm>
            <a:custGeom>
              <a:avLst/>
              <a:gdLst/>
              <a:ahLst/>
              <a:cxnLst/>
              <a:rect r="r" b="b" t="t" l="l"/>
              <a:pathLst>
                <a:path h="1333246" w="22097364">
                  <a:moveTo>
                    <a:pt x="0" y="209042"/>
                  </a:moveTo>
                  <a:cubicBezTo>
                    <a:pt x="0" y="93599"/>
                    <a:pt x="93599" y="0"/>
                    <a:pt x="209042" y="0"/>
                  </a:cubicBezTo>
                  <a:lnTo>
                    <a:pt x="21888323" y="0"/>
                  </a:lnTo>
                  <a:cubicBezTo>
                    <a:pt x="22003765" y="0"/>
                    <a:pt x="22097364" y="93599"/>
                    <a:pt x="22097364" y="209042"/>
                  </a:cubicBezTo>
                  <a:lnTo>
                    <a:pt x="22097364" y="1124204"/>
                  </a:lnTo>
                  <a:cubicBezTo>
                    <a:pt x="22097364" y="1239647"/>
                    <a:pt x="22003765" y="1333246"/>
                    <a:pt x="21888323" y="1333246"/>
                  </a:cubicBezTo>
                  <a:lnTo>
                    <a:pt x="209042" y="1333246"/>
                  </a:lnTo>
                  <a:cubicBezTo>
                    <a:pt x="93599" y="1333246"/>
                    <a:pt x="0" y="1239647"/>
                    <a:pt x="0" y="1124204"/>
                  </a:cubicBez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6287750" y="571957"/>
            <a:ext cx="714604" cy="714604"/>
            <a:chOff x="0" y="0"/>
            <a:chExt cx="952805" cy="952805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952754" cy="952754"/>
            </a:xfrm>
            <a:custGeom>
              <a:avLst/>
              <a:gdLst/>
              <a:ahLst/>
              <a:cxnLst/>
              <a:rect r="r" b="b" t="t" l="l"/>
              <a:pathLst>
                <a:path h="952754" w="952754">
                  <a:moveTo>
                    <a:pt x="0" y="0"/>
                  </a:moveTo>
                  <a:lnTo>
                    <a:pt x="952754" y="0"/>
                  </a:lnTo>
                  <a:lnTo>
                    <a:pt x="952754" y="952754"/>
                  </a:lnTo>
                  <a:lnTo>
                    <a:pt x="0" y="9527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5" b="-5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137533" y="571957"/>
            <a:ext cx="8618220" cy="701040"/>
            <a:chOff x="0" y="0"/>
            <a:chExt cx="11490960" cy="93472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1490960" cy="934720"/>
            </a:xfrm>
            <a:custGeom>
              <a:avLst/>
              <a:gdLst/>
              <a:ahLst/>
              <a:cxnLst/>
              <a:rect r="r" b="b" t="t" l="l"/>
              <a:pathLst>
                <a:path h="934720" w="11490960">
                  <a:moveTo>
                    <a:pt x="0" y="0"/>
                  </a:moveTo>
                  <a:lnTo>
                    <a:pt x="11490960" y="0"/>
                  </a:lnTo>
                  <a:lnTo>
                    <a:pt x="11490960" y="934720"/>
                  </a:lnTo>
                  <a:lnTo>
                    <a:pt x="0" y="9347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1" t="0" r="-11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0" y="0"/>
            <a:ext cx="18287543" cy="10287000"/>
            <a:chOff x="0" y="0"/>
            <a:chExt cx="24383390" cy="13716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438336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00036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457" y="0"/>
            <a:ext cx="18287543" cy="10287000"/>
            <a:chOff x="0" y="0"/>
            <a:chExt cx="24383390" cy="13716000"/>
          </a:xfrm>
        </p:grpSpPr>
        <p:sp>
          <p:nvSpPr>
            <p:cNvPr name="Freeform 15" id="15" descr="preencoded.png"/>
            <p:cNvSpPr/>
            <p:nvPr/>
          </p:nvSpPr>
          <p:spPr>
            <a:xfrm flipH="false" flipV="false" rot="0">
              <a:off x="0" y="0"/>
              <a:ext cx="2438336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</a:blip>
              <a:stretch>
                <a:fillRect l="-16360" t="0" r="-16361" b="0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857250" y="429311"/>
            <a:ext cx="16573043" cy="999896"/>
            <a:chOff x="0" y="0"/>
            <a:chExt cx="22097390" cy="1333195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2097364" cy="1333246"/>
            </a:xfrm>
            <a:custGeom>
              <a:avLst/>
              <a:gdLst/>
              <a:ahLst/>
              <a:cxnLst/>
              <a:rect r="r" b="b" t="t" l="l"/>
              <a:pathLst>
                <a:path h="1333246" w="22097364">
                  <a:moveTo>
                    <a:pt x="0" y="209042"/>
                  </a:moveTo>
                  <a:cubicBezTo>
                    <a:pt x="0" y="93599"/>
                    <a:pt x="93599" y="0"/>
                    <a:pt x="209042" y="0"/>
                  </a:cubicBezTo>
                  <a:lnTo>
                    <a:pt x="21888323" y="0"/>
                  </a:lnTo>
                  <a:cubicBezTo>
                    <a:pt x="22003765" y="0"/>
                    <a:pt x="22097364" y="93599"/>
                    <a:pt x="22097364" y="209042"/>
                  </a:cubicBezTo>
                  <a:lnTo>
                    <a:pt x="22097364" y="1124204"/>
                  </a:lnTo>
                  <a:cubicBezTo>
                    <a:pt x="22097364" y="1239647"/>
                    <a:pt x="22003765" y="1333246"/>
                    <a:pt x="21888323" y="1333246"/>
                  </a:cubicBezTo>
                  <a:lnTo>
                    <a:pt x="209042" y="1333246"/>
                  </a:lnTo>
                  <a:cubicBezTo>
                    <a:pt x="93599" y="1333246"/>
                    <a:pt x="0" y="1239647"/>
                    <a:pt x="0" y="1124204"/>
                  </a:cubicBez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286561" y="571957"/>
            <a:ext cx="1899666" cy="714604"/>
            <a:chOff x="0" y="0"/>
            <a:chExt cx="2532888" cy="952805"/>
          </a:xfrm>
        </p:grpSpPr>
        <p:sp>
          <p:nvSpPr>
            <p:cNvPr name="Freeform 19" id="19" descr="preencoded.png"/>
            <p:cNvSpPr/>
            <p:nvPr/>
          </p:nvSpPr>
          <p:spPr>
            <a:xfrm flipH="false" flipV="false" rot="0">
              <a:off x="0" y="0"/>
              <a:ext cx="2532888" cy="952754"/>
            </a:xfrm>
            <a:custGeom>
              <a:avLst/>
              <a:gdLst/>
              <a:ahLst/>
              <a:cxnLst/>
              <a:rect r="r" b="b" t="t" l="l"/>
              <a:pathLst>
                <a:path h="952754" w="2532888">
                  <a:moveTo>
                    <a:pt x="0" y="0"/>
                  </a:moveTo>
                  <a:lnTo>
                    <a:pt x="2532888" y="0"/>
                  </a:lnTo>
                  <a:lnTo>
                    <a:pt x="2532888" y="952754"/>
                  </a:lnTo>
                  <a:lnTo>
                    <a:pt x="0" y="9527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10" r="0" b="-14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6287750" y="571957"/>
            <a:ext cx="714604" cy="714604"/>
            <a:chOff x="0" y="0"/>
            <a:chExt cx="952805" cy="952805"/>
          </a:xfrm>
        </p:grpSpPr>
        <p:sp>
          <p:nvSpPr>
            <p:cNvPr name="Freeform 21" id="21" descr="preencoded.png"/>
            <p:cNvSpPr/>
            <p:nvPr/>
          </p:nvSpPr>
          <p:spPr>
            <a:xfrm flipH="false" flipV="false" rot="0">
              <a:off x="0" y="0"/>
              <a:ext cx="952754" cy="952754"/>
            </a:xfrm>
            <a:custGeom>
              <a:avLst/>
              <a:gdLst/>
              <a:ahLst/>
              <a:cxnLst/>
              <a:rect r="r" b="b" t="t" l="l"/>
              <a:pathLst>
                <a:path h="952754" w="952754">
                  <a:moveTo>
                    <a:pt x="0" y="0"/>
                  </a:moveTo>
                  <a:lnTo>
                    <a:pt x="952754" y="0"/>
                  </a:lnTo>
                  <a:lnTo>
                    <a:pt x="952754" y="952754"/>
                  </a:lnTo>
                  <a:lnTo>
                    <a:pt x="0" y="9527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5" b="-5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080611" y="1597457"/>
            <a:ext cx="113843" cy="614477"/>
            <a:chOff x="0" y="0"/>
            <a:chExt cx="151790" cy="819302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51765" cy="819277"/>
            </a:xfrm>
            <a:custGeom>
              <a:avLst/>
              <a:gdLst/>
              <a:ahLst/>
              <a:cxnLst/>
              <a:rect r="r" b="b" t="t" l="l"/>
              <a:pathLst>
                <a:path h="819277" w="151765">
                  <a:moveTo>
                    <a:pt x="0" y="0"/>
                  </a:moveTo>
                  <a:lnTo>
                    <a:pt x="151765" y="0"/>
                  </a:lnTo>
                  <a:lnTo>
                    <a:pt x="151765" y="819277"/>
                  </a:lnTo>
                  <a:lnTo>
                    <a:pt x="0" y="819277"/>
                  </a:lnTo>
                  <a:close/>
                </a:path>
              </a:pathLst>
            </a:custGeom>
            <a:solidFill>
              <a:srgbClr val="88E555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286561" y="1420711"/>
            <a:ext cx="12571597" cy="967969"/>
            <a:chOff x="0" y="0"/>
            <a:chExt cx="16762129" cy="1290625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6762129" cy="1290624"/>
            </a:xfrm>
            <a:custGeom>
              <a:avLst/>
              <a:gdLst/>
              <a:ahLst/>
              <a:cxnLst/>
              <a:rect r="r" b="b" t="t" l="l"/>
              <a:pathLst>
                <a:path h="1290624" w="16762129">
                  <a:moveTo>
                    <a:pt x="0" y="0"/>
                  </a:moveTo>
                  <a:lnTo>
                    <a:pt x="16762129" y="0"/>
                  </a:lnTo>
                  <a:lnTo>
                    <a:pt x="16762129" y="1290624"/>
                  </a:lnTo>
                  <a:lnTo>
                    <a:pt x="0" y="1290624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114353" r="40506" b="-86761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16762129" cy="13287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SEM DEGRADATION &amp; AUGMENTATION MODEL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7767485" y="342976"/>
            <a:ext cx="2411054" cy="1175385"/>
            <a:chOff x="0" y="0"/>
            <a:chExt cx="3214738" cy="156718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3214751" cy="1567180"/>
            </a:xfrm>
            <a:custGeom>
              <a:avLst/>
              <a:gdLst/>
              <a:ahLst/>
              <a:cxnLst/>
              <a:rect r="r" b="b" t="t" l="l"/>
              <a:pathLst>
                <a:path h="1567180" w="3214751">
                  <a:moveTo>
                    <a:pt x="0" y="0"/>
                  </a:moveTo>
                  <a:lnTo>
                    <a:pt x="3214751" y="0"/>
                  </a:lnTo>
                  <a:lnTo>
                    <a:pt x="3214751" y="1567180"/>
                  </a:lnTo>
                  <a:lnTo>
                    <a:pt x="0" y="15671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857250" y="115100"/>
            <a:ext cx="16573043" cy="1286561"/>
            <a:chOff x="0" y="0"/>
            <a:chExt cx="22097390" cy="1715414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22097366" cy="1715389"/>
            </a:xfrm>
            <a:custGeom>
              <a:avLst/>
              <a:gdLst/>
              <a:ahLst/>
              <a:cxnLst/>
              <a:rect r="r" b="b" t="t" l="l"/>
              <a:pathLst>
                <a:path h="1715389" w="22097366">
                  <a:moveTo>
                    <a:pt x="0" y="162560"/>
                  </a:moveTo>
                  <a:cubicBezTo>
                    <a:pt x="0" y="72771"/>
                    <a:pt x="72771" y="0"/>
                    <a:pt x="162560" y="0"/>
                  </a:cubicBezTo>
                  <a:lnTo>
                    <a:pt x="21934805" y="0"/>
                  </a:lnTo>
                  <a:cubicBezTo>
                    <a:pt x="22024594" y="0"/>
                    <a:pt x="22097366" y="72771"/>
                    <a:pt x="22097366" y="162560"/>
                  </a:cubicBezTo>
                  <a:lnTo>
                    <a:pt x="22097366" y="1552829"/>
                  </a:lnTo>
                  <a:cubicBezTo>
                    <a:pt x="22097366" y="1642618"/>
                    <a:pt x="22024594" y="1715389"/>
                    <a:pt x="21934805" y="1715389"/>
                  </a:cubicBezTo>
                  <a:lnTo>
                    <a:pt x="162560" y="1715389"/>
                  </a:lnTo>
                  <a:cubicBezTo>
                    <a:pt x="72771" y="1715389"/>
                    <a:pt x="0" y="1642618"/>
                    <a:pt x="0" y="1552829"/>
                  </a:cubicBez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2236394" y="318554"/>
            <a:ext cx="13745232" cy="879653"/>
            <a:chOff x="0" y="0"/>
            <a:chExt cx="18326976" cy="117287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8326988" cy="1172845"/>
            </a:xfrm>
            <a:custGeom>
              <a:avLst/>
              <a:gdLst/>
              <a:ahLst/>
              <a:cxnLst/>
              <a:rect r="r" b="b" t="t" l="l"/>
              <a:pathLst>
                <a:path h="1172845" w="18326988">
                  <a:moveTo>
                    <a:pt x="0" y="0"/>
                  </a:moveTo>
                  <a:lnTo>
                    <a:pt x="18326988" y="0"/>
                  </a:lnTo>
                  <a:lnTo>
                    <a:pt x="18326988" y="1172845"/>
                  </a:lnTo>
                  <a:lnTo>
                    <a:pt x="0" y="11728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-2" r="0" b="-4"/>
              </a:stretch>
            </a:blipFill>
          </p:spPr>
        </p:sp>
      </p:grpSp>
      <p:graphicFrame>
        <p:nvGraphicFramePr>
          <p:cNvPr name="Table 33" id="33"/>
          <p:cNvGraphicFramePr>
            <a:graphicFrameLocks noGrp="true"/>
          </p:cNvGraphicFramePr>
          <p:nvPr/>
        </p:nvGraphicFramePr>
        <p:xfrm>
          <a:off x="10383031" y="2358864"/>
          <a:ext cx="7428435" cy="7860885"/>
        </p:xfrm>
        <a:graphic>
          <a:graphicData uri="http://schemas.openxmlformats.org/drawingml/2006/table">
            <a:tbl>
              <a:tblPr/>
              <a:tblGrid>
                <a:gridCol w="2476145"/>
                <a:gridCol w="2476145"/>
                <a:gridCol w="2476145"/>
              </a:tblGrid>
              <a:tr h="95489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DEGRADATION MODEL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RANGE / PURPOSE IN EVALUATION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WHAT IT TESTS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117714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Poisson Shot Noise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500–3500 e⁻/pixel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Robustness to electron-counting noise and low beam dose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6392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Detector Noise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σ = 0.8–3.2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Readout/detector noise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0533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Beam Blur / PSF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σ = 1.0–2.5 px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Localization under reduced spatial sharpness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3543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Scale Variation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0.091–0.111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Cross-magnification scale mismatch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1036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Rotation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±2.0°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Angular misalignment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3014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Stage Drift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±11 px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Spatial positioning error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83634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Surface Charging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Scanline intensity modulation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Charging-induced appearance variation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pSp>
        <p:nvGrpSpPr>
          <p:cNvPr name="Group 34" id="34"/>
          <p:cNvGrpSpPr/>
          <p:nvPr/>
        </p:nvGrpSpPr>
        <p:grpSpPr>
          <a:xfrm rot="0">
            <a:off x="161546" y="6431654"/>
            <a:ext cx="10016993" cy="3788095"/>
            <a:chOff x="0" y="0"/>
            <a:chExt cx="13355990" cy="5050793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3355975" cy="5050751"/>
            </a:xfrm>
            <a:custGeom>
              <a:avLst/>
              <a:gdLst/>
              <a:ahLst/>
              <a:cxnLst/>
              <a:rect r="r" b="b" t="t" l="l"/>
              <a:pathLst>
                <a:path h="5050751" w="13355975">
                  <a:moveTo>
                    <a:pt x="0" y="33931"/>
                  </a:moveTo>
                  <a:cubicBezTo>
                    <a:pt x="0" y="15174"/>
                    <a:pt x="16561" y="0"/>
                    <a:pt x="37033" y="0"/>
                  </a:cubicBezTo>
                  <a:lnTo>
                    <a:pt x="13318942" y="0"/>
                  </a:lnTo>
                  <a:cubicBezTo>
                    <a:pt x="13339414" y="0"/>
                    <a:pt x="13355975" y="15174"/>
                    <a:pt x="13355975" y="33931"/>
                  </a:cubicBezTo>
                  <a:lnTo>
                    <a:pt x="13355975" y="5016820"/>
                  </a:lnTo>
                  <a:cubicBezTo>
                    <a:pt x="13355975" y="5035577"/>
                    <a:pt x="13339414" y="5050751"/>
                    <a:pt x="13318942" y="5050751"/>
                  </a:cubicBezTo>
                  <a:lnTo>
                    <a:pt x="37033" y="5050751"/>
                  </a:lnTo>
                  <a:cubicBezTo>
                    <a:pt x="16561" y="5050751"/>
                    <a:pt x="0" y="5035577"/>
                    <a:pt x="0" y="5016820"/>
                  </a:cubicBezTo>
                  <a:close/>
                </a:path>
              </a:pathLst>
            </a:custGeom>
            <a:solidFill>
              <a:srgbClr val="FFFFFF">
                <a:alpha val="0"/>
              </a:srgbClr>
            </a:solidFill>
            <a:ln w="19050" cap="sq">
              <a:solidFill>
                <a:srgbClr val="88E555"/>
              </a:solidFill>
              <a:prstDash val="solid"/>
              <a:miter/>
            </a:ln>
          </p:spPr>
        </p:sp>
      </p:grpSp>
      <p:grpSp>
        <p:nvGrpSpPr>
          <p:cNvPr name="Group 36" id="36"/>
          <p:cNvGrpSpPr/>
          <p:nvPr/>
        </p:nvGrpSpPr>
        <p:grpSpPr>
          <a:xfrm rot="0">
            <a:off x="487281" y="6159658"/>
            <a:ext cx="9691257" cy="4269793"/>
            <a:chOff x="0" y="0"/>
            <a:chExt cx="12921677" cy="5693058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2921676" cy="5693058"/>
            </a:xfrm>
            <a:custGeom>
              <a:avLst/>
              <a:gdLst/>
              <a:ahLst/>
              <a:cxnLst/>
              <a:rect r="r" b="b" t="t" l="l"/>
              <a:pathLst>
                <a:path h="5693058" w="12921676">
                  <a:moveTo>
                    <a:pt x="0" y="0"/>
                  </a:moveTo>
                  <a:lnTo>
                    <a:pt x="12921676" y="0"/>
                  </a:lnTo>
                  <a:lnTo>
                    <a:pt x="12921676" y="5693058"/>
                  </a:lnTo>
                  <a:lnTo>
                    <a:pt x="0" y="5693058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58044" r="-58484" b="17862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19050"/>
              <a:ext cx="12921677" cy="57121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</a:p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[1] Goldstein et al. (2018)</a:t>
              </a:r>
            </a:p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Scanning Electron Microscopy and X-Ray Microanalysis</a:t>
              </a:r>
            </a:p>
            <a:p>
              <a:pPr algn="l">
                <a:lnSpc>
                  <a:spcPts val="1800"/>
                </a:lnSpc>
              </a:pPr>
              <a:r>
                <a:rPr lang="en-US" sz="1500" u="sng">
                  <a:solidFill>
                    <a:srgbClr val="AEFF82"/>
                  </a:solidFill>
                  <a:latin typeface="Poppins"/>
                  <a:ea typeface="Poppins"/>
                  <a:cs typeface="Poppins"/>
                  <a:sym typeface="Poppins"/>
                  <a:hlinkClick r:id="rId9" tooltip="https://link.springer.com/book/10.1007/978-1-4939-6676-9"/>
                </a:rPr>
                <a:t>https://link.springer.com/book/10.1007/978-1-4939-6676-9</a:t>
              </a:r>
            </a:p>
            <a:p>
              <a:pPr algn="l">
                <a:lnSpc>
                  <a:spcPts val="1800"/>
                </a:lnSpc>
              </a:pPr>
            </a:p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[2] Everhart &amp; Thornley (1960)</a:t>
              </a:r>
            </a:p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Wide-band detector for micro-microampere low-energy electron currents</a:t>
              </a:r>
            </a:p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AEFF82"/>
                  </a:solidFill>
                  <a:latin typeface="Poppins"/>
                  <a:ea typeface="Poppins"/>
                  <a:cs typeface="Poppins"/>
                  <a:sym typeface="Poppins"/>
                  <a:hlinkClick r:id="rId10" tooltip="https://doi.org/10.1088/0950-7671/37/7/307"/>
                </a:rPr>
                <a:t>https://doi.org/10.1088/0950-7671/37/7/307</a:t>
              </a:r>
            </a:p>
            <a:p>
              <a:pPr algn="l">
                <a:lnSpc>
                  <a:spcPts val="1800"/>
                </a:lnSpc>
              </a:pPr>
            </a:p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[3] Li, Zhang &amp; Ding (2013)</a:t>
              </a:r>
            </a:p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Monte Carlo Simulation of CD-SEM Images for Linewidth and Critical Dimension Metrology</a:t>
              </a:r>
            </a:p>
            <a:p>
              <a:pPr algn="l">
                <a:lnSpc>
                  <a:spcPts val="1800"/>
                </a:lnSpc>
              </a:pPr>
              <a:r>
                <a:rPr lang="en-US" sz="1500" u="sng">
                  <a:solidFill>
                    <a:srgbClr val="AEFF82"/>
                  </a:solidFill>
                  <a:latin typeface="Poppins"/>
                  <a:ea typeface="Poppins"/>
                  <a:cs typeface="Poppins"/>
                  <a:sym typeface="Poppins"/>
                  <a:hlinkClick r:id="rId11" tooltip="https://doi.org/10.1002/sca.21042"/>
                </a:rPr>
                <a:t>https://doi.org/10</a:t>
              </a:r>
              <a:r>
                <a:rPr lang="en-US" sz="1500">
                  <a:solidFill>
                    <a:srgbClr val="AEFF82"/>
                  </a:solidFill>
                  <a:latin typeface="Poppins"/>
                  <a:ea typeface="Poppins"/>
                  <a:cs typeface="Poppins"/>
                  <a:sym typeface="Poppins"/>
                  <a:hlinkClick r:id="rId12" tooltip="https://doi.org/10.1002/sca.21042"/>
                </a:rPr>
                <a:t>.1002/sca.21042</a:t>
              </a:r>
            </a:p>
            <a:p>
              <a:pPr algn="l">
                <a:lnSpc>
                  <a:spcPts val="1800"/>
                </a:lnSpc>
              </a:pPr>
            </a:p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[4] Cazaux (1999)</a:t>
              </a:r>
            </a:p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Some considerations on the secondary electron emission, δ, from e− irradiated insulators</a:t>
              </a:r>
            </a:p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AEFF82"/>
                  </a:solidFill>
                  <a:latin typeface="Poppins"/>
                  <a:ea typeface="Poppins"/>
                  <a:cs typeface="Poppins"/>
                  <a:sym typeface="Poppins"/>
                  <a:hlinkClick r:id="rId13" tooltip="https://doi.org/10.1063/1.369239"/>
                </a:rPr>
                <a:t>https://doi.org/10.1063/1.369239</a:t>
              </a:r>
            </a:p>
          </p:txBody>
        </p:sp>
      </p:grpSp>
      <p:sp>
        <p:nvSpPr>
          <p:cNvPr name="Freeform 39" id="39"/>
          <p:cNvSpPr/>
          <p:nvPr/>
        </p:nvSpPr>
        <p:spPr>
          <a:xfrm flipH="false" flipV="false" rot="0">
            <a:off x="142496" y="2358864"/>
            <a:ext cx="10036043" cy="3450351"/>
          </a:xfrm>
          <a:custGeom>
            <a:avLst/>
            <a:gdLst/>
            <a:ahLst/>
            <a:cxnLst/>
            <a:rect r="r" b="b" t="t" l="l"/>
            <a:pathLst>
              <a:path h="3450351" w="10036043">
                <a:moveTo>
                  <a:pt x="0" y="0"/>
                </a:moveTo>
                <a:lnTo>
                  <a:pt x="10036043" y="0"/>
                </a:lnTo>
                <a:lnTo>
                  <a:pt x="10036043" y="3450350"/>
                </a:lnTo>
                <a:lnTo>
                  <a:pt x="0" y="3450350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-29255"/>
            </a:stretch>
          </a:blipFill>
        </p:spPr>
      </p:sp>
      <p:grpSp>
        <p:nvGrpSpPr>
          <p:cNvPr name="Group 40" id="40"/>
          <p:cNvGrpSpPr/>
          <p:nvPr/>
        </p:nvGrpSpPr>
        <p:grpSpPr>
          <a:xfrm rot="0">
            <a:off x="3892740" y="5809214"/>
            <a:ext cx="12571597" cy="700887"/>
            <a:chOff x="0" y="0"/>
            <a:chExt cx="16762129" cy="934516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6762129" cy="934515"/>
            </a:xfrm>
            <a:custGeom>
              <a:avLst/>
              <a:gdLst/>
              <a:ahLst/>
              <a:cxnLst/>
              <a:rect r="r" b="b" t="t" l="l"/>
              <a:pathLst>
                <a:path h="934515" w="16762129">
                  <a:moveTo>
                    <a:pt x="0" y="0"/>
                  </a:moveTo>
                  <a:lnTo>
                    <a:pt x="16762129" y="0"/>
                  </a:lnTo>
                  <a:lnTo>
                    <a:pt x="16762129" y="934515"/>
                  </a:lnTo>
                  <a:lnTo>
                    <a:pt x="0" y="934515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157929" r="40506" b="-157929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19050"/>
              <a:ext cx="16762129" cy="95356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CITATIONS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7543" cy="10287000"/>
            <a:chOff x="0" y="0"/>
            <a:chExt cx="2438339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336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00036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7543" cy="10287000"/>
            <a:chOff x="0" y="0"/>
            <a:chExt cx="24383390" cy="13716000"/>
          </a:xfrm>
        </p:grpSpPr>
        <p:sp>
          <p:nvSpPr>
            <p:cNvPr name="Freeform 5" id="5" descr="preencoded.png"/>
            <p:cNvSpPr/>
            <p:nvPr/>
          </p:nvSpPr>
          <p:spPr>
            <a:xfrm flipH="false" flipV="false" rot="0">
              <a:off x="0" y="0"/>
              <a:ext cx="2438336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5000"/>
              </a:blip>
              <a:stretch>
                <a:fillRect l="-16360" t="0" r="-16361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857250" y="429311"/>
            <a:ext cx="16573043" cy="999896"/>
            <a:chOff x="0" y="0"/>
            <a:chExt cx="22097390" cy="133319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2097364" cy="1333246"/>
            </a:xfrm>
            <a:custGeom>
              <a:avLst/>
              <a:gdLst/>
              <a:ahLst/>
              <a:cxnLst/>
              <a:rect r="r" b="b" t="t" l="l"/>
              <a:pathLst>
                <a:path h="1333246" w="22097364">
                  <a:moveTo>
                    <a:pt x="0" y="209042"/>
                  </a:moveTo>
                  <a:cubicBezTo>
                    <a:pt x="0" y="93599"/>
                    <a:pt x="93599" y="0"/>
                    <a:pt x="209042" y="0"/>
                  </a:cubicBezTo>
                  <a:lnTo>
                    <a:pt x="21888323" y="0"/>
                  </a:lnTo>
                  <a:cubicBezTo>
                    <a:pt x="22003765" y="0"/>
                    <a:pt x="22097364" y="93599"/>
                    <a:pt x="22097364" y="209042"/>
                  </a:cubicBezTo>
                  <a:lnTo>
                    <a:pt x="22097364" y="1124204"/>
                  </a:lnTo>
                  <a:cubicBezTo>
                    <a:pt x="22097364" y="1239647"/>
                    <a:pt x="22003765" y="1333246"/>
                    <a:pt x="21888323" y="1333246"/>
                  </a:cubicBezTo>
                  <a:lnTo>
                    <a:pt x="209042" y="1333246"/>
                  </a:lnTo>
                  <a:cubicBezTo>
                    <a:pt x="93599" y="1333246"/>
                    <a:pt x="0" y="1239647"/>
                    <a:pt x="0" y="1124204"/>
                  </a:cubicBez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6287750" y="571957"/>
            <a:ext cx="714604" cy="714604"/>
            <a:chOff x="0" y="0"/>
            <a:chExt cx="952805" cy="952805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952754" cy="952754"/>
            </a:xfrm>
            <a:custGeom>
              <a:avLst/>
              <a:gdLst/>
              <a:ahLst/>
              <a:cxnLst/>
              <a:rect r="r" b="b" t="t" l="l"/>
              <a:pathLst>
                <a:path h="952754" w="952754">
                  <a:moveTo>
                    <a:pt x="0" y="0"/>
                  </a:moveTo>
                  <a:lnTo>
                    <a:pt x="952754" y="0"/>
                  </a:lnTo>
                  <a:lnTo>
                    <a:pt x="952754" y="952754"/>
                  </a:lnTo>
                  <a:lnTo>
                    <a:pt x="0" y="9527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5" b="-5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137533" y="571957"/>
            <a:ext cx="8618220" cy="701040"/>
            <a:chOff x="0" y="0"/>
            <a:chExt cx="11490960" cy="93472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1490960" cy="934720"/>
            </a:xfrm>
            <a:custGeom>
              <a:avLst/>
              <a:gdLst/>
              <a:ahLst/>
              <a:cxnLst/>
              <a:rect r="r" b="b" t="t" l="l"/>
              <a:pathLst>
                <a:path h="934720" w="11490960">
                  <a:moveTo>
                    <a:pt x="0" y="0"/>
                  </a:moveTo>
                  <a:lnTo>
                    <a:pt x="11490960" y="0"/>
                  </a:lnTo>
                  <a:lnTo>
                    <a:pt x="11490960" y="934720"/>
                  </a:lnTo>
                  <a:lnTo>
                    <a:pt x="0" y="9347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1" t="0" r="-11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0" y="0"/>
            <a:ext cx="18287543" cy="10287000"/>
            <a:chOff x="0" y="0"/>
            <a:chExt cx="24383390" cy="13716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438336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00036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0" y="-135669"/>
            <a:ext cx="18287543" cy="10287000"/>
            <a:chOff x="0" y="0"/>
            <a:chExt cx="24383390" cy="13716000"/>
          </a:xfrm>
        </p:grpSpPr>
        <p:sp>
          <p:nvSpPr>
            <p:cNvPr name="Freeform 15" id="15" descr="preencoded.png"/>
            <p:cNvSpPr/>
            <p:nvPr/>
          </p:nvSpPr>
          <p:spPr>
            <a:xfrm flipH="false" flipV="false" rot="0">
              <a:off x="0" y="0"/>
              <a:ext cx="2438336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</a:blip>
              <a:stretch>
                <a:fillRect l="-16360" t="0" r="-16361" b="0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857250" y="429311"/>
            <a:ext cx="16573043" cy="999896"/>
            <a:chOff x="0" y="0"/>
            <a:chExt cx="22097390" cy="1333195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2097364" cy="1333246"/>
            </a:xfrm>
            <a:custGeom>
              <a:avLst/>
              <a:gdLst/>
              <a:ahLst/>
              <a:cxnLst/>
              <a:rect r="r" b="b" t="t" l="l"/>
              <a:pathLst>
                <a:path h="1333246" w="22097364">
                  <a:moveTo>
                    <a:pt x="0" y="209042"/>
                  </a:moveTo>
                  <a:cubicBezTo>
                    <a:pt x="0" y="93599"/>
                    <a:pt x="93599" y="0"/>
                    <a:pt x="209042" y="0"/>
                  </a:cubicBezTo>
                  <a:lnTo>
                    <a:pt x="21888323" y="0"/>
                  </a:lnTo>
                  <a:cubicBezTo>
                    <a:pt x="22003765" y="0"/>
                    <a:pt x="22097364" y="93599"/>
                    <a:pt x="22097364" y="209042"/>
                  </a:cubicBezTo>
                  <a:lnTo>
                    <a:pt x="22097364" y="1124204"/>
                  </a:lnTo>
                  <a:cubicBezTo>
                    <a:pt x="22097364" y="1239647"/>
                    <a:pt x="22003765" y="1333246"/>
                    <a:pt x="21888323" y="1333246"/>
                  </a:cubicBezTo>
                  <a:lnTo>
                    <a:pt x="209042" y="1333246"/>
                  </a:lnTo>
                  <a:cubicBezTo>
                    <a:pt x="93599" y="1333246"/>
                    <a:pt x="0" y="1239647"/>
                    <a:pt x="0" y="1124204"/>
                  </a:cubicBez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286561" y="571957"/>
            <a:ext cx="1899666" cy="714604"/>
            <a:chOff x="0" y="0"/>
            <a:chExt cx="2532888" cy="952805"/>
          </a:xfrm>
        </p:grpSpPr>
        <p:sp>
          <p:nvSpPr>
            <p:cNvPr name="Freeform 19" id="19" descr="preencoded.png"/>
            <p:cNvSpPr/>
            <p:nvPr/>
          </p:nvSpPr>
          <p:spPr>
            <a:xfrm flipH="false" flipV="false" rot="0">
              <a:off x="0" y="0"/>
              <a:ext cx="2532888" cy="952754"/>
            </a:xfrm>
            <a:custGeom>
              <a:avLst/>
              <a:gdLst/>
              <a:ahLst/>
              <a:cxnLst/>
              <a:rect r="r" b="b" t="t" l="l"/>
              <a:pathLst>
                <a:path h="952754" w="2532888">
                  <a:moveTo>
                    <a:pt x="0" y="0"/>
                  </a:moveTo>
                  <a:lnTo>
                    <a:pt x="2532888" y="0"/>
                  </a:lnTo>
                  <a:lnTo>
                    <a:pt x="2532888" y="952754"/>
                  </a:lnTo>
                  <a:lnTo>
                    <a:pt x="0" y="9527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10" r="0" b="-14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6287750" y="571957"/>
            <a:ext cx="714604" cy="714604"/>
            <a:chOff x="0" y="0"/>
            <a:chExt cx="952805" cy="952805"/>
          </a:xfrm>
        </p:grpSpPr>
        <p:sp>
          <p:nvSpPr>
            <p:cNvPr name="Freeform 21" id="21" descr="preencoded.png"/>
            <p:cNvSpPr/>
            <p:nvPr/>
          </p:nvSpPr>
          <p:spPr>
            <a:xfrm flipH="false" flipV="false" rot="0">
              <a:off x="0" y="0"/>
              <a:ext cx="952754" cy="952754"/>
            </a:xfrm>
            <a:custGeom>
              <a:avLst/>
              <a:gdLst/>
              <a:ahLst/>
              <a:cxnLst/>
              <a:rect r="r" b="b" t="t" l="l"/>
              <a:pathLst>
                <a:path h="952754" w="952754">
                  <a:moveTo>
                    <a:pt x="0" y="0"/>
                  </a:moveTo>
                  <a:lnTo>
                    <a:pt x="952754" y="0"/>
                  </a:lnTo>
                  <a:lnTo>
                    <a:pt x="952754" y="952754"/>
                  </a:lnTo>
                  <a:lnTo>
                    <a:pt x="0" y="9527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5" b="-5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999896" y="1516952"/>
            <a:ext cx="113843" cy="614477"/>
            <a:chOff x="0" y="0"/>
            <a:chExt cx="151790" cy="819302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51765" cy="819277"/>
            </a:xfrm>
            <a:custGeom>
              <a:avLst/>
              <a:gdLst/>
              <a:ahLst/>
              <a:cxnLst/>
              <a:rect r="r" b="b" t="t" l="l"/>
              <a:pathLst>
                <a:path h="819277" w="151765">
                  <a:moveTo>
                    <a:pt x="0" y="0"/>
                  </a:moveTo>
                  <a:lnTo>
                    <a:pt x="151765" y="0"/>
                  </a:lnTo>
                  <a:lnTo>
                    <a:pt x="151765" y="819277"/>
                  </a:lnTo>
                  <a:lnTo>
                    <a:pt x="0" y="819277"/>
                  </a:lnTo>
                  <a:close/>
                </a:path>
              </a:pathLst>
            </a:custGeom>
            <a:solidFill>
              <a:srgbClr val="88E555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286561" y="1292581"/>
            <a:ext cx="12266004" cy="967969"/>
            <a:chOff x="0" y="0"/>
            <a:chExt cx="16354672" cy="1290625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6354671" cy="1290624"/>
            </a:xfrm>
            <a:custGeom>
              <a:avLst/>
              <a:gdLst/>
              <a:ahLst/>
              <a:cxnLst/>
              <a:rect r="r" b="b" t="t" l="l"/>
              <a:pathLst>
                <a:path h="1290624" w="16354671">
                  <a:moveTo>
                    <a:pt x="0" y="0"/>
                  </a:moveTo>
                  <a:lnTo>
                    <a:pt x="16354671" y="0"/>
                  </a:lnTo>
                  <a:lnTo>
                    <a:pt x="16354671" y="1290624"/>
                  </a:lnTo>
                  <a:lnTo>
                    <a:pt x="0" y="1290624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76389" r="54399" b="-48798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16354672" cy="13287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LOCALISATION METHOD &amp; DECISION RULE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8110385" y="341566"/>
            <a:ext cx="2411054" cy="1175385"/>
            <a:chOff x="0" y="0"/>
            <a:chExt cx="3214738" cy="156718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3214751" cy="1567180"/>
            </a:xfrm>
            <a:custGeom>
              <a:avLst/>
              <a:gdLst/>
              <a:ahLst/>
              <a:cxnLst/>
              <a:rect r="r" b="b" t="t" l="l"/>
              <a:pathLst>
                <a:path h="1567180" w="3214751">
                  <a:moveTo>
                    <a:pt x="0" y="0"/>
                  </a:moveTo>
                  <a:lnTo>
                    <a:pt x="3214751" y="0"/>
                  </a:lnTo>
                  <a:lnTo>
                    <a:pt x="3214751" y="1567180"/>
                  </a:lnTo>
                  <a:lnTo>
                    <a:pt x="0" y="15671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857250" y="142646"/>
            <a:ext cx="16573043" cy="1286561"/>
            <a:chOff x="0" y="0"/>
            <a:chExt cx="22097390" cy="1715414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22097366" cy="1715389"/>
            </a:xfrm>
            <a:custGeom>
              <a:avLst/>
              <a:gdLst/>
              <a:ahLst/>
              <a:cxnLst/>
              <a:rect r="r" b="b" t="t" l="l"/>
              <a:pathLst>
                <a:path h="1715389" w="22097366">
                  <a:moveTo>
                    <a:pt x="0" y="162560"/>
                  </a:moveTo>
                  <a:cubicBezTo>
                    <a:pt x="0" y="72771"/>
                    <a:pt x="72771" y="0"/>
                    <a:pt x="162560" y="0"/>
                  </a:cubicBezTo>
                  <a:lnTo>
                    <a:pt x="21934805" y="0"/>
                  </a:lnTo>
                  <a:cubicBezTo>
                    <a:pt x="22024594" y="0"/>
                    <a:pt x="22097366" y="72771"/>
                    <a:pt x="22097366" y="162560"/>
                  </a:cubicBezTo>
                  <a:lnTo>
                    <a:pt x="22097366" y="1552829"/>
                  </a:lnTo>
                  <a:cubicBezTo>
                    <a:pt x="22097366" y="1642618"/>
                    <a:pt x="22024594" y="1715389"/>
                    <a:pt x="21934805" y="1715389"/>
                  </a:cubicBezTo>
                  <a:lnTo>
                    <a:pt x="162560" y="1715389"/>
                  </a:lnTo>
                  <a:cubicBezTo>
                    <a:pt x="72771" y="1715389"/>
                    <a:pt x="0" y="1642618"/>
                    <a:pt x="0" y="1552829"/>
                  </a:cubicBez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2443286" y="322326"/>
            <a:ext cx="13745232" cy="879653"/>
            <a:chOff x="0" y="0"/>
            <a:chExt cx="18326976" cy="117287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8326988" cy="1172845"/>
            </a:xfrm>
            <a:custGeom>
              <a:avLst/>
              <a:gdLst/>
              <a:ahLst/>
              <a:cxnLst/>
              <a:rect r="r" b="b" t="t" l="l"/>
              <a:pathLst>
                <a:path h="1172845" w="18326988">
                  <a:moveTo>
                    <a:pt x="0" y="0"/>
                  </a:moveTo>
                  <a:lnTo>
                    <a:pt x="18326988" y="0"/>
                  </a:lnTo>
                  <a:lnTo>
                    <a:pt x="18326988" y="1172845"/>
                  </a:lnTo>
                  <a:lnTo>
                    <a:pt x="0" y="11728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-2" r="0" b="-4"/>
              </a:stretch>
            </a:blipFill>
          </p:spPr>
        </p:sp>
      </p:grpSp>
      <p:sp>
        <p:nvSpPr>
          <p:cNvPr name="Freeform 33" id="33"/>
          <p:cNvSpPr/>
          <p:nvPr/>
        </p:nvSpPr>
        <p:spPr>
          <a:xfrm flipH="false" flipV="false" rot="0">
            <a:off x="161348" y="2198103"/>
            <a:ext cx="9435345" cy="7899645"/>
          </a:xfrm>
          <a:custGeom>
            <a:avLst/>
            <a:gdLst/>
            <a:ahLst/>
            <a:cxnLst/>
            <a:rect r="r" b="b" t="t" l="l"/>
            <a:pathLst>
              <a:path h="7899645" w="9435345">
                <a:moveTo>
                  <a:pt x="0" y="0"/>
                </a:moveTo>
                <a:lnTo>
                  <a:pt x="9435345" y="0"/>
                </a:lnTo>
                <a:lnTo>
                  <a:pt x="9435345" y="7899645"/>
                </a:lnTo>
                <a:lnTo>
                  <a:pt x="0" y="789964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-6826" r="-34159" b="0"/>
            </a:stretch>
          </a:blipFill>
        </p:spPr>
      </p:sp>
      <p:graphicFrame>
        <p:nvGraphicFramePr>
          <p:cNvPr name="Table 34" id="34"/>
          <p:cNvGraphicFramePr>
            <a:graphicFrameLocks noGrp="true"/>
          </p:cNvGraphicFramePr>
          <p:nvPr/>
        </p:nvGraphicFramePr>
        <p:xfrm>
          <a:off x="10111473" y="2260549"/>
          <a:ext cx="7855131" cy="5304064"/>
        </p:xfrm>
        <a:graphic>
          <a:graphicData uri="http://schemas.openxmlformats.org/drawingml/2006/table">
            <a:tbl>
              <a:tblPr/>
              <a:tblGrid>
                <a:gridCol w="1883471"/>
                <a:gridCol w="5971660"/>
              </a:tblGrid>
              <a:tr h="62841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PHASE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PURPOSE SUMMARY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734744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P1 — Global Multi-Scale NCC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Generate potential match locations using multi-scale, multi-angle NCC and return Top-K candidates.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01924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P2 — Geometry-Based Disambiguation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Verify structural and periodic consistency using spacing, alignment, local contrast and periodic candidate verification to eliminate false matches.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4744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P5 — Siamese Metric Re-Ranking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Use Siamese CNN similarity to re-rank difficult candidates and select the most likely match.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4744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P3 — Adaptive Fine Local Search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Refine the selected candidate using a local search window, fine-scale sweep and small angular variations.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01924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P4 — Sub-Pixel Fourier Refinement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Refine the final peak using frequency-domain phase correlation and 2D interpolation for accurate sub-pixel coordinates.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7565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Output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Return the final predicted coordinates (xₚᵣₑ𝒹, yₚᵣₑ𝒹).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pSp>
        <p:nvGrpSpPr>
          <p:cNvPr name="Group 35" id="35"/>
          <p:cNvGrpSpPr/>
          <p:nvPr/>
        </p:nvGrpSpPr>
        <p:grpSpPr>
          <a:xfrm rot="0">
            <a:off x="10082207" y="7806193"/>
            <a:ext cx="7884397" cy="2345138"/>
            <a:chOff x="0" y="0"/>
            <a:chExt cx="10512529" cy="3126851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0512630" cy="3126851"/>
            </a:xfrm>
            <a:custGeom>
              <a:avLst/>
              <a:gdLst/>
              <a:ahLst/>
              <a:cxnLst/>
              <a:rect r="r" b="b" t="t" l="l"/>
              <a:pathLst>
                <a:path h="3126851" w="10512630">
                  <a:moveTo>
                    <a:pt x="0" y="19779"/>
                  </a:moveTo>
                  <a:cubicBezTo>
                    <a:pt x="0" y="8856"/>
                    <a:pt x="12673" y="0"/>
                    <a:pt x="28304" y="0"/>
                  </a:cubicBezTo>
                  <a:lnTo>
                    <a:pt x="10484274" y="0"/>
                  </a:lnTo>
                  <a:cubicBezTo>
                    <a:pt x="10499904" y="0"/>
                    <a:pt x="10512630" y="8856"/>
                    <a:pt x="10512630" y="19779"/>
                  </a:cubicBezTo>
                  <a:lnTo>
                    <a:pt x="10512630" y="3107072"/>
                  </a:lnTo>
                  <a:cubicBezTo>
                    <a:pt x="10512630" y="3117995"/>
                    <a:pt x="10499904" y="3126851"/>
                    <a:pt x="10484274" y="3126851"/>
                  </a:cubicBezTo>
                  <a:lnTo>
                    <a:pt x="28304" y="3126851"/>
                  </a:lnTo>
                  <a:cubicBezTo>
                    <a:pt x="12673" y="3126851"/>
                    <a:pt x="0" y="3117995"/>
                    <a:pt x="0" y="3107072"/>
                  </a:cubicBezTo>
                  <a:close/>
                </a:path>
              </a:pathLst>
            </a:custGeom>
            <a:solidFill>
              <a:srgbClr val="FFFFFF">
                <a:alpha val="0"/>
              </a:srgbClr>
            </a:solidFill>
            <a:ln w="19050" cap="sq">
              <a:solidFill>
                <a:srgbClr val="88E555"/>
              </a:solidFill>
              <a:prstDash val="solid"/>
              <a:miter/>
            </a:ln>
          </p:spPr>
        </p:sp>
      </p:grpSp>
      <p:grpSp>
        <p:nvGrpSpPr>
          <p:cNvPr name="Group 37" id="37"/>
          <p:cNvGrpSpPr/>
          <p:nvPr/>
        </p:nvGrpSpPr>
        <p:grpSpPr>
          <a:xfrm rot="0">
            <a:off x="10213120" y="7853365"/>
            <a:ext cx="7753484" cy="2297966"/>
            <a:chOff x="0" y="0"/>
            <a:chExt cx="10337978" cy="3063955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0337978" cy="3063955"/>
            </a:xfrm>
            <a:custGeom>
              <a:avLst/>
              <a:gdLst/>
              <a:ahLst/>
              <a:cxnLst/>
              <a:rect r="r" b="b" t="t" l="l"/>
              <a:pathLst>
                <a:path h="3063955" w="10337978">
                  <a:moveTo>
                    <a:pt x="0" y="0"/>
                  </a:moveTo>
                  <a:lnTo>
                    <a:pt x="10337978" y="0"/>
                  </a:lnTo>
                  <a:lnTo>
                    <a:pt x="10337978" y="3063955"/>
                  </a:lnTo>
                  <a:lnTo>
                    <a:pt x="0" y="3063955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96465" r="-80775" b="-41231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19050"/>
              <a:ext cx="10337978" cy="30830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AEFF82"/>
                  </a:solidFill>
                  <a:latin typeface="Poppins"/>
                  <a:ea typeface="Poppins"/>
                  <a:cs typeface="Poppins"/>
                  <a:sym typeface="Poppins"/>
                </a:rPr>
                <a:t>Decision Rule:</a:t>
              </a:r>
            </a:p>
            <a:p>
              <a:pPr algn="l">
                <a:lnSpc>
                  <a:spcPts val="1920"/>
                </a:lnSpc>
              </a:pPr>
            </a:p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If S_gate ≥ 0.65 AND Peak Gap ≥ 0.075 → accept the Top-1 NCC candidate and proceed directly to Phase 3 for fine localization.</a:t>
              </a:r>
            </a:p>
            <a:p>
              <a:pPr algn="l">
                <a:lnSpc>
                  <a:spcPts val="1920"/>
                </a:lnSpc>
              </a:pPr>
            </a:p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AEFF82"/>
                  </a:solidFill>
                  <a:latin typeface="Poppins"/>
                  <a:ea typeface="Poppins"/>
                  <a:cs typeface="Poppins"/>
                  <a:sym typeface="Poppins"/>
                </a:rPr>
                <a:t>Design Principle:</a:t>
              </a:r>
            </a:p>
            <a:p>
              <a:pPr algn="l">
                <a:lnSpc>
                  <a:spcPts val="1920"/>
                </a:lnSpc>
              </a:pPr>
            </a:p>
            <a:p>
              <a:pPr algn="l">
                <a:lnSpc>
                  <a:spcPts val="1920"/>
                </a:lnSpc>
              </a:pPr>
              <a:r>
                <a:rPr lang="en-US" sz="160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CLASSICAL FIRST → GEOMETRY WHEN AMBIGUOUS → ML AS SELECTIVE TIE-BREAKER → SUB-PIXEL REFINEMENT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7543" cy="10287000"/>
            <a:chOff x="0" y="0"/>
            <a:chExt cx="2438339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336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00036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7543" cy="10287000"/>
            <a:chOff x="0" y="0"/>
            <a:chExt cx="24383390" cy="13716000"/>
          </a:xfrm>
        </p:grpSpPr>
        <p:sp>
          <p:nvSpPr>
            <p:cNvPr name="Freeform 5" id="5" descr="preencoded.png"/>
            <p:cNvSpPr/>
            <p:nvPr/>
          </p:nvSpPr>
          <p:spPr>
            <a:xfrm flipH="false" flipV="false" rot="0">
              <a:off x="0" y="0"/>
              <a:ext cx="2438336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5000"/>
              </a:blip>
              <a:stretch>
                <a:fillRect l="-16360" t="0" r="-16361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857250" y="429311"/>
            <a:ext cx="16573043" cy="999896"/>
            <a:chOff x="0" y="0"/>
            <a:chExt cx="22097390" cy="133319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2097364" cy="1333246"/>
            </a:xfrm>
            <a:custGeom>
              <a:avLst/>
              <a:gdLst/>
              <a:ahLst/>
              <a:cxnLst/>
              <a:rect r="r" b="b" t="t" l="l"/>
              <a:pathLst>
                <a:path h="1333246" w="22097364">
                  <a:moveTo>
                    <a:pt x="0" y="209042"/>
                  </a:moveTo>
                  <a:cubicBezTo>
                    <a:pt x="0" y="93599"/>
                    <a:pt x="93599" y="0"/>
                    <a:pt x="209042" y="0"/>
                  </a:cubicBezTo>
                  <a:lnTo>
                    <a:pt x="21888323" y="0"/>
                  </a:lnTo>
                  <a:cubicBezTo>
                    <a:pt x="22003765" y="0"/>
                    <a:pt x="22097364" y="93599"/>
                    <a:pt x="22097364" y="209042"/>
                  </a:cubicBezTo>
                  <a:lnTo>
                    <a:pt x="22097364" y="1124204"/>
                  </a:lnTo>
                  <a:cubicBezTo>
                    <a:pt x="22097364" y="1239647"/>
                    <a:pt x="22003765" y="1333246"/>
                    <a:pt x="21888323" y="1333246"/>
                  </a:cubicBezTo>
                  <a:lnTo>
                    <a:pt x="209042" y="1333246"/>
                  </a:lnTo>
                  <a:cubicBezTo>
                    <a:pt x="93599" y="1333246"/>
                    <a:pt x="0" y="1239647"/>
                    <a:pt x="0" y="1124204"/>
                  </a:cubicBez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6287750" y="571957"/>
            <a:ext cx="714604" cy="714604"/>
            <a:chOff x="0" y="0"/>
            <a:chExt cx="952805" cy="952805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952754" cy="952754"/>
            </a:xfrm>
            <a:custGeom>
              <a:avLst/>
              <a:gdLst/>
              <a:ahLst/>
              <a:cxnLst/>
              <a:rect r="r" b="b" t="t" l="l"/>
              <a:pathLst>
                <a:path h="952754" w="952754">
                  <a:moveTo>
                    <a:pt x="0" y="0"/>
                  </a:moveTo>
                  <a:lnTo>
                    <a:pt x="952754" y="0"/>
                  </a:lnTo>
                  <a:lnTo>
                    <a:pt x="952754" y="952754"/>
                  </a:lnTo>
                  <a:lnTo>
                    <a:pt x="0" y="9527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5" b="-5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137533" y="571957"/>
            <a:ext cx="8618220" cy="701040"/>
            <a:chOff x="0" y="0"/>
            <a:chExt cx="11490960" cy="93472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1490960" cy="934720"/>
            </a:xfrm>
            <a:custGeom>
              <a:avLst/>
              <a:gdLst/>
              <a:ahLst/>
              <a:cxnLst/>
              <a:rect r="r" b="b" t="t" l="l"/>
              <a:pathLst>
                <a:path h="934720" w="11490960">
                  <a:moveTo>
                    <a:pt x="0" y="0"/>
                  </a:moveTo>
                  <a:lnTo>
                    <a:pt x="11490960" y="0"/>
                  </a:lnTo>
                  <a:lnTo>
                    <a:pt x="11490960" y="934720"/>
                  </a:lnTo>
                  <a:lnTo>
                    <a:pt x="0" y="9347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1" t="0" r="-11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0" y="0"/>
            <a:ext cx="18287543" cy="10287000"/>
            <a:chOff x="0" y="0"/>
            <a:chExt cx="24383390" cy="13716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438336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00036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0" y="0"/>
            <a:ext cx="18287543" cy="10287000"/>
            <a:chOff x="0" y="0"/>
            <a:chExt cx="24383390" cy="13716000"/>
          </a:xfrm>
        </p:grpSpPr>
        <p:sp>
          <p:nvSpPr>
            <p:cNvPr name="Freeform 15" id="15" descr="preencoded.png"/>
            <p:cNvSpPr/>
            <p:nvPr/>
          </p:nvSpPr>
          <p:spPr>
            <a:xfrm flipH="false" flipV="false" rot="0">
              <a:off x="0" y="0"/>
              <a:ext cx="2438336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</a:blip>
              <a:stretch>
                <a:fillRect l="-16360" t="0" r="-16361" b="0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857250" y="429311"/>
            <a:ext cx="16573043" cy="999896"/>
            <a:chOff x="0" y="0"/>
            <a:chExt cx="22097390" cy="1333195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2097364" cy="1333246"/>
            </a:xfrm>
            <a:custGeom>
              <a:avLst/>
              <a:gdLst/>
              <a:ahLst/>
              <a:cxnLst/>
              <a:rect r="r" b="b" t="t" l="l"/>
              <a:pathLst>
                <a:path h="1333246" w="22097364">
                  <a:moveTo>
                    <a:pt x="0" y="209042"/>
                  </a:moveTo>
                  <a:cubicBezTo>
                    <a:pt x="0" y="93599"/>
                    <a:pt x="93599" y="0"/>
                    <a:pt x="209042" y="0"/>
                  </a:cubicBezTo>
                  <a:lnTo>
                    <a:pt x="21888323" y="0"/>
                  </a:lnTo>
                  <a:cubicBezTo>
                    <a:pt x="22003765" y="0"/>
                    <a:pt x="22097364" y="93599"/>
                    <a:pt x="22097364" y="209042"/>
                  </a:cubicBezTo>
                  <a:lnTo>
                    <a:pt x="22097364" y="1124204"/>
                  </a:lnTo>
                  <a:cubicBezTo>
                    <a:pt x="22097364" y="1239647"/>
                    <a:pt x="22003765" y="1333246"/>
                    <a:pt x="21888323" y="1333246"/>
                  </a:cubicBezTo>
                  <a:lnTo>
                    <a:pt x="209042" y="1333246"/>
                  </a:lnTo>
                  <a:cubicBezTo>
                    <a:pt x="93599" y="1333246"/>
                    <a:pt x="0" y="1239647"/>
                    <a:pt x="0" y="1124204"/>
                  </a:cubicBez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286561" y="571957"/>
            <a:ext cx="1899666" cy="714604"/>
            <a:chOff x="0" y="0"/>
            <a:chExt cx="2532888" cy="952805"/>
          </a:xfrm>
        </p:grpSpPr>
        <p:sp>
          <p:nvSpPr>
            <p:cNvPr name="Freeform 19" id="19" descr="preencoded.png"/>
            <p:cNvSpPr/>
            <p:nvPr/>
          </p:nvSpPr>
          <p:spPr>
            <a:xfrm flipH="false" flipV="false" rot="0">
              <a:off x="0" y="0"/>
              <a:ext cx="2532888" cy="952754"/>
            </a:xfrm>
            <a:custGeom>
              <a:avLst/>
              <a:gdLst/>
              <a:ahLst/>
              <a:cxnLst/>
              <a:rect r="r" b="b" t="t" l="l"/>
              <a:pathLst>
                <a:path h="952754" w="2532888">
                  <a:moveTo>
                    <a:pt x="0" y="0"/>
                  </a:moveTo>
                  <a:lnTo>
                    <a:pt x="2532888" y="0"/>
                  </a:lnTo>
                  <a:lnTo>
                    <a:pt x="2532888" y="952754"/>
                  </a:lnTo>
                  <a:lnTo>
                    <a:pt x="0" y="9527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10" r="0" b="-14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6287750" y="571957"/>
            <a:ext cx="714604" cy="714604"/>
            <a:chOff x="0" y="0"/>
            <a:chExt cx="952805" cy="952805"/>
          </a:xfrm>
        </p:grpSpPr>
        <p:sp>
          <p:nvSpPr>
            <p:cNvPr name="Freeform 21" id="21" descr="preencoded.png"/>
            <p:cNvSpPr/>
            <p:nvPr/>
          </p:nvSpPr>
          <p:spPr>
            <a:xfrm flipH="false" flipV="false" rot="0">
              <a:off x="0" y="0"/>
              <a:ext cx="952754" cy="952754"/>
            </a:xfrm>
            <a:custGeom>
              <a:avLst/>
              <a:gdLst/>
              <a:ahLst/>
              <a:cxnLst/>
              <a:rect r="r" b="b" t="t" l="l"/>
              <a:pathLst>
                <a:path h="952754" w="952754">
                  <a:moveTo>
                    <a:pt x="0" y="0"/>
                  </a:moveTo>
                  <a:lnTo>
                    <a:pt x="952754" y="0"/>
                  </a:lnTo>
                  <a:lnTo>
                    <a:pt x="952754" y="952754"/>
                  </a:lnTo>
                  <a:lnTo>
                    <a:pt x="0" y="9527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5" b="-5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857250" y="1857146"/>
            <a:ext cx="113843" cy="614477"/>
            <a:chOff x="0" y="0"/>
            <a:chExt cx="151790" cy="819302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51765" cy="819277"/>
            </a:xfrm>
            <a:custGeom>
              <a:avLst/>
              <a:gdLst/>
              <a:ahLst/>
              <a:cxnLst/>
              <a:rect r="r" b="b" t="t" l="l"/>
              <a:pathLst>
                <a:path h="819277" w="151765">
                  <a:moveTo>
                    <a:pt x="0" y="0"/>
                  </a:moveTo>
                  <a:lnTo>
                    <a:pt x="151765" y="0"/>
                  </a:lnTo>
                  <a:lnTo>
                    <a:pt x="151765" y="819277"/>
                  </a:lnTo>
                  <a:lnTo>
                    <a:pt x="0" y="819277"/>
                  </a:lnTo>
                  <a:close/>
                </a:path>
              </a:pathLst>
            </a:custGeom>
            <a:solidFill>
              <a:srgbClr val="88E555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257757" y="1712415"/>
            <a:ext cx="11736781" cy="967969"/>
            <a:chOff x="0" y="0"/>
            <a:chExt cx="15649042" cy="1290625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5649042" cy="1290624"/>
            </a:xfrm>
            <a:custGeom>
              <a:avLst/>
              <a:gdLst/>
              <a:ahLst/>
              <a:cxnLst/>
              <a:rect r="r" b="b" t="t" l="l"/>
              <a:pathLst>
                <a:path h="1290624" w="15649042">
                  <a:moveTo>
                    <a:pt x="0" y="0"/>
                  </a:moveTo>
                  <a:lnTo>
                    <a:pt x="15649042" y="0"/>
                  </a:lnTo>
                  <a:lnTo>
                    <a:pt x="15649042" y="1290624"/>
                  </a:lnTo>
                  <a:lnTo>
                    <a:pt x="0" y="1290624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00055" r="0" b="-172463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15649042" cy="13287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IMPLEMENTATION &amp; EXECUTION COMMANDS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254059" y="2471623"/>
            <a:ext cx="17602793" cy="7717213"/>
            <a:chOff x="0" y="0"/>
            <a:chExt cx="23234894" cy="10186374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3234994" cy="10186374"/>
            </a:xfrm>
            <a:custGeom>
              <a:avLst/>
              <a:gdLst/>
              <a:ahLst/>
              <a:cxnLst/>
              <a:rect r="r" b="b" t="t" l="l"/>
              <a:pathLst>
                <a:path h="10186374" w="23234994">
                  <a:moveTo>
                    <a:pt x="0" y="64434"/>
                  </a:moveTo>
                  <a:cubicBezTo>
                    <a:pt x="0" y="28851"/>
                    <a:pt x="28011" y="0"/>
                    <a:pt x="62557" y="0"/>
                  </a:cubicBezTo>
                  <a:lnTo>
                    <a:pt x="23172443" y="0"/>
                  </a:lnTo>
                  <a:cubicBezTo>
                    <a:pt x="23206990" y="0"/>
                    <a:pt x="23234994" y="28851"/>
                    <a:pt x="23234994" y="64434"/>
                  </a:cubicBezTo>
                  <a:lnTo>
                    <a:pt x="23234994" y="10121940"/>
                  </a:lnTo>
                  <a:cubicBezTo>
                    <a:pt x="23234994" y="10157523"/>
                    <a:pt x="23206990" y="10186374"/>
                    <a:pt x="23172443" y="10186374"/>
                  </a:cubicBezTo>
                  <a:lnTo>
                    <a:pt x="62557" y="10186374"/>
                  </a:lnTo>
                  <a:cubicBezTo>
                    <a:pt x="28011" y="10186374"/>
                    <a:pt x="0" y="10157523"/>
                    <a:pt x="0" y="10121940"/>
                  </a:cubicBezTo>
                  <a:close/>
                </a:path>
              </a:pathLst>
            </a:custGeom>
            <a:solidFill>
              <a:srgbClr val="FFFFFF">
                <a:alpha val="0"/>
              </a:srgbClr>
            </a:solidFill>
            <a:ln w="19050" cap="sq">
              <a:solidFill>
                <a:srgbClr val="88E555"/>
              </a:solidFill>
              <a:prstDash val="solid"/>
              <a:miter/>
            </a:ln>
          </p:spPr>
        </p:sp>
      </p:grpSp>
      <p:grpSp>
        <p:nvGrpSpPr>
          <p:cNvPr name="Group 29" id="29"/>
          <p:cNvGrpSpPr/>
          <p:nvPr/>
        </p:nvGrpSpPr>
        <p:grpSpPr>
          <a:xfrm rot="0">
            <a:off x="430682" y="2790063"/>
            <a:ext cx="342443" cy="342443"/>
            <a:chOff x="0" y="0"/>
            <a:chExt cx="456590" cy="45659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456565" cy="456565"/>
            </a:xfrm>
            <a:custGeom>
              <a:avLst/>
              <a:gdLst/>
              <a:ahLst/>
              <a:cxnLst/>
              <a:rect r="r" b="b" t="t" l="l"/>
              <a:pathLst>
                <a:path h="456565" w="456565">
                  <a:moveTo>
                    <a:pt x="0" y="228346"/>
                  </a:moveTo>
                  <a:cubicBezTo>
                    <a:pt x="0" y="102235"/>
                    <a:pt x="102235" y="0"/>
                    <a:pt x="228346" y="0"/>
                  </a:cubicBezTo>
                  <a:cubicBezTo>
                    <a:pt x="354457" y="0"/>
                    <a:pt x="456565" y="102235"/>
                    <a:pt x="456565" y="228346"/>
                  </a:cubicBezTo>
                  <a:cubicBezTo>
                    <a:pt x="456565" y="354457"/>
                    <a:pt x="354330" y="456565"/>
                    <a:pt x="228346" y="456565"/>
                  </a:cubicBezTo>
                  <a:cubicBezTo>
                    <a:pt x="102362" y="456565"/>
                    <a:pt x="0" y="354330"/>
                    <a:pt x="0" y="228346"/>
                  </a:cubicBez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78307" t="0" r="-78313" b="-5"/>
              </a:stretch>
            </a:blipFill>
            <a:ln w="57150" cap="sq">
              <a:solidFill>
                <a:srgbClr val="88E555"/>
              </a:solidFill>
              <a:prstDash val="solid"/>
              <a:miter/>
            </a:ln>
          </p:spPr>
        </p:sp>
      </p:grpSp>
      <p:grpSp>
        <p:nvGrpSpPr>
          <p:cNvPr name="Group 31" id="31"/>
          <p:cNvGrpSpPr/>
          <p:nvPr/>
        </p:nvGrpSpPr>
        <p:grpSpPr>
          <a:xfrm rot="0">
            <a:off x="17514409" y="2790063"/>
            <a:ext cx="342443" cy="342443"/>
            <a:chOff x="0" y="0"/>
            <a:chExt cx="456590" cy="45659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456565" cy="456565"/>
            </a:xfrm>
            <a:custGeom>
              <a:avLst/>
              <a:gdLst/>
              <a:ahLst/>
              <a:cxnLst/>
              <a:rect r="r" b="b" t="t" l="l"/>
              <a:pathLst>
                <a:path h="456565" w="456565">
                  <a:moveTo>
                    <a:pt x="0" y="0"/>
                  </a:moveTo>
                  <a:lnTo>
                    <a:pt x="456565" y="0"/>
                  </a:lnTo>
                  <a:lnTo>
                    <a:pt x="456565" y="456565"/>
                  </a:lnTo>
                  <a:lnTo>
                    <a:pt x="0" y="456565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78307" t="0" r="-78313" b="-5"/>
              </a:stretch>
            </a:blipFill>
            <a:ln w="57150" cap="sq">
              <a:solidFill>
                <a:srgbClr val="88E555"/>
              </a:solidFill>
              <a:prstDash val="solid"/>
              <a:miter/>
            </a:ln>
          </p:spPr>
        </p:sp>
      </p:grpSp>
      <p:grpSp>
        <p:nvGrpSpPr>
          <p:cNvPr name="Group 33" id="33"/>
          <p:cNvGrpSpPr/>
          <p:nvPr/>
        </p:nvGrpSpPr>
        <p:grpSpPr>
          <a:xfrm rot="0">
            <a:off x="256759" y="9685777"/>
            <a:ext cx="347844" cy="342443"/>
            <a:chOff x="0" y="0"/>
            <a:chExt cx="463793" cy="45659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463767" cy="456565"/>
            </a:xfrm>
            <a:custGeom>
              <a:avLst/>
              <a:gdLst/>
              <a:ahLst/>
              <a:cxnLst/>
              <a:rect r="r" b="b" t="t" l="l"/>
              <a:pathLst>
                <a:path h="456565" w="463767">
                  <a:moveTo>
                    <a:pt x="0" y="0"/>
                  </a:moveTo>
                  <a:lnTo>
                    <a:pt x="463767" y="0"/>
                  </a:lnTo>
                  <a:lnTo>
                    <a:pt x="463767" y="456565"/>
                  </a:lnTo>
                  <a:lnTo>
                    <a:pt x="0" y="456565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77091" t="0" r="-75544" b="-5"/>
              </a:stretch>
            </a:blipFill>
            <a:ln w="57150" cap="sq">
              <a:solidFill>
                <a:srgbClr val="88E555"/>
              </a:solidFill>
              <a:prstDash val="solid"/>
              <a:miter/>
            </a:ln>
          </p:spPr>
        </p:sp>
      </p:grpSp>
      <p:grpSp>
        <p:nvGrpSpPr>
          <p:cNvPr name="Group 35" id="35"/>
          <p:cNvGrpSpPr/>
          <p:nvPr/>
        </p:nvGrpSpPr>
        <p:grpSpPr>
          <a:xfrm rot="0">
            <a:off x="17526147" y="9714697"/>
            <a:ext cx="342443" cy="342443"/>
            <a:chOff x="0" y="0"/>
            <a:chExt cx="456590" cy="45659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456565" cy="456565"/>
            </a:xfrm>
            <a:custGeom>
              <a:avLst/>
              <a:gdLst/>
              <a:ahLst/>
              <a:cxnLst/>
              <a:rect r="r" b="b" t="t" l="l"/>
              <a:pathLst>
                <a:path h="456565" w="456565">
                  <a:moveTo>
                    <a:pt x="0" y="0"/>
                  </a:moveTo>
                  <a:lnTo>
                    <a:pt x="456565" y="0"/>
                  </a:lnTo>
                  <a:lnTo>
                    <a:pt x="456565" y="456565"/>
                  </a:lnTo>
                  <a:lnTo>
                    <a:pt x="0" y="456565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78307" t="0" r="-78313" b="-5"/>
              </a:stretch>
            </a:blipFill>
            <a:ln w="57150" cap="sq">
              <a:solidFill>
                <a:srgbClr val="88E555"/>
              </a:solidFill>
              <a:prstDash val="solid"/>
              <a:miter/>
            </a:ln>
          </p:spPr>
        </p:sp>
      </p:grpSp>
      <p:grpSp>
        <p:nvGrpSpPr>
          <p:cNvPr name="Group 37" id="37"/>
          <p:cNvGrpSpPr/>
          <p:nvPr/>
        </p:nvGrpSpPr>
        <p:grpSpPr>
          <a:xfrm rot="0">
            <a:off x="813567" y="3130128"/>
            <a:ext cx="7767471" cy="2241095"/>
            <a:chOff x="0" y="0"/>
            <a:chExt cx="10356629" cy="2988127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0356587" cy="2988068"/>
            </a:xfrm>
            <a:custGeom>
              <a:avLst/>
              <a:gdLst/>
              <a:ahLst/>
              <a:cxnLst/>
              <a:rect r="r" b="b" t="t" l="l"/>
              <a:pathLst>
                <a:path h="2988068" w="10356587">
                  <a:moveTo>
                    <a:pt x="0" y="127753"/>
                  </a:moveTo>
                  <a:cubicBezTo>
                    <a:pt x="0" y="57253"/>
                    <a:pt x="26985" y="0"/>
                    <a:pt x="60212" y="0"/>
                  </a:cubicBezTo>
                  <a:lnTo>
                    <a:pt x="10296375" y="0"/>
                  </a:lnTo>
                  <a:cubicBezTo>
                    <a:pt x="10329673" y="0"/>
                    <a:pt x="10356587" y="57253"/>
                    <a:pt x="10356587" y="127753"/>
                  </a:cubicBezTo>
                  <a:lnTo>
                    <a:pt x="10356587" y="2860315"/>
                  </a:lnTo>
                  <a:cubicBezTo>
                    <a:pt x="10356587" y="2930962"/>
                    <a:pt x="10329603" y="2988068"/>
                    <a:pt x="10296375" y="2988068"/>
                  </a:cubicBezTo>
                  <a:lnTo>
                    <a:pt x="60212" y="2988068"/>
                  </a:lnTo>
                  <a:cubicBezTo>
                    <a:pt x="26915" y="2988068"/>
                    <a:pt x="0" y="2930815"/>
                    <a:pt x="0" y="2860315"/>
                  </a:cubicBezTo>
                  <a:close/>
                </a:path>
              </a:pathLst>
            </a:custGeom>
            <a:solidFill>
              <a:srgbClr val="1E3A8A">
                <a:alpha val="15686"/>
              </a:srgbClr>
            </a:solidFill>
            <a:ln w="19050" cap="sq">
              <a:solidFill>
                <a:srgbClr val="1D4ED8"/>
              </a:solidFill>
              <a:prstDash val="solid"/>
              <a:miter/>
            </a:ln>
          </p:spPr>
        </p:sp>
      </p:grpSp>
      <p:grpSp>
        <p:nvGrpSpPr>
          <p:cNvPr name="Group 39" id="39"/>
          <p:cNvGrpSpPr/>
          <p:nvPr/>
        </p:nvGrpSpPr>
        <p:grpSpPr>
          <a:xfrm rot="0">
            <a:off x="1248523" y="3213186"/>
            <a:ext cx="6816673" cy="2036255"/>
            <a:chOff x="0" y="0"/>
            <a:chExt cx="9088898" cy="2715007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9088897" cy="2715006"/>
            </a:xfrm>
            <a:custGeom>
              <a:avLst/>
              <a:gdLst/>
              <a:ahLst/>
              <a:cxnLst/>
              <a:rect r="r" b="b" t="t" l="l"/>
              <a:pathLst>
                <a:path h="2715006" w="9088897">
                  <a:moveTo>
                    <a:pt x="0" y="0"/>
                  </a:moveTo>
                  <a:lnTo>
                    <a:pt x="9088897" y="0"/>
                  </a:lnTo>
                  <a:lnTo>
                    <a:pt x="9088897" y="2715006"/>
                  </a:lnTo>
                  <a:lnTo>
                    <a:pt x="0" y="2715006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106954" r="-92520" b="-44204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19050"/>
              <a:ext cx="9088898" cy="273405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00"/>
                </a:lnSpc>
              </a:pPr>
              <a:r>
                <a:rPr lang="en-US" sz="1750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1. ENVIRONMENT &amp; DEPENDENCIES</a:t>
              </a:r>
            </a:p>
            <a:p>
              <a:pPr algn="l">
                <a:lnSpc>
                  <a:spcPts val="2100"/>
                </a:lnSpc>
              </a:pPr>
            </a:p>
            <a:p>
              <a:pPr algn="l" marL="377826" indent="-188913" lvl="1">
                <a:lnSpc>
                  <a:spcPts val="2100"/>
                </a:lnSpc>
                <a:buFont typeface="Arial"/>
                <a:buChar char="•"/>
              </a:pPr>
              <a:r>
                <a:rPr lang="en-US" sz="175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Python-based implementation</a:t>
              </a:r>
            </a:p>
            <a:p>
              <a:pPr algn="l" marL="377826" indent="-188913" lvl="1">
                <a:lnSpc>
                  <a:spcPts val="2100"/>
                </a:lnSpc>
                <a:buFont typeface="Arial"/>
                <a:buChar char="•"/>
              </a:pPr>
              <a:r>
                <a:rPr lang="en-US" sz="175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OpenCV / NumPy for image processing</a:t>
              </a:r>
            </a:p>
            <a:p>
              <a:pPr algn="l" marL="377826" indent="-188913" lvl="1">
                <a:lnSpc>
                  <a:spcPts val="2100"/>
                </a:lnSpc>
                <a:buFont typeface="Arial"/>
                <a:buChar char="•"/>
              </a:pPr>
              <a:r>
                <a:rPr lang="en-US" sz="175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PyTorch for Siamese metric learning</a:t>
              </a:r>
            </a:p>
            <a:p>
              <a:pPr algn="l" marL="377826" indent="-188913" lvl="1">
                <a:lnSpc>
                  <a:spcPts val="2100"/>
                </a:lnSpc>
                <a:buFont typeface="Arial"/>
                <a:buChar char="•"/>
              </a:pPr>
              <a:r>
                <a:rPr lang="en-US" sz="175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SciPy for numerical and Fourier refinement</a:t>
              </a:r>
            </a:p>
            <a:p>
              <a:pPr algn="l" marL="377826" indent="-188913" lvl="1">
                <a:lnSpc>
                  <a:spcPts val="2100"/>
                </a:lnSpc>
                <a:buFont typeface="Arial"/>
                <a:buChar char="•"/>
              </a:pPr>
              <a:r>
                <a:rPr lang="en-US" sz="175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Matplotlib / visualization utilities for diagnostics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8017116" y="342900"/>
            <a:ext cx="2411054" cy="1175385"/>
            <a:chOff x="0" y="0"/>
            <a:chExt cx="3214738" cy="156718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3214751" cy="1567180"/>
            </a:xfrm>
            <a:custGeom>
              <a:avLst/>
              <a:gdLst/>
              <a:ahLst/>
              <a:cxnLst/>
              <a:rect r="r" b="b" t="t" l="l"/>
              <a:pathLst>
                <a:path h="1567180" w="3214751">
                  <a:moveTo>
                    <a:pt x="0" y="0"/>
                  </a:moveTo>
                  <a:lnTo>
                    <a:pt x="3214751" y="0"/>
                  </a:lnTo>
                  <a:lnTo>
                    <a:pt x="3214751" y="1567180"/>
                  </a:lnTo>
                  <a:lnTo>
                    <a:pt x="0" y="15671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857250" y="361188"/>
            <a:ext cx="16573043" cy="1286561"/>
            <a:chOff x="0" y="0"/>
            <a:chExt cx="22097390" cy="1715414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22097366" cy="1715389"/>
            </a:xfrm>
            <a:custGeom>
              <a:avLst/>
              <a:gdLst/>
              <a:ahLst/>
              <a:cxnLst/>
              <a:rect r="r" b="b" t="t" l="l"/>
              <a:pathLst>
                <a:path h="1715389" w="22097366">
                  <a:moveTo>
                    <a:pt x="0" y="162560"/>
                  </a:moveTo>
                  <a:cubicBezTo>
                    <a:pt x="0" y="72771"/>
                    <a:pt x="72771" y="0"/>
                    <a:pt x="162560" y="0"/>
                  </a:cubicBezTo>
                  <a:lnTo>
                    <a:pt x="21934805" y="0"/>
                  </a:lnTo>
                  <a:cubicBezTo>
                    <a:pt x="22024594" y="0"/>
                    <a:pt x="22097366" y="72771"/>
                    <a:pt x="22097366" y="162560"/>
                  </a:cubicBezTo>
                  <a:lnTo>
                    <a:pt x="22097366" y="1552829"/>
                  </a:lnTo>
                  <a:cubicBezTo>
                    <a:pt x="22097366" y="1642618"/>
                    <a:pt x="22024594" y="1715389"/>
                    <a:pt x="21934805" y="1715389"/>
                  </a:cubicBezTo>
                  <a:lnTo>
                    <a:pt x="162560" y="1715389"/>
                  </a:lnTo>
                  <a:cubicBezTo>
                    <a:pt x="72771" y="1715389"/>
                    <a:pt x="0" y="1642618"/>
                    <a:pt x="0" y="1552829"/>
                  </a:cubicBez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2271151" y="567309"/>
            <a:ext cx="13745232" cy="879653"/>
            <a:chOff x="0" y="0"/>
            <a:chExt cx="18326976" cy="117287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8326988" cy="1172845"/>
            </a:xfrm>
            <a:custGeom>
              <a:avLst/>
              <a:gdLst/>
              <a:ahLst/>
              <a:cxnLst/>
              <a:rect r="r" b="b" t="t" l="l"/>
              <a:pathLst>
                <a:path h="1172845" w="18326988">
                  <a:moveTo>
                    <a:pt x="0" y="0"/>
                  </a:moveTo>
                  <a:lnTo>
                    <a:pt x="18326988" y="0"/>
                  </a:lnTo>
                  <a:lnTo>
                    <a:pt x="18326988" y="1172845"/>
                  </a:lnTo>
                  <a:lnTo>
                    <a:pt x="0" y="11728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-2" r="0" b="-4"/>
              </a:stretch>
            </a:blip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773124" y="5748912"/>
            <a:ext cx="7767471" cy="3986213"/>
            <a:chOff x="0" y="0"/>
            <a:chExt cx="10356629" cy="5314951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0356587" cy="5314846"/>
            </a:xfrm>
            <a:custGeom>
              <a:avLst/>
              <a:gdLst/>
              <a:ahLst/>
              <a:cxnLst/>
              <a:rect r="r" b="b" t="t" l="l"/>
              <a:pathLst>
                <a:path h="5314846" w="10356587">
                  <a:moveTo>
                    <a:pt x="0" y="227233"/>
                  </a:moveTo>
                  <a:cubicBezTo>
                    <a:pt x="0" y="101836"/>
                    <a:pt x="26985" y="0"/>
                    <a:pt x="60212" y="0"/>
                  </a:cubicBezTo>
                  <a:lnTo>
                    <a:pt x="10296375" y="0"/>
                  </a:lnTo>
                  <a:cubicBezTo>
                    <a:pt x="10329673" y="0"/>
                    <a:pt x="10356587" y="101836"/>
                    <a:pt x="10356587" y="227233"/>
                  </a:cubicBezTo>
                  <a:lnTo>
                    <a:pt x="10356587" y="5087613"/>
                  </a:lnTo>
                  <a:cubicBezTo>
                    <a:pt x="10356587" y="5213272"/>
                    <a:pt x="10329603" y="5314846"/>
                    <a:pt x="10296375" y="5314846"/>
                  </a:cubicBezTo>
                  <a:lnTo>
                    <a:pt x="60212" y="5314846"/>
                  </a:lnTo>
                  <a:cubicBezTo>
                    <a:pt x="26915" y="5314846"/>
                    <a:pt x="0" y="5213010"/>
                    <a:pt x="0" y="5087613"/>
                  </a:cubicBezTo>
                  <a:close/>
                </a:path>
              </a:pathLst>
            </a:custGeom>
            <a:solidFill>
              <a:srgbClr val="1E3A8A">
                <a:alpha val="15686"/>
              </a:srgbClr>
            </a:solidFill>
            <a:ln w="19050" cap="sq">
              <a:solidFill>
                <a:srgbClr val="1D4ED8"/>
              </a:solidFill>
              <a:prstDash val="solid"/>
              <a:miter/>
            </a:ln>
          </p:spPr>
        </p:sp>
      </p:grpSp>
      <p:grpSp>
        <p:nvGrpSpPr>
          <p:cNvPr name="Group 50" id="50"/>
          <p:cNvGrpSpPr/>
          <p:nvPr/>
        </p:nvGrpSpPr>
        <p:grpSpPr>
          <a:xfrm rot="0">
            <a:off x="1208081" y="5831970"/>
            <a:ext cx="6816673" cy="3903155"/>
            <a:chOff x="0" y="0"/>
            <a:chExt cx="9088898" cy="5204207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9088897" cy="5204205"/>
            </a:xfrm>
            <a:custGeom>
              <a:avLst/>
              <a:gdLst/>
              <a:ahLst/>
              <a:cxnLst/>
              <a:rect r="r" b="b" t="t" l="l"/>
              <a:pathLst>
                <a:path h="5204205" w="9088897">
                  <a:moveTo>
                    <a:pt x="0" y="0"/>
                  </a:moveTo>
                  <a:lnTo>
                    <a:pt x="9088897" y="0"/>
                  </a:lnTo>
                  <a:lnTo>
                    <a:pt x="9088897" y="5204205"/>
                  </a:lnTo>
                  <a:lnTo>
                    <a:pt x="0" y="5204205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55797" r="-92520" b="24769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19050"/>
              <a:ext cx="9088898" cy="522325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00"/>
                </a:lnSpc>
              </a:pPr>
              <a:r>
                <a:rPr lang="en-US" sz="1750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  TRAINING &amp; CALIBRATION — OFFLINE</a:t>
              </a:r>
            </a:p>
            <a:p>
              <a:pPr algn="l">
                <a:lnSpc>
                  <a:spcPts val="2100"/>
                </a:lnSpc>
              </a:pPr>
            </a:p>
            <a:p>
              <a:pPr algn="l">
                <a:lnSpc>
                  <a:spcPts val="2100"/>
                </a:lnSpc>
              </a:pPr>
              <a:r>
                <a:rPr lang="en-US" sz="175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Physics-Based Dataset</a:t>
              </a:r>
            </a:p>
            <a:p>
              <a:pPr algn="l">
                <a:lnSpc>
                  <a:spcPts val="2100"/>
                </a:lnSpc>
              </a:pPr>
              <a:r>
                <a:rPr lang="en-US" sz="175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        ↓</a:t>
              </a:r>
            </a:p>
            <a:p>
              <a:pPr algn="l">
                <a:lnSpc>
                  <a:spcPts val="2100"/>
                </a:lnSpc>
              </a:pPr>
              <a:r>
                <a:rPr lang="en-US" sz="175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Siamese Training</a:t>
              </a:r>
            </a:p>
            <a:p>
              <a:pPr algn="l">
                <a:lnSpc>
                  <a:spcPts val="2100"/>
                </a:lnSpc>
              </a:pPr>
              <a:r>
                <a:rPr lang="en-US" sz="175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        ↓</a:t>
              </a:r>
            </a:p>
            <a:p>
              <a:pPr algn="l">
                <a:lnSpc>
                  <a:spcPts val="2100"/>
                </a:lnSpc>
              </a:pPr>
              <a:r>
                <a:rPr lang="en-US" sz="175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Hard-Negative Mining</a:t>
              </a:r>
            </a:p>
            <a:p>
              <a:pPr algn="l">
                <a:lnSpc>
                  <a:spcPts val="2100"/>
                </a:lnSpc>
              </a:pPr>
              <a:r>
                <a:rPr lang="en-US" sz="175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        ↓</a:t>
              </a:r>
            </a:p>
            <a:p>
              <a:pPr algn="l">
                <a:lnSpc>
                  <a:spcPts val="2100"/>
                </a:lnSpc>
              </a:pPr>
              <a:r>
                <a:rPr lang="en-US" sz="175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Similarity Threshold Calibration</a:t>
              </a:r>
            </a:p>
            <a:p>
              <a:pPr algn="l">
                <a:lnSpc>
                  <a:spcPts val="2100"/>
                </a:lnSpc>
              </a:pPr>
              <a:r>
                <a:rPr lang="en-US" sz="175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        ↓</a:t>
              </a:r>
            </a:p>
            <a:p>
              <a:pPr algn="l">
                <a:lnSpc>
                  <a:spcPts val="2100"/>
                </a:lnSpc>
              </a:pPr>
              <a:r>
                <a:rPr lang="en-US" sz="175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Frozen Localization Model</a:t>
              </a:r>
            </a:p>
            <a:p>
              <a:pPr algn="l">
                <a:lnSpc>
                  <a:spcPts val="2100"/>
                </a:lnSpc>
              </a:pPr>
            </a:p>
            <a:p>
              <a:pPr algn="l">
                <a:lnSpc>
                  <a:spcPts val="2100"/>
                </a:lnSpc>
              </a:pPr>
              <a:r>
                <a:rPr lang="en-US" sz="175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Training is performed offline; the trained model is selectively invoked during inference.</a:t>
              </a:r>
            </a:p>
          </p:txBody>
        </p:sp>
      </p:grpSp>
      <p:graphicFrame>
        <p:nvGraphicFramePr>
          <p:cNvPr name="Table 53" id="53"/>
          <p:cNvGraphicFramePr>
            <a:graphicFrameLocks noGrp="true"/>
          </p:cNvGraphicFramePr>
          <p:nvPr/>
        </p:nvGraphicFramePr>
        <p:xfrm>
          <a:off x="8980383" y="3109009"/>
          <a:ext cx="8134681" cy="3429117"/>
        </p:xfrm>
        <a:graphic>
          <a:graphicData uri="http://schemas.openxmlformats.org/drawingml/2006/table">
            <a:tbl>
              <a:tblPr/>
              <a:tblGrid>
                <a:gridCol w="2601247"/>
                <a:gridCol w="5533433"/>
              </a:tblGrid>
              <a:tr h="62849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COMMAND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FUNCTION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73546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python </a:t>
                      </a:r>
                      <a:r>
                        <a:rPr lang="en-US" sz="15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generate_dataset.py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Generate synthetic SEM benchmark pairs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849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python </a:t>
                      </a:r>
                      <a:r>
                        <a:rPr lang="en-US" sz="15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localize.py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Run the 5-phase localization engine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6415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python </a:t>
                      </a:r>
                      <a:r>
                        <a:rPr lang="en-US" sz="15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evaluate_predictions.py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Calculate accuracy and localization-error metrics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7251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python </a:t>
                      </a:r>
                      <a:r>
                        <a:rPr lang="en-US" sz="15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app.py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Launch interactive diagnostic/dashboard interface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pSp>
        <p:nvGrpSpPr>
          <p:cNvPr name="Group 54" id="54"/>
          <p:cNvGrpSpPr/>
          <p:nvPr/>
        </p:nvGrpSpPr>
        <p:grpSpPr>
          <a:xfrm rot="0">
            <a:off x="8966031" y="6498120"/>
            <a:ext cx="8149033" cy="3187657"/>
            <a:chOff x="0" y="0"/>
            <a:chExt cx="10865377" cy="4250209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10865334" cy="4250125"/>
            </a:xfrm>
            <a:custGeom>
              <a:avLst/>
              <a:gdLst/>
              <a:ahLst/>
              <a:cxnLst/>
              <a:rect r="r" b="b" t="t" l="l"/>
              <a:pathLst>
                <a:path h="4250125" w="10865334">
                  <a:moveTo>
                    <a:pt x="0" y="181712"/>
                  </a:moveTo>
                  <a:cubicBezTo>
                    <a:pt x="0" y="81435"/>
                    <a:pt x="28310" y="0"/>
                    <a:pt x="63170" y="0"/>
                  </a:cubicBezTo>
                  <a:lnTo>
                    <a:pt x="10802164" y="0"/>
                  </a:lnTo>
                  <a:cubicBezTo>
                    <a:pt x="10837097" y="0"/>
                    <a:pt x="10865334" y="81435"/>
                    <a:pt x="10865334" y="181712"/>
                  </a:cubicBezTo>
                  <a:lnTo>
                    <a:pt x="10865334" y="4068413"/>
                  </a:lnTo>
                  <a:cubicBezTo>
                    <a:pt x="10865334" y="4168899"/>
                    <a:pt x="10837024" y="4250125"/>
                    <a:pt x="10802164" y="4250125"/>
                  </a:cubicBezTo>
                  <a:lnTo>
                    <a:pt x="63170" y="4250125"/>
                  </a:lnTo>
                  <a:cubicBezTo>
                    <a:pt x="28237" y="4250125"/>
                    <a:pt x="0" y="4168689"/>
                    <a:pt x="0" y="4068413"/>
                  </a:cubicBezTo>
                  <a:close/>
                </a:path>
              </a:pathLst>
            </a:custGeom>
            <a:solidFill>
              <a:srgbClr val="1E3A8A">
                <a:alpha val="15686"/>
              </a:srgbClr>
            </a:solidFill>
            <a:ln w="19050" cap="sq">
              <a:solidFill>
                <a:srgbClr val="1D4ED8"/>
              </a:solidFill>
              <a:prstDash val="solid"/>
              <a:miter/>
            </a:ln>
          </p:spPr>
        </p:sp>
      </p:grpSp>
      <p:grpSp>
        <p:nvGrpSpPr>
          <p:cNvPr name="Group 56" id="56"/>
          <p:cNvGrpSpPr/>
          <p:nvPr/>
        </p:nvGrpSpPr>
        <p:grpSpPr>
          <a:xfrm rot="0">
            <a:off x="9308008" y="7185652"/>
            <a:ext cx="7138933" cy="2036255"/>
            <a:chOff x="0" y="0"/>
            <a:chExt cx="9518578" cy="2715007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9518577" cy="2715006"/>
            </a:xfrm>
            <a:custGeom>
              <a:avLst/>
              <a:gdLst/>
              <a:ahLst/>
              <a:cxnLst/>
              <a:rect r="r" b="b" t="t" l="l"/>
              <a:pathLst>
                <a:path h="2715006" w="9518577">
                  <a:moveTo>
                    <a:pt x="0" y="0"/>
                  </a:moveTo>
                  <a:lnTo>
                    <a:pt x="9518577" y="0"/>
                  </a:lnTo>
                  <a:lnTo>
                    <a:pt x="9518577" y="2715006"/>
                  </a:lnTo>
                  <a:lnTo>
                    <a:pt x="0" y="2715006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106954" r="-83829" b="-44204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19050"/>
              <a:ext cx="9518578" cy="273405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00"/>
                </a:lnSpc>
              </a:pPr>
            </a:p>
          </p:txBody>
        </p:sp>
      </p:grpSp>
      <p:sp>
        <p:nvSpPr>
          <p:cNvPr name="TextBox 59" id="59"/>
          <p:cNvSpPr txBox="true"/>
          <p:nvPr/>
        </p:nvSpPr>
        <p:spPr>
          <a:xfrm rot="0">
            <a:off x="9222643" y="6688620"/>
            <a:ext cx="6279368" cy="3114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40"/>
              </a:lnSpc>
              <a:spcBef>
                <a:spcPct val="0"/>
              </a:spcBef>
            </a:pPr>
            <a:r>
              <a:rPr lang="en-US" b="true" sz="17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     </a:t>
            </a:r>
            <a:r>
              <a:rPr lang="en-US" b="true" sz="17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 GENERATED OUTPUTS</a:t>
            </a:r>
          </a:p>
          <a:p>
            <a:pPr algn="l">
              <a:lnSpc>
                <a:spcPts val="2040"/>
              </a:lnSpc>
              <a:spcBef>
                <a:spcPct val="0"/>
              </a:spcBef>
            </a:pPr>
          </a:p>
          <a:p>
            <a:pPr algn="l" marL="367042" indent="-183521" lvl="1">
              <a:lnSpc>
                <a:spcPts val="2040"/>
              </a:lnSpc>
              <a:buFont typeface="Arial"/>
              <a:buChar char="•"/>
            </a:pPr>
            <a:r>
              <a:rPr lang="en-US" sz="17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Predicted (x, y) coordinates</a:t>
            </a:r>
          </a:p>
          <a:p>
            <a:pPr algn="l" marL="367042" indent="-183521" lvl="1">
              <a:lnSpc>
                <a:spcPts val="2040"/>
              </a:lnSpc>
              <a:buFont typeface="Arial"/>
              <a:buChar char="•"/>
            </a:pPr>
            <a:r>
              <a:rPr lang="en-US" sz="17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Localization error</a:t>
            </a:r>
          </a:p>
          <a:p>
            <a:pPr algn="l" marL="367042" indent="-183521" lvl="1">
              <a:lnSpc>
                <a:spcPts val="2040"/>
              </a:lnSpc>
              <a:buFont typeface="Arial"/>
              <a:buChar char="•"/>
            </a:pPr>
            <a:r>
              <a:rPr lang="en-US" sz="17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Threshold-wise accuracy</a:t>
            </a:r>
          </a:p>
          <a:p>
            <a:pPr algn="l" marL="367042" indent="-183521" lvl="1">
              <a:lnSpc>
                <a:spcPts val="2040"/>
              </a:lnSpc>
              <a:buFont typeface="Arial"/>
              <a:buChar char="•"/>
            </a:pPr>
            <a:r>
              <a:rPr lang="en-US" sz="17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Runtime statistics</a:t>
            </a:r>
          </a:p>
          <a:p>
            <a:pPr algn="l" marL="367042" indent="-183521" lvl="1">
              <a:lnSpc>
                <a:spcPts val="2040"/>
              </a:lnSpc>
              <a:buFont typeface="Arial"/>
              <a:buChar char="•"/>
            </a:pPr>
            <a:r>
              <a:rPr lang="en-US" sz="17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Per-pattern performance</a:t>
            </a:r>
          </a:p>
          <a:p>
            <a:pPr algn="l" marL="367042" indent="-183521" lvl="1">
              <a:lnSpc>
                <a:spcPts val="2040"/>
              </a:lnSpc>
              <a:buFont typeface="Arial"/>
              <a:buChar char="•"/>
            </a:pPr>
            <a:r>
              <a:rPr lang="en-US" sz="17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Failure-case diagnostics</a:t>
            </a:r>
          </a:p>
          <a:p>
            <a:pPr algn="l" marL="367042" indent="-183521" lvl="1">
              <a:lnSpc>
                <a:spcPts val="2040"/>
              </a:lnSpc>
              <a:buFont typeface="Arial"/>
              <a:buChar char="•"/>
            </a:pPr>
            <a:r>
              <a:rPr lang="en-US" sz="17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Visualization / heatmaps</a:t>
            </a:r>
          </a:p>
          <a:p>
            <a:pPr algn="l" marL="367042" indent="-183521" lvl="1">
              <a:lnSpc>
                <a:spcPts val="2040"/>
              </a:lnSpc>
              <a:buFont typeface="Arial"/>
              <a:buChar char="•"/>
            </a:pPr>
            <a:r>
              <a:rPr lang="en-US" sz="17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Reproducibility</a:t>
            </a:r>
          </a:p>
          <a:p>
            <a:pPr algn="l">
              <a:lnSpc>
                <a:spcPts val="2040"/>
              </a:lnSpc>
              <a:spcBef>
                <a:spcPct val="0"/>
              </a:spcBef>
            </a:pPr>
          </a:p>
          <a:p>
            <a:pPr algn="l">
              <a:lnSpc>
                <a:spcPts val="204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7543" cy="10287000"/>
            <a:chOff x="0" y="0"/>
            <a:chExt cx="2438339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336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00036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7543" cy="10287000"/>
            <a:chOff x="0" y="0"/>
            <a:chExt cx="24383390" cy="13716000"/>
          </a:xfrm>
        </p:grpSpPr>
        <p:sp>
          <p:nvSpPr>
            <p:cNvPr name="Freeform 5" id="5" descr="preencoded.png"/>
            <p:cNvSpPr/>
            <p:nvPr/>
          </p:nvSpPr>
          <p:spPr>
            <a:xfrm flipH="false" flipV="false" rot="0">
              <a:off x="0" y="0"/>
              <a:ext cx="2438336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5000"/>
              </a:blip>
              <a:stretch>
                <a:fillRect l="-16360" t="0" r="-16361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857250" y="429311"/>
            <a:ext cx="16573043" cy="999896"/>
            <a:chOff x="0" y="0"/>
            <a:chExt cx="22097390" cy="133319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2097364" cy="1333246"/>
            </a:xfrm>
            <a:custGeom>
              <a:avLst/>
              <a:gdLst/>
              <a:ahLst/>
              <a:cxnLst/>
              <a:rect r="r" b="b" t="t" l="l"/>
              <a:pathLst>
                <a:path h="1333246" w="22097364">
                  <a:moveTo>
                    <a:pt x="0" y="209042"/>
                  </a:moveTo>
                  <a:cubicBezTo>
                    <a:pt x="0" y="93599"/>
                    <a:pt x="93599" y="0"/>
                    <a:pt x="209042" y="0"/>
                  </a:cubicBezTo>
                  <a:lnTo>
                    <a:pt x="21888323" y="0"/>
                  </a:lnTo>
                  <a:cubicBezTo>
                    <a:pt x="22003765" y="0"/>
                    <a:pt x="22097364" y="93599"/>
                    <a:pt x="22097364" y="209042"/>
                  </a:cubicBezTo>
                  <a:lnTo>
                    <a:pt x="22097364" y="1124204"/>
                  </a:lnTo>
                  <a:cubicBezTo>
                    <a:pt x="22097364" y="1239647"/>
                    <a:pt x="22003765" y="1333246"/>
                    <a:pt x="21888323" y="1333246"/>
                  </a:cubicBezTo>
                  <a:lnTo>
                    <a:pt x="209042" y="1333246"/>
                  </a:lnTo>
                  <a:cubicBezTo>
                    <a:pt x="93599" y="1333246"/>
                    <a:pt x="0" y="1239647"/>
                    <a:pt x="0" y="1124204"/>
                  </a:cubicBez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6287750" y="571957"/>
            <a:ext cx="714604" cy="714604"/>
            <a:chOff x="0" y="0"/>
            <a:chExt cx="952805" cy="952805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952754" cy="952754"/>
            </a:xfrm>
            <a:custGeom>
              <a:avLst/>
              <a:gdLst/>
              <a:ahLst/>
              <a:cxnLst/>
              <a:rect r="r" b="b" t="t" l="l"/>
              <a:pathLst>
                <a:path h="952754" w="952754">
                  <a:moveTo>
                    <a:pt x="0" y="0"/>
                  </a:moveTo>
                  <a:lnTo>
                    <a:pt x="952754" y="0"/>
                  </a:lnTo>
                  <a:lnTo>
                    <a:pt x="952754" y="952754"/>
                  </a:lnTo>
                  <a:lnTo>
                    <a:pt x="0" y="9527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5" b="-5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137533" y="571957"/>
            <a:ext cx="8618220" cy="701040"/>
            <a:chOff x="0" y="0"/>
            <a:chExt cx="11490960" cy="93472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1490960" cy="934720"/>
            </a:xfrm>
            <a:custGeom>
              <a:avLst/>
              <a:gdLst/>
              <a:ahLst/>
              <a:cxnLst/>
              <a:rect r="r" b="b" t="t" l="l"/>
              <a:pathLst>
                <a:path h="934720" w="11490960">
                  <a:moveTo>
                    <a:pt x="0" y="0"/>
                  </a:moveTo>
                  <a:lnTo>
                    <a:pt x="11490960" y="0"/>
                  </a:lnTo>
                  <a:lnTo>
                    <a:pt x="11490960" y="934720"/>
                  </a:lnTo>
                  <a:lnTo>
                    <a:pt x="0" y="9347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1" t="0" r="-11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0" y="0"/>
            <a:ext cx="18287543" cy="10287000"/>
            <a:chOff x="0" y="0"/>
            <a:chExt cx="24383390" cy="13716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438336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00036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0" y="0"/>
            <a:ext cx="18287543" cy="10287000"/>
            <a:chOff x="0" y="0"/>
            <a:chExt cx="24383390" cy="13716000"/>
          </a:xfrm>
        </p:grpSpPr>
        <p:sp>
          <p:nvSpPr>
            <p:cNvPr name="Freeform 15" id="15" descr="preencoded.png"/>
            <p:cNvSpPr/>
            <p:nvPr/>
          </p:nvSpPr>
          <p:spPr>
            <a:xfrm flipH="false" flipV="false" rot="0">
              <a:off x="0" y="0"/>
              <a:ext cx="2438336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</a:blip>
              <a:stretch>
                <a:fillRect l="-16360" t="0" r="-16361" b="0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857250" y="429311"/>
            <a:ext cx="16573043" cy="999896"/>
            <a:chOff x="0" y="0"/>
            <a:chExt cx="22097390" cy="1333195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2097364" cy="1333246"/>
            </a:xfrm>
            <a:custGeom>
              <a:avLst/>
              <a:gdLst/>
              <a:ahLst/>
              <a:cxnLst/>
              <a:rect r="r" b="b" t="t" l="l"/>
              <a:pathLst>
                <a:path h="1333246" w="22097364">
                  <a:moveTo>
                    <a:pt x="0" y="209042"/>
                  </a:moveTo>
                  <a:cubicBezTo>
                    <a:pt x="0" y="93599"/>
                    <a:pt x="93599" y="0"/>
                    <a:pt x="209042" y="0"/>
                  </a:cubicBezTo>
                  <a:lnTo>
                    <a:pt x="21888323" y="0"/>
                  </a:lnTo>
                  <a:cubicBezTo>
                    <a:pt x="22003765" y="0"/>
                    <a:pt x="22097364" y="93599"/>
                    <a:pt x="22097364" y="209042"/>
                  </a:cubicBezTo>
                  <a:lnTo>
                    <a:pt x="22097364" y="1124204"/>
                  </a:lnTo>
                  <a:cubicBezTo>
                    <a:pt x="22097364" y="1239647"/>
                    <a:pt x="22003765" y="1333246"/>
                    <a:pt x="21888323" y="1333246"/>
                  </a:cubicBezTo>
                  <a:lnTo>
                    <a:pt x="209042" y="1333246"/>
                  </a:lnTo>
                  <a:cubicBezTo>
                    <a:pt x="93599" y="1333246"/>
                    <a:pt x="0" y="1239647"/>
                    <a:pt x="0" y="1124204"/>
                  </a:cubicBez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286561" y="571957"/>
            <a:ext cx="1899666" cy="714604"/>
            <a:chOff x="0" y="0"/>
            <a:chExt cx="2532888" cy="952805"/>
          </a:xfrm>
        </p:grpSpPr>
        <p:sp>
          <p:nvSpPr>
            <p:cNvPr name="Freeform 19" id="19" descr="preencoded.png"/>
            <p:cNvSpPr/>
            <p:nvPr/>
          </p:nvSpPr>
          <p:spPr>
            <a:xfrm flipH="false" flipV="false" rot="0">
              <a:off x="0" y="0"/>
              <a:ext cx="2532888" cy="952754"/>
            </a:xfrm>
            <a:custGeom>
              <a:avLst/>
              <a:gdLst/>
              <a:ahLst/>
              <a:cxnLst/>
              <a:rect r="r" b="b" t="t" l="l"/>
              <a:pathLst>
                <a:path h="952754" w="2532888">
                  <a:moveTo>
                    <a:pt x="0" y="0"/>
                  </a:moveTo>
                  <a:lnTo>
                    <a:pt x="2532888" y="0"/>
                  </a:lnTo>
                  <a:lnTo>
                    <a:pt x="2532888" y="952754"/>
                  </a:lnTo>
                  <a:lnTo>
                    <a:pt x="0" y="9527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10" r="0" b="-14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6287750" y="571957"/>
            <a:ext cx="714604" cy="714604"/>
            <a:chOff x="0" y="0"/>
            <a:chExt cx="952805" cy="952805"/>
          </a:xfrm>
        </p:grpSpPr>
        <p:sp>
          <p:nvSpPr>
            <p:cNvPr name="Freeform 21" id="21" descr="preencoded.png"/>
            <p:cNvSpPr/>
            <p:nvPr/>
          </p:nvSpPr>
          <p:spPr>
            <a:xfrm flipH="false" flipV="false" rot="0">
              <a:off x="0" y="0"/>
              <a:ext cx="952754" cy="952754"/>
            </a:xfrm>
            <a:custGeom>
              <a:avLst/>
              <a:gdLst/>
              <a:ahLst/>
              <a:cxnLst/>
              <a:rect r="r" b="b" t="t" l="l"/>
              <a:pathLst>
                <a:path h="952754" w="952754">
                  <a:moveTo>
                    <a:pt x="0" y="0"/>
                  </a:moveTo>
                  <a:lnTo>
                    <a:pt x="952754" y="0"/>
                  </a:lnTo>
                  <a:lnTo>
                    <a:pt x="952754" y="952754"/>
                  </a:lnTo>
                  <a:lnTo>
                    <a:pt x="0" y="9527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5" b="-5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962025" y="1549622"/>
            <a:ext cx="113843" cy="614477"/>
            <a:chOff x="0" y="0"/>
            <a:chExt cx="151790" cy="819302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51765" cy="819277"/>
            </a:xfrm>
            <a:custGeom>
              <a:avLst/>
              <a:gdLst/>
              <a:ahLst/>
              <a:cxnLst/>
              <a:rect r="r" b="b" t="t" l="l"/>
              <a:pathLst>
                <a:path h="819277" w="151765">
                  <a:moveTo>
                    <a:pt x="0" y="0"/>
                  </a:moveTo>
                  <a:lnTo>
                    <a:pt x="151765" y="0"/>
                  </a:lnTo>
                  <a:lnTo>
                    <a:pt x="151765" y="819277"/>
                  </a:lnTo>
                  <a:lnTo>
                    <a:pt x="0" y="819277"/>
                  </a:lnTo>
                  <a:close/>
                </a:path>
              </a:pathLst>
            </a:custGeom>
            <a:solidFill>
              <a:srgbClr val="88E555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180492" y="1387450"/>
            <a:ext cx="9555477" cy="967969"/>
            <a:chOff x="0" y="0"/>
            <a:chExt cx="12740636" cy="1290625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2740636" cy="1290624"/>
            </a:xfrm>
            <a:custGeom>
              <a:avLst/>
              <a:gdLst/>
              <a:ahLst/>
              <a:cxnLst/>
              <a:rect r="r" b="b" t="t" l="l"/>
              <a:pathLst>
                <a:path h="1290624" w="12740636">
                  <a:moveTo>
                    <a:pt x="0" y="0"/>
                  </a:moveTo>
                  <a:lnTo>
                    <a:pt x="12740636" y="0"/>
                  </a:lnTo>
                  <a:lnTo>
                    <a:pt x="12740636" y="1290624"/>
                  </a:lnTo>
                  <a:lnTo>
                    <a:pt x="0" y="1290624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103420" r="27411" b="-75828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12740636" cy="13287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EXPERIMENT SETUP &amp; TEST DIVERSITY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847725" y="2383993"/>
            <a:ext cx="16592093" cy="7765362"/>
            <a:chOff x="0" y="0"/>
            <a:chExt cx="22122790" cy="10353815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2122892" cy="10353918"/>
            </a:xfrm>
            <a:custGeom>
              <a:avLst/>
              <a:gdLst/>
              <a:ahLst/>
              <a:cxnLst/>
              <a:rect r="r" b="b" t="t" l="l"/>
              <a:pathLst>
                <a:path h="10353918" w="22122892">
                  <a:moveTo>
                    <a:pt x="0" y="64135"/>
                  </a:moveTo>
                  <a:cubicBezTo>
                    <a:pt x="0" y="28750"/>
                    <a:pt x="26416" y="0"/>
                    <a:pt x="58928" y="0"/>
                  </a:cubicBezTo>
                  <a:lnTo>
                    <a:pt x="22063963" y="0"/>
                  </a:lnTo>
                  <a:cubicBezTo>
                    <a:pt x="22096476" y="0"/>
                    <a:pt x="22122892" y="28750"/>
                    <a:pt x="22122892" y="64135"/>
                  </a:cubicBezTo>
                  <a:lnTo>
                    <a:pt x="22122892" y="10289791"/>
                  </a:lnTo>
                  <a:cubicBezTo>
                    <a:pt x="22122892" y="10325176"/>
                    <a:pt x="22096476" y="10353918"/>
                    <a:pt x="22063963" y="10353918"/>
                  </a:cubicBezTo>
                  <a:lnTo>
                    <a:pt x="58928" y="10353918"/>
                  </a:lnTo>
                  <a:cubicBezTo>
                    <a:pt x="26416" y="10353788"/>
                    <a:pt x="0" y="10325176"/>
                    <a:pt x="0" y="10289791"/>
                  </a:cubicBezTo>
                  <a:close/>
                </a:path>
              </a:pathLst>
            </a:custGeom>
            <a:solidFill>
              <a:srgbClr val="FFFFFF">
                <a:alpha val="0"/>
              </a:srgbClr>
            </a:solidFill>
            <a:ln w="19050" cap="sq">
              <a:solidFill>
                <a:srgbClr val="88E555"/>
              </a:solidFill>
              <a:prstDash val="solid"/>
              <a:miter/>
            </a:ln>
          </p:spPr>
        </p:sp>
      </p:grpSp>
      <p:grpSp>
        <p:nvGrpSpPr>
          <p:cNvPr name="Group 29" id="29"/>
          <p:cNvGrpSpPr/>
          <p:nvPr/>
        </p:nvGrpSpPr>
        <p:grpSpPr>
          <a:xfrm rot="0">
            <a:off x="828675" y="2440324"/>
            <a:ext cx="342443" cy="342443"/>
            <a:chOff x="0" y="0"/>
            <a:chExt cx="456590" cy="45659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456565" cy="456565"/>
            </a:xfrm>
            <a:custGeom>
              <a:avLst/>
              <a:gdLst/>
              <a:ahLst/>
              <a:cxnLst/>
              <a:rect r="r" b="b" t="t" l="l"/>
              <a:pathLst>
                <a:path h="456565" w="456565">
                  <a:moveTo>
                    <a:pt x="0" y="228346"/>
                  </a:moveTo>
                  <a:cubicBezTo>
                    <a:pt x="0" y="102235"/>
                    <a:pt x="102235" y="0"/>
                    <a:pt x="228346" y="0"/>
                  </a:cubicBezTo>
                  <a:cubicBezTo>
                    <a:pt x="354457" y="0"/>
                    <a:pt x="456565" y="102235"/>
                    <a:pt x="456565" y="228346"/>
                  </a:cubicBezTo>
                  <a:cubicBezTo>
                    <a:pt x="456565" y="354457"/>
                    <a:pt x="354330" y="456565"/>
                    <a:pt x="228346" y="456565"/>
                  </a:cubicBezTo>
                  <a:cubicBezTo>
                    <a:pt x="102362" y="456565"/>
                    <a:pt x="0" y="354330"/>
                    <a:pt x="0" y="228346"/>
                  </a:cubicBez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78307" t="0" r="-78313" b="-5"/>
              </a:stretch>
            </a:blipFill>
            <a:ln w="57150" cap="sq">
              <a:solidFill>
                <a:srgbClr val="88E555"/>
              </a:solidFill>
              <a:prstDash val="solid"/>
              <a:miter/>
            </a:ln>
          </p:spPr>
        </p:sp>
      </p:grpSp>
      <p:grpSp>
        <p:nvGrpSpPr>
          <p:cNvPr name="Group 31" id="31"/>
          <p:cNvGrpSpPr/>
          <p:nvPr/>
        </p:nvGrpSpPr>
        <p:grpSpPr>
          <a:xfrm rot="0">
            <a:off x="17116425" y="2364943"/>
            <a:ext cx="342443" cy="342443"/>
            <a:chOff x="0" y="0"/>
            <a:chExt cx="456590" cy="45659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456565" cy="456565"/>
            </a:xfrm>
            <a:custGeom>
              <a:avLst/>
              <a:gdLst/>
              <a:ahLst/>
              <a:cxnLst/>
              <a:rect r="r" b="b" t="t" l="l"/>
              <a:pathLst>
                <a:path h="456565" w="456565">
                  <a:moveTo>
                    <a:pt x="0" y="0"/>
                  </a:moveTo>
                  <a:lnTo>
                    <a:pt x="456565" y="0"/>
                  </a:lnTo>
                  <a:lnTo>
                    <a:pt x="456565" y="456565"/>
                  </a:lnTo>
                  <a:lnTo>
                    <a:pt x="0" y="456565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78307" t="0" r="-78313" b="-5"/>
              </a:stretch>
            </a:blipFill>
            <a:ln w="57150" cap="sq">
              <a:solidFill>
                <a:srgbClr val="88E555"/>
              </a:solidFill>
              <a:prstDash val="solid"/>
              <a:miter/>
            </a:ln>
          </p:spPr>
        </p:sp>
      </p:grpSp>
      <p:grpSp>
        <p:nvGrpSpPr>
          <p:cNvPr name="Group 33" id="33"/>
          <p:cNvGrpSpPr/>
          <p:nvPr/>
        </p:nvGrpSpPr>
        <p:grpSpPr>
          <a:xfrm rot="0">
            <a:off x="857479" y="9806912"/>
            <a:ext cx="342443" cy="342443"/>
            <a:chOff x="0" y="0"/>
            <a:chExt cx="456590" cy="45659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456565" cy="456565"/>
            </a:xfrm>
            <a:custGeom>
              <a:avLst/>
              <a:gdLst/>
              <a:ahLst/>
              <a:cxnLst/>
              <a:rect r="r" b="b" t="t" l="l"/>
              <a:pathLst>
                <a:path h="456565" w="456565">
                  <a:moveTo>
                    <a:pt x="0" y="0"/>
                  </a:moveTo>
                  <a:lnTo>
                    <a:pt x="456565" y="0"/>
                  </a:lnTo>
                  <a:lnTo>
                    <a:pt x="456565" y="456565"/>
                  </a:lnTo>
                  <a:lnTo>
                    <a:pt x="0" y="456565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78307" t="0" r="-78313" b="-5"/>
              </a:stretch>
            </a:blipFill>
            <a:ln w="57150" cap="sq">
              <a:solidFill>
                <a:srgbClr val="88E555"/>
              </a:solidFill>
              <a:prstDash val="solid"/>
              <a:miter/>
            </a:ln>
          </p:spPr>
        </p:sp>
      </p:grpSp>
      <p:grpSp>
        <p:nvGrpSpPr>
          <p:cNvPr name="Group 35" id="35"/>
          <p:cNvGrpSpPr/>
          <p:nvPr/>
        </p:nvGrpSpPr>
        <p:grpSpPr>
          <a:xfrm rot="0">
            <a:off x="17116425" y="9543821"/>
            <a:ext cx="342443" cy="342443"/>
            <a:chOff x="0" y="0"/>
            <a:chExt cx="456590" cy="45659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456565" cy="456565"/>
            </a:xfrm>
            <a:custGeom>
              <a:avLst/>
              <a:gdLst/>
              <a:ahLst/>
              <a:cxnLst/>
              <a:rect r="r" b="b" t="t" l="l"/>
              <a:pathLst>
                <a:path h="456565" w="456565">
                  <a:moveTo>
                    <a:pt x="0" y="0"/>
                  </a:moveTo>
                  <a:lnTo>
                    <a:pt x="456565" y="0"/>
                  </a:lnTo>
                  <a:lnTo>
                    <a:pt x="456565" y="456565"/>
                  </a:lnTo>
                  <a:lnTo>
                    <a:pt x="0" y="456565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78307" t="0" r="-78313" b="-5"/>
              </a:stretch>
            </a:blipFill>
            <a:ln w="57150" cap="sq">
              <a:solidFill>
                <a:srgbClr val="88E555"/>
              </a:solidFill>
              <a:prstDash val="solid"/>
              <a:miter/>
            </a:ln>
          </p:spPr>
        </p:sp>
      </p:grpSp>
      <p:grpSp>
        <p:nvGrpSpPr>
          <p:cNvPr name="Group 37" id="37"/>
          <p:cNvGrpSpPr/>
          <p:nvPr/>
        </p:nvGrpSpPr>
        <p:grpSpPr>
          <a:xfrm rot="0">
            <a:off x="2442820" y="3260293"/>
            <a:ext cx="5715457" cy="560641"/>
            <a:chOff x="0" y="0"/>
            <a:chExt cx="7620610" cy="747522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7620610" cy="747522"/>
            </a:xfrm>
            <a:custGeom>
              <a:avLst/>
              <a:gdLst/>
              <a:ahLst/>
              <a:cxnLst/>
              <a:rect r="r" b="b" t="t" l="l"/>
              <a:pathLst>
                <a:path h="747522" w="7620610">
                  <a:moveTo>
                    <a:pt x="0" y="0"/>
                  </a:moveTo>
                  <a:lnTo>
                    <a:pt x="7620610" y="0"/>
                  </a:lnTo>
                  <a:lnTo>
                    <a:pt x="7620610" y="747522"/>
                  </a:lnTo>
                  <a:lnTo>
                    <a:pt x="0" y="747522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162921" r="0" b="-134358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28575"/>
              <a:ext cx="7620610" cy="7760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2442820" y="3774643"/>
            <a:ext cx="8551926" cy="373761"/>
            <a:chOff x="0" y="0"/>
            <a:chExt cx="11402568" cy="498348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1402568" cy="498349"/>
            </a:xfrm>
            <a:custGeom>
              <a:avLst/>
              <a:gdLst/>
              <a:ahLst/>
              <a:cxnLst/>
              <a:rect r="r" b="b" t="t" l="l"/>
              <a:pathLst>
                <a:path h="498349" w="11402568">
                  <a:moveTo>
                    <a:pt x="0" y="0"/>
                  </a:moveTo>
                  <a:lnTo>
                    <a:pt x="11402568" y="0"/>
                  </a:lnTo>
                  <a:lnTo>
                    <a:pt x="11402568" y="498349"/>
                  </a:lnTo>
                  <a:lnTo>
                    <a:pt x="0" y="498349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407482" r="0" b="-384179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19050"/>
              <a:ext cx="11402568" cy="5173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2685593" y="7848295"/>
            <a:ext cx="13916254" cy="13716"/>
            <a:chOff x="0" y="0"/>
            <a:chExt cx="18555005" cy="18288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8554954" cy="18288"/>
            </a:xfrm>
            <a:custGeom>
              <a:avLst/>
              <a:gdLst/>
              <a:ahLst/>
              <a:cxnLst/>
              <a:rect r="r" b="b" t="t" l="l"/>
              <a:pathLst>
                <a:path h="18288" w="18554954">
                  <a:moveTo>
                    <a:pt x="0" y="0"/>
                  </a:moveTo>
                  <a:lnTo>
                    <a:pt x="18554954" y="0"/>
                  </a:lnTo>
                  <a:lnTo>
                    <a:pt x="18554954" y="18288"/>
                  </a:lnTo>
                  <a:lnTo>
                    <a:pt x="0" y="18288"/>
                  </a:lnTo>
                  <a:close/>
                </a:path>
              </a:pathLst>
            </a:custGeom>
            <a:solidFill>
              <a:srgbClr val="1E40AF">
                <a:alpha val="8627"/>
              </a:srgbClr>
            </a:solid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2685593" y="8491576"/>
            <a:ext cx="13916254" cy="13716"/>
            <a:chOff x="0" y="0"/>
            <a:chExt cx="18555005" cy="18288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8554954" cy="18288"/>
            </a:xfrm>
            <a:custGeom>
              <a:avLst/>
              <a:gdLst/>
              <a:ahLst/>
              <a:cxnLst/>
              <a:rect r="r" b="b" t="t" l="l"/>
              <a:pathLst>
                <a:path h="18288" w="18554954">
                  <a:moveTo>
                    <a:pt x="0" y="0"/>
                  </a:moveTo>
                  <a:lnTo>
                    <a:pt x="18554954" y="0"/>
                  </a:lnTo>
                  <a:lnTo>
                    <a:pt x="18554954" y="18288"/>
                  </a:lnTo>
                  <a:lnTo>
                    <a:pt x="0" y="18288"/>
                  </a:lnTo>
                  <a:close/>
                </a:path>
              </a:pathLst>
            </a:custGeom>
            <a:solidFill>
              <a:srgbClr val="1E40AF">
                <a:alpha val="8627"/>
              </a:srgbClr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7938249" y="341566"/>
            <a:ext cx="2411054" cy="1175385"/>
            <a:chOff x="0" y="0"/>
            <a:chExt cx="3214738" cy="156718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3214751" cy="1567180"/>
            </a:xfrm>
            <a:custGeom>
              <a:avLst/>
              <a:gdLst/>
              <a:ahLst/>
              <a:cxnLst/>
              <a:rect r="r" b="b" t="t" l="l"/>
              <a:pathLst>
                <a:path h="1567180" w="3214751">
                  <a:moveTo>
                    <a:pt x="0" y="0"/>
                  </a:moveTo>
                  <a:lnTo>
                    <a:pt x="3214751" y="0"/>
                  </a:lnTo>
                  <a:lnTo>
                    <a:pt x="3214751" y="1567180"/>
                  </a:lnTo>
                  <a:lnTo>
                    <a:pt x="0" y="15671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49" id="49"/>
          <p:cNvGrpSpPr/>
          <p:nvPr/>
        </p:nvGrpSpPr>
        <p:grpSpPr>
          <a:xfrm rot="0">
            <a:off x="857250" y="156115"/>
            <a:ext cx="16573043" cy="1286561"/>
            <a:chOff x="0" y="0"/>
            <a:chExt cx="22097390" cy="1715414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22097366" cy="1715389"/>
            </a:xfrm>
            <a:custGeom>
              <a:avLst/>
              <a:gdLst/>
              <a:ahLst/>
              <a:cxnLst/>
              <a:rect r="r" b="b" t="t" l="l"/>
              <a:pathLst>
                <a:path h="1715389" w="22097366">
                  <a:moveTo>
                    <a:pt x="0" y="162560"/>
                  </a:moveTo>
                  <a:cubicBezTo>
                    <a:pt x="0" y="72771"/>
                    <a:pt x="72771" y="0"/>
                    <a:pt x="162560" y="0"/>
                  </a:cubicBezTo>
                  <a:lnTo>
                    <a:pt x="21934805" y="0"/>
                  </a:lnTo>
                  <a:cubicBezTo>
                    <a:pt x="22024594" y="0"/>
                    <a:pt x="22097366" y="72771"/>
                    <a:pt x="22097366" y="162560"/>
                  </a:cubicBezTo>
                  <a:lnTo>
                    <a:pt x="22097366" y="1552829"/>
                  </a:lnTo>
                  <a:cubicBezTo>
                    <a:pt x="22097366" y="1642618"/>
                    <a:pt x="22024594" y="1715389"/>
                    <a:pt x="21934805" y="1715389"/>
                  </a:cubicBezTo>
                  <a:lnTo>
                    <a:pt x="162560" y="1715389"/>
                  </a:lnTo>
                  <a:cubicBezTo>
                    <a:pt x="72771" y="1715389"/>
                    <a:pt x="0" y="1642618"/>
                    <a:pt x="0" y="1552829"/>
                  </a:cubicBez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grpSp>
        <p:nvGrpSpPr>
          <p:cNvPr name="Group 51" id="51"/>
          <p:cNvGrpSpPr/>
          <p:nvPr/>
        </p:nvGrpSpPr>
        <p:grpSpPr>
          <a:xfrm rot="0">
            <a:off x="2271151" y="351568"/>
            <a:ext cx="13745232" cy="879653"/>
            <a:chOff x="0" y="0"/>
            <a:chExt cx="18326976" cy="117287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18326988" cy="1172845"/>
            </a:xfrm>
            <a:custGeom>
              <a:avLst/>
              <a:gdLst/>
              <a:ahLst/>
              <a:cxnLst/>
              <a:rect r="r" b="b" t="t" l="l"/>
              <a:pathLst>
                <a:path h="1172845" w="18326988">
                  <a:moveTo>
                    <a:pt x="0" y="0"/>
                  </a:moveTo>
                  <a:lnTo>
                    <a:pt x="18326988" y="0"/>
                  </a:lnTo>
                  <a:lnTo>
                    <a:pt x="18326988" y="1172845"/>
                  </a:lnTo>
                  <a:lnTo>
                    <a:pt x="0" y="11728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-2" r="0" b="-4"/>
              </a:stretch>
            </a:blipFill>
          </p:spPr>
        </p:sp>
      </p:grpSp>
      <p:graphicFrame>
        <p:nvGraphicFramePr>
          <p:cNvPr name="Table 53" id="53"/>
          <p:cNvGraphicFramePr>
            <a:graphicFrameLocks noGrp="true"/>
          </p:cNvGraphicFramePr>
          <p:nvPr/>
        </p:nvGraphicFramePr>
        <p:xfrm>
          <a:off x="9258233" y="2751285"/>
          <a:ext cx="7236152" cy="7226849"/>
        </p:xfrm>
        <a:graphic>
          <a:graphicData uri="http://schemas.openxmlformats.org/drawingml/2006/table">
            <a:tbl>
              <a:tblPr/>
              <a:tblGrid>
                <a:gridCol w="2812204"/>
                <a:gridCol w="4423948"/>
              </a:tblGrid>
              <a:tr h="62828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EVALUATION DIMENSION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TEST DIVERSITY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1762316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Pattern Structure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FIN_ARRAY, FIN_CUT, FIN_GATE, CONTACT_ARRAY, LOCAL_INTERCONNECT, METAL_ROUTING, ACTIVE_CELL, FINFET_FULL_CELL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4324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Magnification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100× Reference → 10× Search field relationship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22306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Spatial Variation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Continuous target locations with exact ground-truth (x, y)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00284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Image Degradation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Noise, blur, scale variation, rotation, drift and charging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07654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Periodic Ambiguity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Visually similar regions and hard-negative candidates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49045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Boundary Cases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Targets near structural/boundary regions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3716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Ground Truth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Exact target center recorded in Search-image coordinates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pSp>
        <p:nvGrpSpPr>
          <p:cNvPr name="Group 54" id="54"/>
          <p:cNvGrpSpPr/>
          <p:nvPr/>
        </p:nvGrpSpPr>
        <p:grpSpPr>
          <a:xfrm rot="0">
            <a:off x="1472049" y="2536165"/>
            <a:ext cx="6787065" cy="4070212"/>
            <a:chOff x="0" y="0"/>
            <a:chExt cx="9049420" cy="542695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9049384" cy="5426843"/>
            </a:xfrm>
            <a:custGeom>
              <a:avLst/>
              <a:gdLst/>
              <a:ahLst/>
              <a:cxnLst/>
              <a:rect r="r" b="b" t="t" l="l"/>
              <a:pathLst>
                <a:path h="5426843" w="9049384">
                  <a:moveTo>
                    <a:pt x="0" y="232021"/>
                  </a:moveTo>
                  <a:cubicBezTo>
                    <a:pt x="0" y="103982"/>
                    <a:pt x="23579" y="0"/>
                    <a:pt x="52612" y="0"/>
                  </a:cubicBezTo>
                  <a:lnTo>
                    <a:pt x="8996771" y="0"/>
                  </a:lnTo>
                  <a:cubicBezTo>
                    <a:pt x="9025866" y="0"/>
                    <a:pt x="9049384" y="103982"/>
                    <a:pt x="9049384" y="232021"/>
                  </a:cubicBezTo>
                  <a:lnTo>
                    <a:pt x="9049384" y="5194821"/>
                  </a:lnTo>
                  <a:cubicBezTo>
                    <a:pt x="9049384" y="5323128"/>
                    <a:pt x="9025805" y="5426843"/>
                    <a:pt x="8996771" y="5426843"/>
                  </a:cubicBezTo>
                  <a:lnTo>
                    <a:pt x="52612" y="5426843"/>
                  </a:lnTo>
                  <a:cubicBezTo>
                    <a:pt x="23518" y="5426843"/>
                    <a:pt x="0" y="5322861"/>
                    <a:pt x="0" y="5194821"/>
                  </a:cubicBezTo>
                  <a:close/>
                </a:path>
              </a:pathLst>
            </a:custGeom>
            <a:solidFill>
              <a:srgbClr val="1E3A8A">
                <a:alpha val="15686"/>
              </a:srgbClr>
            </a:solidFill>
            <a:ln w="19050" cap="sq">
              <a:solidFill>
                <a:srgbClr val="1D4ED8"/>
              </a:solidFill>
              <a:prstDash val="solid"/>
              <a:miter/>
            </a:ln>
          </p:spPr>
        </p:sp>
      </p:grpSp>
      <p:grpSp>
        <p:nvGrpSpPr>
          <p:cNvPr name="Group 56" id="56"/>
          <p:cNvGrpSpPr/>
          <p:nvPr/>
        </p:nvGrpSpPr>
        <p:grpSpPr>
          <a:xfrm rot="0">
            <a:off x="1947448" y="2753043"/>
            <a:ext cx="6816673" cy="3636455"/>
            <a:chOff x="0" y="0"/>
            <a:chExt cx="9088898" cy="4848607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9088897" cy="4848605"/>
            </a:xfrm>
            <a:custGeom>
              <a:avLst/>
              <a:gdLst/>
              <a:ahLst/>
              <a:cxnLst/>
              <a:rect r="r" b="b" t="t" l="l"/>
              <a:pathLst>
                <a:path h="4848605" w="9088897">
                  <a:moveTo>
                    <a:pt x="0" y="0"/>
                  </a:moveTo>
                  <a:lnTo>
                    <a:pt x="9088897" y="0"/>
                  </a:lnTo>
                  <a:lnTo>
                    <a:pt x="9088897" y="4848605"/>
                  </a:lnTo>
                  <a:lnTo>
                    <a:pt x="0" y="4848605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59889" r="-92520" b="19252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19050"/>
              <a:ext cx="9088898" cy="486765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00"/>
                </a:lnSpc>
              </a:pPr>
              <a:r>
                <a:rPr lang="en-US" sz="1750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TEST DIVERSITY</a:t>
              </a:r>
            </a:p>
            <a:p>
              <a:pPr algn="l">
                <a:lnSpc>
                  <a:spcPts val="2100"/>
                </a:lnSpc>
              </a:pPr>
            </a:p>
            <a:p>
              <a:pPr algn="l">
                <a:lnSpc>
                  <a:spcPts val="2100"/>
                </a:lnSpc>
              </a:pPr>
              <a:r>
                <a:rPr lang="en-US" sz="175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8 Pattern Classes</a:t>
              </a:r>
            </a:p>
            <a:p>
              <a:pPr algn="l">
                <a:lnSpc>
                  <a:spcPts val="2100"/>
                </a:lnSpc>
              </a:pPr>
              <a:r>
                <a:rPr lang="en-US" sz="175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        +</a:t>
              </a:r>
            </a:p>
            <a:p>
              <a:pPr algn="l">
                <a:lnSpc>
                  <a:spcPts val="2100"/>
                </a:lnSpc>
              </a:pPr>
              <a:r>
                <a:rPr lang="en-US" sz="175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Cross-Magnification</a:t>
              </a:r>
            </a:p>
            <a:p>
              <a:pPr algn="l">
                <a:lnSpc>
                  <a:spcPts val="2100"/>
                </a:lnSpc>
              </a:pPr>
              <a:r>
                <a:rPr lang="en-US" sz="175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        +</a:t>
              </a:r>
            </a:p>
            <a:p>
              <a:pPr algn="l">
                <a:lnSpc>
                  <a:spcPts val="2100"/>
                </a:lnSpc>
              </a:pPr>
              <a:r>
                <a:rPr lang="en-US" sz="175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Controlled SEM Degradation</a:t>
              </a:r>
            </a:p>
            <a:p>
              <a:pPr algn="l">
                <a:lnSpc>
                  <a:spcPts val="2100"/>
                </a:lnSpc>
              </a:pPr>
              <a:r>
                <a:rPr lang="en-US" sz="175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        +</a:t>
              </a:r>
            </a:p>
            <a:p>
              <a:pPr algn="l">
                <a:lnSpc>
                  <a:spcPts val="2100"/>
                </a:lnSpc>
              </a:pPr>
              <a:r>
                <a:rPr lang="en-US" sz="175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Spatial / Geometric Variation</a:t>
              </a:r>
            </a:p>
            <a:p>
              <a:pPr algn="l">
                <a:lnSpc>
                  <a:spcPts val="2100"/>
                </a:lnSpc>
              </a:pPr>
              <a:r>
                <a:rPr lang="en-US" sz="175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        +</a:t>
              </a:r>
            </a:p>
            <a:p>
              <a:pPr algn="l">
                <a:lnSpc>
                  <a:spcPts val="2100"/>
                </a:lnSpc>
              </a:pPr>
              <a:r>
                <a:rPr lang="en-US" sz="175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Periodic Hard Negatives</a:t>
              </a:r>
            </a:p>
            <a:p>
              <a:pPr algn="l">
                <a:lnSpc>
                  <a:spcPts val="2100"/>
                </a:lnSpc>
              </a:pPr>
              <a:r>
                <a:rPr lang="en-US" sz="175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        ↓</a:t>
              </a:r>
            </a:p>
            <a:p>
              <a:pPr algn="l">
                <a:lnSpc>
                  <a:spcPts val="2100"/>
                </a:lnSpc>
              </a:pPr>
              <a:r>
                <a:rPr lang="en-US" sz="175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HELD-OUT LOCALIZATION BENCHMARK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1472049" y="6711152"/>
            <a:ext cx="6787065" cy="3438203"/>
            <a:chOff x="0" y="0"/>
            <a:chExt cx="9049420" cy="458427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9049384" cy="4584180"/>
            </a:xfrm>
            <a:custGeom>
              <a:avLst/>
              <a:gdLst/>
              <a:ahLst/>
              <a:cxnLst/>
              <a:rect r="r" b="b" t="t" l="l"/>
              <a:pathLst>
                <a:path h="4584180" w="9049384">
                  <a:moveTo>
                    <a:pt x="0" y="195994"/>
                  </a:moveTo>
                  <a:cubicBezTo>
                    <a:pt x="0" y="87836"/>
                    <a:pt x="23579" y="0"/>
                    <a:pt x="52612" y="0"/>
                  </a:cubicBezTo>
                  <a:lnTo>
                    <a:pt x="8996771" y="0"/>
                  </a:lnTo>
                  <a:cubicBezTo>
                    <a:pt x="9025866" y="0"/>
                    <a:pt x="9049384" y="87836"/>
                    <a:pt x="9049384" y="195994"/>
                  </a:cubicBezTo>
                  <a:lnTo>
                    <a:pt x="9049384" y="4388186"/>
                  </a:lnTo>
                  <a:cubicBezTo>
                    <a:pt x="9049384" y="4496570"/>
                    <a:pt x="9025805" y="4584180"/>
                    <a:pt x="8996771" y="4584180"/>
                  </a:cubicBezTo>
                  <a:lnTo>
                    <a:pt x="52612" y="4584180"/>
                  </a:lnTo>
                  <a:cubicBezTo>
                    <a:pt x="23518" y="4584180"/>
                    <a:pt x="0" y="4496344"/>
                    <a:pt x="0" y="4388186"/>
                  </a:cubicBezTo>
                  <a:close/>
                </a:path>
              </a:pathLst>
            </a:custGeom>
            <a:solidFill>
              <a:srgbClr val="1E3A8A">
                <a:alpha val="15686"/>
              </a:srgbClr>
            </a:solidFill>
            <a:ln w="19050" cap="sq">
              <a:solidFill>
                <a:srgbClr val="1D4ED8"/>
              </a:solidFill>
              <a:prstDash val="solid"/>
              <a:miter/>
            </a:ln>
          </p:spPr>
        </p:sp>
      </p:grpSp>
      <p:grpSp>
        <p:nvGrpSpPr>
          <p:cNvPr name="Group 61" id="61"/>
          <p:cNvGrpSpPr/>
          <p:nvPr/>
        </p:nvGrpSpPr>
        <p:grpSpPr>
          <a:xfrm rot="0">
            <a:off x="1734025" y="6787352"/>
            <a:ext cx="6424252" cy="3103055"/>
            <a:chOff x="0" y="0"/>
            <a:chExt cx="8565669" cy="4137407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8565669" cy="4137405"/>
            </a:xfrm>
            <a:custGeom>
              <a:avLst/>
              <a:gdLst/>
              <a:ahLst/>
              <a:cxnLst/>
              <a:rect r="r" b="b" t="t" l="l"/>
              <a:pathLst>
                <a:path h="4137405" w="8565669">
                  <a:moveTo>
                    <a:pt x="0" y="0"/>
                  </a:moveTo>
                  <a:lnTo>
                    <a:pt x="8565669" y="0"/>
                  </a:lnTo>
                  <a:lnTo>
                    <a:pt x="8565669" y="4137405"/>
                  </a:lnTo>
                  <a:lnTo>
                    <a:pt x="0" y="4137405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70184" r="-104280" b="5371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19050"/>
              <a:ext cx="8565669" cy="415645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00"/>
                </a:lnSpc>
              </a:pPr>
              <a:r>
                <a:rPr lang="en-US" sz="1750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EVALUATION PROTOCOL</a:t>
              </a:r>
            </a:p>
            <a:p>
              <a:pPr algn="l">
                <a:lnSpc>
                  <a:spcPts val="2100"/>
                </a:lnSpc>
              </a:pPr>
              <a:r>
                <a:rPr lang="en-US" sz="175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120 unseen pairs • 8 patterns • 15/pattern • Exact GT coordinates</a:t>
              </a:r>
            </a:p>
            <a:p>
              <a:pPr algn="l">
                <a:lnSpc>
                  <a:spcPts val="2100"/>
                </a:lnSpc>
              </a:pPr>
            </a:p>
            <a:p>
              <a:pPr algn="l">
                <a:lnSpc>
                  <a:spcPts val="2100"/>
                </a:lnSpc>
              </a:pPr>
              <a:r>
                <a:rPr lang="en-US" sz="1750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STRESS COVERAGE</a:t>
              </a:r>
            </a:p>
            <a:p>
              <a:pPr algn="l">
                <a:lnSpc>
                  <a:spcPts val="2100"/>
                </a:lnSpc>
              </a:pPr>
              <a:r>
                <a:rPr lang="en-US" sz="175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Noise • Blur • Scale • Rotation • Drift • Charging • Boundary cases</a:t>
              </a:r>
            </a:p>
            <a:p>
              <a:pPr algn="l">
                <a:lnSpc>
                  <a:spcPts val="2100"/>
                </a:lnSpc>
              </a:pPr>
            </a:p>
            <a:p>
              <a:pPr algn="l">
                <a:lnSpc>
                  <a:spcPts val="2100"/>
                </a:lnSpc>
              </a:pPr>
              <a:r>
                <a:rPr lang="en-US" sz="1750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KEY TEST</a:t>
              </a:r>
            </a:p>
            <a:p>
              <a:pPr algn="l">
                <a:lnSpc>
                  <a:spcPts val="2100"/>
                </a:lnSpc>
              </a:pPr>
              <a:r>
                <a:rPr lang="en-US" sz="175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Can the system select the correct target when several visually similar candidates exist?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7543" cy="10287000"/>
            <a:chOff x="0" y="0"/>
            <a:chExt cx="2438339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336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00036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7543" cy="10287000"/>
            <a:chOff x="0" y="0"/>
            <a:chExt cx="24383390" cy="13716000"/>
          </a:xfrm>
        </p:grpSpPr>
        <p:sp>
          <p:nvSpPr>
            <p:cNvPr name="Freeform 5" id="5" descr="preencoded.png"/>
            <p:cNvSpPr/>
            <p:nvPr/>
          </p:nvSpPr>
          <p:spPr>
            <a:xfrm flipH="false" flipV="false" rot="0">
              <a:off x="0" y="0"/>
              <a:ext cx="2438336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5000"/>
              </a:blip>
              <a:stretch>
                <a:fillRect l="-16360" t="0" r="-16361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857250" y="429311"/>
            <a:ext cx="16573043" cy="999896"/>
            <a:chOff x="0" y="0"/>
            <a:chExt cx="22097390" cy="133319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2097364" cy="1333246"/>
            </a:xfrm>
            <a:custGeom>
              <a:avLst/>
              <a:gdLst/>
              <a:ahLst/>
              <a:cxnLst/>
              <a:rect r="r" b="b" t="t" l="l"/>
              <a:pathLst>
                <a:path h="1333246" w="22097364">
                  <a:moveTo>
                    <a:pt x="0" y="209042"/>
                  </a:moveTo>
                  <a:cubicBezTo>
                    <a:pt x="0" y="93599"/>
                    <a:pt x="93599" y="0"/>
                    <a:pt x="209042" y="0"/>
                  </a:cubicBezTo>
                  <a:lnTo>
                    <a:pt x="21888323" y="0"/>
                  </a:lnTo>
                  <a:cubicBezTo>
                    <a:pt x="22003765" y="0"/>
                    <a:pt x="22097364" y="93599"/>
                    <a:pt x="22097364" y="209042"/>
                  </a:cubicBezTo>
                  <a:lnTo>
                    <a:pt x="22097364" y="1124204"/>
                  </a:lnTo>
                  <a:cubicBezTo>
                    <a:pt x="22097364" y="1239647"/>
                    <a:pt x="22003765" y="1333246"/>
                    <a:pt x="21888323" y="1333246"/>
                  </a:cubicBezTo>
                  <a:lnTo>
                    <a:pt x="209042" y="1333246"/>
                  </a:lnTo>
                  <a:cubicBezTo>
                    <a:pt x="93599" y="1333246"/>
                    <a:pt x="0" y="1239647"/>
                    <a:pt x="0" y="1124204"/>
                  </a:cubicBez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6287750" y="571957"/>
            <a:ext cx="714604" cy="714604"/>
            <a:chOff x="0" y="0"/>
            <a:chExt cx="952805" cy="952805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952754" cy="952754"/>
            </a:xfrm>
            <a:custGeom>
              <a:avLst/>
              <a:gdLst/>
              <a:ahLst/>
              <a:cxnLst/>
              <a:rect r="r" b="b" t="t" l="l"/>
              <a:pathLst>
                <a:path h="952754" w="952754">
                  <a:moveTo>
                    <a:pt x="0" y="0"/>
                  </a:moveTo>
                  <a:lnTo>
                    <a:pt x="952754" y="0"/>
                  </a:lnTo>
                  <a:lnTo>
                    <a:pt x="952754" y="952754"/>
                  </a:lnTo>
                  <a:lnTo>
                    <a:pt x="0" y="9527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5" b="-5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137533" y="571957"/>
            <a:ext cx="8618220" cy="701040"/>
            <a:chOff x="0" y="0"/>
            <a:chExt cx="11490960" cy="93472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1490960" cy="934720"/>
            </a:xfrm>
            <a:custGeom>
              <a:avLst/>
              <a:gdLst/>
              <a:ahLst/>
              <a:cxnLst/>
              <a:rect r="r" b="b" t="t" l="l"/>
              <a:pathLst>
                <a:path h="934720" w="11490960">
                  <a:moveTo>
                    <a:pt x="0" y="0"/>
                  </a:moveTo>
                  <a:lnTo>
                    <a:pt x="11490960" y="0"/>
                  </a:lnTo>
                  <a:lnTo>
                    <a:pt x="11490960" y="934720"/>
                  </a:lnTo>
                  <a:lnTo>
                    <a:pt x="0" y="9347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1" t="0" r="-11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0" y="0"/>
            <a:ext cx="18287543" cy="10287000"/>
            <a:chOff x="0" y="0"/>
            <a:chExt cx="24383390" cy="13716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438336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00036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9050" y="0"/>
            <a:ext cx="18287543" cy="10287000"/>
            <a:chOff x="0" y="0"/>
            <a:chExt cx="24383390" cy="13716000"/>
          </a:xfrm>
        </p:grpSpPr>
        <p:sp>
          <p:nvSpPr>
            <p:cNvPr name="Freeform 15" id="15" descr="preencoded.png"/>
            <p:cNvSpPr/>
            <p:nvPr/>
          </p:nvSpPr>
          <p:spPr>
            <a:xfrm flipH="false" flipV="false" rot="0">
              <a:off x="0" y="0"/>
              <a:ext cx="2438336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</a:blip>
              <a:stretch>
                <a:fillRect l="-16360" t="0" r="-16361" b="0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857250" y="429311"/>
            <a:ext cx="16573043" cy="921982"/>
            <a:chOff x="0" y="0"/>
            <a:chExt cx="22097390" cy="1229309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2097364" cy="1229360"/>
            </a:xfrm>
            <a:custGeom>
              <a:avLst/>
              <a:gdLst/>
              <a:ahLst/>
              <a:cxnLst/>
              <a:rect r="r" b="b" t="t" l="l"/>
              <a:pathLst>
                <a:path h="1229360" w="22097364">
                  <a:moveTo>
                    <a:pt x="0" y="192753"/>
                  </a:moveTo>
                  <a:cubicBezTo>
                    <a:pt x="0" y="86306"/>
                    <a:pt x="93599" y="0"/>
                    <a:pt x="209042" y="0"/>
                  </a:cubicBezTo>
                  <a:lnTo>
                    <a:pt x="21888323" y="0"/>
                  </a:lnTo>
                  <a:cubicBezTo>
                    <a:pt x="22003765" y="0"/>
                    <a:pt x="22097364" y="86306"/>
                    <a:pt x="22097364" y="192753"/>
                  </a:cubicBezTo>
                  <a:lnTo>
                    <a:pt x="22097364" y="1036603"/>
                  </a:lnTo>
                  <a:cubicBezTo>
                    <a:pt x="22097364" y="1143050"/>
                    <a:pt x="22003765" y="1229360"/>
                    <a:pt x="21888323" y="1229360"/>
                  </a:cubicBezTo>
                  <a:lnTo>
                    <a:pt x="209042" y="1229360"/>
                  </a:lnTo>
                  <a:cubicBezTo>
                    <a:pt x="93599" y="1229360"/>
                    <a:pt x="0" y="1143050"/>
                    <a:pt x="0" y="1036603"/>
                  </a:cubicBez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286561" y="571957"/>
            <a:ext cx="1899666" cy="714604"/>
            <a:chOff x="0" y="0"/>
            <a:chExt cx="2532888" cy="952805"/>
          </a:xfrm>
        </p:grpSpPr>
        <p:sp>
          <p:nvSpPr>
            <p:cNvPr name="Freeform 19" id="19" descr="preencoded.png"/>
            <p:cNvSpPr/>
            <p:nvPr/>
          </p:nvSpPr>
          <p:spPr>
            <a:xfrm flipH="false" flipV="false" rot="0">
              <a:off x="0" y="0"/>
              <a:ext cx="2532888" cy="952754"/>
            </a:xfrm>
            <a:custGeom>
              <a:avLst/>
              <a:gdLst/>
              <a:ahLst/>
              <a:cxnLst/>
              <a:rect r="r" b="b" t="t" l="l"/>
              <a:pathLst>
                <a:path h="952754" w="2532888">
                  <a:moveTo>
                    <a:pt x="0" y="0"/>
                  </a:moveTo>
                  <a:lnTo>
                    <a:pt x="2532888" y="0"/>
                  </a:lnTo>
                  <a:lnTo>
                    <a:pt x="2532888" y="952754"/>
                  </a:lnTo>
                  <a:lnTo>
                    <a:pt x="0" y="9527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10" r="0" b="-14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6287750" y="571957"/>
            <a:ext cx="714604" cy="714604"/>
            <a:chOff x="0" y="0"/>
            <a:chExt cx="952805" cy="952805"/>
          </a:xfrm>
        </p:grpSpPr>
        <p:sp>
          <p:nvSpPr>
            <p:cNvPr name="Freeform 21" id="21" descr="preencoded.png"/>
            <p:cNvSpPr/>
            <p:nvPr/>
          </p:nvSpPr>
          <p:spPr>
            <a:xfrm flipH="false" flipV="false" rot="0">
              <a:off x="0" y="0"/>
              <a:ext cx="952754" cy="952754"/>
            </a:xfrm>
            <a:custGeom>
              <a:avLst/>
              <a:gdLst/>
              <a:ahLst/>
              <a:cxnLst/>
              <a:rect r="r" b="b" t="t" l="l"/>
              <a:pathLst>
                <a:path h="952754" w="952754">
                  <a:moveTo>
                    <a:pt x="0" y="0"/>
                  </a:moveTo>
                  <a:lnTo>
                    <a:pt x="952754" y="0"/>
                  </a:lnTo>
                  <a:lnTo>
                    <a:pt x="952754" y="952754"/>
                  </a:lnTo>
                  <a:lnTo>
                    <a:pt x="0" y="9527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5" b="-5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962025" y="1419682"/>
            <a:ext cx="113843" cy="614477"/>
            <a:chOff x="0" y="0"/>
            <a:chExt cx="151790" cy="819302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51765" cy="819277"/>
            </a:xfrm>
            <a:custGeom>
              <a:avLst/>
              <a:gdLst/>
              <a:ahLst/>
              <a:cxnLst/>
              <a:rect r="r" b="b" t="t" l="l"/>
              <a:pathLst>
                <a:path h="819277" w="151765">
                  <a:moveTo>
                    <a:pt x="0" y="0"/>
                  </a:moveTo>
                  <a:lnTo>
                    <a:pt x="151765" y="0"/>
                  </a:lnTo>
                  <a:lnTo>
                    <a:pt x="151765" y="819277"/>
                  </a:lnTo>
                  <a:lnTo>
                    <a:pt x="0" y="819277"/>
                  </a:lnTo>
                  <a:close/>
                </a:path>
              </a:pathLst>
            </a:custGeom>
            <a:solidFill>
              <a:srgbClr val="88E555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137533" y="1225525"/>
            <a:ext cx="15803741" cy="967969"/>
            <a:chOff x="0" y="0"/>
            <a:chExt cx="21071654" cy="1290625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1071655" cy="1290624"/>
            </a:xfrm>
            <a:custGeom>
              <a:avLst/>
              <a:gdLst/>
              <a:ahLst/>
              <a:cxnLst/>
              <a:rect r="r" b="b" t="t" l="l"/>
              <a:pathLst>
                <a:path h="1290624" w="21071655">
                  <a:moveTo>
                    <a:pt x="0" y="0"/>
                  </a:moveTo>
                  <a:lnTo>
                    <a:pt x="21071655" y="0"/>
                  </a:lnTo>
                  <a:lnTo>
                    <a:pt x="21071655" y="1290624"/>
                  </a:lnTo>
                  <a:lnTo>
                    <a:pt x="0" y="1290624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103420" r="56110" b="-75828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21071654" cy="13287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THRESHOLD WISE ACCURACY, ERROR STATISTICS &amp; RUNTIME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866775" y="2034159"/>
            <a:ext cx="16592093" cy="8058046"/>
            <a:chOff x="0" y="0"/>
            <a:chExt cx="22122790" cy="10744061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2122892" cy="10744163"/>
            </a:xfrm>
            <a:custGeom>
              <a:avLst/>
              <a:gdLst/>
              <a:ahLst/>
              <a:cxnLst/>
              <a:rect r="r" b="b" t="t" l="l"/>
              <a:pathLst>
                <a:path h="10744163" w="22122892">
                  <a:moveTo>
                    <a:pt x="0" y="66552"/>
                  </a:moveTo>
                  <a:cubicBezTo>
                    <a:pt x="0" y="29834"/>
                    <a:pt x="26416" y="0"/>
                    <a:pt x="58928" y="0"/>
                  </a:cubicBezTo>
                  <a:lnTo>
                    <a:pt x="22063963" y="0"/>
                  </a:lnTo>
                  <a:cubicBezTo>
                    <a:pt x="22096476" y="0"/>
                    <a:pt x="22122892" y="29834"/>
                    <a:pt x="22122892" y="66552"/>
                  </a:cubicBezTo>
                  <a:lnTo>
                    <a:pt x="22122892" y="10677623"/>
                  </a:lnTo>
                  <a:cubicBezTo>
                    <a:pt x="22122892" y="10714342"/>
                    <a:pt x="22096476" y="10744163"/>
                    <a:pt x="22063963" y="10744163"/>
                  </a:cubicBezTo>
                  <a:lnTo>
                    <a:pt x="58928" y="10744163"/>
                  </a:lnTo>
                  <a:cubicBezTo>
                    <a:pt x="26416" y="10744033"/>
                    <a:pt x="0" y="10714342"/>
                    <a:pt x="0" y="10677623"/>
                  </a:cubicBezTo>
                  <a:close/>
                </a:path>
              </a:pathLst>
            </a:custGeom>
            <a:solidFill>
              <a:srgbClr val="FFFFFF">
                <a:alpha val="0"/>
              </a:srgbClr>
            </a:solidFill>
            <a:ln w="19050" cap="sq">
              <a:solidFill>
                <a:srgbClr val="88E555"/>
              </a:solidFill>
              <a:prstDash val="solid"/>
              <a:miter/>
            </a:ln>
          </p:spPr>
        </p:sp>
      </p:grpSp>
      <p:grpSp>
        <p:nvGrpSpPr>
          <p:cNvPr name="Group 29" id="29"/>
          <p:cNvGrpSpPr/>
          <p:nvPr/>
        </p:nvGrpSpPr>
        <p:grpSpPr>
          <a:xfrm rot="0">
            <a:off x="847725" y="2326843"/>
            <a:ext cx="342443" cy="342443"/>
            <a:chOff x="0" y="0"/>
            <a:chExt cx="456590" cy="45659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456565" cy="456565"/>
            </a:xfrm>
            <a:custGeom>
              <a:avLst/>
              <a:gdLst/>
              <a:ahLst/>
              <a:cxnLst/>
              <a:rect r="r" b="b" t="t" l="l"/>
              <a:pathLst>
                <a:path h="456565" w="456565">
                  <a:moveTo>
                    <a:pt x="0" y="228346"/>
                  </a:moveTo>
                  <a:cubicBezTo>
                    <a:pt x="0" y="102235"/>
                    <a:pt x="102235" y="0"/>
                    <a:pt x="228346" y="0"/>
                  </a:cubicBezTo>
                  <a:cubicBezTo>
                    <a:pt x="354457" y="0"/>
                    <a:pt x="456565" y="102235"/>
                    <a:pt x="456565" y="228346"/>
                  </a:cubicBezTo>
                  <a:cubicBezTo>
                    <a:pt x="456565" y="354457"/>
                    <a:pt x="354330" y="456565"/>
                    <a:pt x="228346" y="456565"/>
                  </a:cubicBezTo>
                  <a:cubicBezTo>
                    <a:pt x="102362" y="456565"/>
                    <a:pt x="0" y="354330"/>
                    <a:pt x="0" y="228346"/>
                  </a:cubicBez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78307" t="0" r="-78313" b="-5"/>
              </a:stretch>
            </a:blipFill>
            <a:ln w="57150" cap="sq">
              <a:solidFill>
                <a:srgbClr val="88E555"/>
              </a:solidFill>
              <a:prstDash val="solid"/>
              <a:miter/>
            </a:ln>
          </p:spPr>
        </p:sp>
      </p:grpSp>
      <p:grpSp>
        <p:nvGrpSpPr>
          <p:cNvPr name="Group 31" id="31"/>
          <p:cNvGrpSpPr/>
          <p:nvPr/>
        </p:nvGrpSpPr>
        <p:grpSpPr>
          <a:xfrm rot="0">
            <a:off x="17116425" y="2364943"/>
            <a:ext cx="342443" cy="342443"/>
            <a:chOff x="0" y="0"/>
            <a:chExt cx="456590" cy="45659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456565" cy="456565"/>
            </a:xfrm>
            <a:custGeom>
              <a:avLst/>
              <a:gdLst/>
              <a:ahLst/>
              <a:cxnLst/>
              <a:rect r="r" b="b" t="t" l="l"/>
              <a:pathLst>
                <a:path h="456565" w="456565">
                  <a:moveTo>
                    <a:pt x="0" y="0"/>
                  </a:moveTo>
                  <a:lnTo>
                    <a:pt x="456565" y="0"/>
                  </a:lnTo>
                  <a:lnTo>
                    <a:pt x="456565" y="456565"/>
                  </a:lnTo>
                  <a:lnTo>
                    <a:pt x="0" y="456565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78307" t="0" r="-78313" b="-5"/>
              </a:stretch>
            </a:blipFill>
            <a:ln w="57150" cap="sq">
              <a:solidFill>
                <a:srgbClr val="88E555"/>
              </a:solidFill>
              <a:prstDash val="solid"/>
              <a:miter/>
            </a:ln>
          </p:spPr>
        </p:sp>
      </p:grpSp>
      <p:grpSp>
        <p:nvGrpSpPr>
          <p:cNvPr name="Group 33" id="33"/>
          <p:cNvGrpSpPr/>
          <p:nvPr/>
        </p:nvGrpSpPr>
        <p:grpSpPr>
          <a:xfrm rot="0">
            <a:off x="857479" y="9806912"/>
            <a:ext cx="342443" cy="342443"/>
            <a:chOff x="0" y="0"/>
            <a:chExt cx="456590" cy="45659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456565" cy="456565"/>
            </a:xfrm>
            <a:custGeom>
              <a:avLst/>
              <a:gdLst/>
              <a:ahLst/>
              <a:cxnLst/>
              <a:rect r="r" b="b" t="t" l="l"/>
              <a:pathLst>
                <a:path h="456565" w="456565">
                  <a:moveTo>
                    <a:pt x="0" y="0"/>
                  </a:moveTo>
                  <a:lnTo>
                    <a:pt x="456565" y="0"/>
                  </a:lnTo>
                  <a:lnTo>
                    <a:pt x="456565" y="456565"/>
                  </a:lnTo>
                  <a:lnTo>
                    <a:pt x="0" y="456565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78307" t="0" r="-78313" b="-5"/>
              </a:stretch>
            </a:blipFill>
            <a:ln w="57150" cap="sq">
              <a:solidFill>
                <a:srgbClr val="88E555"/>
              </a:solidFill>
              <a:prstDash val="solid"/>
              <a:miter/>
            </a:ln>
          </p:spPr>
        </p:sp>
      </p:grpSp>
      <p:grpSp>
        <p:nvGrpSpPr>
          <p:cNvPr name="Group 35" id="35"/>
          <p:cNvGrpSpPr/>
          <p:nvPr/>
        </p:nvGrpSpPr>
        <p:grpSpPr>
          <a:xfrm rot="0">
            <a:off x="17116425" y="9543821"/>
            <a:ext cx="342443" cy="342443"/>
            <a:chOff x="0" y="0"/>
            <a:chExt cx="456590" cy="45659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456565" cy="456565"/>
            </a:xfrm>
            <a:custGeom>
              <a:avLst/>
              <a:gdLst/>
              <a:ahLst/>
              <a:cxnLst/>
              <a:rect r="r" b="b" t="t" l="l"/>
              <a:pathLst>
                <a:path h="456565" w="456565">
                  <a:moveTo>
                    <a:pt x="0" y="0"/>
                  </a:moveTo>
                  <a:lnTo>
                    <a:pt x="456565" y="0"/>
                  </a:lnTo>
                  <a:lnTo>
                    <a:pt x="456565" y="456565"/>
                  </a:lnTo>
                  <a:lnTo>
                    <a:pt x="0" y="456565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78307" t="0" r="-78313" b="-5"/>
              </a:stretch>
            </a:blipFill>
            <a:ln w="57150" cap="sq">
              <a:solidFill>
                <a:srgbClr val="88E555"/>
              </a:solidFill>
              <a:prstDash val="solid"/>
              <a:miter/>
            </a:ln>
          </p:spPr>
        </p:sp>
      </p:grpSp>
      <p:grpSp>
        <p:nvGrpSpPr>
          <p:cNvPr name="Group 37" id="37"/>
          <p:cNvGrpSpPr/>
          <p:nvPr/>
        </p:nvGrpSpPr>
        <p:grpSpPr>
          <a:xfrm rot="0">
            <a:off x="2442820" y="3260293"/>
            <a:ext cx="5715457" cy="560641"/>
            <a:chOff x="0" y="0"/>
            <a:chExt cx="7620610" cy="747522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7620610" cy="747522"/>
            </a:xfrm>
            <a:custGeom>
              <a:avLst/>
              <a:gdLst/>
              <a:ahLst/>
              <a:cxnLst/>
              <a:rect r="r" b="b" t="t" l="l"/>
              <a:pathLst>
                <a:path h="747522" w="7620610">
                  <a:moveTo>
                    <a:pt x="0" y="0"/>
                  </a:moveTo>
                  <a:lnTo>
                    <a:pt x="7620610" y="0"/>
                  </a:lnTo>
                  <a:lnTo>
                    <a:pt x="7620610" y="747522"/>
                  </a:lnTo>
                  <a:lnTo>
                    <a:pt x="0" y="747522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162921" r="0" b="-134358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28575"/>
              <a:ext cx="7620610" cy="7760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2442820" y="3774643"/>
            <a:ext cx="8551926" cy="373761"/>
            <a:chOff x="0" y="0"/>
            <a:chExt cx="11402568" cy="498348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1402568" cy="498349"/>
            </a:xfrm>
            <a:custGeom>
              <a:avLst/>
              <a:gdLst/>
              <a:ahLst/>
              <a:cxnLst/>
              <a:rect r="r" b="b" t="t" l="l"/>
              <a:pathLst>
                <a:path h="498349" w="11402568">
                  <a:moveTo>
                    <a:pt x="0" y="0"/>
                  </a:moveTo>
                  <a:lnTo>
                    <a:pt x="11402568" y="0"/>
                  </a:lnTo>
                  <a:lnTo>
                    <a:pt x="11402568" y="498349"/>
                  </a:lnTo>
                  <a:lnTo>
                    <a:pt x="0" y="498349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407482" r="0" b="-384179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19050"/>
              <a:ext cx="11402568" cy="5173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2685593" y="7848295"/>
            <a:ext cx="13916254" cy="13716"/>
            <a:chOff x="0" y="0"/>
            <a:chExt cx="18555005" cy="18288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8554954" cy="18288"/>
            </a:xfrm>
            <a:custGeom>
              <a:avLst/>
              <a:gdLst/>
              <a:ahLst/>
              <a:cxnLst/>
              <a:rect r="r" b="b" t="t" l="l"/>
              <a:pathLst>
                <a:path h="18288" w="18554954">
                  <a:moveTo>
                    <a:pt x="0" y="0"/>
                  </a:moveTo>
                  <a:lnTo>
                    <a:pt x="18554954" y="0"/>
                  </a:lnTo>
                  <a:lnTo>
                    <a:pt x="18554954" y="18288"/>
                  </a:lnTo>
                  <a:lnTo>
                    <a:pt x="0" y="18288"/>
                  </a:lnTo>
                  <a:close/>
                </a:path>
              </a:pathLst>
            </a:custGeom>
            <a:solidFill>
              <a:srgbClr val="1E40AF">
                <a:alpha val="8627"/>
              </a:srgbClr>
            </a:solid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2685593" y="8491576"/>
            <a:ext cx="13916254" cy="13716"/>
            <a:chOff x="0" y="0"/>
            <a:chExt cx="18555005" cy="18288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8554954" cy="18288"/>
            </a:xfrm>
            <a:custGeom>
              <a:avLst/>
              <a:gdLst/>
              <a:ahLst/>
              <a:cxnLst/>
              <a:rect r="r" b="b" t="t" l="l"/>
              <a:pathLst>
                <a:path h="18288" w="18554954">
                  <a:moveTo>
                    <a:pt x="0" y="0"/>
                  </a:moveTo>
                  <a:lnTo>
                    <a:pt x="18554954" y="0"/>
                  </a:lnTo>
                  <a:lnTo>
                    <a:pt x="18554954" y="18288"/>
                  </a:lnTo>
                  <a:lnTo>
                    <a:pt x="0" y="18288"/>
                  </a:lnTo>
                  <a:close/>
                </a:path>
              </a:pathLst>
            </a:custGeom>
            <a:solidFill>
              <a:srgbClr val="1E40AF">
                <a:alpha val="8627"/>
              </a:srgbClr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7938249" y="341566"/>
            <a:ext cx="2411054" cy="1175385"/>
            <a:chOff x="0" y="0"/>
            <a:chExt cx="3214738" cy="156718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3214751" cy="1567180"/>
            </a:xfrm>
            <a:custGeom>
              <a:avLst/>
              <a:gdLst/>
              <a:ahLst/>
              <a:cxnLst/>
              <a:rect r="r" b="b" t="t" l="l"/>
              <a:pathLst>
                <a:path h="1567180" w="3214751">
                  <a:moveTo>
                    <a:pt x="0" y="0"/>
                  </a:moveTo>
                  <a:lnTo>
                    <a:pt x="3214751" y="0"/>
                  </a:lnTo>
                  <a:lnTo>
                    <a:pt x="3214751" y="1567180"/>
                  </a:lnTo>
                  <a:lnTo>
                    <a:pt x="0" y="15671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49" id="49"/>
          <p:cNvGrpSpPr/>
          <p:nvPr/>
        </p:nvGrpSpPr>
        <p:grpSpPr>
          <a:xfrm rot="0">
            <a:off x="857250" y="64732"/>
            <a:ext cx="16573043" cy="1286561"/>
            <a:chOff x="0" y="0"/>
            <a:chExt cx="22097390" cy="1715414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22097366" cy="1715389"/>
            </a:xfrm>
            <a:custGeom>
              <a:avLst/>
              <a:gdLst/>
              <a:ahLst/>
              <a:cxnLst/>
              <a:rect r="r" b="b" t="t" l="l"/>
              <a:pathLst>
                <a:path h="1715389" w="22097366">
                  <a:moveTo>
                    <a:pt x="0" y="162560"/>
                  </a:moveTo>
                  <a:cubicBezTo>
                    <a:pt x="0" y="72771"/>
                    <a:pt x="72771" y="0"/>
                    <a:pt x="162560" y="0"/>
                  </a:cubicBezTo>
                  <a:lnTo>
                    <a:pt x="21934805" y="0"/>
                  </a:lnTo>
                  <a:cubicBezTo>
                    <a:pt x="22024594" y="0"/>
                    <a:pt x="22097366" y="72771"/>
                    <a:pt x="22097366" y="162560"/>
                  </a:cubicBezTo>
                  <a:lnTo>
                    <a:pt x="22097366" y="1552829"/>
                  </a:lnTo>
                  <a:cubicBezTo>
                    <a:pt x="22097366" y="1642618"/>
                    <a:pt x="22024594" y="1715389"/>
                    <a:pt x="21934805" y="1715389"/>
                  </a:cubicBezTo>
                  <a:lnTo>
                    <a:pt x="162560" y="1715389"/>
                  </a:lnTo>
                  <a:cubicBezTo>
                    <a:pt x="72771" y="1715389"/>
                    <a:pt x="0" y="1642618"/>
                    <a:pt x="0" y="1552829"/>
                  </a:cubicBez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grpSp>
        <p:nvGrpSpPr>
          <p:cNvPr name="Group 51" id="51"/>
          <p:cNvGrpSpPr/>
          <p:nvPr/>
        </p:nvGrpSpPr>
        <p:grpSpPr>
          <a:xfrm rot="0">
            <a:off x="2271151" y="260185"/>
            <a:ext cx="13745232" cy="879653"/>
            <a:chOff x="0" y="0"/>
            <a:chExt cx="18326976" cy="117287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18326988" cy="1172845"/>
            </a:xfrm>
            <a:custGeom>
              <a:avLst/>
              <a:gdLst/>
              <a:ahLst/>
              <a:cxnLst/>
              <a:rect r="r" b="b" t="t" l="l"/>
              <a:pathLst>
                <a:path h="1172845" w="18326988">
                  <a:moveTo>
                    <a:pt x="0" y="0"/>
                  </a:moveTo>
                  <a:lnTo>
                    <a:pt x="18326988" y="0"/>
                  </a:lnTo>
                  <a:lnTo>
                    <a:pt x="18326988" y="1172845"/>
                  </a:lnTo>
                  <a:lnTo>
                    <a:pt x="0" y="11728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-2" r="0" b="-4"/>
              </a:stretch>
            </a:blip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1621905" y="2202084"/>
            <a:ext cx="6215671" cy="3804380"/>
            <a:chOff x="0" y="0"/>
            <a:chExt cx="8287561" cy="5072507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8287528" cy="5072407"/>
            </a:xfrm>
            <a:custGeom>
              <a:avLst/>
              <a:gdLst/>
              <a:ahLst/>
              <a:cxnLst/>
              <a:rect r="r" b="b" t="t" l="l"/>
              <a:pathLst>
                <a:path h="5072407" w="8287528">
                  <a:moveTo>
                    <a:pt x="0" y="216868"/>
                  </a:moveTo>
                  <a:cubicBezTo>
                    <a:pt x="0" y="97191"/>
                    <a:pt x="21594" y="0"/>
                    <a:pt x="48183" y="0"/>
                  </a:cubicBezTo>
                  <a:lnTo>
                    <a:pt x="8239345" y="0"/>
                  </a:lnTo>
                  <a:cubicBezTo>
                    <a:pt x="8265990" y="0"/>
                    <a:pt x="8287528" y="97191"/>
                    <a:pt x="8287528" y="216868"/>
                  </a:cubicBezTo>
                  <a:lnTo>
                    <a:pt x="8287528" y="4855539"/>
                  </a:lnTo>
                  <a:cubicBezTo>
                    <a:pt x="8287528" y="4975466"/>
                    <a:pt x="8265935" y="5072407"/>
                    <a:pt x="8239345" y="5072407"/>
                  </a:cubicBezTo>
                  <a:lnTo>
                    <a:pt x="48183" y="5072407"/>
                  </a:lnTo>
                  <a:cubicBezTo>
                    <a:pt x="21538" y="5072407"/>
                    <a:pt x="0" y="4975216"/>
                    <a:pt x="0" y="4855539"/>
                  </a:cubicBezTo>
                  <a:close/>
                </a:path>
              </a:pathLst>
            </a:custGeom>
            <a:solidFill>
              <a:srgbClr val="1E3A8A">
                <a:alpha val="15686"/>
              </a:srgbClr>
            </a:solidFill>
            <a:ln w="19050" cap="sq">
              <a:solidFill>
                <a:srgbClr val="1D4ED8"/>
              </a:solidFill>
              <a:prstDash val="solid"/>
              <a:miter/>
            </a:ln>
          </p:spPr>
        </p:sp>
      </p:grpSp>
      <p:grpSp>
        <p:nvGrpSpPr>
          <p:cNvPr name="Group 55" id="55"/>
          <p:cNvGrpSpPr/>
          <p:nvPr/>
        </p:nvGrpSpPr>
        <p:grpSpPr>
          <a:xfrm rot="0">
            <a:off x="1932815" y="2202084"/>
            <a:ext cx="5250949" cy="3636455"/>
            <a:chOff x="0" y="0"/>
            <a:chExt cx="7001265" cy="4848607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7001265" cy="4848605"/>
            </a:xfrm>
            <a:custGeom>
              <a:avLst/>
              <a:gdLst/>
              <a:ahLst/>
              <a:cxnLst/>
              <a:rect r="r" b="b" t="t" l="l"/>
              <a:pathLst>
                <a:path h="4848605" w="7001265">
                  <a:moveTo>
                    <a:pt x="0" y="0"/>
                  </a:moveTo>
                  <a:lnTo>
                    <a:pt x="7001265" y="0"/>
                  </a:lnTo>
                  <a:lnTo>
                    <a:pt x="7001265" y="4848605"/>
                  </a:lnTo>
                  <a:lnTo>
                    <a:pt x="0" y="4848605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59889" r="-149925" b="19252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19050"/>
              <a:ext cx="7001265" cy="486765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00"/>
                </a:lnSpc>
              </a:pPr>
              <a:r>
                <a:rPr lang="en-US" b="true" sz="1750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KEY PERFORMANCE HIGHLIGHTS</a:t>
              </a:r>
            </a:p>
            <a:p>
              <a:pPr algn="l">
                <a:lnSpc>
                  <a:spcPts val="2100"/>
                </a:lnSpc>
              </a:pPr>
            </a:p>
            <a:p>
              <a:pPr algn="l">
                <a:lnSpc>
                  <a:spcPts val="2100"/>
                </a:lnSpc>
              </a:pPr>
              <a:r>
                <a:rPr lang="en-US" sz="1750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98.33%</a:t>
              </a:r>
            </a:p>
            <a:p>
              <a:pPr algn="l">
                <a:lnSpc>
                  <a:spcPts val="2100"/>
                </a:lnSpc>
              </a:pPr>
              <a:r>
                <a:rPr lang="en-US" sz="175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Operational Accuracy &lt; 5 px</a:t>
              </a:r>
            </a:p>
            <a:p>
              <a:pPr algn="l">
                <a:lnSpc>
                  <a:spcPts val="2100"/>
                </a:lnSpc>
              </a:pPr>
              <a:r>
                <a:rPr lang="en-US" sz="1750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86.67%</a:t>
              </a:r>
            </a:p>
            <a:p>
              <a:pPr algn="l">
                <a:lnSpc>
                  <a:spcPts val="2100"/>
                </a:lnSpc>
              </a:pPr>
              <a:r>
                <a:rPr lang="en-US" sz="175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High Precision &lt; 1 px</a:t>
              </a:r>
            </a:p>
            <a:p>
              <a:pPr algn="l">
                <a:lnSpc>
                  <a:spcPts val="2100"/>
                </a:lnSpc>
              </a:pPr>
              <a:r>
                <a:rPr lang="en-US" sz="1750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0.7012 px</a:t>
              </a:r>
            </a:p>
            <a:p>
              <a:pPr algn="l">
                <a:lnSpc>
                  <a:spcPts val="2100"/>
                </a:lnSpc>
              </a:pPr>
              <a:r>
                <a:rPr lang="en-US" sz="175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Median Localization Error</a:t>
              </a:r>
            </a:p>
            <a:p>
              <a:pPr algn="l">
                <a:lnSpc>
                  <a:spcPts val="2100"/>
                </a:lnSpc>
              </a:pPr>
              <a:r>
                <a:rPr lang="en-US" sz="1750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672.39 ms</a:t>
              </a:r>
            </a:p>
            <a:p>
              <a:pPr algn="l">
                <a:lnSpc>
                  <a:spcPts val="2100"/>
                </a:lnSpc>
              </a:pPr>
              <a:r>
                <a:rPr lang="en-US" sz="175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Mean Inference Latency</a:t>
              </a:r>
            </a:p>
            <a:p>
              <a:pPr algn="l">
                <a:lnSpc>
                  <a:spcPts val="2100"/>
                </a:lnSpc>
              </a:pPr>
            </a:p>
            <a:p>
              <a:pPr algn="l">
                <a:lnSpc>
                  <a:spcPts val="2100"/>
                </a:lnSpc>
              </a:pPr>
              <a:r>
                <a:rPr lang="en-US" sz="1750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Overall Pass Rate</a:t>
              </a:r>
            </a:p>
            <a:p>
              <a:pPr algn="l">
                <a:lnSpc>
                  <a:spcPts val="2100"/>
                </a:lnSpc>
              </a:pPr>
              <a:r>
                <a:rPr lang="en-US" sz="175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99.17% — 119 / 120 benchmark cases</a:t>
              </a:r>
            </a:p>
          </p:txBody>
        </p:sp>
      </p:grpSp>
      <p:graphicFrame>
        <p:nvGraphicFramePr>
          <p:cNvPr name="Table 58" id="58"/>
          <p:cNvGraphicFramePr>
            <a:graphicFrameLocks noGrp="true"/>
          </p:cNvGraphicFramePr>
          <p:nvPr/>
        </p:nvGraphicFramePr>
        <p:xfrm>
          <a:off x="8786927" y="2237532"/>
          <a:ext cx="7700848" cy="7537865"/>
        </p:xfrm>
        <a:graphic>
          <a:graphicData uri="http://schemas.openxmlformats.org/drawingml/2006/table">
            <a:tbl>
              <a:tblPr/>
              <a:tblGrid>
                <a:gridCol w="3072323"/>
                <a:gridCol w="2514535"/>
                <a:gridCol w="2113990"/>
              </a:tblGrid>
              <a:tr h="107351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METRIC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MEASURED VALUE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INDUSTRIAL STANDARD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896516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Operational Accuracy (&lt;5 px)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98.33% (118/120)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≥ 95.0%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0385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Fine Review Accuracy (&lt;2 px)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98.33% (118/120)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≥ 90.0%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27071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High Precision Accuracy (&lt;1 px)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86.67% (104/120)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≥ 75.0%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29543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Sub-Pixel Accuracy (&lt;0.5 px)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30.83% (37/120)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≥ 25.0%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27071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Median Localization Error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0.7012 px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&lt; 1.0 px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63656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Mean Localization Error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1.5290 px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&lt; 2.0 px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017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P95 Localization Error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1.1829 px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&lt; 3.0 px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06475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Mean Execution Latency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672.39 ms/pair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&lt; 1000 ms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Freeform 59" id="59"/>
          <p:cNvSpPr/>
          <p:nvPr/>
        </p:nvSpPr>
        <p:spPr>
          <a:xfrm flipH="false" flipV="false" rot="0">
            <a:off x="1621905" y="6123110"/>
            <a:ext cx="6215671" cy="3884794"/>
          </a:xfrm>
          <a:custGeom>
            <a:avLst/>
            <a:gdLst/>
            <a:ahLst/>
            <a:cxnLst/>
            <a:rect r="r" b="b" t="t" l="l"/>
            <a:pathLst>
              <a:path h="3884794" w="6215671">
                <a:moveTo>
                  <a:pt x="0" y="0"/>
                </a:moveTo>
                <a:lnTo>
                  <a:pt x="6215670" y="0"/>
                </a:lnTo>
                <a:lnTo>
                  <a:pt x="6215670" y="3884794"/>
                </a:lnTo>
                <a:lnTo>
                  <a:pt x="0" y="388479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7543" cy="10287000"/>
            <a:chOff x="0" y="0"/>
            <a:chExt cx="2438339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336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00036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7543" cy="10287000"/>
            <a:chOff x="0" y="0"/>
            <a:chExt cx="24383390" cy="13716000"/>
          </a:xfrm>
        </p:grpSpPr>
        <p:sp>
          <p:nvSpPr>
            <p:cNvPr name="Freeform 5" id="5" descr="preencoded.png"/>
            <p:cNvSpPr/>
            <p:nvPr/>
          </p:nvSpPr>
          <p:spPr>
            <a:xfrm flipH="false" flipV="false" rot="0">
              <a:off x="0" y="0"/>
              <a:ext cx="2438336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5000"/>
              </a:blip>
              <a:stretch>
                <a:fillRect l="-16360" t="0" r="-16361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857250" y="429311"/>
            <a:ext cx="16573043" cy="999896"/>
            <a:chOff x="0" y="0"/>
            <a:chExt cx="22097390" cy="133319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2097364" cy="1333246"/>
            </a:xfrm>
            <a:custGeom>
              <a:avLst/>
              <a:gdLst/>
              <a:ahLst/>
              <a:cxnLst/>
              <a:rect r="r" b="b" t="t" l="l"/>
              <a:pathLst>
                <a:path h="1333246" w="22097364">
                  <a:moveTo>
                    <a:pt x="0" y="209042"/>
                  </a:moveTo>
                  <a:cubicBezTo>
                    <a:pt x="0" y="93599"/>
                    <a:pt x="93599" y="0"/>
                    <a:pt x="209042" y="0"/>
                  </a:cubicBezTo>
                  <a:lnTo>
                    <a:pt x="21888323" y="0"/>
                  </a:lnTo>
                  <a:cubicBezTo>
                    <a:pt x="22003765" y="0"/>
                    <a:pt x="22097364" y="93599"/>
                    <a:pt x="22097364" y="209042"/>
                  </a:cubicBezTo>
                  <a:lnTo>
                    <a:pt x="22097364" y="1124204"/>
                  </a:lnTo>
                  <a:cubicBezTo>
                    <a:pt x="22097364" y="1239647"/>
                    <a:pt x="22003765" y="1333246"/>
                    <a:pt x="21888323" y="1333246"/>
                  </a:cubicBezTo>
                  <a:lnTo>
                    <a:pt x="209042" y="1333246"/>
                  </a:lnTo>
                  <a:cubicBezTo>
                    <a:pt x="93599" y="1333246"/>
                    <a:pt x="0" y="1239647"/>
                    <a:pt x="0" y="1124204"/>
                  </a:cubicBez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6287750" y="571957"/>
            <a:ext cx="714604" cy="714604"/>
            <a:chOff x="0" y="0"/>
            <a:chExt cx="952805" cy="952805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952754" cy="952754"/>
            </a:xfrm>
            <a:custGeom>
              <a:avLst/>
              <a:gdLst/>
              <a:ahLst/>
              <a:cxnLst/>
              <a:rect r="r" b="b" t="t" l="l"/>
              <a:pathLst>
                <a:path h="952754" w="952754">
                  <a:moveTo>
                    <a:pt x="0" y="0"/>
                  </a:moveTo>
                  <a:lnTo>
                    <a:pt x="952754" y="0"/>
                  </a:lnTo>
                  <a:lnTo>
                    <a:pt x="952754" y="952754"/>
                  </a:lnTo>
                  <a:lnTo>
                    <a:pt x="0" y="9527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5" b="-5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137533" y="571957"/>
            <a:ext cx="8618220" cy="701040"/>
            <a:chOff x="0" y="0"/>
            <a:chExt cx="11490960" cy="93472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1490960" cy="934720"/>
            </a:xfrm>
            <a:custGeom>
              <a:avLst/>
              <a:gdLst/>
              <a:ahLst/>
              <a:cxnLst/>
              <a:rect r="r" b="b" t="t" l="l"/>
              <a:pathLst>
                <a:path h="934720" w="11490960">
                  <a:moveTo>
                    <a:pt x="0" y="0"/>
                  </a:moveTo>
                  <a:lnTo>
                    <a:pt x="11490960" y="0"/>
                  </a:lnTo>
                  <a:lnTo>
                    <a:pt x="11490960" y="934720"/>
                  </a:lnTo>
                  <a:lnTo>
                    <a:pt x="0" y="9347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1" t="0" r="-11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0" y="0"/>
            <a:ext cx="18287543" cy="10287000"/>
            <a:chOff x="0" y="0"/>
            <a:chExt cx="24383390" cy="13716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438336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00036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9050" y="0"/>
            <a:ext cx="18287543" cy="10287000"/>
            <a:chOff x="0" y="0"/>
            <a:chExt cx="24383390" cy="13716000"/>
          </a:xfrm>
        </p:grpSpPr>
        <p:sp>
          <p:nvSpPr>
            <p:cNvPr name="Freeform 15" id="15" descr="preencoded.png"/>
            <p:cNvSpPr/>
            <p:nvPr/>
          </p:nvSpPr>
          <p:spPr>
            <a:xfrm flipH="false" flipV="false" rot="0">
              <a:off x="0" y="0"/>
              <a:ext cx="2438336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</a:blip>
              <a:stretch>
                <a:fillRect l="-16360" t="0" r="-16361" b="0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857250" y="429311"/>
            <a:ext cx="16573043" cy="921982"/>
            <a:chOff x="0" y="0"/>
            <a:chExt cx="22097390" cy="1229309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2097364" cy="1229360"/>
            </a:xfrm>
            <a:custGeom>
              <a:avLst/>
              <a:gdLst/>
              <a:ahLst/>
              <a:cxnLst/>
              <a:rect r="r" b="b" t="t" l="l"/>
              <a:pathLst>
                <a:path h="1229360" w="22097364">
                  <a:moveTo>
                    <a:pt x="0" y="192753"/>
                  </a:moveTo>
                  <a:cubicBezTo>
                    <a:pt x="0" y="86306"/>
                    <a:pt x="93599" y="0"/>
                    <a:pt x="209042" y="0"/>
                  </a:cubicBezTo>
                  <a:lnTo>
                    <a:pt x="21888323" y="0"/>
                  </a:lnTo>
                  <a:cubicBezTo>
                    <a:pt x="22003765" y="0"/>
                    <a:pt x="22097364" y="86306"/>
                    <a:pt x="22097364" y="192753"/>
                  </a:cubicBezTo>
                  <a:lnTo>
                    <a:pt x="22097364" y="1036603"/>
                  </a:lnTo>
                  <a:cubicBezTo>
                    <a:pt x="22097364" y="1143050"/>
                    <a:pt x="22003765" y="1229360"/>
                    <a:pt x="21888323" y="1229360"/>
                  </a:cubicBezTo>
                  <a:lnTo>
                    <a:pt x="209042" y="1229360"/>
                  </a:lnTo>
                  <a:cubicBezTo>
                    <a:pt x="93599" y="1229360"/>
                    <a:pt x="0" y="1143050"/>
                    <a:pt x="0" y="1036603"/>
                  </a:cubicBez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286561" y="571957"/>
            <a:ext cx="1899666" cy="714604"/>
            <a:chOff x="0" y="0"/>
            <a:chExt cx="2532888" cy="952805"/>
          </a:xfrm>
        </p:grpSpPr>
        <p:sp>
          <p:nvSpPr>
            <p:cNvPr name="Freeform 19" id="19" descr="preencoded.png"/>
            <p:cNvSpPr/>
            <p:nvPr/>
          </p:nvSpPr>
          <p:spPr>
            <a:xfrm flipH="false" flipV="false" rot="0">
              <a:off x="0" y="0"/>
              <a:ext cx="2532888" cy="952754"/>
            </a:xfrm>
            <a:custGeom>
              <a:avLst/>
              <a:gdLst/>
              <a:ahLst/>
              <a:cxnLst/>
              <a:rect r="r" b="b" t="t" l="l"/>
              <a:pathLst>
                <a:path h="952754" w="2532888">
                  <a:moveTo>
                    <a:pt x="0" y="0"/>
                  </a:moveTo>
                  <a:lnTo>
                    <a:pt x="2532888" y="0"/>
                  </a:lnTo>
                  <a:lnTo>
                    <a:pt x="2532888" y="952754"/>
                  </a:lnTo>
                  <a:lnTo>
                    <a:pt x="0" y="9527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10" r="0" b="-14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6287750" y="571957"/>
            <a:ext cx="714604" cy="714604"/>
            <a:chOff x="0" y="0"/>
            <a:chExt cx="952805" cy="952805"/>
          </a:xfrm>
        </p:grpSpPr>
        <p:sp>
          <p:nvSpPr>
            <p:cNvPr name="Freeform 21" id="21" descr="preencoded.png"/>
            <p:cNvSpPr/>
            <p:nvPr/>
          </p:nvSpPr>
          <p:spPr>
            <a:xfrm flipH="false" flipV="false" rot="0">
              <a:off x="0" y="0"/>
              <a:ext cx="952754" cy="952754"/>
            </a:xfrm>
            <a:custGeom>
              <a:avLst/>
              <a:gdLst/>
              <a:ahLst/>
              <a:cxnLst/>
              <a:rect r="r" b="b" t="t" l="l"/>
              <a:pathLst>
                <a:path h="952754" w="952754">
                  <a:moveTo>
                    <a:pt x="0" y="0"/>
                  </a:moveTo>
                  <a:lnTo>
                    <a:pt x="952754" y="0"/>
                  </a:lnTo>
                  <a:lnTo>
                    <a:pt x="952754" y="952754"/>
                  </a:lnTo>
                  <a:lnTo>
                    <a:pt x="0" y="9527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5" b="-5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962025" y="1419682"/>
            <a:ext cx="113843" cy="614477"/>
            <a:chOff x="0" y="0"/>
            <a:chExt cx="151790" cy="819302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51765" cy="819277"/>
            </a:xfrm>
            <a:custGeom>
              <a:avLst/>
              <a:gdLst/>
              <a:ahLst/>
              <a:cxnLst/>
              <a:rect r="r" b="b" t="t" l="l"/>
              <a:pathLst>
                <a:path h="819277" w="151765">
                  <a:moveTo>
                    <a:pt x="0" y="0"/>
                  </a:moveTo>
                  <a:lnTo>
                    <a:pt x="151765" y="0"/>
                  </a:lnTo>
                  <a:lnTo>
                    <a:pt x="151765" y="819277"/>
                  </a:lnTo>
                  <a:lnTo>
                    <a:pt x="0" y="819277"/>
                  </a:lnTo>
                  <a:close/>
                </a:path>
              </a:pathLst>
            </a:custGeom>
            <a:solidFill>
              <a:srgbClr val="88E555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137533" y="1225525"/>
            <a:ext cx="15803741" cy="967969"/>
            <a:chOff x="0" y="0"/>
            <a:chExt cx="21071654" cy="1290625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1071655" cy="1290624"/>
            </a:xfrm>
            <a:custGeom>
              <a:avLst/>
              <a:gdLst/>
              <a:ahLst/>
              <a:cxnLst/>
              <a:rect r="r" b="b" t="t" l="l"/>
              <a:pathLst>
                <a:path h="1290624" w="21071655">
                  <a:moveTo>
                    <a:pt x="0" y="0"/>
                  </a:moveTo>
                  <a:lnTo>
                    <a:pt x="21071655" y="0"/>
                  </a:lnTo>
                  <a:lnTo>
                    <a:pt x="21071655" y="1290624"/>
                  </a:lnTo>
                  <a:lnTo>
                    <a:pt x="0" y="1290624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103420" r="56110" b="-75828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21071654" cy="13287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ROBUSTNESS COMPARISON AND BASELINE ABLATION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866775" y="2107997"/>
            <a:ext cx="16592093" cy="8058046"/>
            <a:chOff x="0" y="0"/>
            <a:chExt cx="22122790" cy="10744061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2122892" cy="10744163"/>
            </a:xfrm>
            <a:custGeom>
              <a:avLst/>
              <a:gdLst/>
              <a:ahLst/>
              <a:cxnLst/>
              <a:rect r="r" b="b" t="t" l="l"/>
              <a:pathLst>
                <a:path h="10744163" w="22122892">
                  <a:moveTo>
                    <a:pt x="0" y="66552"/>
                  </a:moveTo>
                  <a:cubicBezTo>
                    <a:pt x="0" y="29834"/>
                    <a:pt x="26416" y="0"/>
                    <a:pt x="58928" y="0"/>
                  </a:cubicBezTo>
                  <a:lnTo>
                    <a:pt x="22063963" y="0"/>
                  </a:lnTo>
                  <a:cubicBezTo>
                    <a:pt x="22096476" y="0"/>
                    <a:pt x="22122892" y="29834"/>
                    <a:pt x="22122892" y="66552"/>
                  </a:cubicBezTo>
                  <a:lnTo>
                    <a:pt x="22122892" y="10677623"/>
                  </a:lnTo>
                  <a:cubicBezTo>
                    <a:pt x="22122892" y="10714342"/>
                    <a:pt x="22096476" y="10744163"/>
                    <a:pt x="22063963" y="10744163"/>
                  </a:cubicBezTo>
                  <a:lnTo>
                    <a:pt x="58928" y="10744163"/>
                  </a:lnTo>
                  <a:cubicBezTo>
                    <a:pt x="26416" y="10744033"/>
                    <a:pt x="0" y="10714342"/>
                    <a:pt x="0" y="10677623"/>
                  </a:cubicBezTo>
                  <a:close/>
                </a:path>
              </a:pathLst>
            </a:custGeom>
            <a:solidFill>
              <a:srgbClr val="FFFFFF">
                <a:alpha val="0"/>
              </a:srgbClr>
            </a:solidFill>
            <a:ln w="19050" cap="sq">
              <a:solidFill>
                <a:srgbClr val="88E555"/>
              </a:solidFill>
              <a:prstDash val="solid"/>
              <a:miter/>
            </a:ln>
          </p:spPr>
        </p:sp>
      </p:grpSp>
      <p:grpSp>
        <p:nvGrpSpPr>
          <p:cNvPr name="Group 29" id="29"/>
          <p:cNvGrpSpPr/>
          <p:nvPr/>
        </p:nvGrpSpPr>
        <p:grpSpPr>
          <a:xfrm rot="0">
            <a:off x="838200" y="2107997"/>
            <a:ext cx="342443" cy="342443"/>
            <a:chOff x="0" y="0"/>
            <a:chExt cx="456590" cy="45659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456565" cy="456565"/>
            </a:xfrm>
            <a:custGeom>
              <a:avLst/>
              <a:gdLst/>
              <a:ahLst/>
              <a:cxnLst/>
              <a:rect r="r" b="b" t="t" l="l"/>
              <a:pathLst>
                <a:path h="456565" w="456565">
                  <a:moveTo>
                    <a:pt x="0" y="228346"/>
                  </a:moveTo>
                  <a:cubicBezTo>
                    <a:pt x="0" y="102235"/>
                    <a:pt x="102235" y="0"/>
                    <a:pt x="228346" y="0"/>
                  </a:cubicBezTo>
                  <a:cubicBezTo>
                    <a:pt x="354457" y="0"/>
                    <a:pt x="456565" y="102235"/>
                    <a:pt x="456565" y="228346"/>
                  </a:cubicBezTo>
                  <a:cubicBezTo>
                    <a:pt x="456565" y="354457"/>
                    <a:pt x="354330" y="456565"/>
                    <a:pt x="228346" y="456565"/>
                  </a:cubicBezTo>
                  <a:cubicBezTo>
                    <a:pt x="102362" y="456565"/>
                    <a:pt x="0" y="354330"/>
                    <a:pt x="0" y="228346"/>
                  </a:cubicBez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78307" t="0" r="-78313" b="-5"/>
              </a:stretch>
            </a:blipFill>
            <a:ln w="57150" cap="sq">
              <a:solidFill>
                <a:srgbClr val="88E555"/>
              </a:solidFill>
              <a:prstDash val="solid"/>
              <a:miter/>
            </a:ln>
          </p:spPr>
        </p:sp>
      </p:grpSp>
      <p:grpSp>
        <p:nvGrpSpPr>
          <p:cNvPr name="Group 31" id="31"/>
          <p:cNvGrpSpPr/>
          <p:nvPr/>
        </p:nvGrpSpPr>
        <p:grpSpPr>
          <a:xfrm rot="0">
            <a:off x="17116425" y="2364943"/>
            <a:ext cx="342443" cy="342443"/>
            <a:chOff x="0" y="0"/>
            <a:chExt cx="456590" cy="45659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456565" cy="456565"/>
            </a:xfrm>
            <a:custGeom>
              <a:avLst/>
              <a:gdLst/>
              <a:ahLst/>
              <a:cxnLst/>
              <a:rect r="r" b="b" t="t" l="l"/>
              <a:pathLst>
                <a:path h="456565" w="456565">
                  <a:moveTo>
                    <a:pt x="0" y="0"/>
                  </a:moveTo>
                  <a:lnTo>
                    <a:pt x="456565" y="0"/>
                  </a:lnTo>
                  <a:lnTo>
                    <a:pt x="456565" y="456565"/>
                  </a:lnTo>
                  <a:lnTo>
                    <a:pt x="0" y="456565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78307" t="0" r="-78313" b="-5"/>
              </a:stretch>
            </a:blipFill>
            <a:ln w="57150" cap="sq">
              <a:solidFill>
                <a:srgbClr val="88E555"/>
              </a:solidFill>
              <a:prstDash val="solid"/>
              <a:miter/>
            </a:ln>
          </p:spPr>
        </p:sp>
      </p:grpSp>
      <p:grpSp>
        <p:nvGrpSpPr>
          <p:cNvPr name="Group 33" id="33"/>
          <p:cNvGrpSpPr/>
          <p:nvPr/>
        </p:nvGrpSpPr>
        <p:grpSpPr>
          <a:xfrm rot="0">
            <a:off x="857479" y="9806912"/>
            <a:ext cx="342443" cy="342443"/>
            <a:chOff x="0" y="0"/>
            <a:chExt cx="456590" cy="45659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456565" cy="456565"/>
            </a:xfrm>
            <a:custGeom>
              <a:avLst/>
              <a:gdLst/>
              <a:ahLst/>
              <a:cxnLst/>
              <a:rect r="r" b="b" t="t" l="l"/>
              <a:pathLst>
                <a:path h="456565" w="456565">
                  <a:moveTo>
                    <a:pt x="0" y="0"/>
                  </a:moveTo>
                  <a:lnTo>
                    <a:pt x="456565" y="0"/>
                  </a:lnTo>
                  <a:lnTo>
                    <a:pt x="456565" y="456565"/>
                  </a:lnTo>
                  <a:lnTo>
                    <a:pt x="0" y="456565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78307" t="0" r="-78313" b="-5"/>
              </a:stretch>
            </a:blipFill>
            <a:ln w="57150" cap="sq">
              <a:solidFill>
                <a:srgbClr val="88E555"/>
              </a:solidFill>
              <a:prstDash val="solid"/>
              <a:miter/>
            </a:ln>
          </p:spPr>
        </p:sp>
      </p:grpSp>
      <p:grpSp>
        <p:nvGrpSpPr>
          <p:cNvPr name="Group 35" id="35"/>
          <p:cNvGrpSpPr/>
          <p:nvPr/>
        </p:nvGrpSpPr>
        <p:grpSpPr>
          <a:xfrm rot="0">
            <a:off x="17087850" y="9816437"/>
            <a:ext cx="342443" cy="342443"/>
            <a:chOff x="0" y="0"/>
            <a:chExt cx="456590" cy="45659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456565" cy="456565"/>
            </a:xfrm>
            <a:custGeom>
              <a:avLst/>
              <a:gdLst/>
              <a:ahLst/>
              <a:cxnLst/>
              <a:rect r="r" b="b" t="t" l="l"/>
              <a:pathLst>
                <a:path h="456565" w="456565">
                  <a:moveTo>
                    <a:pt x="0" y="0"/>
                  </a:moveTo>
                  <a:lnTo>
                    <a:pt x="456565" y="0"/>
                  </a:lnTo>
                  <a:lnTo>
                    <a:pt x="456565" y="456565"/>
                  </a:lnTo>
                  <a:lnTo>
                    <a:pt x="0" y="456565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78307" t="0" r="-78313" b="-5"/>
              </a:stretch>
            </a:blipFill>
            <a:ln w="57150" cap="sq">
              <a:solidFill>
                <a:srgbClr val="88E555"/>
              </a:solidFill>
              <a:prstDash val="solid"/>
              <a:miter/>
            </a:ln>
          </p:spPr>
        </p:sp>
      </p:grpSp>
      <p:grpSp>
        <p:nvGrpSpPr>
          <p:cNvPr name="Group 37" id="37"/>
          <p:cNvGrpSpPr/>
          <p:nvPr/>
        </p:nvGrpSpPr>
        <p:grpSpPr>
          <a:xfrm rot="0">
            <a:off x="2685593" y="7848295"/>
            <a:ext cx="13916254" cy="13716"/>
            <a:chOff x="0" y="0"/>
            <a:chExt cx="18555005" cy="18288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8554954" cy="18288"/>
            </a:xfrm>
            <a:custGeom>
              <a:avLst/>
              <a:gdLst/>
              <a:ahLst/>
              <a:cxnLst/>
              <a:rect r="r" b="b" t="t" l="l"/>
              <a:pathLst>
                <a:path h="18288" w="18554954">
                  <a:moveTo>
                    <a:pt x="0" y="0"/>
                  </a:moveTo>
                  <a:lnTo>
                    <a:pt x="18554954" y="0"/>
                  </a:lnTo>
                  <a:lnTo>
                    <a:pt x="18554954" y="18288"/>
                  </a:lnTo>
                  <a:lnTo>
                    <a:pt x="0" y="18288"/>
                  </a:lnTo>
                  <a:close/>
                </a:path>
              </a:pathLst>
            </a:custGeom>
            <a:solidFill>
              <a:srgbClr val="1E40AF">
                <a:alpha val="8627"/>
              </a:srgbClr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2685593" y="8491576"/>
            <a:ext cx="13916254" cy="13716"/>
            <a:chOff x="0" y="0"/>
            <a:chExt cx="18555005" cy="18288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8554954" cy="18288"/>
            </a:xfrm>
            <a:custGeom>
              <a:avLst/>
              <a:gdLst/>
              <a:ahLst/>
              <a:cxnLst/>
              <a:rect r="r" b="b" t="t" l="l"/>
              <a:pathLst>
                <a:path h="18288" w="18554954">
                  <a:moveTo>
                    <a:pt x="0" y="0"/>
                  </a:moveTo>
                  <a:lnTo>
                    <a:pt x="18554954" y="0"/>
                  </a:lnTo>
                  <a:lnTo>
                    <a:pt x="18554954" y="18288"/>
                  </a:lnTo>
                  <a:lnTo>
                    <a:pt x="0" y="18288"/>
                  </a:lnTo>
                  <a:close/>
                </a:path>
              </a:pathLst>
            </a:custGeom>
            <a:solidFill>
              <a:srgbClr val="1E40AF">
                <a:alpha val="8627"/>
              </a:srgbClr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7938249" y="341566"/>
            <a:ext cx="2411054" cy="1175385"/>
            <a:chOff x="0" y="0"/>
            <a:chExt cx="3214738" cy="156718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3214751" cy="1567180"/>
            </a:xfrm>
            <a:custGeom>
              <a:avLst/>
              <a:gdLst/>
              <a:ahLst/>
              <a:cxnLst/>
              <a:rect r="r" b="b" t="t" l="l"/>
              <a:pathLst>
                <a:path h="1567180" w="3214751">
                  <a:moveTo>
                    <a:pt x="0" y="0"/>
                  </a:moveTo>
                  <a:lnTo>
                    <a:pt x="3214751" y="0"/>
                  </a:lnTo>
                  <a:lnTo>
                    <a:pt x="3214751" y="1567180"/>
                  </a:lnTo>
                  <a:lnTo>
                    <a:pt x="0" y="15671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857250" y="64732"/>
            <a:ext cx="16573043" cy="1286561"/>
            <a:chOff x="0" y="0"/>
            <a:chExt cx="22097390" cy="1715414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22097366" cy="1715389"/>
            </a:xfrm>
            <a:custGeom>
              <a:avLst/>
              <a:gdLst/>
              <a:ahLst/>
              <a:cxnLst/>
              <a:rect r="r" b="b" t="t" l="l"/>
              <a:pathLst>
                <a:path h="1715389" w="22097366">
                  <a:moveTo>
                    <a:pt x="0" y="162560"/>
                  </a:moveTo>
                  <a:cubicBezTo>
                    <a:pt x="0" y="72771"/>
                    <a:pt x="72771" y="0"/>
                    <a:pt x="162560" y="0"/>
                  </a:cubicBezTo>
                  <a:lnTo>
                    <a:pt x="21934805" y="0"/>
                  </a:lnTo>
                  <a:cubicBezTo>
                    <a:pt x="22024594" y="0"/>
                    <a:pt x="22097366" y="72771"/>
                    <a:pt x="22097366" y="162560"/>
                  </a:cubicBezTo>
                  <a:lnTo>
                    <a:pt x="22097366" y="1552829"/>
                  </a:lnTo>
                  <a:cubicBezTo>
                    <a:pt x="22097366" y="1642618"/>
                    <a:pt x="22024594" y="1715389"/>
                    <a:pt x="21934805" y="1715389"/>
                  </a:cubicBezTo>
                  <a:lnTo>
                    <a:pt x="162560" y="1715389"/>
                  </a:lnTo>
                  <a:cubicBezTo>
                    <a:pt x="72771" y="1715389"/>
                    <a:pt x="0" y="1642618"/>
                    <a:pt x="0" y="1552829"/>
                  </a:cubicBez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2271151" y="260185"/>
            <a:ext cx="13745232" cy="879653"/>
            <a:chOff x="0" y="0"/>
            <a:chExt cx="18326976" cy="117287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8326988" cy="1172845"/>
            </a:xfrm>
            <a:custGeom>
              <a:avLst/>
              <a:gdLst/>
              <a:ahLst/>
              <a:cxnLst/>
              <a:rect r="r" b="b" t="t" l="l"/>
              <a:pathLst>
                <a:path h="1172845" w="18326988">
                  <a:moveTo>
                    <a:pt x="0" y="0"/>
                  </a:moveTo>
                  <a:lnTo>
                    <a:pt x="18326988" y="0"/>
                  </a:lnTo>
                  <a:lnTo>
                    <a:pt x="18326988" y="1172845"/>
                  </a:lnTo>
                  <a:lnTo>
                    <a:pt x="0" y="11728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-2" r="0" b="-4"/>
              </a:stretch>
            </a:blipFill>
          </p:spPr>
        </p:sp>
      </p:grpSp>
      <p:graphicFrame>
        <p:nvGraphicFramePr>
          <p:cNvPr name="Table 47" id="47"/>
          <p:cNvGraphicFramePr>
            <a:graphicFrameLocks noGrp="true"/>
          </p:cNvGraphicFramePr>
          <p:nvPr/>
        </p:nvGraphicFramePr>
        <p:xfrm>
          <a:off x="1180643" y="3375774"/>
          <a:ext cx="5862711" cy="6068840"/>
        </p:xfrm>
        <a:graphic>
          <a:graphicData uri="http://schemas.openxmlformats.org/drawingml/2006/table">
            <a:tbl>
              <a:tblPr/>
              <a:tblGrid>
                <a:gridCol w="1885839"/>
                <a:gridCol w="1885839"/>
                <a:gridCol w="2091033"/>
              </a:tblGrid>
              <a:tr h="46745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APPROACH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STRENGTH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LIMITATION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1169571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Global Multi-Scale NCC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Fast candidate generation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Can produce multiple peaks in periodic layouts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01697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Geometry-Based Disambiguation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Uses structural consistency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Activated only for ambiguous candidates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68816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Siamese Metric Re-Ranking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Distinguishes visually similar candidates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More computationally expensive; used selectively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01697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Fine Local Search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Improves local coordinate accuracy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Applied after candidate selection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596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Fourier Refinement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Provides sub-pixel peak refinement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Final localization refinement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name="Table 48" id="48"/>
          <p:cNvGraphicFramePr>
            <a:graphicFrameLocks noGrp="true"/>
          </p:cNvGraphicFramePr>
          <p:nvPr/>
        </p:nvGraphicFramePr>
        <p:xfrm>
          <a:off x="7388682" y="3412935"/>
          <a:ext cx="5921243" cy="2355056"/>
        </p:xfrm>
        <a:graphic>
          <a:graphicData uri="http://schemas.openxmlformats.org/drawingml/2006/table">
            <a:tbl>
              <a:tblPr/>
              <a:tblGrid>
                <a:gridCol w="2633291"/>
                <a:gridCol w="1724587"/>
                <a:gridCol w="1563365"/>
              </a:tblGrid>
              <a:tr h="46862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INFERENCE PATH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SAMPLES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PERCENTAGE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62881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NCC Direct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114 / 120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95.00%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881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Geometry Verified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1 / 120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0.80%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881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Siamese ML Re-ranked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5 / 120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4.20%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name="Table 49" id="49"/>
          <p:cNvGraphicFramePr>
            <a:graphicFrameLocks noGrp="true"/>
          </p:cNvGraphicFramePr>
          <p:nvPr/>
        </p:nvGraphicFramePr>
        <p:xfrm>
          <a:off x="7404378" y="6552665"/>
          <a:ext cx="5921243" cy="3249930"/>
        </p:xfrm>
        <a:graphic>
          <a:graphicData uri="http://schemas.openxmlformats.org/drawingml/2006/table">
            <a:tbl>
              <a:tblPr/>
              <a:tblGrid>
                <a:gridCol w="1390093"/>
                <a:gridCol w="1599841"/>
                <a:gridCol w="1643920"/>
                <a:gridCol w="1287388"/>
              </a:tblGrid>
              <a:tr h="73558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NOISE TIER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DOSE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DETECTOR Σ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ACCURACY&lt;1.0 PX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628587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LOW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3500 e⁻/px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0.8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87.5%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8587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MEDIUM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2000 e⁻/px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1.6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83.3%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8587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HIGH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1000 e⁻/px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2.4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78.1</a:t>
                      </a:r>
                      <a:r>
                        <a:rPr lang="en-US" sz="15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%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8587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SEVERE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500 e⁻/px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3.2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75.0</a:t>
                      </a:r>
                      <a:r>
                        <a:rPr lang="en-US" sz="15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%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50" id="50"/>
          <p:cNvSpPr txBox="true"/>
          <p:nvPr/>
        </p:nvSpPr>
        <p:spPr>
          <a:xfrm rot="0">
            <a:off x="1511943" y="2585199"/>
            <a:ext cx="5411946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0"/>
              </a:lnSpc>
              <a:spcBef>
                <a:spcPct val="0"/>
              </a:spcBef>
            </a:pPr>
            <a:r>
              <a:rPr lang="en-US" b="true" sz="225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LOCALIZATION METHOD COMPARISON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8306386" y="2672431"/>
            <a:ext cx="4175760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0"/>
              </a:lnSpc>
              <a:spcBef>
                <a:spcPct val="0"/>
              </a:spcBef>
            </a:pPr>
            <a:r>
              <a:rPr lang="en-US" b="true" sz="225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INFERENCE PATH UTILIZATION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7494879" y="5962115"/>
            <a:ext cx="5740241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0"/>
              </a:lnSpc>
              <a:spcBef>
                <a:spcPct val="0"/>
              </a:spcBef>
            </a:pPr>
            <a:r>
              <a:rPr lang="en-US" b="true" sz="225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ROBUSTNESS UNDER CONTROLLED NOISE</a:t>
            </a:r>
          </a:p>
        </p:txBody>
      </p:sp>
      <p:grpSp>
        <p:nvGrpSpPr>
          <p:cNvPr name="Group 53" id="53"/>
          <p:cNvGrpSpPr/>
          <p:nvPr/>
        </p:nvGrpSpPr>
        <p:grpSpPr>
          <a:xfrm rot="0">
            <a:off x="13563194" y="3412935"/>
            <a:ext cx="3724452" cy="6389661"/>
            <a:chOff x="0" y="0"/>
            <a:chExt cx="4965936" cy="8519548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4965917" cy="8519380"/>
            </a:xfrm>
            <a:custGeom>
              <a:avLst/>
              <a:gdLst/>
              <a:ahLst/>
              <a:cxnLst/>
              <a:rect r="r" b="b" t="t" l="l"/>
              <a:pathLst>
                <a:path h="8519380" w="4965917">
                  <a:moveTo>
                    <a:pt x="0" y="364241"/>
                  </a:moveTo>
                  <a:cubicBezTo>
                    <a:pt x="0" y="163237"/>
                    <a:pt x="12939" y="0"/>
                    <a:pt x="28871" y="0"/>
                  </a:cubicBezTo>
                  <a:lnTo>
                    <a:pt x="4937045" y="0"/>
                  </a:lnTo>
                  <a:cubicBezTo>
                    <a:pt x="4953011" y="0"/>
                    <a:pt x="4965917" y="163237"/>
                    <a:pt x="4965917" y="364241"/>
                  </a:cubicBezTo>
                  <a:lnTo>
                    <a:pt x="4965917" y="8155139"/>
                  </a:lnTo>
                  <a:cubicBezTo>
                    <a:pt x="4965917" y="8356562"/>
                    <a:pt x="4952978" y="8519380"/>
                    <a:pt x="4937045" y="8519380"/>
                  </a:cubicBezTo>
                  <a:lnTo>
                    <a:pt x="28871" y="8519380"/>
                  </a:lnTo>
                  <a:cubicBezTo>
                    <a:pt x="12906" y="8519380"/>
                    <a:pt x="0" y="8356143"/>
                    <a:pt x="0" y="8155139"/>
                  </a:cubicBezTo>
                  <a:close/>
                </a:path>
              </a:pathLst>
            </a:custGeom>
            <a:solidFill>
              <a:srgbClr val="1E3A8A">
                <a:alpha val="15686"/>
              </a:srgbClr>
            </a:solidFill>
            <a:ln w="19050" cap="sq">
              <a:solidFill>
                <a:srgbClr val="1D4ED8"/>
              </a:solidFill>
              <a:prstDash val="solid"/>
              <a:miter/>
            </a:ln>
          </p:spPr>
        </p:sp>
      </p:grpSp>
      <p:grpSp>
        <p:nvGrpSpPr>
          <p:cNvPr name="Group 55" id="55"/>
          <p:cNvGrpSpPr/>
          <p:nvPr/>
        </p:nvGrpSpPr>
        <p:grpSpPr>
          <a:xfrm rot="0">
            <a:off x="13810892" y="3789002"/>
            <a:ext cx="3229057" cy="5637525"/>
            <a:chOff x="0" y="0"/>
            <a:chExt cx="4305410" cy="7516701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4305410" cy="7516698"/>
            </a:xfrm>
            <a:custGeom>
              <a:avLst/>
              <a:gdLst/>
              <a:ahLst/>
              <a:cxnLst/>
              <a:rect r="r" b="b" t="t" l="l"/>
              <a:pathLst>
                <a:path h="7516698" w="4305410">
                  <a:moveTo>
                    <a:pt x="0" y="0"/>
                  </a:moveTo>
                  <a:lnTo>
                    <a:pt x="4305410" y="0"/>
                  </a:lnTo>
                  <a:lnTo>
                    <a:pt x="4305410" y="7516698"/>
                  </a:lnTo>
                  <a:lnTo>
                    <a:pt x="0" y="7516698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38631" r="-306417" b="47914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9525"/>
              <a:ext cx="4305410" cy="752622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b="true" sz="1650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ROBUSTNESS COMPARISON &amp; CASCADE PERFORMANCE</a:t>
              </a:r>
            </a:p>
            <a:p>
              <a:pPr algn="l">
                <a:lnSpc>
                  <a:spcPts val="1980"/>
                </a:lnSpc>
              </a:pPr>
            </a:p>
            <a:p>
              <a:pPr algn="l">
                <a:lnSpc>
                  <a:spcPts val="1980"/>
                </a:lnSpc>
              </a:pPr>
              <a:r>
                <a:rPr lang="en-US" sz="1650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1. Localization Method Comparison</a:t>
              </a:r>
            </a:p>
            <a:p>
              <a:pPr algn="l">
                <a:lnSpc>
                  <a:spcPts val="1980"/>
                </a:lnSpc>
              </a:pPr>
            </a:p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Classical NCC → Geometry → Siamese ML → Fine Search → Fourier Refinement</a:t>
              </a:r>
            </a:p>
            <a:p>
              <a:pPr algn="l">
                <a:lnSpc>
                  <a:spcPts val="1980"/>
                </a:lnSpc>
              </a:pPr>
            </a:p>
            <a:p>
              <a:pPr algn="l">
                <a:lnSpc>
                  <a:spcPts val="1980"/>
                </a:lnSpc>
              </a:pPr>
              <a:r>
                <a:rPr lang="en-US" sz="1650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2. Inference Path Utilization</a:t>
              </a:r>
            </a:p>
            <a:p>
              <a:pPr algn="l">
                <a:lnSpc>
                  <a:spcPts val="1980"/>
                </a:lnSpc>
              </a:pPr>
            </a:p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95.0% NCC Direct | 0.8% Geometry Verified | 4.2% Siamese ML</a:t>
              </a:r>
            </a:p>
            <a:p>
              <a:pPr algn="l">
                <a:lnSpc>
                  <a:spcPts val="1980"/>
                </a:lnSpc>
              </a:pPr>
            </a:p>
            <a:p>
              <a:pPr algn="l">
                <a:lnSpc>
                  <a:spcPts val="1980"/>
                </a:lnSpc>
              </a:pPr>
              <a:r>
                <a:rPr lang="en-US" sz="1650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3. Robustness Under Controlled Noise</a:t>
              </a:r>
            </a:p>
            <a:p>
              <a:pPr algn="l">
                <a:lnSpc>
                  <a:spcPts val="1980"/>
                </a:lnSpc>
              </a:pPr>
            </a:p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100% &lt;5 px pass rate across all four noise tiers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7543" cy="10287000"/>
            <a:chOff x="0" y="0"/>
            <a:chExt cx="2438339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336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00036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7543" cy="10287000"/>
            <a:chOff x="0" y="0"/>
            <a:chExt cx="24383390" cy="13716000"/>
          </a:xfrm>
        </p:grpSpPr>
        <p:sp>
          <p:nvSpPr>
            <p:cNvPr name="Freeform 5" id="5" descr="preencoded.png"/>
            <p:cNvSpPr/>
            <p:nvPr/>
          </p:nvSpPr>
          <p:spPr>
            <a:xfrm flipH="false" flipV="false" rot="0">
              <a:off x="0" y="0"/>
              <a:ext cx="2438336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5000"/>
              </a:blip>
              <a:stretch>
                <a:fillRect l="-16360" t="0" r="-16361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857250" y="429311"/>
            <a:ext cx="16573043" cy="999896"/>
            <a:chOff x="0" y="0"/>
            <a:chExt cx="22097390" cy="133319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2097364" cy="1333246"/>
            </a:xfrm>
            <a:custGeom>
              <a:avLst/>
              <a:gdLst/>
              <a:ahLst/>
              <a:cxnLst/>
              <a:rect r="r" b="b" t="t" l="l"/>
              <a:pathLst>
                <a:path h="1333246" w="22097364">
                  <a:moveTo>
                    <a:pt x="0" y="209042"/>
                  </a:moveTo>
                  <a:cubicBezTo>
                    <a:pt x="0" y="93599"/>
                    <a:pt x="93599" y="0"/>
                    <a:pt x="209042" y="0"/>
                  </a:cubicBezTo>
                  <a:lnTo>
                    <a:pt x="21888323" y="0"/>
                  </a:lnTo>
                  <a:cubicBezTo>
                    <a:pt x="22003765" y="0"/>
                    <a:pt x="22097364" y="93599"/>
                    <a:pt x="22097364" y="209042"/>
                  </a:cubicBezTo>
                  <a:lnTo>
                    <a:pt x="22097364" y="1124204"/>
                  </a:lnTo>
                  <a:cubicBezTo>
                    <a:pt x="22097364" y="1239647"/>
                    <a:pt x="22003765" y="1333246"/>
                    <a:pt x="21888323" y="1333246"/>
                  </a:cubicBezTo>
                  <a:lnTo>
                    <a:pt x="209042" y="1333246"/>
                  </a:lnTo>
                  <a:cubicBezTo>
                    <a:pt x="93599" y="1333246"/>
                    <a:pt x="0" y="1239647"/>
                    <a:pt x="0" y="1124204"/>
                  </a:cubicBez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6287750" y="571957"/>
            <a:ext cx="714604" cy="714604"/>
            <a:chOff x="0" y="0"/>
            <a:chExt cx="952805" cy="952805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952754" cy="952754"/>
            </a:xfrm>
            <a:custGeom>
              <a:avLst/>
              <a:gdLst/>
              <a:ahLst/>
              <a:cxnLst/>
              <a:rect r="r" b="b" t="t" l="l"/>
              <a:pathLst>
                <a:path h="952754" w="952754">
                  <a:moveTo>
                    <a:pt x="0" y="0"/>
                  </a:moveTo>
                  <a:lnTo>
                    <a:pt x="952754" y="0"/>
                  </a:lnTo>
                  <a:lnTo>
                    <a:pt x="952754" y="952754"/>
                  </a:lnTo>
                  <a:lnTo>
                    <a:pt x="0" y="9527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5" b="-5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137533" y="571957"/>
            <a:ext cx="8618220" cy="701040"/>
            <a:chOff x="0" y="0"/>
            <a:chExt cx="11490960" cy="93472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1490960" cy="934720"/>
            </a:xfrm>
            <a:custGeom>
              <a:avLst/>
              <a:gdLst/>
              <a:ahLst/>
              <a:cxnLst/>
              <a:rect r="r" b="b" t="t" l="l"/>
              <a:pathLst>
                <a:path h="934720" w="11490960">
                  <a:moveTo>
                    <a:pt x="0" y="0"/>
                  </a:moveTo>
                  <a:lnTo>
                    <a:pt x="11490960" y="0"/>
                  </a:lnTo>
                  <a:lnTo>
                    <a:pt x="11490960" y="934720"/>
                  </a:lnTo>
                  <a:lnTo>
                    <a:pt x="0" y="9347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1" t="0" r="-11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0" y="0"/>
            <a:ext cx="18287543" cy="10287000"/>
            <a:chOff x="0" y="0"/>
            <a:chExt cx="24383390" cy="13716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438336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00036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9050" y="0"/>
            <a:ext cx="18287543" cy="10287000"/>
            <a:chOff x="0" y="0"/>
            <a:chExt cx="24383390" cy="13716000"/>
          </a:xfrm>
        </p:grpSpPr>
        <p:sp>
          <p:nvSpPr>
            <p:cNvPr name="Freeform 15" id="15" descr="preencoded.png"/>
            <p:cNvSpPr/>
            <p:nvPr/>
          </p:nvSpPr>
          <p:spPr>
            <a:xfrm flipH="false" flipV="false" rot="0">
              <a:off x="0" y="0"/>
              <a:ext cx="2438336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</a:blip>
              <a:stretch>
                <a:fillRect l="-16360" t="0" r="-16361" b="0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857250" y="429311"/>
            <a:ext cx="16573043" cy="921982"/>
            <a:chOff x="0" y="0"/>
            <a:chExt cx="22097390" cy="1229309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2097364" cy="1229360"/>
            </a:xfrm>
            <a:custGeom>
              <a:avLst/>
              <a:gdLst/>
              <a:ahLst/>
              <a:cxnLst/>
              <a:rect r="r" b="b" t="t" l="l"/>
              <a:pathLst>
                <a:path h="1229360" w="22097364">
                  <a:moveTo>
                    <a:pt x="0" y="192753"/>
                  </a:moveTo>
                  <a:cubicBezTo>
                    <a:pt x="0" y="86306"/>
                    <a:pt x="93599" y="0"/>
                    <a:pt x="209042" y="0"/>
                  </a:cubicBezTo>
                  <a:lnTo>
                    <a:pt x="21888323" y="0"/>
                  </a:lnTo>
                  <a:cubicBezTo>
                    <a:pt x="22003765" y="0"/>
                    <a:pt x="22097364" y="86306"/>
                    <a:pt x="22097364" y="192753"/>
                  </a:cubicBezTo>
                  <a:lnTo>
                    <a:pt x="22097364" y="1036603"/>
                  </a:lnTo>
                  <a:cubicBezTo>
                    <a:pt x="22097364" y="1143050"/>
                    <a:pt x="22003765" y="1229360"/>
                    <a:pt x="21888323" y="1229360"/>
                  </a:cubicBezTo>
                  <a:lnTo>
                    <a:pt x="209042" y="1229360"/>
                  </a:lnTo>
                  <a:cubicBezTo>
                    <a:pt x="93599" y="1229360"/>
                    <a:pt x="0" y="1143050"/>
                    <a:pt x="0" y="1036603"/>
                  </a:cubicBez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286561" y="571957"/>
            <a:ext cx="1899666" cy="714604"/>
            <a:chOff x="0" y="0"/>
            <a:chExt cx="2532888" cy="952805"/>
          </a:xfrm>
        </p:grpSpPr>
        <p:sp>
          <p:nvSpPr>
            <p:cNvPr name="Freeform 19" id="19" descr="preencoded.png"/>
            <p:cNvSpPr/>
            <p:nvPr/>
          </p:nvSpPr>
          <p:spPr>
            <a:xfrm flipH="false" flipV="false" rot="0">
              <a:off x="0" y="0"/>
              <a:ext cx="2532888" cy="952754"/>
            </a:xfrm>
            <a:custGeom>
              <a:avLst/>
              <a:gdLst/>
              <a:ahLst/>
              <a:cxnLst/>
              <a:rect r="r" b="b" t="t" l="l"/>
              <a:pathLst>
                <a:path h="952754" w="2532888">
                  <a:moveTo>
                    <a:pt x="0" y="0"/>
                  </a:moveTo>
                  <a:lnTo>
                    <a:pt x="2532888" y="0"/>
                  </a:lnTo>
                  <a:lnTo>
                    <a:pt x="2532888" y="952754"/>
                  </a:lnTo>
                  <a:lnTo>
                    <a:pt x="0" y="9527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10" r="0" b="-14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6287750" y="571957"/>
            <a:ext cx="714604" cy="714604"/>
            <a:chOff x="0" y="0"/>
            <a:chExt cx="952805" cy="952805"/>
          </a:xfrm>
        </p:grpSpPr>
        <p:sp>
          <p:nvSpPr>
            <p:cNvPr name="Freeform 21" id="21" descr="preencoded.png"/>
            <p:cNvSpPr/>
            <p:nvPr/>
          </p:nvSpPr>
          <p:spPr>
            <a:xfrm flipH="false" flipV="false" rot="0">
              <a:off x="0" y="0"/>
              <a:ext cx="952754" cy="952754"/>
            </a:xfrm>
            <a:custGeom>
              <a:avLst/>
              <a:gdLst/>
              <a:ahLst/>
              <a:cxnLst/>
              <a:rect r="r" b="b" t="t" l="l"/>
              <a:pathLst>
                <a:path h="952754" w="952754">
                  <a:moveTo>
                    <a:pt x="0" y="0"/>
                  </a:moveTo>
                  <a:lnTo>
                    <a:pt x="952754" y="0"/>
                  </a:lnTo>
                  <a:lnTo>
                    <a:pt x="952754" y="952754"/>
                  </a:lnTo>
                  <a:lnTo>
                    <a:pt x="0" y="9527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5" b="-5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962025" y="1684972"/>
            <a:ext cx="113843" cy="614477"/>
            <a:chOff x="0" y="0"/>
            <a:chExt cx="151790" cy="819302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51765" cy="819277"/>
            </a:xfrm>
            <a:custGeom>
              <a:avLst/>
              <a:gdLst/>
              <a:ahLst/>
              <a:cxnLst/>
              <a:rect r="r" b="b" t="t" l="l"/>
              <a:pathLst>
                <a:path h="819277" w="151765">
                  <a:moveTo>
                    <a:pt x="0" y="0"/>
                  </a:moveTo>
                  <a:lnTo>
                    <a:pt x="151765" y="0"/>
                  </a:lnTo>
                  <a:lnTo>
                    <a:pt x="151765" y="819277"/>
                  </a:lnTo>
                  <a:lnTo>
                    <a:pt x="0" y="819277"/>
                  </a:lnTo>
                  <a:close/>
                </a:path>
              </a:pathLst>
            </a:custGeom>
            <a:solidFill>
              <a:srgbClr val="88E555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137533" y="1453896"/>
            <a:ext cx="15803741" cy="967969"/>
            <a:chOff x="0" y="0"/>
            <a:chExt cx="21071654" cy="1290625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1071655" cy="1290624"/>
            </a:xfrm>
            <a:custGeom>
              <a:avLst/>
              <a:gdLst/>
              <a:ahLst/>
              <a:cxnLst/>
              <a:rect r="r" b="b" t="t" l="l"/>
              <a:pathLst>
                <a:path h="1290624" w="21071655">
                  <a:moveTo>
                    <a:pt x="0" y="0"/>
                  </a:moveTo>
                  <a:lnTo>
                    <a:pt x="21071655" y="0"/>
                  </a:lnTo>
                  <a:lnTo>
                    <a:pt x="21071655" y="1290624"/>
                  </a:lnTo>
                  <a:lnTo>
                    <a:pt x="0" y="1290624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103420" r="56110" b="-75828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21071654" cy="13287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FAILURE CASE, LIMITATION &amp; LEARNING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816709" y="2688868"/>
            <a:ext cx="16884752" cy="7403540"/>
            <a:chOff x="0" y="0"/>
            <a:chExt cx="22513002" cy="9871387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2513103" cy="9871489"/>
            </a:xfrm>
            <a:custGeom>
              <a:avLst/>
              <a:gdLst/>
              <a:ahLst/>
              <a:cxnLst/>
              <a:rect r="r" b="b" t="t" l="l"/>
              <a:pathLst>
                <a:path h="9871489" w="22513103">
                  <a:moveTo>
                    <a:pt x="0" y="61147"/>
                  </a:moveTo>
                  <a:cubicBezTo>
                    <a:pt x="0" y="27411"/>
                    <a:pt x="26882" y="0"/>
                    <a:pt x="59967" y="0"/>
                  </a:cubicBezTo>
                  <a:lnTo>
                    <a:pt x="22453138" y="0"/>
                  </a:lnTo>
                  <a:cubicBezTo>
                    <a:pt x="22486224" y="0"/>
                    <a:pt x="22513103" y="27411"/>
                    <a:pt x="22513103" y="61147"/>
                  </a:cubicBezTo>
                  <a:lnTo>
                    <a:pt x="22513103" y="9810346"/>
                  </a:lnTo>
                  <a:cubicBezTo>
                    <a:pt x="22513103" y="9844082"/>
                    <a:pt x="22486224" y="9871489"/>
                    <a:pt x="22453138" y="9871489"/>
                  </a:cubicBezTo>
                  <a:lnTo>
                    <a:pt x="59967" y="9871489"/>
                  </a:lnTo>
                  <a:cubicBezTo>
                    <a:pt x="26882" y="9871361"/>
                    <a:pt x="0" y="9844082"/>
                    <a:pt x="0" y="9810346"/>
                  </a:cubicBezTo>
                  <a:close/>
                </a:path>
              </a:pathLst>
            </a:custGeom>
            <a:solidFill>
              <a:srgbClr val="FFFFFF">
                <a:alpha val="0"/>
              </a:srgbClr>
            </a:solidFill>
            <a:ln w="19050" cap="sq">
              <a:solidFill>
                <a:srgbClr val="88E555"/>
              </a:solidFill>
              <a:prstDash val="solid"/>
              <a:miter/>
            </a:ln>
          </p:spPr>
        </p:sp>
      </p:grpSp>
      <p:grpSp>
        <p:nvGrpSpPr>
          <p:cNvPr name="Group 29" id="29"/>
          <p:cNvGrpSpPr/>
          <p:nvPr/>
        </p:nvGrpSpPr>
        <p:grpSpPr>
          <a:xfrm rot="0">
            <a:off x="733425" y="2745814"/>
            <a:ext cx="342443" cy="342443"/>
            <a:chOff x="0" y="0"/>
            <a:chExt cx="456590" cy="45659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456565" cy="456565"/>
            </a:xfrm>
            <a:custGeom>
              <a:avLst/>
              <a:gdLst/>
              <a:ahLst/>
              <a:cxnLst/>
              <a:rect r="r" b="b" t="t" l="l"/>
              <a:pathLst>
                <a:path h="456565" w="456565">
                  <a:moveTo>
                    <a:pt x="0" y="228346"/>
                  </a:moveTo>
                  <a:cubicBezTo>
                    <a:pt x="0" y="102235"/>
                    <a:pt x="102235" y="0"/>
                    <a:pt x="228346" y="0"/>
                  </a:cubicBezTo>
                  <a:cubicBezTo>
                    <a:pt x="354457" y="0"/>
                    <a:pt x="456565" y="102235"/>
                    <a:pt x="456565" y="228346"/>
                  </a:cubicBezTo>
                  <a:cubicBezTo>
                    <a:pt x="456565" y="354457"/>
                    <a:pt x="354330" y="456565"/>
                    <a:pt x="228346" y="456565"/>
                  </a:cubicBezTo>
                  <a:cubicBezTo>
                    <a:pt x="102362" y="456565"/>
                    <a:pt x="0" y="354330"/>
                    <a:pt x="0" y="228346"/>
                  </a:cubicBez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78307" t="0" r="-78313" b="-5"/>
              </a:stretch>
            </a:blipFill>
            <a:ln w="57150" cap="sq">
              <a:solidFill>
                <a:srgbClr val="88E555"/>
              </a:solidFill>
              <a:prstDash val="solid"/>
              <a:miter/>
            </a:ln>
          </p:spPr>
        </p:sp>
      </p:grpSp>
      <p:grpSp>
        <p:nvGrpSpPr>
          <p:cNvPr name="Group 31" id="31"/>
          <p:cNvGrpSpPr/>
          <p:nvPr/>
        </p:nvGrpSpPr>
        <p:grpSpPr>
          <a:xfrm rot="0">
            <a:off x="17087850" y="2364943"/>
            <a:ext cx="371018" cy="342443"/>
            <a:chOff x="0" y="0"/>
            <a:chExt cx="494690" cy="45659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494663" cy="456565"/>
            </a:xfrm>
            <a:custGeom>
              <a:avLst/>
              <a:gdLst/>
              <a:ahLst/>
              <a:cxnLst/>
              <a:rect r="r" b="b" t="t" l="l"/>
              <a:pathLst>
                <a:path h="456565" w="494663">
                  <a:moveTo>
                    <a:pt x="0" y="0"/>
                  </a:moveTo>
                  <a:lnTo>
                    <a:pt x="494663" y="0"/>
                  </a:lnTo>
                  <a:lnTo>
                    <a:pt x="494663" y="456565"/>
                  </a:lnTo>
                  <a:lnTo>
                    <a:pt x="0" y="456565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72276" t="0" r="-64580" b="-5"/>
              </a:stretch>
            </a:blipFill>
            <a:ln w="57150" cap="sq">
              <a:solidFill>
                <a:srgbClr val="88E555"/>
              </a:solidFill>
              <a:prstDash val="solid"/>
              <a:miter/>
            </a:ln>
          </p:spPr>
        </p:sp>
      </p:grpSp>
      <p:grpSp>
        <p:nvGrpSpPr>
          <p:cNvPr name="Group 33" id="33"/>
          <p:cNvGrpSpPr/>
          <p:nvPr/>
        </p:nvGrpSpPr>
        <p:grpSpPr>
          <a:xfrm rot="0">
            <a:off x="857479" y="9806912"/>
            <a:ext cx="342443" cy="342443"/>
            <a:chOff x="0" y="0"/>
            <a:chExt cx="456590" cy="45659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456565" cy="456565"/>
            </a:xfrm>
            <a:custGeom>
              <a:avLst/>
              <a:gdLst/>
              <a:ahLst/>
              <a:cxnLst/>
              <a:rect r="r" b="b" t="t" l="l"/>
              <a:pathLst>
                <a:path h="456565" w="456565">
                  <a:moveTo>
                    <a:pt x="0" y="0"/>
                  </a:moveTo>
                  <a:lnTo>
                    <a:pt x="456565" y="0"/>
                  </a:lnTo>
                  <a:lnTo>
                    <a:pt x="456565" y="456565"/>
                  </a:lnTo>
                  <a:lnTo>
                    <a:pt x="0" y="456565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78307" t="0" r="-78313" b="-5"/>
              </a:stretch>
            </a:blipFill>
            <a:ln w="57150" cap="sq">
              <a:solidFill>
                <a:srgbClr val="88E555"/>
              </a:solidFill>
              <a:prstDash val="solid"/>
              <a:miter/>
            </a:ln>
          </p:spPr>
        </p:sp>
      </p:grpSp>
      <p:grpSp>
        <p:nvGrpSpPr>
          <p:cNvPr name="Group 35" id="35"/>
          <p:cNvGrpSpPr/>
          <p:nvPr/>
        </p:nvGrpSpPr>
        <p:grpSpPr>
          <a:xfrm rot="0">
            <a:off x="17087850" y="9816437"/>
            <a:ext cx="342443" cy="342443"/>
            <a:chOff x="0" y="0"/>
            <a:chExt cx="456590" cy="45659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456565" cy="456565"/>
            </a:xfrm>
            <a:custGeom>
              <a:avLst/>
              <a:gdLst/>
              <a:ahLst/>
              <a:cxnLst/>
              <a:rect r="r" b="b" t="t" l="l"/>
              <a:pathLst>
                <a:path h="456565" w="456565">
                  <a:moveTo>
                    <a:pt x="0" y="0"/>
                  </a:moveTo>
                  <a:lnTo>
                    <a:pt x="456565" y="0"/>
                  </a:lnTo>
                  <a:lnTo>
                    <a:pt x="456565" y="456565"/>
                  </a:lnTo>
                  <a:lnTo>
                    <a:pt x="0" y="456565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78307" t="0" r="-78313" b="-5"/>
              </a:stretch>
            </a:blipFill>
            <a:ln w="57150" cap="sq">
              <a:solidFill>
                <a:srgbClr val="88E555"/>
              </a:solidFill>
              <a:prstDash val="solid"/>
              <a:miter/>
            </a:ln>
          </p:spPr>
        </p:sp>
      </p:grpSp>
      <p:grpSp>
        <p:nvGrpSpPr>
          <p:cNvPr name="Group 37" id="37"/>
          <p:cNvGrpSpPr/>
          <p:nvPr/>
        </p:nvGrpSpPr>
        <p:grpSpPr>
          <a:xfrm rot="0">
            <a:off x="2685593" y="7848295"/>
            <a:ext cx="13916254" cy="13716"/>
            <a:chOff x="0" y="0"/>
            <a:chExt cx="18555005" cy="18288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8554954" cy="18288"/>
            </a:xfrm>
            <a:custGeom>
              <a:avLst/>
              <a:gdLst/>
              <a:ahLst/>
              <a:cxnLst/>
              <a:rect r="r" b="b" t="t" l="l"/>
              <a:pathLst>
                <a:path h="18288" w="18554954">
                  <a:moveTo>
                    <a:pt x="0" y="0"/>
                  </a:moveTo>
                  <a:lnTo>
                    <a:pt x="18554954" y="0"/>
                  </a:lnTo>
                  <a:lnTo>
                    <a:pt x="18554954" y="18288"/>
                  </a:lnTo>
                  <a:lnTo>
                    <a:pt x="0" y="18288"/>
                  </a:lnTo>
                  <a:close/>
                </a:path>
              </a:pathLst>
            </a:custGeom>
            <a:solidFill>
              <a:srgbClr val="1E40AF">
                <a:alpha val="8627"/>
              </a:srgbClr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2685593" y="8491576"/>
            <a:ext cx="13916254" cy="13716"/>
            <a:chOff x="0" y="0"/>
            <a:chExt cx="18555005" cy="18288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8554954" cy="18288"/>
            </a:xfrm>
            <a:custGeom>
              <a:avLst/>
              <a:gdLst/>
              <a:ahLst/>
              <a:cxnLst/>
              <a:rect r="r" b="b" t="t" l="l"/>
              <a:pathLst>
                <a:path h="18288" w="18554954">
                  <a:moveTo>
                    <a:pt x="0" y="0"/>
                  </a:moveTo>
                  <a:lnTo>
                    <a:pt x="18554954" y="0"/>
                  </a:lnTo>
                  <a:lnTo>
                    <a:pt x="18554954" y="18288"/>
                  </a:lnTo>
                  <a:lnTo>
                    <a:pt x="0" y="18288"/>
                  </a:lnTo>
                  <a:close/>
                </a:path>
              </a:pathLst>
            </a:custGeom>
            <a:solidFill>
              <a:srgbClr val="1E40AF">
                <a:alpha val="8627"/>
              </a:srgbClr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7938249" y="341566"/>
            <a:ext cx="2411054" cy="1175385"/>
            <a:chOff x="0" y="0"/>
            <a:chExt cx="3214738" cy="156718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3214751" cy="1567180"/>
            </a:xfrm>
            <a:custGeom>
              <a:avLst/>
              <a:gdLst/>
              <a:ahLst/>
              <a:cxnLst/>
              <a:rect r="r" b="b" t="t" l="l"/>
              <a:pathLst>
                <a:path h="1567180" w="3214751">
                  <a:moveTo>
                    <a:pt x="0" y="0"/>
                  </a:moveTo>
                  <a:lnTo>
                    <a:pt x="3214751" y="0"/>
                  </a:lnTo>
                  <a:lnTo>
                    <a:pt x="3214751" y="1567180"/>
                  </a:lnTo>
                  <a:lnTo>
                    <a:pt x="0" y="15671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857250" y="64732"/>
            <a:ext cx="16573043" cy="1286561"/>
            <a:chOff x="0" y="0"/>
            <a:chExt cx="22097390" cy="1715414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22097366" cy="1715389"/>
            </a:xfrm>
            <a:custGeom>
              <a:avLst/>
              <a:gdLst/>
              <a:ahLst/>
              <a:cxnLst/>
              <a:rect r="r" b="b" t="t" l="l"/>
              <a:pathLst>
                <a:path h="1715389" w="22097366">
                  <a:moveTo>
                    <a:pt x="0" y="162560"/>
                  </a:moveTo>
                  <a:cubicBezTo>
                    <a:pt x="0" y="72771"/>
                    <a:pt x="72771" y="0"/>
                    <a:pt x="162560" y="0"/>
                  </a:cubicBezTo>
                  <a:lnTo>
                    <a:pt x="21934805" y="0"/>
                  </a:lnTo>
                  <a:cubicBezTo>
                    <a:pt x="22024594" y="0"/>
                    <a:pt x="22097366" y="72771"/>
                    <a:pt x="22097366" y="162560"/>
                  </a:cubicBezTo>
                  <a:lnTo>
                    <a:pt x="22097366" y="1552829"/>
                  </a:lnTo>
                  <a:cubicBezTo>
                    <a:pt x="22097366" y="1642618"/>
                    <a:pt x="22024594" y="1715389"/>
                    <a:pt x="21934805" y="1715389"/>
                  </a:cubicBezTo>
                  <a:lnTo>
                    <a:pt x="162560" y="1715389"/>
                  </a:lnTo>
                  <a:cubicBezTo>
                    <a:pt x="72771" y="1715389"/>
                    <a:pt x="0" y="1642618"/>
                    <a:pt x="0" y="1552829"/>
                  </a:cubicBez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2271151" y="260185"/>
            <a:ext cx="13745232" cy="879653"/>
            <a:chOff x="0" y="0"/>
            <a:chExt cx="18326976" cy="117287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8326988" cy="1172845"/>
            </a:xfrm>
            <a:custGeom>
              <a:avLst/>
              <a:gdLst/>
              <a:ahLst/>
              <a:cxnLst/>
              <a:rect r="r" b="b" t="t" l="l"/>
              <a:pathLst>
                <a:path h="1172845" w="18326988">
                  <a:moveTo>
                    <a:pt x="0" y="0"/>
                  </a:moveTo>
                  <a:lnTo>
                    <a:pt x="18326988" y="0"/>
                  </a:lnTo>
                  <a:lnTo>
                    <a:pt x="18326988" y="1172845"/>
                  </a:lnTo>
                  <a:lnTo>
                    <a:pt x="0" y="11728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-2" r="0" b="-4"/>
              </a:stretch>
            </a:blip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12341000" y="3671961"/>
            <a:ext cx="4997518" cy="6015430"/>
            <a:chOff x="0" y="0"/>
            <a:chExt cx="6663357" cy="8020573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6663330" cy="8020415"/>
            </a:xfrm>
            <a:custGeom>
              <a:avLst/>
              <a:gdLst/>
              <a:ahLst/>
              <a:cxnLst/>
              <a:rect r="r" b="b" t="t" l="l"/>
              <a:pathLst>
                <a:path h="8020415" w="6663330">
                  <a:moveTo>
                    <a:pt x="0" y="342908"/>
                  </a:moveTo>
                  <a:cubicBezTo>
                    <a:pt x="0" y="153677"/>
                    <a:pt x="17362" y="0"/>
                    <a:pt x="38740" y="0"/>
                  </a:cubicBezTo>
                  <a:lnTo>
                    <a:pt x="6624590" y="0"/>
                  </a:lnTo>
                  <a:cubicBezTo>
                    <a:pt x="6646014" y="0"/>
                    <a:pt x="6663330" y="153677"/>
                    <a:pt x="6663330" y="342908"/>
                  </a:cubicBezTo>
                  <a:lnTo>
                    <a:pt x="6663330" y="7677507"/>
                  </a:lnTo>
                  <a:cubicBezTo>
                    <a:pt x="6663330" y="7867134"/>
                    <a:pt x="6645969" y="8020415"/>
                    <a:pt x="6624590" y="8020415"/>
                  </a:cubicBezTo>
                  <a:lnTo>
                    <a:pt x="38740" y="8020415"/>
                  </a:lnTo>
                  <a:cubicBezTo>
                    <a:pt x="17317" y="8020415"/>
                    <a:pt x="0" y="7866738"/>
                    <a:pt x="0" y="7677507"/>
                  </a:cubicBezTo>
                  <a:close/>
                </a:path>
              </a:pathLst>
            </a:custGeom>
            <a:solidFill>
              <a:srgbClr val="1E3A8A">
                <a:alpha val="15686"/>
              </a:srgbClr>
            </a:solidFill>
            <a:ln w="19050" cap="sq">
              <a:solidFill>
                <a:srgbClr val="1D4ED8"/>
              </a:solidFill>
              <a:prstDash val="solid"/>
              <a:miter/>
            </a:ln>
          </p:spPr>
        </p:sp>
      </p:grpSp>
      <p:grpSp>
        <p:nvGrpSpPr>
          <p:cNvPr name="Group 49" id="49"/>
          <p:cNvGrpSpPr/>
          <p:nvPr/>
        </p:nvGrpSpPr>
        <p:grpSpPr>
          <a:xfrm rot="0">
            <a:off x="12608483" y="3571875"/>
            <a:ext cx="4332790" cy="5637525"/>
            <a:chOff x="0" y="0"/>
            <a:chExt cx="5777054" cy="7516701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5777054" cy="7516698"/>
            </a:xfrm>
            <a:custGeom>
              <a:avLst/>
              <a:gdLst/>
              <a:ahLst/>
              <a:cxnLst/>
              <a:rect r="r" b="b" t="t" l="l"/>
              <a:pathLst>
                <a:path h="7516698" w="5777054">
                  <a:moveTo>
                    <a:pt x="0" y="0"/>
                  </a:moveTo>
                  <a:lnTo>
                    <a:pt x="5777054" y="0"/>
                  </a:lnTo>
                  <a:lnTo>
                    <a:pt x="5777054" y="7516698"/>
                  </a:lnTo>
                  <a:lnTo>
                    <a:pt x="0" y="7516698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38631" r="-202887" b="47914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9525"/>
              <a:ext cx="5777054" cy="752622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</a:p>
            <a:p>
              <a:pPr algn="ctr">
                <a:lnSpc>
                  <a:spcPts val="1980"/>
                </a:lnSpc>
              </a:pPr>
              <a:r>
                <a:rPr lang="en-US" sz="165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Periodic FinFET structure</a:t>
              </a:r>
            </a:p>
            <a:p>
              <a:pPr algn="ctr">
                <a:lnSpc>
                  <a:spcPts val="1980"/>
                </a:lnSpc>
              </a:pPr>
              <a:r>
                <a:rPr lang="en-US" sz="165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↓</a:t>
              </a:r>
            </a:p>
            <a:p>
              <a:pPr algn="ctr">
                <a:lnSpc>
                  <a:spcPts val="1980"/>
                </a:lnSpc>
              </a:pPr>
              <a:r>
                <a:rPr lang="en-US" sz="165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Target located near boundary</a:t>
              </a:r>
            </a:p>
            <a:p>
              <a:pPr algn="ctr">
                <a:lnSpc>
                  <a:spcPts val="1980"/>
                </a:lnSpc>
              </a:pPr>
              <a:r>
                <a:rPr lang="en-US" sz="165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↓</a:t>
              </a:r>
            </a:p>
            <a:p>
              <a:pPr algn="ctr">
                <a:lnSpc>
                  <a:spcPts val="1980"/>
                </a:lnSpc>
              </a:pPr>
              <a:r>
                <a:rPr lang="en-US" sz="165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Reduced / truncated contextual information</a:t>
              </a:r>
            </a:p>
            <a:p>
              <a:pPr algn="ctr">
                <a:lnSpc>
                  <a:spcPts val="1980"/>
                </a:lnSpc>
              </a:pPr>
              <a:r>
                <a:rPr lang="en-US" sz="165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↓</a:t>
              </a:r>
            </a:p>
            <a:p>
              <a:pPr algn="ctr">
                <a:lnSpc>
                  <a:spcPts val="1980"/>
                </a:lnSpc>
              </a:pPr>
              <a:r>
                <a:rPr lang="en-US" sz="165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Neighbouring periodic cell produces a stronger match</a:t>
              </a:r>
            </a:p>
            <a:p>
              <a:pPr algn="ctr">
                <a:lnSpc>
                  <a:spcPts val="1980"/>
                </a:lnSpc>
              </a:pPr>
              <a:r>
                <a:rPr lang="en-US" sz="165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↓</a:t>
              </a:r>
            </a:p>
            <a:p>
              <a:pPr algn="ctr">
                <a:lnSpc>
                  <a:spcPts val="1980"/>
                </a:lnSpc>
              </a:pPr>
              <a:r>
                <a:rPr lang="en-US" sz="165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Periodic ghost candidate selected</a:t>
              </a:r>
            </a:p>
            <a:p>
              <a:pPr algn="ctr">
                <a:lnSpc>
                  <a:spcPts val="1980"/>
                </a:lnSpc>
              </a:pPr>
              <a:r>
                <a:rPr lang="en-US" sz="165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↓</a:t>
              </a:r>
            </a:p>
            <a:p>
              <a:pPr algn="ctr">
                <a:lnSpc>
                  <a:spcPts val="1980"/>
                </a:lnSpc>
              </a:pPr>
            </a:p>
            <a:p>
              <a:pPr algn="ctr">
                <a:lnSpc>
                  <a:spcPts val="1980"/>
                </a:lnSpc>
              </a:pPr>
              <a:r>
                <a:rPr lang="en-US" sz="165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66.03 px pitch jump</a:t>
              </a:r>
            </a:p>
            <a:p>
              <a:pPr algn="l">
                <a:lnSpc>
                  <a:spcPts val="1980"/>
                </a:lnSpc>
              </a:pPr>
            </a:p>
            <a:p>
              <a:pPr algn="l">
                <a:lnSpc>
                  <a:spcPts val="1980"/>
                </a:lnSpc>
              </a:pPr>
            </a:p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The failure corresponds approximately to one vertical periodic cell pitch, making this a structured ambiguity rather than random localization error</a:t>
              </a:r>
            </a:p>
          </p:txBody>
        </p:sp>
      </p:grpSp>
      <p:sp>
        <p:nvSpPr>
          <p:cNvPr name="TextBox 52" id="52"/>
          <p:cNvSpPr txBox="true"/>
          <p:nvPr/>
        </p:nvSpPr>
        <p:spPr>
          <a:xfrm rot="0">
            <a:off x="13219843" y="2965089"/>
            <a:ext cx="2982278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0"/>
              </a:lnSpc>
              <a:spcBef>
                <a:spcPct val="0"/>
              </a:spcBef>
            </a:pPr>
            <a:r>
              <a:rPr lang="en-US" b="true" sz="225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FAILURE MECHANISM</a:t>
            </a:r>
          </a:p>
        </p:txBody>
      </p:sp>
      <p:graphicFrame>
        <p:nvGraphicFramePr>
          <p:cNvPr name="Table 53" id="53"/>
          <p:cNvGraphicFramePr>
            <a:graphicFrameLocks noGrp="true"/>
          </p:cNvGraphicFramePr>
          <p:nvPr/>
        </p:nvGraphicFramePr>
        <p:xfrm>
          <a:off x="1306845" y="3551168"/>
          <a:ext cx="4928932" cy="3399282"/>
        </p:xfrm>
        <a:graphic>
          <a:graphicData uri="http://schemas.openxmlformats.org/drawingml/2006/table">
            <a:tbl>
              <a:tblPr/>
              <a:tblGrid>
                <a:gridCol w="2280684"/>
                <a:gridCol w="2648247"/>
              </a:tblGrid>
              <a:tr h="62850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ATTRIBUTE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VALUE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796269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Case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PAIR_110 — P8: FINFET_FULL_CELL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9911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Ground Truth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(269.29, 305.97)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68047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Prediction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(270.00, 372.00)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65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Localization Error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66.03 px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54" id="54"/>
          <p:cNvSpPr txBox="true"/>
          <p:nvPr/>
        </p:nvSpPr>
        <p:spPr>
          <a:xfrm rot="0">
            <a:off x="1286561" y="3012714"/>
            <a:ext cx="5149850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  <a:spcBef>
                <a:spcPct val="0"/>
              </a:spcBef>
            </a:pPr>
            <a:r>
              <a:rPr lang="en-US" b="true" sz="18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WORST-CASE FAILURE: PERIODIC PITCH JUMP</a:t>
            </a:r>
          </a:p>
        </p:txBody>
      </p:sp>
      <p:grpSp>
        <p:nvGrpSpPr>
          <p:cNvPr name="Group 55" id="55"/>
          <p:cNvGrpSpPr/>
          <p:nvPr/>
        </p:nvGrpSpPr>
        <p:grpSpPr>
          <a:xfrm rot="0">
            <a:off x="1286561" y="7848295"/>
            <a:ext cx="4997518" cy="1632376"/>
            <a:chOff x="0" y="0"/>
            <a:chExt cx="6663357" cy="2176501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6663330" cy="2176458"/>
            </a:xfrm>
            <a:custGeom>
              <a:avLst/>
              <a:gdLst/>
              <a:ahLst/>
              <a:cxnLst/>
              <a:rect r="r" b="b" t="t" l="l"/>
              <a:pathLst>
                <a:path h="2176458" w="6663330">
                  <a:moveTo>
                    <a:pt x="0" y="93053"/>
                  </a:moveTo>
                  <a:cubicBezTo>
                    <a:pt x="0" y="41702"/>
                    <a:pt x="17362" y="0"/>
                    <a:pt x="38740" y="0"/>
                  </a:cubicBezTo>
                  <a:lnTo>
                    <a:pt x="6624590" y="0"/>
                  </a:lnTo>
                  <a:cubicBezTo>
                    <a:pt x="6646014" y="0"/>
                    <a:pt x="6663330" y="41702"/>
                    <a:pt x="6663330" y="93053"/>
                  </a:cubicBezTo>
                  <a:lnTo>
                    <a:pt x="6663330" y="2083405"/>
                  </a:lnTo>
                  <a:cubicBezTo>
                    <a:pt x="6663330" y="2134863"/>
                    <a:pt x="6645969" y="2176458"/>
                    <a:pt x="6624590" y="2176458"/>
                  </a:cubicBezTo>
                  <a:lnTo>
                    <a:pt x="38740" y="2176458"/>
                  </a:lnTo>
                  <a:cubicBezTo>
                    <a:pt x="17317" y="2176458"/>
                    <a:pt x="0" y="2134755"/>
                    <a:pt x="0" y="2083405"/>
                  </a:cubicBezTo>
                  <a:close/>
                </a:path>
              </a:pathLst>
            </a:custGeom>
            <a:solidFill>
              <a:srgbClr val="1E3A8A">
                <a:alpha val="15686"/>
              </a:srgbClr>
            </a:solidFill>
            <a:ln w="19050" cap="sq">
              <a:solidFill>
                <a:srgbClr val="1D4ED8"/>
              </a:solidFill>
              <a:prstDash val="solid"/>
              <a:miter/>
            </a:ln>
          </p:spPr>
        </p:sp>
      </p:grpSp>
      <p:grpSp>
        <p:nvGrpSpPr>
          <p:cNvPr name="Group 57" id="57"/>
          <p:cNvGrpSpPr/>
          <p:nvPr/>
        </p:nvGrpSpPr>
        <p:grpSpPr>
          <a:xfrm rot="0">
            <a:off x="1604915" y="7638122"/>
            <a:ext cx="4332790" cy="1686633"/>
            <a:chOff x="0" y="0"/>
            <a:chExt cx="5777054" cy="2248843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5777054" cy="2248843"/>
            </a:xfrm>
            <a:custGeom>
              <a:avLst/>
              <a:gdLst/>
              <a:ahLst/>
              <a:cxnLst/>
              <a:rect r="r" b="b" t="t" l="l"/>
              <a:pathLst>
                <a:path h="2248843" w="5777054">
                  <a:moveTo>
                    <a:pt x="0" y="0"/>
                  </a:moveTo>
                  <a:lnTo>
                    <a:pt x="5777054" y="0"/>
                  </a:lnTo>
                  <a:lnTo>
                    <a:pt x="5777054" y="2248843"/>
                  </a:lnTo>
                  <a:lnTo>
                    <a:pt x="0" y="2248843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129125" r="-202887" b="-74096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9525"/>
              <a:ext cx="5777054" cy="22583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</a:p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Highly periodic layouts combined with insufficient boundary context can make an incorrect neighbouring cell appear more similar than the true target.</a:t>
              </a:r>
            </a:p>
          </p:txBody>
        </p:sp>
      </p:grpSp>
      <p:sp>
        <p:nvSpPr>
          <p:cNvPr name="TextBox 60" id="60"/>
          <p:cNvSpPr txBox="true"/>
          <p:nvPr/>
        </p:nvSpPr>
        <p:spPr>
          <a:xfrm rot="0">
            <a:off x="2398126" y="7292240"/>
            <a:ext cx="2399982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  <a:spcBef>
                <a:spcPct val="0"/>
              </a:spcBef>
            </a:pPr>
            <a:r>
              <a:rPr lang="en-US" b="true" sz="18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PRIMARY LIMITATION</a:t>
            </a:r>
          </a:p>
        </p:txBody>
      </p:sp>
      <p:grpSp>
        <p:nvGrpSpPr>
          <p:cNvPr name="Group 61" id="61"/>
          <p:cNvGrpSpPr/>
          <p:nvPr/>
        </p:nvGrpSpPr>
        <p:grpSpPr>
          <a:xfrm rot="0">
            <a:off x="6933512" y="3640836"/>
            <a:ext cx="4651145" cy="1476460"/>
            <a:chOff x="0" y="0"/>
            <a:chExt cx="6201526" cy="1968613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6201502" cy="1968574"/>
            </a:xfrm>
            <a:custGeom>
              <a:avLst/>
              <a:gdLst/>
              <a:ahLst/>
              <a:cxnLst/>
              <a:rect r="r" b="b" t="t" l="l"/>
              <a:pathLst>
                <a:path h="1968574" w="6201502">
                  <a:moveTo>
                    <a:pt x="0" y="84165"/>
                  </a:moveTo>
                  <a:cubicBezTo>
                    <a:pt x="0" y="37719"/>
                    <a:pt x="16158" y="0"/>
                    <a:pt x="36055" y="0"/>
                  </a:cubicBezTo>
                  <a:lnTo>
                    <a:pt x="6165447" y="0"/>
                  </a:lnTo>
                  <a:cubicBezTo>
                    <a:pt x="6185385" y="0"/>
                    <a:pt x="6201502" y="37719"/>
                    <a:pt x="6201502" y="84165"/>
                  </a:cubicBezTo>
                  <a:lnTo>
                    <a:pt x="6201502" y="1884409"/>
                  </a:lnTo>
                  <a:cubicBezTo>
                    <a:pt x="6201502" y="1930952"/>
                    <a:pt x="6185343" y="1968574"/>
                    <a:pt x="6165447" y="1968574"/>
                  </a:cubicBezTo>
                  <a:lnTo>
                    <a:pt x="36055" y="1968574"/>
                  </a:lnTo>
                  <a:cubicBezTo>
                    <a:pt x="16117" y="1968574"/>
                    <a:pt x="0" y="1930855"/>
                    <a:pt x="0" y="1884409"/>
                  </a:cubicBezTo>
                  <a:close/>
                </a:path>
              </a:pathLst>
            </a:custGeom>
            <a:solidFill>
              <a:srgbClr val="1E3A8A">
                <a:alpha val="15686"/>
              </a:srgbClr>
            </a:solidFill>
            <a:ln w="19050" cap="sq">
              <a:solidFill>
                <a:srgbClr val="1D4ED8"/>
              </a:solidFill>
              <a:prstDash val="solid"/>
              <a:miter/>
            </a:ln>
          </p:spPr>
        </p:sp>
      </p:grpSp>
      <p:grpSp>
        <p:nvGrpSpPr>
          <p:cNvPr name="Group 63" id="63"/>
          <p:cNvGrpSpPr/>
          <p:nvPr/>
        </p:nvGrpSpPr>
        <p:grpSpPr>
          <a:xfrm rot="0">
            <a:off x="7251867" y="3884284"/>
            <a:ext cx="4332790" cy="1233012"/>
            <a:chOff x="0" y="0"/>
            <a:chExt cx="5777054" cy="1644015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5777054" cy="1644015"/>
            </a:xfrm>
            <a:custGeom>
              <a:avLst/>
              <a:gdLst/>
              <a:ahLst/>
              <a:cxnLst/>
              <a:rect r="r" b="b" t="t" l="l"/>
              <a:pathLst>
                <a:path h="1644015" w="5777054">
                  <a:moveTo>
                    <a:pt x="0" y="0"/>
                  </a:moveTo>
                  <a:lnTo>
                    <a:pt x="5777054" y="0"/>
                  </a:lnTo>
                  <a:lnTo>
                    <a:pt x="5777054" y="1644015"/>
                  </a:lnTo>
                  <a:lnTo>
                    <a:pt x="0" y="1644015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176629" r="-202887" b="-138145"/>
              </a:stretch>
            </a:blipFill>
          </p:spPr>
        </p:sp>
        <p:sp>
          <p:nvSpPr>
            <p:cNvPr name="TextBox 65" id="65"/>
            <p:cNvSpPr txBox="true"/>
            <p:nvPr/>
          </p:nvSpPr>
          <p:spPr>
            <a:xfrm>
              <a:off x="0" y="-9525"/>
              <a:ext cx="5777054" cy="1653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High NCC confidence alone is not sufficient when multiple periodic candidates are structurally similar.</a:t>
              </a:r>
            </a:p>
            <a:p>
              <a:pPr algn="l">
                <a:lnSpc>
                  <a:spcPts val="1980"/>
                </a:lnSpc>
              </a:pPr>
            </a:p>
          </p:txBody>
        </p:sp>
      </p:grpSp>
      <p:sp>
        <p:nvSpPr>
          <p:cNvPr name="TextBox 66" id="66"/>
          <p:cNvSpPr txBox="true"/>
          <p:nvPr/>
        </p:nvSpPr>
        <p:spPr>
          <a:xfrm rot="0">
            <a:off x="8229143" y="2897986"/>
            <a:ext cx="1620520" cy="552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  <a:spcBef>
                <a:spcPct val="0"/>
              </a:spcBef>
            </a:pPr>
          </a:p>
          <a:p>
            <a:pPr algn="ctr">
              <a:lnSpc>
                <a:spcPts val="2160"/>
              </a:lnSpc>
              <a:spcBef>
                <a:spcPct val="0"/>
              </a:spcBef>
            </a:pPr>
            <a:r>
              <a:rPr lang="en-US" b="true" sz="18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KEY LEARNING</a:t>
            </a:r>
          </a:p>
        </p:txBody>
      </p:sp>
      <p:grpSp>
        <p:nvGrpSpPr>
          <p:cNvPr name="Group 67" id="67"/>
          <p:cNvGrpSpPr/>
          <p:nvPr/>
        </p:nvGrpSpPr>
        <p:grpSpPr>
          <a:xfrm rot="0">
            <a:off x="6937380" y="5684488"/>
            <a:ext cx="4651145" cy="1972662"/>
            <a:chOff x="0" y="0"/>
            <a:chExt cx="6201526" cy="2630216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6201502" cy="2630165"/>
            </a:xfrm>
            <a:custGeom>
              <a:avLst/>
              <a:gdLst/>
              <a:ahLst/>
              <a:cxnLst/>
              <a:rect r="r" b="b" t="t" l="l"/>
              <a:pathLst>
                <a:path h="2630165" w="6201502">
                  <a:moveTo>
                    <a:pt x="0" y="112451"/>
                  </a:moveTo>
                  <a:cubicBezTo>
                    <a:pt x="0" y="50396"/>
                    <a:pt x="16158" y="0"/>
                    <a:pt x="36055" y="0"/>
                  </a:cubicBezTo>
                  <a:lnTo>
                    <a:pt x="6165447" y="0"/>
                  </a:lnTo>
                  <a:cubicBezTo>
                    <a:pt x="6185385" y="0"/>
                    <a:pt x="6201502" y="50396"/>
                    <a:pt x="6201502" y="112451"/>
                  </a:cubicBezTo>
                  <a:lnTo>
                    <a:pt x="6201502" y="2517713"/>
                  </a:lnTo>
                  <a:cubicBezTo>
                    <a:pt x="6201502" y="2579898"/>
                    <a:pt x="6185343" y="2630165"/>
                    <a:pt x="6165447" y="2630165"/>
                  </a:cubicBezTo>
                  <a:lnTo>
                    <a:pt x="36055" y="2630165"/>
                  </a:lnTo>
                  <a:cubicBezTo>
                    <a:pt x="16117" y="2630165"/>
                    <a:pt x="0" y="2579769"/>
                    <a:pt x="0" y="2517713"/>
                  </a:cubicBezTo>
                  <a:close/>
                </a:path>
              </a:pathLst>
            </a:custGeom>
            <a:solidFill>
              <a:srgbClr val="1E3A8A">
                <a:alpha val="15686"/>
              </a:srgbClr>
            </a:solidFill>
            <a:ln w="19050" cap="sq">
              <a:solidFill>
                <a:srgbClr val="1D4ED8"/>
              </a:solidFill>
              <a:prstDash val="solid"/>
              <a:miter/>
            </a:ln>
          </p:spPr>
        </p:sp>
      </p:grpSp>
      <p:grpSp>
        <p:nvGrpSpPr>
          <p:cNvPr name="Group 69" id="69"/>
          <p:cNvGrpSpPr/>
          <p:nvPr/>
        </p:nvGrpSpPr>
        <p:grpSpPr>
          <a:xfrm rot="0">
            <a:off x="6992559" y="5836359"/>
            <a:ext cx="4332790" cy="1686633"/>
            <a:chOff x="0" y="0"/>
            <a:chExt cx="5777054" cy="2248843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5777054" cy="2248843"/>
            </a:xfrm>
            <a:custGeom>
              <a:avLst/>
              <a:gdLst/>
              <a:ahLst/>
              <a:cxnLst/>
              <a:rect r="r" b="b" t="t" l="l"/>
              <a:pathLst>
                <a:path h="2248843" w="5777054">
                  <a:moveTo>
                    <a:pt x="0" y="0"/>
                  </a:moveTo>
                  <a:lnTo>
                    <a:pt x="5777054" y="0"/>
                  </a:lnTo>
                  <a:lnTo>
                    <a:pt x="5777054" y="2248843"/>
                  </a:lnTo>
                  <a:lnTo>
                    <a:pt x="0" y="2248843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129125" r="-202887" b="-74096"/>
              </a:stretch>
            </a:blipFill>
          </p:spPr>
        </p:sp>
        <p:sp>
          <p:nvSpPr>
            <p:cNvPr name="TextBox 71" id="71"/>
            <p:cNvSpPr txBox="true"/>
            <p:nvPr/>
          </p:nvSpPr>
          <p:spPr>
            <a:xfrm>
              <a:off x="0" y="-9525"/>
              <a:ext cx="5777054" cy="22583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356237" indent="-178118" lvl="1">
                <a:lnSpc>
                  <a:spcPts val="1980"/>
                </a:lnSpc>
                <a:buFont typeface="Arial"/>
                <a:buChar char="•"/>
              </a:pPr>
              <a:r>
                <a:rPr lang="en-US" sz="165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Larger macro-context around the target</a:t>
              </a:r>
            </a:p>
            <a:p>
              <a:pPr algn="l" marL="356237" indent="-178118" lvl="1">
                <a:lnSpc>
                  <a:spcPts val="1980"/>
                </a:lnSpc>
                <a:buFont typeface="Arial"/>
                <a:buChar char="•"/>
              </a:pPr>
              <a:r>
                <a:rPr lang="en-US" sz="165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Asymmetric layout fiducials</a:t>
              </a:r>
            </a:p>
            <a:p>
              <a:pPr algn="l" marL="356237" indent="-178118" lvl="1">
                <a:lnSpc>
                  <a:spcPts val="1980"/>
                </a:lnSpc>
                <a:buFont typeface="Arial"/>
                <a:buChar char="•"/>
              </a:pPr>
              <a:r>
                <a:rPr lang="en-US" sz="165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Peripheral boundary masking</a:t>
              </a:r>
            </a:p>
            <a:p>
              <a:pPr algn="l" marL="356237" indent="-178118" lvl="1">
                <a:lnSpc>
                  <a:spcPts val="1980"/>
                </a:lnSpc>
                <a:buFont typeface="Arial"/>
                <a:buChar char="•"/>
              </a:pPr>
              <a:r>
                <a:rPr lang="en-US" sz="165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Improved periodic-cell disambiguation</a:t>
              </a:r>
            </a:p>
          </p:txBody>
        </p:sp>
      </p:grpSp>
      <p:sp>
        <p:nvSpPr>
          <p:cNvPr name="TextBox 72" id="72"/>
          <p:cNvSpPr txBox="true"/>
          <p:nvPr/>
        </p:nvSpPr>
        <p:spPr>
          <a:xfrm rot="0">
            <a:off x="7908550" y="5279221"/>
            <a:ext cx="2463165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  <a:spcBef>
                <a:spcPct val="0"/>
              </a:spcBef>
            </a:pPr>
            <a:r>
              <a:rPr lang="en-US" b="true" sz="18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NEXT IMPROVEMENTS</a:t>
            </a:r>
          </a:p>
        </p:txBody>
      </p:sp>
      <p:grpSp>
        <p:nvGrpSpPr>
          <p:cNvPr name="Group 73" id="73"/>
          <p:cNvGrpSpPr/>
          <p:nvPr/>
        </p:nvGrpSpPr>
        <p:grpSpPr>
          <a:xfrm rot="0">
            <a:off x="6933512" y="8338261"/>
            <a:ext cx="4655012" cy="1632376"/>
            <a:chOff x="0" y="0"/>
            <a:chExt cx="6206683" cy="2176501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6206658" cy="2176458"/>
            </a:xfrm>
            <a:custGeom>
              <a:avLst/>
              <a:gdLst/>
              <a:ahLst/>
              <a:cxnLst/>
              <a:rect r="r" b="b" t="t" l="l"/>
              <a:pathLst>
                <a:path h="2176458" w="6206658">
                  <a:moveTo>
                    <a:pt x="0" y="93053"/>
                  </a:moveTo>
                  <a:cubicBezTo>
                    <a:pt x="0" y="41702"/>
                    <a:pt x="16172" y="0"/>
                    <a:pt x="36085" y="0"/>
                  </a:cubicBezTo>
                  <a:lnTo>
                    <a:pt x="6170573" y="0"/>
                  </a:lnTo>
                  <a:cubicBezTo>
                    <a:pt x="6190528" y="0"/>
                    <a:pt x="6206658" y="41702"/>
                    <a:pt x="6206658" y="93053"/>
                  </a:cubicBezTo>
                  <a:lnTo>
                    <a:pt x="6206658" y="2083405"/>
                  </a:lnTo>
                  <a:cubicBezTo>
                    <a:pt x="6206658" y="2134863"/>
                    <a:pt x="6190487" y="2176458"/>
                    <a:pt x="6170573" y="2176458"/>
                  </a:cubicBezTo>
                  <a:lnTo>
                    <a:pt x="36085" y="2176458"/>
                  </a:lnTo>
                  <a:cubicBezTo>
                    <a:pt x="16130" y="2176458"/>
                    <a:pt x="0" y="2134755"/>
                    <a:pt x="0" y="2083405"/>
                  </a:cubicBezTo>
                  <a:close/>
                </a:path>
              </a:pathLst>
            </a:custGeom>
            <a:solidFill>
              <a:srgbClr val="1E3A8A">
                <a:alpha val="15686"/>
              </a:srgbClr>
            </a:solidFill>
            <a:ln w="19050" cap="sq">
              <a:solidFill>
                <a:srgbClr val="1D4ED8"/>
              </a:solidFill>
              <a:prstDash val="solid"/>
              <a:miter/>
            </a:ln>
          </p:spPr>
        </p:sp>
      </p:grpSp>
      <p:grpSp>
        <p:nvGrpSpPr>
          <p:cNvPr name="Group 75" id="75"/>
          <p:cNvGrpSpPr/>
          <p:nvPr/>
        </p:nvGrpSpPr>
        <p:grpSpPr>
          <a:xfrm rot="0">
            <a:off x="7050921" y="8388823"/>
            <a:ext cx="4035842" cy="1686633"/>
            <a:chOff x="0" y="0"/>
            <a:chExt cx="5381123" cy="2248843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5381123" cy="2248843"/>
            </a:xfrm>
            <a:custGeom>
              <a:avLst/>
              <a:gdLst/>
              <a:ahLst/>
              <a:cxnLst/>
              <a:rect r="r" b="b" t="t" l="l"/>
              <a:pathLst>
                <a:path h="2248843" w="5381123">
                  <a:moveTo>
                    <a:pt x="0" y="0"/>
                  </a:moveTo>
                  <a:lnTo>
                    <a:pt x="5381123" y="0"/>
                  </a:lnTo>
                  <a:lnTo>
                    <a:pt x="5381123" y="2248843"/>
                  </a:lnTo>
                  <a:lnTo>
                    <a:pt x="0" y="2248843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129125" r="-225173" b="-74096"/>
              </a:stretch>
            </a:blipFill>
          </p:spPr>
        </p:sp>
        <p:sp>
          <p:nvSpPr>
            <p:cNvPr name="TextBox 77" id="77"/>
            <p:cNvSpPr txBox="true"/>
            <p:nvPr/>
          </p:nvSpPr>
          <p:spPr>
            <a:xfrm>
              <a:off x="0" y="-9525"/>
              <a:ext cx="5381123" cy="22583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The observed error is a structured periodic pitch jump, indicating candidate-selection ambiguity rather than a general failure of the localization pipeline.</a:t>
              </a:r>
            </a:p>
          </p:txBody>
        </p:sp>
      </p:grpSp>
      <p:sp>
        <p:nvSpPr>
          <p:cNvPr name="TextBox 78" id="78"/>
          <p:cNvSpPr txBox="true"/>
          <p:nvPr/>
        </p:nvSpPr>
        <p:spPr>
          <a:xfrm rot="0">
            <a:off x="6929645" y="7845306"/>
            <a:ext cx="4655012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  <a:spcBef>
                <a:spcPct val="0"/>
              </a:spcBef>
            </a:pPr>
            <a:r>
              <a:rPr lang="en-US" b="true" sz="18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FAILURE CHARACTERIZATION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7543" cy="10287000"/>
            <a:chOff x="0" y="0"/>
            <a:chExt cx="2438339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336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00036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7543" cy="10287000"/>
            <a:chOff x="0" y="0"/>
            <a:chExt cx="24383390" cy="13716000"/>
          </a:xfrm>
        </p:grpSpPr>
        <p:sp>
          <p:nvSpPr>
            <p:cNvPr name="Freeform 5" id="5" descr="preencoded.png"/>
            <p:cNvSpPr/>
            <p:nvPr/>
          </p:nvSpPr>
          <p:spPr>
            <a:xfrm flipH="false" flipV="false" rot="0">
              <a:off x="0" y="0"/>
              <a:ext cx="2438336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5000"/>
              </a:blip>
              <a:stretch>
                <a:fillRect l="-16360" t="0" r="-16361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857250" y="429311"/>
            <a:ext cx="16573043" cy="999896"/>
            <a:chOff x="0" y="0"/>
            <a:chExt cx="22097390" cy="133319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2097364" cy="1333246"/>
            </a:xfrm>
            <a:custGeom>
              <a:avLst/>
              <a:gdLst/>
              <a:ahLst/>
              <a:cxnLst/>
              <a:rect r="r" b="b" t="t" l="l"/>
              <a:pathLst>
                <a:path h="1333246" w="22097364">
                  <a:moveTo>
                    <a:pt x="0" y="209042"/>
                  </a:moveTo>
                  <a:cubicBezTo>
                    <a:pt x="0" y="93599"/>
                    <a:pt x="93599" y="0"/>
                    <a:pt x="209042" y="0"/>
                  </a:cubicBezTo>
                  <a:lnTo>
                    <a:pt x="21888323" y="0"/>
                  </a:lnTo>
                  <a:cubicBezTo>
                    <a:pt x="22003765" y="0"/>
                    <a:pt x="22097364" y="93599"/>
                    <a:pt x="22097364" y="209042"/>
                  </a:cubicBezTo>
                  <a:lnTo>
                    <a:pt x="22097364" y="1124204"/>
                  </a:lnTo>
                  <a:cubicBezTo>
                    <a:pt x="22097364" y="1239647"/>
                    <a:pt x="22003765" y="1333246"/>
                    <a:pt x="21888323" y="1333246"/>
                  </a:cubicBezTo>
                  <a:lnTo>
                    <a:pt x="209042" y="1333246"/>
                  </a:lnTo>
                  <a:cubicBezTo>
                    <a:pt x="93599" y="1333246"/>
                    <a:pt x="0" y="1239647"/>
                    <a:pt x="0" y="1124204"/>
                  </a:cubicBez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6287750" y="571957"/>
            <a:ext cx="714604" cy="714604"/>
            <a:chOff x="0" y="0"/>
            <a:chExt cx="952805" cy="952805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952754" cy="952754"/>
            </a:xfrm>
            <a:custGeom>
              <a:avLst/>
              <a:gdLst/>
              <a:ahLst/>
              <a:cxnLst/>
              <a:rect r="r" b="b" t="t" l="l"/>
              <a:pathLst>
                <a:path h="952754" w="952754">
                  <a:moveTo>
                    <a:pt x="0" y="0"/>
                  </a:moveTo>
                  <a:lnTo>
                    <a:pt x="952754" y="0"/>
                  </a:lnTo>
                  <a:lnTo>
                    <a:pt x="952754" y="952754"/>
                  </a:lnTo>
                  <a:lnTo>
                    <a:pt x="0" y="9527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5" b="-5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137533" y="571957"/>
            <a:ext cx="8618220" cy="701040"/>
            <a:chOff x="0" y="0"/>
            <a:chExt cx="11490960" cy="93472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1490960" cy="934720"/>
            </a:xfrm>
            <a:custGeom>
              <a:avLst/>
              <a:gdLst/>
              <a:ahLst/>
              <a:cxnLst/>
              <a:rect r="r" b="b" t="t" l="l"/>
              <a:pathLst>
                <a:path h="934720" w="11490960">
                  <a:moveTo>
                    <a:pt x="0" y="0"/>
                  </a:moveTo>
                  <a:lnTo>
                    <a:pt x="11490960" y="0"/>
                  </a:lnTo>
                  <a:lnTo>
                    <a:pt x="11490960" y="934720"/>
                  </a:lnTo>
                  <a:lnTo>
                    <a:pt x="0" y="9347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1" t="0" r="-11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0" y="0"/>
            <a:ext cx="18287543" cy="10287000"/>
            <a:chOff x="0" y="0"/>
            <a:chExt cx="24383390" cy="13716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438336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00036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0" y="0"/>
            <a:ext cx="18287543" cy="10287000"/>
            <a:chOff x="0" y="0"/>
            <a:chExt cx="24383390" cy="13716000"/>
          </a:xfrm>
        </p:grpSpPr>
        <p:sp>
          <p:nvSpPr>
            <p:cNvPr name="Freeform 15" id="15" descr="preencoded.png"/>
            <p:cNvSpPr/>
            <p:nvPr/>
          </p:nvSpPr>
          <p:spPr>
            <a:xfrm flipH="false" flipV="false" rot="0">
              <a:off x="0" y="0"/>
              <a:ext cx="2438336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</a:blip>
              <a:stretch>
                <a:fillRect l="-16360" t="0" r="-16361" b="0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857250" y="429311"/>
            <a:ext cx="16573043" cy="999896"/>
            <a:chOff x="0" y="0"/>
            <a:chExt cx="22097390" cy="1333195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2097364" cy="1333246"/>
            </a:xfrm>
            <a:custGeom>
              <a:avLst/>
              <a:gdLst/>
              <a:ahLst/>
              <a:cxnLst/>
              <a:rect r="r" b="b" t="t" l="l"/>
              <a:pathLst>
                <a:path h="1333246" w="22097364">
                  <a:moveTo>
                    <a:pt x="0" y="209042"/>
                  </a:moveTo>
                  <a:cubicBezTo>
                    <a:pt x="0" y="93599"/>
                    <a:pt x="93599" y="0"/>
                    <a:pt x="209042" y="0"/>
                  </a:cubicBezTo>
                  <a:lnTo>
                    <a:pt x="21888323" y="0"/>
                  </a:lnTo>
                  <a:cubicBezTo>
                    <a:pt x="22003765" y="0"/>
                    <a:pt x="22097364" y="93599"/>
                    <a:pt x="22097364" y="209042"/>
                  </a:cubicBezTo>
                  <a:lnTo>
                    <a:pt x="22097364" y="1124204"/>
                  </a:lnTo>
                  <a:cubicBezTo>
                    <a:pt x="22097364" y="1239647"/>
                    <a:pt x="22003765" y="1333246"/>
                    <a:pt x="21888323" y="1333246"/>
                  </a:cubicBezTo>
                  <a:lnTo>
                    <a:pt x="209042" y="1333246"/>
                  </a:lnTo>
                  <a:cubicBezTo>
                    <a:pt x="93599" y="1333246"/>
                    <a:pt x="0" y="1239647"/>
                    <a:pt x="0" y="1124204"/>
                  </a:cubicBez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286561" y="571957"/>
            <a:ext cx="1899666" cy="714604"/>
            <a:chOff x="0" y="0"/>
            <a:chExt cx="2532888" cy="952805"/>
          </a:xfrm>
        </p:grpSpPr>
        <p:sp>
          <p:nvSpPr>
            <p:cNvPr name="Freeform 19" id="19" descr="preencoded.png"/>
            <p:cNvSpPr/>
            <p:nvPr/>
          </p:nvSpPr>
          <p:spPr>
            <a:xfrm flipH="false" flipV="false" rot="0">
              <a:off x="0" y="0"/>
              <a:ext cx="2532888" cy="952754"/>
            </a:xfrm>
            <a:custGeom>
              <a:avLst/>
              <a:gdLst/>
              <a:ahLst/>
              <a:cxnLst/>
              <a:rect r="r" b="b" t="t" l="l"/>
              <a:pathLst>
                <a:path h="952754" w="2532888">
                  <a:moveTo>
                    <a:pt x="0" y="0"/>
                  </a:moveTo>
                  <a:lnTo>
                    <a:pt x="2532888" y="0"/>
                  </a:lnTo>
                  <a:lnTo>
                    <a:pt x="2532888" y="952754"/>
                  </a:lnTo>
                  <a:lnTo>
                    <a:pt x="0" y="9527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10" r="0" b="-14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6287750" y="571957"/>
            <a:ext cx="714604" cy="714604"/>
            <a:chOff x="0" y="0"/>
            <a:chExt cx="952805" cy="952805"/>
          </a:xfrm>
        </p:grpSpPr>
        <p:sp>
          <p:nvSpPr>
            <p:cNvPr name="Freeform 21" id="21" descr="preencoded.png"/>
            <p:cNvSpPr/>
            <p:nvPr/>
          </p:nvSpPr>
          <p:spPr>
            <a:xfrm flipH="false" flipV="false" rot="0">
              <a:off x="0" y="0"/>
              <a:ext cx="952754" cy="952754"/>
            </a:xfrm>
            <a:custGeom>
              <a:avLst/>
              <a:gdLst/>
              <a:ahLst/>
              <a:cxnLst/>
              <a:rect r="r" b="b" t="t" l="l"/>
              <a:pathLst>
                <a:path h="952754" w="952754">
                  <a:moveTo>
                    <a:pt x="0" y="0"/>
                  </a:moveTo>
                  <a:lnTo>
                    <a:pt x="952754" y="0"/>
                  </a:lnTo>
                  <a:lnTo>
                    <a:pt x="952754" y="952754"/>
                  </a:lnTo>
                  <a:lnTo>
                    <a:pt x="0" y="9527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5" b="-5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914857" y="1593662"/>
            <a:ext cx="113843" cy="614477"/>
            <a:chOff x="0" y="0"/>
            <a:chExt cx="151790" cy="819302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51765" cy="819277"/>
            </a:xfrm>
            <a:custGeom>
              <a:avLst/>
              <a:gdLst/>
              <a:ahLst/>
              <a:cxnLst/>
              <a:rect r="r" b="b" t="t" l="l"/>
              <a:pathLst>
                <a:path h="819277" w="151765">
                  <a:moveTo>
                    <a:pt x="0" y="0"/>
                  </a:moveTo>
                  <a:lnTo>
                    <a:pt x="151765" y="0"/>
                  </a:lnTo>
                  <a:lnTo>
                    <a:pt x="151765" y="819277"/>
                  </a:lnTo>
                  <a:lnTo>
                    <a:pt x="0" y="819277"/>
                  </a:lnTo>
                  <a:close/>
                </a:path>
              </a:pathLst>
            </a:custGeom>
            <a:solidFill>
              <a:srgbClr val="88E555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171118" y="1402283"/>
            <a:ext cx="10250349" cy="997234"/>
            <a:chOff x="0" y="0"/>
            <a:chExt cx="13667132" cy="1329646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3667132" cy="1329645"/>
            </a:xfrm>
            <a:custGeom>
              <a:avLst/>
              <a:gdLst/>
              <a:ahLst/>
              <a:cxnLst/>
              <a:rect r="r" b="b" t="t" l="l"/>
              <a:pathLst>
                <a:path h="1329645" w="13667132">
                  <a:moveTo>
                    <a:pt x="0" y="0"/>
                  </a:moveTo>
                  <a:lnTo>
                    <a:pt x="13667132" y="0"/>
                  </a:lnTo>
                  <a:lnTo>
                    <a:pt x="13667132" y="1329645"/>
                  </a:lnTo>
                  <a:lnTo>
                    <a:pt x="0" y="1329645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70503" r="47252" b="-40786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13667132" cy="13677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CONCLUSION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325356" y="2399518"/>
            <a:ext cx="17221309" cy="7448438"/>
            <a:chOff x="0" y="0"/>
            <a:chExt cx="22961745" cy="9931251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2961718" cy="9931168"/>
            </a:xfrm>
            <a:custGeom>
              <a:avLst/>
              <a:gdLst/>
              <a:ahLst/>
              <a:cxnLst/>
              <a:rect r="r" b="b" t="t" l="l"/>
              <a:pathLst>
                <a:path h="9931168" w="22961718">
                  <a:moveTo>
                    <a:pt x="0" y="66717"/>
                  </a:moveTo>
                  <a:cubicBezTo>
                    <a:pt x="0" y="29836"/>
                    <a:pt x="28472" y="0"/>
                    <a:pt x="63667" y="0"/>
                  </a:cubicBezTo>
                  <a:lnTo>
                    <a:pt x="22898052" y="0"/>
                  </a:lnTo>
                  <a:cubicBezTo>
                    <a:pt x="22933247" y="0"/>
                    <a:pt x="22961718" y="29836"/>
                    <a:pt x="22961718" y="66717"/>
                  </a:cubicBezTo>
                  <a:lnTo>
                    <a:pt x="22961718" y="9864451"/>
                  </a:lnTo>
                  <a:cubicBezTo>
                    <a:pt x="22961718" y="9901332"/>
                    <a:pt x="22933247" y="9931168"/>
                    <a:pt x="22898052" y="9931168"/>
                  </a:cubicBezTo>
                  <a:lnTo>
                    <a:pt x="63667" y="9931168"/>
                  </a:lnTo>
                  <a:cubicBezTo>
                    <a:pt x="28472" y="9931168"/>
                    <a:pt x="0" y="9901332"/>
                    <a:pt x="0" y="9864451"/>
                  </a:cubicBezTo>
                  <a:close/>
                </a:path>
              </a:pathLst>
            </a:custGeom>
            <a:solidFill>
              <a:srgbClr val="FFFFFF">
                <a:alpha val="0"/>
              </a:srgbClr>
            </a:solidFill>
            <a:ln w="19050" cap="sq">
              <a:solidFill>
                <a:srgbClr val="88E555"/>
              </a:solidFill>
              <a:prstDash val="solid"/>
              <a:miter/>
            </a:ln>
          </p:spPr>
        </p:sp>
      </p:grpSp>
      <p:grpSp>
        <p:nvGrpSpPr>
          <p:cNvPr name="Group 29" id="29"/>
          <p:cNvGrpSpPr/>
          <p:nvPr/>
        </p:nvGrpSpPr>
        <p:grpSpPr>
          <a:xfrm rot="0">
            <a:off x="7938249" y="341566"/>
            <a:ext cx="2411054" cy="1175385"/>
            <a:chOff x="0" y="0"/>
            <a:chExt cx="3214738" cy="156718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3214751" cy="1567180"/>
            </a:xfrm>
            <a:custGeom>
              <a:avLst/>
              <a:gdLst/>
              <a:ahLst/>
              <a:cxnLst/>
              <a:rect r="r" b="b" t="t" l="l"/>
              <a:pathLst>
                <a:path h="1567180" w="3214751">
                  <a:moveTo>
                    <a:pt x="0" y="0"/>
                  </a:moveTo>
                  <a:lnTo>
                    <a:pt x="3214751" y="0"/>
                  </a:lnTo>
                  <a:lnTo>
                    <a:pt x="3214751" y="1567180"/>
                  </a:lnTo>
                  <a:lnTo>
                    <a:pt x="0" y="15671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857250" y="92349"/>
            <a:ext cx="16573043" cy="1286561"/>
            <a:chOff x="0" y="0"/>
            <a:chExt cx="22097390" cy="1715414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22097366" cy="1715389"/>
            </a:xfrm>
            <a:custGeom>
              <a:avLst/>
              <a:gdLst/>
              <a:ahLst/>
              <a:cxnLst/>
              <a:rect r="r" b="b" t="t" l="l"/>
              <a:pathLst>
                <a:path h="1715389" w="22097366">
                  <a:moveTo>
                    <a:pt x="0" y="162560"/>
                  </a:moveTo>
                  <a:cubicBezTo>
                    <a:pt x="0" y="72771"/>
                    <a:pt x="72771" y="0"/>
                    <a:pt x="162560" y="0"/>
                  </a:cubicBezTo>
                  <a:lnTo>
                    <a:pt x="21934805" y="0"/>
                  </a:lnTo>
                  <a:cubicBezTo>
                    <a:pt x="22024594" y="0"/>
                    <a:pt x="22097366" y="72771"/>
                    <a:pt x="22097366" y="162560"/>
                  </a:cubicBezTo>
                  <a:lnTo>
                    <a:pt x="22097366" y="1552829"/>
                  </a:lnTo>
                  <a:cubicBezTo>
                    <a:pt x="22097366" y="1642618"/>
                    <a:pt x="22024594" y="1715389"/>
                    <a:pt x="21934805" y="1715389"/>
                  </a:cubicBezTo>
                  <a:lnTo>
                    <a:pt x="162560" y="1715389"/>
                  </a:lnTo>
                  <a:cubicBezTo>
                    <a:pt x="72771" y="1715389"/>
                    <a:pt x="0" y="1642618"/>
                    <a:pt x="0" y="1552829"/>
                  </a:cubicBez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2271151" y="286202"/>
            <a:ext cx="13745232" cy="879653"/>
            <a:chOff x="0" y="0"/>
            <a:chExt cx="18326976" cy="117287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8326988" cy="1172845"/>
            </a:xfrm>
            <a:custGeom>
              <a:avLst/>
              <a:gdLst/>
              <a:ahLst/>
              <a:cxnLst/>
              <a:rect r="r" b="b" t="t" l="l"/>
              <a:pathLst>
                <a:path h="1172845" w="18326988">
                  <a:moveTo>
                    <a:pt x="0" y="0"/>
                  </a:moveTo>
                  <a:lnTo>
                    <a:pt x="18326988" y="0"/>
                  </a:lnTo>
                  <a:lnTo>
                    <a:pt x="18326988" y="1172845"/>
                  </a:lnTo>
                  <a:lnTo>
                    <a:pt x="0" y="11728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-2" r="0" b="-4"/>
              </a:stretch>
            </a:blipFill>
          </p:spPr>
        </p:sp>
      </p:grpSp>
      <p:graphicFrame>
        <p:nvGraphicFramePr>
          <p:cNvPr name="Table 35" id="35"/>
          <p:cNvGraphicFramePr>
            <a:graphicFrameLocks noGrp="true"/>
          </p:cNvGraphicFramePr>
          <p:nvPr/>
        </p:nvGraphicFramePr>
        <p:xfrm>
          <a:off x="449785" y="3213957"/>
          <a:ext cx="4298686" cy="6337136"/>
        </p:xfrm>
        <a:graphic>
          <a:graphicData uri="http://schemas.openxmlformats.org/drawingml/2006/table">
            <a:tbl>
              <a:tblPr/>
              <a:tblGrid>
                <a:gridCol w="2202142"/>
                <a:gridCol w="2096544"/>
              </a:tblGrid>
              <a:tr h="628404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METRIC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RESULT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82974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Operational Accuracy &lt;5 px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98.33% (118/120)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4529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Fine Review Accuracy &lt;2 px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98.33% (118/120)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47406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High Precision &lt;1 px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86.67% (104/120)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00735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Sub-Pixel &lt;0.5 px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30.83% (37/120)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3888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Median Localization Error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0.7012 px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81079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Mean Localization Error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1.5290 px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7636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Mean Latency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672.39 ms/pair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name="Table 36" id="36"/>
          <p:cNvGraphicFramePr>
            <a:graphicFrameLocks noGrp="true"/>
          </p:cNvGraphicFramePr>
          <p:nvPr/>
        </p:nvGraphicFramePr>
        <p:xfrm>
          <a:off x="5269436" y="3175857"/>
          <a:ext cx="4020660" cy="4861479"/>
        </p:xfrm>
        <a:graphic>
          <a:graphicData uri="http://schemas.openxmlformats.org/drawingml/2006/table">
            <a:tbl>
              <a:tblPr/>
              <a:tblGrid>
                <a:gridCol w="2237679"/>
                <a:gridCol w="1782981"/>
              </a:tblGrid>
              <a:tr h="61741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METRIC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RESULT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764188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Operational Accuracy &lt;5 px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90.00% (36/40)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4865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Standard Tolerance &lt;4 px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90.00% (36/40)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23777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Fine Alignment &lt;2 px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90.00% (36/40)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7844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High Precision &lt;1 px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72.50% (29/40)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8521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Sub-Pixel &lt;0.5 px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25.00% (10/40)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4865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Median Localization Error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0.8233 px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pSp>
        <p:nvGrpSpPr>
          <p:cNvPr name="Group 37" id="37"/>
          <p:cNvGrpSpPr/>
          <p:nvPr/>
        </p:nvGrpSpPr>
        <p:grpSpPr>
          <a:xfrm rot="0">
            <a:off x="9577637" y="5912283"/>
            <a:ext cx="7255807" cy="2068717"/>
            <a:chOff x="0" y="0"/>
            <a:chExt cx="9674410" cy="2758289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9674372" cy="2758235"/>
            </a:xfrm>
            <a:custGeom>
              <a:avLst/>
              <a:gdLst/>
              <a:ahLst/>
              <a:cxnLst/>
              <a:rect r="r" b="b" t="t" l="l"/>
              <a:pathLst>
                <a:path h="2758235" w="9674372">
                  <a:moveTo>
                    <a:pt x="0" y="117927"/>
                  </a:moveTo>
                  <a:cubicBezTo>
                    <a:pt x="0" y="52850"/>
                    <a:pt x="25207" y="0"/>
                    <a:pt x="56246" y="0"/>
                  </a:cubicBezTo>
                  <a:lnTo>
                    <a:pt x="9618125" y="0"/>
                  </a:lnTo>
                  <a:cubicBezTo>
                    <a:pt x="9649230" y="0"/>
                    <a:pt x="9674372" y="52850"/>
                    <a:pt x="9674372" y="117927"/>
                  </a:cubicBezTo>
                  <a:lnTo>
                    <a:pt x="9674372" y="2640308"/>
                  </a:lnTo>
                  <a:cubicBezTo>
                    <a:pt x="9674372" y="2705521"/>
                    <a:pt x="9649165" y="2758235"/>
                    <a:pt x="9618125" y="2758235"/>
                  </a:cubicBezTo>
                  <a:lnTo>
                    <a:pt x="56246" y="2758235"/>
                  </a:lnTo>
                  <a:cubicBezTo>
                    <a:pt x="25142" y="2758235"/>
                    <a:pt x="0" y="2705385"/>
                    <a:pt x="0" y="2640308"/>
                  </a:cubicBezTo>
                  <a:close/>
                </a:path>
              </a:pathLst>
            </a:custGeom>
            <a:solidFill>
              <a:srgbClr val="1E3A8A">
                <a:alpha val="15686"/>
              </a:srgbClr>
            </a:solidFill>
            <a:ln w="19050" cap="sq">
              <a:solidFill>
                <a:srgbClr val="1D4ED8"/>
              </a:solidFill>
              <a:prstDash val="solid"/>
              <a:miter/>
            </a:ln>
          </p:spPr>
        </p:sp>
      </p:grpSp>
      <p:grpSp>
        <p:nvGrpSpPr>
          <p:cNvPr name="Group 39" id="39"/>
          <p:cNvGrpSpPr/>
          <p:nvPr/>
        </p:nvGrpSpPr>
        <p:grpSpPr>
          <a:xfrm rot="0">
            <a:off x="9781974" y="6004211"/>
            <a:ext cx="6832861" cy="2097800"/>
            <a:chOff x="0" y="0"/>
            <a:chExt cx="9110482" cy="2797066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9110482" cy="2797065"/>
            </a:xfrm>
            <a:custGeom>
              <a:avLst/>
              <a:gdLst/>
              <a:ahLst/>
              <a:cxnLst/>
              <a:rect r="r" b="b" t="t" l="l"/>
              <a:pathLst>
                <a:path h="2797065" w="9110482">
                  <a:moveTo>
                    <a:pt x="0" y="0"/>
                  </a:moveTo>
                  <a:lnTo>
                    <a:pt x="9110482" y="0"/>
                  </a:lnTo>
                  <a:lnTo>
                    <a:pt x="9110482" y="2797065"/>
                  </a:lnTo>
                  <a:lnTo>
                    <a:pt x="0" y="2797065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103816" r="-92064" b="-39973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9525"/>
              <a:ext cx="9110482" cy="28065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356237" indent="-178118" lvl="1">
                <a:lnSpc>
                  <a:spcPts val="1980"/>
                </a:lnSpc>
                <a:buFont typeface="Arial"/>
                <a:buChar char="•"/>
              </a:pPr>
              <a:r>
                <a:rPr lang="en-US" sz="165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40 augmented RGB image pairs</a:t>
              </a:r>
            </a:p>
            <a:p>
              <a:pPr algn="l" marL="356237" indent="-178118" lvl="1">
                <a:lnSpc>
                  <a:spcPts val="1980"/>
                </a:lnSpc>
                <a:buFont typeface="Arial"/>
                <a:buChar char="•"/>
              </a:pPr>
              <a:r>
                <a:rPr lang="en-US" sz="165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Same coordinate-localization objective</a:t>
              </a:r>
            </a:p>
            <a:p>
              <a:pPr algn="l" marL="356237" indent="-178118" lvl="1">
                <a:lnSpc>
                  <a:spcPts val="1980"/>
                </a:lnSpc>
                <a:buFont typeface="Arial"/>
                <a:buChar char="•"/>
              </a:pPr>
              <a:r>
                <a:rPr lang="en-US" sz="165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Controlled visual variations introduced through augmentation</a:t>
              </a:r>
            </a:p>
            <a:p>
              <a:pPr algn="l" marL="356237" indent="-178118" lvl="1">
                <a:lnSpc>
                  <a:spcPts val="1980"/>
                </a:lnSpc>
                <a:buFont typeface="Arial"/>
                <a:buChar char="•"/>
              </a:pPr>
              <a:r>
                <a:rPr lang="en-US" sz="165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Evaluation at &lt;5 px, &lt;4 px, &lt;2 px, &lt;1 px and &lt;0.5 px thresholds</a:t>
              </a:r>
            </a:p>
            <a:p>
              <a:pPr algn="l" marL="356237" indent="-178118" lvl="1">
                <a:lnSpc>
                  <a:spcPts val="1980"/>
                </a:lnSpc>
                <a:buFont typeface="Arial"/>
                <a:buChar char="•"/>
              </a:pPr>
              <a:r>
                <a:rPr lang="en-US" sz="165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Median localization error used as the central accuracy measure</a:t>
              </a:r>
            </a:p>
          </p:txBody>
        </p:sp>
      </p:grpSp>
      <p:sp>
        <p:nvSpPr>
          <p:cNvPr name="Freeform 42" id="42"/>
          <p:cNvSpPr/>
          <p:nvPr/>
        </p:nvSpPr>
        <p:spPr>
          <a:xfrm flipH="false" flipV="false" rot="0">
            <a:off x="9577637" y="3109983"/>
            <a:ext cx="7429134" cy="2611800"/>
          </a:xfrm>
          <a:custGeom>
            <a:avLst/>
            <a:gdLst/>
            <a:ahLst/>
            <a:cxnLst/>
            <a:rect r="r" b="b" t="t" l="l"/>
            <a:pathLst>
              <a:path h="2611800" w="7429134">
                <a:moveTo>
                  <a:pt x="0" y="0"/>
                </a:moveTo>
                <a:lnTo>
                  <a:pt x="7429134" y="0"/>
                </a:lnTo>
                <a:lnTo>
                  <a:pt x="7429134" y="2611800"/>
                </a:lnTo>
                <a:lnTo>
                  <a:pt x="0" y="261180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-34247" b="0"/>
            </a:stretch>
          </a:blipFill>
        </p:spPr>
      </p:sp>
      <p:sp>
        <p:nvSpPr>
          <p:cNvPr name="TextBox 43" id="43"/>
          <p:cNvSpPr txBox="true"/>
          <p:nvPr/>
        </p:nvSpPr>
        <p:spPr>
          <a:xfrm rot="0">
            <a:off x="573822" y="2694845"/>
            <a:ext cx="4174649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80"/>
              </a:lnSpc>
              <a:spcBef>
                <a:spcPct val="0"/>
              </a:spcBef>
            </a:pPr>
            <a:r>
              <a:rPr lang="en-US" b="true" sz="19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FINAL BENCHMARK RESULTS — SEM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2861449" y="2528157"/>
            <a:ext cx="16592093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39"/>
              </a:lnSpc>
              <a:spcBef>
                <a:spcPct val="0"/>
              </a:spcBef>
            </a:pPr>
            <a:r>
              <a:rPr lang="en-US" b="true" sz="21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RGB OPTICAL BENCHMARK — EVALUATION SETUP</a:t>
            </a:r>
          </a:p>
        </p:txBody>
      </p:sp>
      <p:grpSp>
        <p:nvGrpSpPr>
          <p:cNvPr name="Group 45" id="45"/>
          <p:cNvGrpSpPr/>
          <p:nvPr/>
        </p:nvGrpSpPr>
        <p:grpSpPr>
          <a:xfrm rot="0">
            <a:off x="5269436" y="8275462"/>
            <a:ext cx="596847" cy="596847"/>
            <a:chOff x="0" y="0"/>
            <a:chExt cx="1383995" cy="1383995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384046" cy="1384046"/>
            </a:xfrm>
            <a:custGeom>
              <a:avLst/>
              <a:gdLst/>
              <a:ahLst/>
              <a:cxnLst/>
              <a:rect r="r" b="b" t="t" l="l"/>
              <a:pathLst>
                <a:path h="1384046" w="1384046">
                  <a:moveTo>
                    <a:pt x="0" y="692023"/>
                  </a:moveTo>
                  <a:cubicBezTo>
                    <a:pt x="0" y="309880"/>
                    <a:pt x="309880" y="0"/>
                    <a:pt x="692023" y="0"/>
                  </a:cubicBezTo>
                  <a:cubicBezTo>
                    <a:pt x="1074166" y="0"/>
                    <a:pt x="1384046" y="309880"/>
                    <a:pt x="1384046" y="692023"/>
                  </a:cubicBezTo>
                  <a:cubicBezTo>
                    <a:pt x="1384046" y="1074166"/>
                    <a:pt x="1074166" y="1384046"/>
                    <a:pt x="692023" y="1384046"/>
                  </a:cubicBezTo>
                  <a:cubicBezTo>
                    <a:pt x="309880" y="1384046"/>
                    <a:pt x="0" y="1074166"/>
                    <a:pt x="0" y="692023"/>
                  </a:cubicBezTo>
                  <a:close/>
                </a:path>
              </a:pathLst>
            </a:custGeom>
            <a:solidFill>
              <a:srgbClr val="273383">
                <a:alpha val="35686"/>
              </a:srgbClr>
            </a:solidFill>
            <a:ln w="38100" cap="sq">
              <a:solidFill>
                <a:srgbClr val="AEFF82"/>
              </a:solidFill>
              <a:prstDash val="solid"/>
              <a:miter/>
            </a:ln>
          </p:spPr>
        </p:sp>
      </p:grpSp>
      <p:grpSp>
        <p:nvGrpSpPr>
          <p:cNvPr name="Group 47" id="47"/>
          <p:cNvGrpSpPr/>
          <p:nvPr/>
        </p:nvGrpSpPr>
        <p:grpSpPr>
          <a:xfrm rot="0">
            <a:off x="5423927" y="8426010"/>
            <a:ext cx="287864" cy="295751"/>
            <a:chOff x="0" y="0"/>
            <a:chExt cx="667512" cy="685800"/>
          </a:xfrm>
        </p:grpSpPr>
        <p:sp>
          <p:nvSpPr>
            <p:cNvPr name="Freeform 48" id="48" descr="preencoded.png"/>
            <p:cNvSpPr/>
            <p:nvPr/>
          </p:nvSpPr>
          <p:spPr>
            <a:xfrm flipH="false" flipV="false" rot="0">
              <a:off x="0" y="0"/>
              <a:ext cx="667512" cy="685800"/>
            </a:xfrm>
            <a:custGeom>
              <a:avLst/>
              <a:gdLst/>
              <a:ahLst/>
              <a:cxnLst/>
              <a:rect r="r" b="b" t="t" l="l"/>
              <a:pathLst>
                <a:path h="685800" w="667512">
                  <a:moveTo>
                    <a:pt x="0" y="0"/>
                  </a:moveTo>
                  <a:lnTo>
                    <a:pt x="667512" y="0"/>
                  </a:lnTo>
                  <a:lnTo>
                    <a:pt x="667512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237" t="0" r="-249" b="0"/>
              </a:stretch>
            </a:blipFill>
          </p:spPr>
        </p:sp>
      </p:grpSp>
      <p:grpSp>
        <p:nvGrpSpPr>
          <p:cNvPr name="Group 49" id="49"/>
          <p:cNvGrpSpPr/>
          <p:nvPr/>
        </p:nvGrpSpPr>
        <p:grpSpPr>
          <a:xfrm rot="0">
            <a:off x="5359628" y="9167583"/>
            <a:ext cx="416463" cy="334372"/>
            <a:chOff x="0" y="0"/>
            <a:chExt cx="380390" cy="305410"/>
          </a:xfrm>
        </p:grpSpPr>
        <p:sp>
          <p:nvSpPr>
            <p:cNvPr name="Freeform 50" id="50" descr="preencoded.png"/>
            <p:cNvSpPr/>
            <p:nvPr/>
          </p:nvSpPr>
          <p:spPr>
            <a:xfrm flipH="false" flipV="false" rot="0">
              <a:off x="0" y="0"/>
              <a:ext cx="380365" cy="305435"/>
            </a:xfrm>
            <a:custGeom>
              <a:avLst/>
              <a:gdLst/>
              <a:ahLst/>
              <a:cxnLst/>
              <a:rect r="r" b="b" t="t" l="l"/>
              <a:pathLst>
                <a:path h="305435" w="380365">
                  <a:moveTo>
                    <a:pt x="0" y="0"/>
                  </a:moveTo>
                  <a:lnTo>
                    <a:pt x="380365" y="0"/>
                  </a:lnTo>
                  <a:lnTo>
                    <a:pt x="380365" y="305435"/>
                  </a:lnTo>
                  <a:lnTo>
                    <a:pt x="0" y="3054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178" r="-808" b="187"/>
              </a:stretch>
            </a:blipFill>
          </p:spPr>
        </p:sp>
      </p:grpSp>
      <p:grpSp>
        <p:nvGrpSpPr>
          <p:cNvPr name="Group 51" id="51"/>
          <p:cNvGrpSpPr/>
          <p:nvPr/>
        </p:nvGrpSpPr>
        <p:grpSpPr>
          <a:xfrm rot="0">
            <a:off x="6068436" y="8216310"/>
            <a:ext cx="10706061" cy="692929"/>
            <a:chOff x="0" y="0"/>
            <a:chExt cx="14274748" cy="923905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14274749" cy="923905"/>
            </a:xfrm>
            <a:custGeom>
              <a:avLst/>
              <a:gdLst/>
              <a:ahLst/>
              <a:cxnLst/>
              <a:rect r="r" b="b" t="t" l="l"/>
              <a:pathLst>
                <a:path h="923905" w="14274749">
                  <a:moveTo>
                    <a:pt x="0" y="0"/>
                  </a:moveTo>
                  <a:lnTo>
                    <a:pt x="14274749" y="0"/>
                  </a:lnTo>
                  <a:lnTo>
                    <a:pt x="14274749" y="923905"/>
                  </a:lnTo>
                  <a:lnTo>
                    <a:pt x="0" y="923905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314298" r="-22579" b="-323760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9525"/>
              <a:ext cx="14274748" cy="9334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GITHUB LINK:</a:t>
              </a:r>
              <a:r>
                <a:rPr lang="en-US" sz="165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  <a:r>
                <a:rPr lang="en-US" sz="1650" u="sng">
                  <a:solidFill>
                    <a:srgbClr val="AEFF82"/>
                  </a:solidFill>
                  <a:latin typeface="Poppins"/>
                  <a:ea typeface="Poppins"/>
                  <a:cs typeface="Poppins"/>
                  <a:sym typeface="Poppins"/>
                  <a:hlinkClick r:id="rId12" tooltip="https://github.com/DK-A/Techtonics_Drift-Sense_Wafer_Inspection_PS2"/>
                </a:rPr>
                <a:t>https://github.com/DK-A/Techtonics_Drift-Sense_Wafer_Inspection_PS2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6068436" y="8988305"/>
            <a:ext cx="11276746" cy="692929"/>
            <a:chOff x="0" y="0"/>
            <a:chExt cx="15035661" cy="923905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15035661" cy="923905"/>
            </a:xfrm>
            <a:custGeom>
              <a:avLst/>
              <a:gdLst/>
              <a:ahLst/>
              <a:cxnLst/>
              <a:rect r="r" b="b" t="t" l="l"/>
              <a:pathLst>
                <a:path h="923905" w="15035661">
                  <a:moveTo>
                    <a:pt x="0" y="0"/>
                  </a:moveTo>
                  <a:lnTo>
                    <a:pt x="15035661" y="0"/>
                  </a:lnTo>
                  <a:lnTo>
                    <a:pt x="15035661" y="923905"/>
                  </a:lnTo>
                  <a:lnTo>
                    <a:pt x="0" y="923905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314298" r="-16376" b="-323760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9525"/>
              <a:ext cx="15035661" cy="9334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DEMO VIDEO LINK:</a:t>
              </a:r>
              <a:r>
                <a:rPr lang="en-US" sz="165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  <a:r>
                <a:rPr lang="en-US" sz="1650" u="sng">
                  <a:solidFill>
                    <a:srgbClr val="AEFF82"/>
                  </a:solidFill>
                  <a:latin typeface="Poppins"/>
                  <a:ea typeface="Poppins"/>
                  <a:cs typeface="Poppins"/>
                  <a:sym typeface="Poppins"/>
                  <a:hlinkClick r:id="rId13" tooltip="https://drive.google.com/file/d/1sxvBWdj1c7RfX7oeG66R8FJaaMt8o1iI/view?usp=sharing"/>
                </a:rPr>
                <a:t>https://drive.google.com/file/d/1sxvBWdj1c7RfX7oeG66R8FJaaMt8o1iI/view?usp=sharing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DAHSowaaIJU</dc:identifier>
  <dcterms:modified xsi:type="dcterms:W3CDTF">2011-08-01T06:04:30Z</dcterms:modified>
  <cp:revision>1</cp:revision>
  <dc:title>TECHTONICS_PS02</dc:title>
</cp:coreProperties>
</file>