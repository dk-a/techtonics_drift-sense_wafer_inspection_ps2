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Lst>
  <p:sldSz cx="18288000" cy="10287000"/>
  <p:notesSz cx="6858000" cy="9144000"/>
  <p:embeddedFontLst>
    <p:embeddedFont>
      <p:font typeface="Poppins Bold" charset="1" panose="00000800000000000000"/>
      <p:regular r:id="rId18"/>
    </p:embeddedFont>
    <p:embeddedFont>
      <p:font typeface="Poppins" charset="1" panose="00000500000000000000"/>
      <p:regular r:id="rId19"/>
    </p:embeddedFont>
    <p:embeddedFont>
      <p:font typeface="Canva Sans Bold" charset="1" panose="020B0803030501040103"/>
      <p:regular r:id="rId20"/>
    </p:embeddedFont>
    <p:embeddedFont>
      <p:font typeface="Canva Sans" charset="1" panose="020B0503030501040103"/>
      <p:regular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fonts/font18.fntdata" Type="http://schemas.openxmlformats.org/officeDocument/2006/relationships/font"/><Relationship Id="rId19" Target="fonts/font19.fntdata" Type="http://schemas.openxmlformats.org/officeDocument/2006/relationships/font"/><Relationship Id="rId2" Target="presProps.xml" Type="http://schemas.openxmlformats.org/officeDocument/2006/relationships/presProps"/><Relationship Id="rId20" Target="fonts/font20.fntdata" Type="http://schemas.openxmlformats.org/officeDocument/2006/relationships/font"/><Relationship Id="rId21" Target="fonts/font21.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png" Type="http://schemas.openxmlformats.org/officeDocument/2006/relationships/image"/><Relationship Id="rId5" Target="../media/image4.jpeg" Type="http://schemas.openxmlformats.org/officeDocument/2006/relationships/image"/><Relationship Id="rId6" Target="../media/image5.png" Type="http://schemas.openxmlformats.org/officeDocument/2006/relationships/image"/><Relationship Id="rId7" Target="../media/image6.png" Type="http://schemas.openxmlformats.org/officeDocument/2006/relationships/image"/><Relationship Id="rId8" Target="../media/image7.png" Type="http://schemas.openxmlformats.org/officeDocument/2006/relationships/image"/><Relationship Id="rId9" Target="../media/image8.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png" Type="http://schemas.openxmlformats.org/officeDocument/2006/relationships/image"/><Relationship Id="rId5" Target="../media/image4.jpeg" Type="http://schemas.openxmlformats.org/officeDocument/2006/relationships/image"/><Relationship Id="rId6" Target="../media/image9.png" Type="http://schemas.openxmlformats.org/officeDocument/2006/relationships/image"/><Relationship Id="rId7" Target="../media/image8.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png" Type="http://schemas.openxmlformats.org/officeDocument/2006/relationships/image"/><Relationship Id="rId5" Target="../media/image10.jpeg" Type="http://schemas.openxmlformats.org/officeDocument/2006/relationships/image"/><Relationship Id="rId6" Target="../media/image4.jpeg" Type="http://schemas.openxmlformats.org/officeDocument/2006/relationships/image"/><Relationship Id="rId7" Target="../media/image9.png" Type="http://schemas.openxmlformats.org/officeDocument/2006/relationships/image"/><Relationship Id="rId8" Target="../media/image8.png" Type="http://schemas.openxmlformats.org/officeDocument/2006/relationships/image"/><Relationship Id="rId9" Target="../media/image11.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png" Type="http://schemas.openxmlformats.org/officeDocument/2006/relationships/image"/><Relationship Id="rId5" Target="../media/image4.jpeg" Type="http://schemas.openxmlformats.org/officeDocument/2006/relationships/image"/><Relationship Id="rId6" Target="../media/image8.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png" Type="http://schemas.openxmlformats.org/officeDocument/2006/relationships/image"/><Relationship Id="rId5" Target="../media/image10.jpeg" Type="http://schemas.openxmlformats.org/officeDocument/2006/relationships/image"/><Relationship Id="rId6" Target="../media/image4.jpeg" Type="http://schemas.openxmlformats.org/officeDocument/2006/relationships/image"/><Relationship Id="rId7" Target="../media/image9.png" Type="http://schemas.openxmlformats.org/officeDocument/2006/relationships/image"/><Relationship Id="rId8" Target="../media/image8.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png" Type="http://schemas.openxmlformats.org/officeDocument/2006/relationships/image"/><Relationship Id="rId5" Target="../media/image4.jpeg" Type="http://schemas.openxmlformats.org/officeDocument/2006/relationships/image"/><Relationship Id="rId6" Target="../media/image10.jpeg" Type="http://schemas.openxmlformats.org/officeDocument/2006/relationships/image"/><Relationship Id="rId7" Target="../media/image9.png" Type="http://schemas.openxmlformats.org/officeDocument/2006/relationships/image"/><Relationship Id="rId8" Target="../media/image8.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png" Type="http://schemas.openxmlformats.org/officeDocument/2006/relationships/image"/><Relationship Id="rId5" Target="../media/image10.jpeg" Type="http://schemas.openxmlformats.org/officeDocument/2006/relationships/image"/><Relationship Id="rId6" Target="../media/image4.jpeg" Type="http://schemas.openxmlformats.org/officeDocument/2006/relationships/image"/><Relationship Id="rId7" Target="../media/image9.png" Type="http://schemas.openxmlformats.org/officeDocument/2006/relationships/image"/><Relationship Id="rId8" Target="../media/image8.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png" Type="http://schemas.openxmlformats.org/officeDocument/2006/relationships/image"/><Relationship Id="rId5" Target="../media/image10.jpeg" Type="http://schemas.openxmlformats.org/officeDocument/2006/relationships/image"/><Relationship Id="rId6" Target="../media/image4.jpeg" Type="http://schemas.openxmlformats.org/officeDocument/2006/relationships/image"/><Relationship Id="rId7" Target="../media/image9.png" Type="http://schemas.openxmlformats.org/officeDocument/2006/relationships/image"/><Relationship Id="rId8" Target="../media/image8.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3.png" Type="http://schemas.openxmlformats.org/officeDocument/2006/relationships/image"/><Relationship Id="rId2" Target="../media/image1.jpeg" Type="http://schemas.openxmlformats.org/officeDocument/2006/relationships/image"/><Relationship Id="rId3" Target="../media/image2.png" Type="http://schemas.openxmlformats.org/officeDocument/2006/relationships/image"/><Relationship Id="rId4" Target="../media/image3.png" Type="http://schemas.openxmlformats.org/officeDocument/2006/relationships/image"/><Relationship Id="rId5" Target="../media/image10.jpeg" Type="http://schemas.openxmlformats.org/officeDocument/2006/relationships/image"/><Relationship Id="rId6" Target="../media/image4.jpeg" Type="http://schemas.openxmlformats.org/officeDocument/2006/relationships/image"/><Relationship Id="rId7" Target="../media/image9.png" Type="http://schemas.openxmlformats.org/officeDocument/2006/relationships/image"/><Relationship Id="rId8" Target="../media/image8.png" Type="http://schemas.openxmlformats.org/officeDocument/2006/relationships/image"/><Relationship Id="rId9" Target="../media/image12.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png" Type="http://schemas.openxmlformats.org/officeDocument/2006/relationships/image"/><Relationship Id="rId5" Target="../media/image10.jpeg" Type="http://schemas.openxmlformats.org/officeDocument/2006/relationships/image"/><Relationship Id="rId6" Target="../media/image4.jpeg" Type="http://schemas.openxmlformats.org/officeDocument/2006/relationships/image"/><Relationship Id="rId7" Target="../media/image9.png" Type="http://schemas.openxmlformats.org/officeDocument/2006/relationships/image"/><Relationship Id="rId8" Target="../media/image8.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png" Type="http://schemas.openxmlformats.org/officeDocument/2006/relationships/image"/><Relationship Id="rId5" Target="../media/image10.jpeg" Type="http://schemas.openxmlformats.org/officeDocument/2006/relationships/image"/><Relationship Id="rId6" Target="../media/image4.jpeg" Type="http://schemas.openxmlformats.org/officeDocument/2006/relationships/image"/><Relationship Id="rId7" Target="../media/image9.png" Type="http://schemas.openxmlformats.org/officeDocument/2006/relationships/image"/><Relationship Id="rId8" Target="../media/image8.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5.png" Type="http://schemas.openxmlformats.org/officeDocument/2006/relationships/image"/><Relationship Id="rId11" Target="https://github.com/DK-A/Techtonics_Drift-Sense_Wafer_Inspection_PS2" TargetMode="External" Type="http://schemas.openxmlformats.org/officeDocument/2006/relationships/hyperlink"/><Relationship Id="rId12" Target="https://drive.google.com/file/d/1IpV5T-GZXj9lnhrSX11ILHWhSjWDhQc0/view?usp=sharing" TargetMode="External" Type="http://schemas.openxmlformats.org/officeDocument/2006/relationships/hyperlink"/><Relationship Id="rId13" Target="https://drive.google.com/file/d/1IpV5T-GZXj9lnhrSX11ILHWhSjWDhQc0/view?usp=sharing" TargetMode="External" Type="http://schemas.openxmlformats.org/officeDocument/2006/relationships/hyperlink"/><Relationship Id="rId14" Target="https://drive.google.com/file/d/1IpV5T-GZXj9lnhrSX11ILHWhSjWDhQc0/view?usp=sharing" TargetMode="External" Type="http://schemas.openxmlformats.org/officeDocument/2006/relationships/hyperlink"/><Relationship Id="rId2" Target="../media/image1.jpeg" Type="http://schemas.openxmlformats.org/officeDocument/2006/relationships/image"/><Relationship Id="rId3" Target="../media/image2.png" Type="http://schemas.openxmlformats.org/officeDocument/2006/relationships/image"/><Relationship Id="rId4" Target="../media/image3.png" Type="http://schemas.openxmlformats.org/officeDocument/2006/relationships/image"/><Relationship Id="rId5" Target="../media/image10.jpeg" Type="http://schemas.openxmlformats.org/officeDocument/2006/relationships/image"/><Relationship Id="rId6" Target="../media/image4.jpeg" Type="http://schemas.openxmlformats.org/officeDocument/2006/relationships/image"/><Relationship Id="rId7" Target="../media/image9.png" Type="http://schemas.openxmlformats.org/officeDocument/2006/relationships/image"/><Relationship Id="rId8" Target="../media/image8.png" Type="http://schemas.openxmlformats.org/officeDocument/2006/relationships/image"/><Relationship Id="rId9" Target="../media/image14.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543" cy="10287000"/>
            <a:chOff x="0" y="0"/>
            <a:chExt cx="24383390" cy="13716000"/>
          </a:xfrm>
        </p:grpSpPr>
        <p:sp>
          <p:nvSpPr>
            <p:cNvPr name="Freeform 3" id="3"/>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close/>
                </a:path>
              </a:pathLst>
            </a:custGeom>
            <a:solidFill>
              <a:srgbClr val="000036"/>
            </a:solidFill>
          </p:spPr>
        </p:sp>
      </p:grpSp>
      <p:grpSp>
        <p:nvGrpSpPr>
          <p:cNvPr name="Group 4" id="4"/>
          <p:cNvGrpSpPr/>
          <p:nvPr/>
        </p:nvGrpSpPr>
        <p:grpSpPr>
          <a:xfrm rot="0">
            <a:off x="0" y="0"/>
            <a:ext cx="18287543" cy="10287000"/>
            <a:chOff x="0" y="0"/>
            <a:chExt cx="24383390" cy="13716000"/>
          </a:xfrm>
        </p:grpSpPr>
        <p:sp>
          <p:nvSpPr>
            <p:cNvPr name="Freeform 5" id="5" descr="preencoded.png"/>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lnTo>
                    <a:pt x="0" y="0"/>
                  </a:lnTo>
                  <a:close/>
                </a:path>
              </a:pathLst>
            </a:custGeom>
            <a:blipFill>
              <a:blip r:embed="rId2">
                <a:alphaModFix amt="15000"/>
              </a:blip>
              <a:stretch>
                <a:fillRect l="-16360" t="0" r="-16361" b="0"/>
              </a:stretch>
            </a:blipFill>
          </p:spPr>
        </p:sp>
      </p:grpSp>
      <p:grpSp>
        <p:nvGrpSpPr>
          <p:cNvPr name="Group 6" id="6"/>
          <p:cNvGrpSpPr/>
          <p:nvPr/>
        </p:nvGrpSpPr>
        <p:grpSpPr>
          <a:xfrm rot="0">
            <a:off x="857250" y="429311"/>
            <a:ext cx="16573043" cy="999896"/>
            <a:chOff x="0" y="0"/>
            <a:chExt cx="22097390" cy="1333195"/>
          </a:xfrm>
        </p:grpSpPr>
        <p:sp>
          <p:nvSpPr>
            <p:cNvPr name="Freeform 7" id="7"/>
            <p:cNvSpPr/>
            <p:nvPr/>
          </p:nvSpPr>
          <p:spPr>
            <a:xfrm flipH="false" flipV="false" rot="0">
              <a:off x="0" y="0"/>
              <a:ext cx="22097364" cy="1333246"/>
            </a:xfrm>
            <a:custGeom>
              <a:avLst/>
              <a:gdLst/>
              <a:ahLst/>
              <a:cxnLst/>
              <a:rect r="r" b="b" t="t" l="l"/>
              <a:pathLst>
                <a:path h="1333246" w="22097364">
                  <a:moveTo>
                    <a:pt x="0" y="209042"/>
                  </a:moveTo>
                  <a:cubicBezTo>
                    <a:pt x="0" y="93599"/>
                    <a:pt x="93599" y="0"/>
                    <a:pt x="209042" y="0"/>
                  </a:cubicBezTo>
                  <a:lnTo>
                    <a:pt x="21888323" y="0"/>
                  </a:lnTo>
                  <a:cubicBezTo>
                    <a:pt x="22003765" y="0"/>
                    <a:pt x="22097364" y="93599"/>
                    <a:pt x="22097364" y="209042"/>
                  </a:cubicBezTo>
                  <a:lnTo>
                    <a:pt x="22097364" y="1124204"/>
                  </a:lnTo>
                  <a:cubicBezTo>
                    <a:pt x="22097364" y="1239647"/>
                    <a:pt x="22003765" y="1333246"/>
                    <a:pt x="21888323" y="1333246"/>
                  </a:cubicBezTo>
                  <a:lnTo>
                    <a:pt x="209042" y="1333246"/>
                  </a:lnTo>
                  <a:cubicBezTo>
                    <a:pt x="93599" y="1333246"/>
                    <a:pt x="0" y="1239647"/>
                    <a:pt x="0" y="1124204"/>
                  </a:cubicBezTo>
                  <a:close/>
                </a:path>
              </a:pathLst>
            </a:custGeom>
            <a:solidFill>
              <a:srgbClr val="FFFFFF">
                <a:alpha val="90196"/>
              </a:srgbClr>
            </a:solidFill>
          </p:spPr>
        </p:sp>
      </p:grpSp>
      <p:grpSp>
        <p:nvGrpSpPr>
          <p:cNvPr name="Group 8" id="8"/>
          <p:cNvGrpSpPr/>
          <p:nvPr/>
        </p:nvGrpSpPr>
        <p:grpSpPr>
          <a:xfrm rot="0">
            <a:off x="16287750" y="571957"/>
            <a:ext cx="714604" cy="714604"/>
            <a:chOff x="0" y="0"/>
            <a:chExt cx="952805" cy="952805"/>
          </a:xfrm>
        </p:grpSpPr>
        <p:sp>
          <p:nvSpPr>
            <p:cNvPr name="Freeform 9" id="9" descr="preencoded.png"/>
            <p:cNvSpPr/>
            <p:nvPr/>
          </p:nvSpPr>
          <p:spPr>
            <a:xfrm flipH="false" flipV="false" rot="0">
              <a:off x="0" y="0"/>
              <a:ext cx="952754" cy="952754"/>
            </a:xfrm>
            <a:custGeom>
              <a:avLst/>
              <a:gdLst/>
              <a:ahLst/>
              <a:cxnLst/>
              <a:rect r="r" b="b" t="t" l="l"/>
              <a:pathLst>
                <a:path h="952754" w="952754">
                  <a:moveTo>
                    <a:pt x="0" y="0"/>
                  </a:moveTo>
                  <a:lnTo>
                    <a:pt x="952754" y="0"/>
                  </a:lnTo>
                  <a:lnTo>
                    <a:pt x="952754" y="952754"/>
                  </a:lnTo>
                  <a:lnTo>
                    <a:pt x="0" y="952754"/>
                  </a:lnTo>
                  <a:lnTo>
                    <a:pt x="0" y="0"/>
                  </a:lnTo>
                  <a:close/>
                </a:path>
              </a:pathLst>
            </a:custGeom>
            <a:blipFill>
              <a:blip r:embed="rId3"/>
              <a:stretch>
                <a:fillRect l="0" t="0" r="-5" b="-5"/>
              </a:stretch>
            </a:blipFill>
          </p:spPr>
        </p:sp>
      </p:grpSp>
      <p:grpSp>
        <p:nvGrpSpPr>
          <p:cNvPr name="Group 10" id="10"/>
          <p:cNvGrpSpPr/>
          <p:nvPr/>
        </p:nvGrpSpPr>
        <p:grpSpPr>
          <a:xfrm rot="0">
            <a:off x="1137533" y="571957"/>
            <a:ext cx="8618220" cy="701040"/>
            <a:chOff x="0" y="0"/>
            <a:chExt cx="11490960" cy="934720"/>
          </a:xfrm>
        </p:grpSpPr>
        <p:sp>
          <p:nvSpPr>
            <p:cNvPr name="Freeform 11" id="11"/>
            <p:cNvSpPr/>
            <p:nvPr/>
          </p:nvSpPr>
          <p:spPr>
            <a:xfrm flipH="false" flipV="false" rot="0">
              <a:off x="0" y="0"/>
              <a:ext cx="11490960" cy="934720"/>
            </a:xfrm>
            <a:custGeom>
              <a:avLst/>
              <a:gdLst/>
              <a:ahLst/>
              <a:cxnLst/>
              <a:rect r="r" b="b" t="t" l="l"/>
              <a:pathLst>
                <a:path h="934720" w="11490960">
                  <a:moveTo>
                    <a:pt x="0" y="0"/>
                  </a:moveTo>
                  <a:lnTo>
                    <a:pt x="11490960" y="0"/>
                  </a:lnTo>
                  <a:lnTo>
                    <a:pt x="11490960" y="934720"/>
                  </a:lnTo>
                  <a:lnTo>
                    <a:pt x="0" y="934720"/>
                  </a:lnTo>
                  <a:lnTo>
                    <a:pt x="0" y="0"/>
                  </a:lnTo>
                  <a:close/>
                </a:path>
              </a:pathLst>
            </a:custGeom>
            <a:blipFill>
              <a:blip r:embed="rId4"/>
              <a:stretch>
                <a:fillRect l="-11" t="0" r="-11" b="0"/>
              </a:stretch>
            </a:blipFill>
          </p:spPr>
        </p:sp>
      </p:grpSp>
      <p:grpSp>
        <p:nvGrpSpPr>
          <p:cNvPr name="Group 12" id="12"/>
          <p:cNvGrpSpPr/>
          <p:nvPr/>
        </p:nvGrpSpPr>
        <p:grpSpPr>
          <a:xfrm rot="0">
            <a:off x="0" y="0"/>
            <a:ext cx="18287543" cy="10287000"/>
            <a:chOff x="0" y="0"/>
            <a:chExt cx="24383390" cy="13716000"/>
          </a:xfrm>
        </p:grpSpPr>
        <p:sp>
          <p:nvSpPr>
            <p:cNvPr name="Freeform 13" id="13"/>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close/>
                </a:path>
              </a:pathLst>
            </a:custGeom>
            <a:solidFill>
              <a:srgbClr val="000036"/>
            </a:solidFill>
          </p:spPr>
        </p:sp>
      </p:grpSp>
      <p:grpSp>
        <p:nvGrpSpPr>
          <p:cNvPr name="Group 14" id="14"/>
          <p:cNvGrpSpPr/>
          <p:nvPr/>
        </p:nvGrpSpPr>
        <p:grpSpPr>
          <a:xfrm rot="0">
            <a:off x="0" y="0"/>
            <a:ext cx="18287543" cy="10287000"/>
            <a:chOff x="0" y="0"/>
            <a:chExt cx="24383390" cy="13716000"/>
          </a:xfrm>
        </p:grpSpPr>
        <p:sp>
          <p:nvSpPr>
            <p:cNvPr name="Freeform 15" id="15" descr="preencoded.png"/>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lnTo>
                    <a:pt x="0" y="0"/>
                  </a:lnTo>
                  <a:close/>
                </a:path>
              </a:pathLst>
            </a:custGeom>
            <a:blipFill>
              <a:blip r:embed="rId2">
                <a:alphaModFix amt="15000"/>
              </a:blip>
              <a:stretch>
                <a:fillRect l="-16360" t="0" r="-16361" b="0"/>
              </a:stretch>
            </a:blipFill>
          </p:spPr>
        </p:sp>
      </p:grpSp>
      <p:grpSp>
        <p:nvGrpSpPr>
          <p:cNvPr name="Group 16" id="16"/>
          <p:cNvGrpSpPr/>
          <p:nvPr/>
        </p:nvGrpSpPr>
        <p:grpSpPr>
          <a:xfrm rot="0">
            <a:off x="857250" y="1829714"/>
            <a:ext cx="71323" cy="414223"/>
            <a:chOff x="0" y="0"/>
            <a:chExt cx="95098" cy="552298"/>
          </a:xfrm>
        </p:grpSpPr>
        <p:sp>
          <p:nvSpPr>
            <p:cNvPr name="Freeform 17" id="17"/>
            <p:cNvSpPr/>
            <p:nvPr/>
          </p:nvSpPr>
          <p:spPr>
            <a:xfrm flipH="false" flipV="false" rot="0">
              <a:off x="0" y="0"/>
              <a:ext cx="95123" cy="552323"/>
            </a:xfrm>
            <a:custGeom>
              <a:avLst/>
              <a:gdLst/>
              <a:ahLst/>
              <a:cxnLst/>
              <a:rect r="r" b="b" t="t" l="l"/>
              <a:pathLst>
                <a:path h="552323" w="95123">
                  <a:moveTo>
                    <a:pt x="0" y="0"/>
                  </a:moveTo>
                  <a:lnTo>
                    <a:pt x="95123" y="0"/>
                  </a:lnTo>
                  <a:lnTo>
                    <a:pt x="95123" y="552323"/>
                  </a:lnTo>
                  <a:lnTo>
                    <a:pt x="0" y="552323"/>
                  </a:lnTo>
                  <a:close/>
                </a:path>
              </a:pathLst>
            </a:custGeom>
            <a:solidFill>
              <a:srgbClr val="88E555"/>
            </a:solidFill>
          </p:spPr>
        </p:sp>
      </p:grpSp>
      <p:grpSp>
        <p:nvGrpSpPr>
          <p:cNvPr name="Group 18" id="18"/>
          <p:cNvGrpSpPr/>
          <p:nvPr/>
        </p:nvGrpSpPr>
        <p:grpSpPr>
          <a:xfrm rot="0">
            <a:off x="13627781" y="1746123"/>
            <a:ext cx="3813408" cy="583043"/>
            <a:chOff x="0" y="0"/>
            <a:chExt cx="4902810" cy="749605"/>
          </a:xfrm>
        </p:grpSpPr>
        <p:sp>
          <p:nvSpPr>
            <p:cNvPr name="Freeform 19" id="19"/>
            <p:cNvSpPr/>
            <p:nvPr/>
          </p:nvSpPr>
          <p:spPr>
            <a:xfrm flipH="false" flipV="false" rot="0">
              <a:off x="0" y="0"/>
              <a:ext cx="4902835" cy="749554"/>
            </a:xfrm>
            <a:custGeom>
              <a:avLst/>
              <a:gdLst/>
              <a:ahLst/>
              <a:cxnLst/>
              <a:rect r="r" b="b" t="t" l="l"/>
              <a:pathLst>
                <a:path h="749554" w="4902835">
                  <a:moveTo>
                    <a:pt x="0" y="199263"/>
                  </a:moveTo>
                  <a:cubicBezTo>
                    <a:pt x="0" y="89154"/>
                    <a:pt x="89154" y="0"/>
                    <a:pt x="199263" y="0"/>
                  </a:cubicBezTo>
                  <a:lnTo>
                    <a:pt x="4703572" y="0"/>
                  </a:lnTo>
                  <a:cubicBezTo>
                    <a:pt x="4813681" y="0"/>
                    <a:pt x="4902835" y="89154"/>
                    <a:pt x="4902835" y="199263"/>
                  </a:cubicBezTo>
                  <a:lnTo>
                    <a:pt x="4902835" y="550291"/>
                  </a:lnTo>
                  <a:cubicBezTo>
                    <a:pt x="4902835" y="660400"/>
                    <a:pt x="4813681" y="749554"/>
                    <a:pt x="4703572" y="749554"/>
                  </a:cubicBezTo>
                  <a:lnTo>
                    <a:pt x="199263" y="749554"/>
                  </a:lnTo>
                  <a:cubicBezTo>
                    <a:pt x="89154" y="749554"/>
                    <a:pt x="0" y="660400"/>
                    <a:pt x="0" y="550291"/>
                  </a:cubicBezTo>
                  <a:close/>
                </a:path>
              </a:pathLst>
            </a:custGeom>
            <a:solidFill>
              <a:srgbClr val="FFFFFF">
                <a:alpha val="784"/>
              </a:srgbClr>
            </a:solidFill>
            <a:ln w="19050" cap="sq">
              <a:solidFill>
                <a:srgbClr val="34D399"/>
              </a:solidFill>
              <a:prstDash val="solid"/>
              <a:miter/>
            </a:ln>
          </p:spPr>
        </p:sp>
      </p:grpSp>
      <p:grpSp>
        <p:nvGrpSpPr>
          <p:cNvPr name="Group 20" id="20"/>
          <p:cNvGrpSpPr/>
          <p:nvPr/>
        </p:nvGrpSpPr>
        <p:grpSpPr>
          <a:xfrm rot="0">
            <a:off x="847725" y="2559482"/>
            <a:ext cx="16592093" cy="3276600"/>
            <a:chOff x="0" y="0"/>
            <a:chExt cx="22122790" cy="4368800"/>
          </a:xfrm>
        </p:grpSpPr>
        <p:sp>
          <p:nvSpPr>
            <p:cNvPr name="Freeform 21" id="21"/>
            <p:cNvSpPr/>
            <p:nvPr/>
          </p:nvSpPr>
          <p:spPr>
            <a:xfrm flipH="false" flipV="false" rot="0">
              <a:off x="0" y="0"/>
              <a:ext cx="22122764" cy="4368800"/>
            </a:xfrm>
            <a:custGeom>
              <a:avLst/>
              <a:gdLst/>
              <a:ahLst/>
              <a:cxnLst/>
              <a:rect r="r" b="b" t="t" l="l"/>
              <a:pathLst>
                <a:path h="4368800" w="22122764">
                  <a:moveTo>
                    <a:pt x="0" y="96774"/>
                  </a:moveTo>
                  <a:cubicBezTo>
                    <a:pt x="0" y="43307"/>
                    <a:pt x="43307" y="0"/>
                    <a:pt x="96774" y="0"/>
                  </a:cubicBezTo>
                  <a:lnTo>
                    <a:pt x="22025990" y="0"/>
                  </a:lnTo>
                  <a:cubicBezTo>
                    <a:pt x="22079457" y="0"/>
                    <a:pt x="22122764" y="43307"/>
                    <a:pt x="22122764" y="96774"/>
                  </a:cubicBezTo>
                  <a:lnTo>
                    <a:pt x="22122764" y="4272026"/>
                  </a:lnTo>
                  <a:cubicBezTo>
                    <a:pt x="22122764" y="4325493"/>
                    <a:pt x="22079457" y="4368800"/>
                    <a:pt x="22025990" y="4368800"/>
                  </a:cubicBezTo>
                  <a:lnTo>
                    <a:pt x="96774" y="4368800"/>
                  </a:lnTo>
                  <a:cubicBezTo>
                    <a:pt x="43307" y="4368800"/>
                    <a:pt x="0" y="4325493"/>
                    <a:pt x="0" y="4272026"/>
                  </a:cubicBezTo>
                  <a:close/>
                </a:path>
              </a:pathLst>
            </a:custGeom>
            <a:solidFill>
              <a:srgbClr val="273383">
                <a:alpha val="8627"/>
              </a:srgbClr>
            </a:solidFill>
            <a:ln w="19050" cap="sq">
              <a:solidFill>
                <a:srgbClr val="88E555"/>
              </a:solidFill>
              <a:prstDash val="solid"/>
              <a:miter/>
            </a:ln>
          </p:spPr>
        </p:sp>
      </p:grpSp>
      <p:grpSp>
        <p:nvGrpSpPr>
          <p:cNvPr name="Group 22" id="22"/>
          <p:cNvGrpSpPr/>
          <p:nvPr/>
        </p:nvGrpSpPr>
        <p:grpSpPr>
          <a:xfrm rot="0">
            <a:off x="870966" y="2582723"/>
            <a:ext cx="1656893" cy="656996"/>
            <a:chOff x="0" y="0"/>
            <a:chExt cx="2209190" cy="875995"/>
          </a:xfrm>
        </p:grpSpPr>
        <p:sp>
          <p:nvSpPr>
            <p:cNvPr name="Freeform 23" id="23"/>
            <p:cNvSpPr/>
            <p:nvPr/>
          </p:nvSpPr>
          <p:spPr>
            <a:xfrm flipH="false" flipV="false" rot="0">
              <a:off x="0" y="0"/>
              <a:ext cx="2209165" cy="876046"/>
            </a:xfrm>
            <a:custGeom>
              <a:avLst/>
              <a:gdLst/>
              <a:ahLst/>
              <a:cxnLst/>
              <a:rect r="r" b="b" t="t" l="l"/>
              <a:pathLst>
                <a:path h="876046" w="2209165">
                  <a:moveTo>
                    <a:pt x="0" y="0"/>
                  </a:moveTo>
                  <a:lnTo>
                    <a:pt x="2209165" y="0"/>
                  </a:lnTo>
                  <a:lnTo>
                    <a:pt x="2209165" y="876046"/>
                  </a:lnTo>
                  <a:lnTo>
                    <a:pt x="0" y="876046"/>
                  </a:lnTo>
                  <a:close/>
                </a:path>
              </a:pathLst>
            </a:custGeom>
            <a:solidFill>
              <a:srgbClr val="273383"/>
            </a:solidFill>
          </p:spPr>
        </p:sp>
      </p:grpSp>
      <p:grpSp>
        <p:nvGrpSpPr>
          <p:cNvPr name="Group 24" id="24"/>
          <p:cNvGrpSpPr/>
          <p:nvPr/>
        </p:nvGrpSpPr>
        <p:grpSpPr>
          <a:xfrm rot="0">
            <a:off x="2526487" y="2582723"/>
            <a:ext cx="3315157" cy="656996"/>
            <a:chOff x="0" y="0"/>
            <a:chExt cx="4420210" cy="875995"/>
          </a:xfrm>
        </p:grpSpPr>
        <p:sp>
          <p:nvSpPr>
            <p:cNvPr name="Freeform 25" id="25"/>
            <p:cNvSpPr/>
            <p:nvPr/>
          </p:nvSpPr>
          <p:spPr>
            <a:xfrm flipH="false" flipV="false" rot="0">
              <a:off x="0" y="0"/>
              <a:ext cx="4420235" cy="876046"/>
            </a:xfrm>
            <a:custGeom>
              <a:avLst/>
              <a:gdLst/>
              <a:ahLst/>
              <a:cxnLst/>
              <a:rect r="r" b="b" t="t" l="l"/>
              <a:pathLst>
                <a:path h="876046" w="4420235">
                  <a:moveTo>
                    <a:pt x="0" y="0"/>
                  </a:moveTo>
                  <a:lnTo>
                    <a:pt x="4420235" y="0"/>
                  </a:lnTo>
                  <a:lnTo>
                    <a:pt x="4420235" y="876046"/>
                  </a:lnTo>
                  <a:lnTo>
                    <a:pt x="0" y="876046"/>
                  </a:lnTo>
                  <a:close/>
                </a:path>
              </a:pathLst>
            </a:custGeom>
            <a:solidFill>
              <a:srgbClr val="273383"/>
            </a:solidFill>
          </p:spPr>
        </p:sp>
      </p:grpSp>
      <p:grpSp>
        <p:nvGrpSpPr>
          <p:cNvPr name="Group 26" id="26"/>
          <p:cNvGrpSpPr/>
          <p:nvPr/>
        </p:nvGrpSpPr>
        <p:grpSpPr>
          <a:xfrm rot="0">
            <a:off x="5834786" y="2582723"/>
            <a:ext cx="6628943" cy="656996"/>
            <a:chOff x="0" y="0"/>
            <a:chExt cx="8838590" cy="875995"/>
          </a:xfrm>
        </p:grpSpPr>
        <p:sp>
          <p:nvSpPr>
            <p:cNvPr name="Freeform 27" id="27"/>
            <p:cNvSpPr/>
            <p:nvPr/>
          </p:nvSpPr>
          <p:spPr>
            <a:xfrm flipH="false" flipV="false" rot="0">
              <a:off x="0" y="0"/>
              <a:ext cx="8838565" cy="876046"/>
            </a:xfrm>
            <a:custGeom>
              <a:avLst/>
              <a:gdLst/>
              <a:ahLst/>
              <a:cxnLst/>
              <a:rect r="r" b="b" t="t" l="l"/>
              <a:pathLst>
                <a:path h="876046" w="8838565">
                  <a:moveTo>
                    <a:pt x="0" y="0"/>
                  </a:moveTo>
                  <a:lnTo>
                    <a:pt x="8838565" y="0"/>
                  </a:lnTo>
                  <a:lnTo>
                    <a:pt x="8838565" y="876046"/>
                  </a:lnTo>
                  <a:lnTo>
                    <a:pt x="0" y="876046"/>
                  </a:lnTo>
                  <a:close/>
                </a:path>
              </a:pathLst>
            </a:custGeom>
            <a:solidFill>
              <a:srgbClr val="273383"/>
            </a:solidFill>
          </p:spPr>
        </p:sp>
      </p:grpSp>
      <p:grpSp>
        <p:nvGrpSpPr>
          <p:cNvPr name="Group 28" id="28"/>
          <p:cNvGrpSpPr/>
          <p:nvPr/>
        </p:nvGrpSpPr>
        <p:grpSpPr>
          <a:xfrm rot="0">
            <a:off x="12452756" y="2582723"/>
            <a:ext cx="4972050" cy="656996"/>
            <a:chOff x="0" y="0"/>
            <a:chExt cx="6629400" cy="875995"/>
          </a:xfrm>
        </p:grpSpPr>
        <p:sp>
          <p:nvSpPr>
            <p:cNvPr name="Freeform 29" id="29"/>
            <p:cNvSpPr/>
            <p:nvPr/>
          </p:nvSpPr>
          <p:spPr>
            <a:xfrm flipH="false" flipV="false" rot="0">
              <a:off x="0" y="0"/>
              <a:ext cx="6629400" cy="876046"/>
            </a:xfrm>
            <a:custGeom>
              <a:avLst/>
              <a:gdLst/>
              <a:ahLst/>
              <a:cxnLst/>
              <a:rect r="r" b="b" t="t" l="l"/>
              <a:pathLst>
                <a:path h="876046" w="6629400">
                  <a:moveTo>
                    <a:pt x="0" y="0"/>
                  </a:moveTo>
                  <a:lnTo>
                    <a:pt x="6629400" y="0"/>
                  </a:lnTo>
                  <a:lnTo>
                    <a:pt x="6629400" y="876046"/>
                  </a:lnTo>
                  <a:lnTo>
                    <a:pt x="0" y="876046"/>
                  </a:lnTo>
                  <a:close/>
                </a:path>
              </a:pathLst>
            </a:custGeom>
            <a:solidFill>
              <a:srgbClr val="273383"/>
            </a:solidFill>
          </p:spPr>
        </p:sp>
      </p:grpSp>
      <p:grpSp>
        <p:nvGrpSpPr>
          <p:cNvPr name="Group 30" id="30"/>
          <p:cNvGrpSpPr/>
          <p:nvPr/>
        </p:nvGrpSpPr>
        <p:grpSpPr>
          <a:xfrm rot="0">
            <a:off x="870966" y="3906317"/>
            <a:ext cx="1656893" cy="13716"/>
            <a:chOff x="0" y="0"/>
            <a:chExt cx="2209190" cy="18288"/>
          </a:xfrm>
        </p:grpSpPr>
        <p:sp>
          <p:nvSpPr>
            <p:cNvPr name="Freeform 31" id="31"/>
            <p:cNvSpPr/>
            <p:nvPr/>
          </p:nvSpPr>
          <p:spPr>
            <a:xfrm flipH="false" flipV="false" rot="0">
              <a:off x="0" y="0"/>
              <a:ext cx="2209165" cy="18288"/>
            </a:xfrm>
            <a:custGeom>
              <a:avLst/>
              <a:gdLst/>
              <a:ahLst/>
              <a:cxnLst/>
              <a:rect r="r" b="b" t="t" l="l"/>
              <a:pathLst>
                <a:path h="18288" w="2209165">
                  <a:moveTo>
                    <a:pt x="0" y="0"/>
                  </a:moveTo>
                  <a:lnTo>
                    <a:pt x="2209165" y="0"/>
                  </a:lnTo>
                  <a:lnTo>
                    <a:pt x="2209165" y="18288"/>
                  </a:lnTo>
                  <a:lnTo>
                    <a:pt x="0" y="18288"/>
                  </a:lnTo>
                  <a:close/>
                </a:path>
              </a:pathLst>
            </a:custGeom>
            <a:solidFill>
              <a:srgbClr val="FFFFFF">
                <a:alpha val="784"/>
              </a:srgbClr>
            </a:solidFill>
          </p:spPr>
        </p:sp>
      </p:grpSp>
      <p:grpSp>
        <p:nvGrpSpPr>
          <p:cNvPr name="Group 32" id="32"/>
          <p:cNvGrpSpPr/>
          <p:nvPr/>
        </p:nvGrpSpPr>
        <p:grpSpPr>
          <a:xfrm rot="0">
            <a:off x="2526487" y="3906317"/>
            <a:ext cx="3315157" cy="13716"/>
            <a:chOff x="0" y="0"/>
            <a:chExt cx="4420210" cy="18288"/>
          </a:xfrm>
        </p:grpSpPr>
        <p:sp>
          <p:nvSpPr>
            <p:cNvPr name="Freeform 33" id="33"/>
            <p:cNvSpPr/>
            <p:nvPr/>
          </p:nvSpPr>
          <p:spPr>
            <a:xfrm flipH="false" flipV="false" rot="0">
              <a:off x="0" y="0"/>
              <a:ext cx="4420235" cy="18288"/>
            </a:xfrm>
            <a:custGeom>
              <a:avLst/>
              <a:gdLst/>
              <a:ahLst/>
              <a:cxnLst/>
              <a:rect r="r" b="b" t="t" l="l"/>
              <a:pathLst>
                <a:path h="18288" w="4420235">
                  <a:moveTo>
                    <a:pt x="0" y="0"/>
                  </a:moveTo>
                  <a:lnTo>
                    <a:pt x="4420235" y="0"/>
                  </a:lnTo>
                  <a:lnTo>
                    <a:pt x="4420235" y="18288"/>
                  </a:lnTo>
                  <a:lnTo>
                    <a:pt x="0" y="18288"/>
                  </a:lnTo>
                  <a:close/>
                </a:path>
              </a:pathLst>
            </a:custGeom>
            <a:solidFill>
              <a:srgbClr val="FFFFFF">
                <a:alpha val="784"/>
              </a:srgbClr>
            </a:solidFill>
          </p:spPr>
        </p:sp>
      </p:grpSp>
      <p:grpSp>
        <p:nvGrpSpPr>
          <p:cNvPr name="Group 34" id="34"/>
          <p:cNvGrpSpPr/>
          <p:nvPr/>
        </p:nvGrpSpPr>
        <p:grpSpPr>
          <a:xfrm rot="0">
            <a:off x="5834786" y="3906317"/>
            <a:ext cx="6628943" cy="13716"/>
            <a:chOff x="0" y="0"/>
            <a:chExt cx="8838590" cy="18288"/>
          </a:xfrm>
        </p:grpSpPr>
        <p:sp>
          <p:nvSpPr>
            <p:cNvPr name="Freeform 35" id="35"/>
            <p:cNvSpPr/>
            <p:nvPr/>
          </p:nvSpPr>
          <p:spPr>
            <a:xfrm flipH="false" flipV="false" rot="0">
              <a:off x="0" y="0"/>
              <a:ext cx="8838565" cy="18288"/>
            </a:xfrm>
            <a:custGeom>
              <a:avLst/>
              <a:gdLst/>
              <a:ahLst/>
              <a:cxnLst/>
              <a:rect r="r" b="b" t="t" l="l"/>
              <a:pathLst>
                <a:path h="18288" w="8838565">
                  <a:moveTo>
                    <a:pt x="0" y="0"/>
                  </a:moveTo>
                  <a:lnTo>
                    <a:pt x="8838565" y="0"/>
                  </a:lnTo>
                  <a:lnTo>
                    <a:pt x="8838565" y="18288"/>
                  </a:lnTo>
                  <a:lnTo>
                    <a:pt x="0" y="18288"/>
                  </a:lnTo>
                  <a:close/>
                </a:path>
              </a:pathLst>
            </a:custGeom>
            <a:solidFill>
              <a:srgbClr val="FFFFFF">
                <a:alpha val="784"/>
              </a:srgbClr>
            </a:solidFill>
          </p:spPr>
        </p:sp>
      </p:grpSp>
      <p:grpSp>
        <p:nvGrpSpPr>
          <p:cNvPr name="Group 36" id="36"/>
          <p:cNvGrpSpPr/>
          <p:nvPr/>
        </p:nvGrpSpPr>
        <p:grpSpPr>
          <a:xfrm rot="0">
            <a:off x="12452756" y="3906317"/>
            <a:ext cx="4972050" cy="13716"/>
            <a:chOff x="0" y="0"/>
            <a:chExt cx="6629400" cy="18288"/>
          </a:xfrm>
        </p:grpSpPr>
        <p:sp>
          <p:nvSpPr>
            <p:cNvPr name="Freeform 37" id="37"/>
            <p:cNvSpPr/>
            <p:nvPr/>
          </p:nvSpPr>
          <p:spPr>
            <a:xfrm flipH="false" flipV="false" rot="0">
              <a:off x="0" y="0"/>
              <a:ext cx="6629400" cy="18288"/>
            </a:xfrm>
            <a:custGeom>
              <a:avLst/>
              <a:gdLst/>
              <a:ahLst/>
              <a:cxnLst/>
              <a:rect r="r" b="b" t="t" l="l"/>
              <a:pathLst>
                <a:path h="18288" w="6629400">
                  <a:moveTo>
                    <a:pt x="0" y="0"/>
                  </a:moveTo>
                  <a:lnTo>
                    <a:pt x="6629400" y="0"/>
                  </a:lnTo>
                  <a:lnTo>
                    <a:pt x="6629400" y="18288"/>
                  </a:lnTo>
                  <a:lnTo>
                    <a:pt x="0" y="18288"/>
                  </a:lnTo>
                  <a:close/>
                </a:path>
              </a:pathLst>
            </a:custGeom>
            <a:solidFill>
              <a:srgbClr val="FFFFFF">
                <a:alpha val="784"/>
              </a:srgbClr>
            </a:solidFill>
          </p:spPr>
        </p:sp>
      </p:grpSp>
      <p:grpSp>
        <p:nvGrpSpPr>
          <p:cNvPr name="Group 38" id="38"/>
          <p:cNvGrpSpPr/>
          <p:nvPr/>
        </p:nvGrpSpPr>
        <p:grpSpPr>
          <a:xfrm rot="0">
            <a:off x="870966" y="3910432"/>
            <a:ext cx="16545611" cy="685800"/>
            <a:chOff x="0" y="0"/>
            <a:chExt cx="22060814" cy="914400"/>
          </a:xfrm>
        </p:grpSpPr>
        <p:sp>
          <p:nvSpPr>
            <p:cNvPr name="Freeform 39" id="39"/>
            <p:cNvSpPr/>
            <p:nvPr/>
          </p:nvSpPr>
          <p:spPr>
            <a:xfrm flipH="false" flipV="false" rot="0">
              <a:off x="0" y="0"/>
              <a:ext cx="22060788" cy="914400"/>
            </a:xfrm>
            <a:custGeom>
              <a:avLst/>
              <a:gdLst/>
              <a:ahLst/>
              <a:cxnLst/>
              <a:rect r="r" b="b" t="t" l="l"/>
              <a:pathLst>
                <a:path h="914400" w="22060788">
                  <a:moveTo>
                    <a:pt x="0" y="0"/>
                  </a:moveTo>
                  <a:lnTo>
                    <a:pt x="22060788" y="0"/>
                  </a:lnTo>
                  <a:lnTo>
                    <a:pt x="22060788" y="914400"/>
                  </a:lnTo>
                  <a:lnTo>
                    <a:pt x="0" y="914400"/>
                  </a:lnTo>
                  <a:close/>
                </a:path>
              </a:pathLst>
            </a:custGeom>
            <a:solidFill>
              <a:srgbClr val="FFFFFF">
                <a:alpha val="0"/>
              </a:srgbClr>
            </a:solidFill>
          </p:spPr>
        </p:sp>
      </p:grpSp>
      <p:grpSp>
        <p:nvGrpSpPr>
          <p:cNvPr name="Group 40" id="40"/>
          <p:cNvGrpSpPr/>
          <p:nvPr/>
        </p:nvGrpSpPr>
        <p:grpSpPr>
          <a:xfrm rot="0">
            <a:off x="870966" y="4582516"/>
            <a:ext cx="1656893" cy="13716"/>
            <a:chOff x="0" y="0"/>
            <a:chExt cx="2209190" cy="18288"/>
          </a:xfrm>
        </p:grpSpPr>
        <p:sp>
          <p:nvSpPr>
            <p:cNvPr name="Freeform 41" id="41"/>
            <p:cNvSpPr/>
            <p:nvPr/>
          </p:nvSpPr>
          <p:spPr>
            <a:xfrm flipH="false" flipV="false" rot="0">
              <a:off x="0" y="0"/>
              <a:ext cx="2209165" cy="18288"/>
            </a:xfrm>
            <a:custGeom>
              <a:avLst/>
              <a:gdLst/>
              <a:ahLst/>
              <a:cxnLst/>
              <a:rect r="r" b="b" t="t" l="l"/>
              <a:pathLst>
                <a:path h="18288" w="2209165">
                  <a:moveTo>
                    <a:pt x="0" y="0"/>
                  </a:moveTo>
                  <a:lnTo>
                    <a:pt x="2209165" y="0"/>
                  </a:lnTo>
                  <a:lnTo>
                    <a:pt x="2209165" y="18288"/>
                  </a:lnTo>
                  <a:lnTo>
                    <a:pt x="0" y="18288"/>
                  </a:lnTo>
                  <a:close/>
                </a:path>
              </a:pathLst>
            </a:custGeom>
            <a:solidFill>
              <a:srgbClr val="FFFFFF">
                <a:alpha val="784"/>
              </a:srgbClr>
            </a:solidFill>
          </p:spPr>
        </p:sp>
      </p:grpSp>
      <p:grpSp>
        <p:nvGrpSpPr>
          <p:cNvPr name="Group 42" id="42"/>
          <p:cNvGrpSpPr/>
          <p:nvPr/>
        </p:nvGrpSpPr>
        <p:grpSpPr>
          <a:xfrm rot="0">
            <a:off x="2526487" y="4582516"/>
            <a:ext cx="3315157" cy="13716"/>
            <a:chOff x="0" y="0"/>
            <a:chExt cx="4420210" cy="18288"/>
          </a:xfrm>
        </p:grpSpPr>
        <p:sp>
          <p:nvSpPr>
            <p:cNvPr name="Freeform 43" id="43"/>
            <p:cNvSpPr/>
            <p:nvPr/>
          </p:nvSpPr>
          <p:spPr>
            <a:xfrm flipH="false" flipV="false" rot="0">
              <a:off x="0" y="0"/>
              <a:ext cx="4420235" cy="18288"/>
            </a:xfrm>
            <a:custGeom>
              <a:avLst/>
              <a:gdLst/>
              <a:ahLst/>
              <a:cxnLst/>
              <a:rect r="r" b="b" t="t" l="l"/>
              <a:pathLst>
                <a:path h="18288" w="4420235">
                  <a:moveTo>
                    <a:pt x="0" y="0"/>
                  </a:moveTo>
                  <a:lnTo>
                    <a:pt x="4420235" y="0"/>
                  </a:lnTo>
                  <a:lnTo>
                    <a:pt x="4420235" y="18288"/>
                  </a:lnTo>
                  <a:lnTo>
                    <a:pt x="0" y="18288"/>
                  </a:lnTo>
                  <a:close/>
                </a:path>
              </a:pathLst>
            </a:custGeom>
            <a:solidFill>
              <a:srgbClr val="FFFFFF">
                <a:alpha val="784"/>
              </a:srgbClr>
            </a:solidFill>
          </p:spPr>
        </p:sp>
      </p:grpSp>
      <p:grpSp>
        <p:nvGrpSpPr>
          <p:cNvPr name="Group 44" id="44"/>
          <p:cNvGrpSpPr/>
          <p:nvPr/>
        </p:nvGrpSpPr>
        <p:grpSpPr>
          <a:xfrm rot="0">
            <a:off x="5834786" y="4582516"/>
            <a:ext cx="6628943" cy="13716"/>
            <a:chOff x="0" y="0"/>
            <a:chExt cx="8838590" cy="18288"/>
          </a:xfrm>
        </p:grpSpPr>
        <p:sp>
          <p:nvSpPr>
            <p:cNvPr name="Freeform 45" id="45"/>
            <p:cNvSpPr/>
            <p:nvPr/>
          </p:nvSpPr>
          <p:spPr>
            <a:xfrm flipH="false" flipV="false" rot="0">
              <a:off x="0" y="0"/>
              <a:ext cx="8838565" cy="18288"/>
            </a:xfrm>
            <a:custGeom>
              <a:avLst/>
              <a:gdLst/>
              <a:ahLst/>
              <a:cxnLst/>
              <a:rect r="r" b="b" t="t" l="l"/>
              <a:pathLst>
                <a:path h="18288" w="8838565">
                  <a:moveTo>
                    <a:pt x="0" y="0"/>
                  </a:moveTo>
                  <a:lnTo>
                    <a:pt x="8838565" y="0"/>
                  </a:lnTo>
                  <a:lnTo>
                    <a:pt x="8838565" y="18288"/>
                  </a:lnTo>
                  <a:lnTo>
                    <a:pt x="0" y="18288"/>
                  </a:lnTo>
                  <a:close/>
                </a:path>
              </a:pathLst>
            </a:custGeom>
            <a:solidFill>
              <a:srgbClr val="FFFFFF">
                <a:alpha val="784"/>
              </a:srgbClr>
            </a:solidFill>
          </p:spPr>
        </p:sp>
      </p:grpSp>
      <p:grpSp>
        <p:nvGrpSpPr>
          <p:cNvPr name="Group 46" id="46"/>
          <p:cNvGrpSpPr/>
          <p:nvPr/>
        </p:nvGrpSpPr>
        <p:grpSpPr>
          <a:xfrm rot="0">
            <a:off x="12452756" y="4582516"/>
            <a:ext cx="4972050" cy="13716"/>
            <a:chOff x="0" y="0"/>
            <a:chExt cx="6629400" cy="18288"/>
          </a:xfrm>
        </p:grpSpPr>
        <p:sp>
          <p:nvSpPr>
            <p:cNvPr name="Freeform 47" id="47"/>
            <p:cNvSpPr/>
            <p:nvPr/>
          </p:nvSpPr>
          <p:spPr>
            <a:xfrm flipH="false" flipV="false" rot="0">
              <a:off x="0" y="0"/>
              <a:ext cx="6629400" cy="18288"/>
            </a:xfrm>
            <a:custGeom>
              <a:avLst/>
              <a:gdLst/>
              <a:ahLst/>
              <a:cxnLst/>
              <a:rect r="r" b="b" t="t" l="l"/>
              <a:pathLst>
                <a:path h="18288" w="6629400">
                  <a:moveTo>
                    <a:pt x="0" y="0"/>
                  </a:moveTo>
                  <a:lnTo>
                    <a:pt x="6629400" y="0"/>
                  </a:lnTo>
                  <a:lnTo>
                    <a:pt x="6629400" y="18288"/>
                  </a:lnTo>
                  <a:lnTo>
                    <a:pt x="0" y="18288"/>
                  </a:lnTo>
                  <a:close/>
                </a:path>
              </a:pathLst>
            </a:custGeom>
            <a:solidFill>
              <a:srgbClr val="FFFFFF">
                <a:alpha val="784"/>
              </a:srgbClr>
            </a:solidFill>
          </p:spPr>
        </p:sp>
      </p:grpSp>
      <p:grpSp>
        <p:nvGrpSpPr>
          <p:cNvPr name="Group 48" id="48"/>
          <p:cNvGrpSpPr/>
          <p:nvPr/>
        </p:nvGrpSpPr>
        <p:grpSpPr>
          <a:xfrm rot="0">
            <a:off x="870966" y="5265572"/>
            <a:ext cx="1656893" cy="13716"/>
            <a:chOff x="0" y="0"/>
            <a:chExt cx="2209190" cy="18288"/>
          </a:xfrm>
        </p:grpSpPr>
        <p:sp>
          <p:nvSpPr>
            <p:cNvPr name="Freeform 49" id="49"/>
            <p:cNvSpPr/>
            <p:nvPr/>
          </p:nvSpPr>
          <p:spPr>
            <a:xfrm flipH="false" flipV="false" rot="0">
              <a:off x="0" y="0"/>
              <a:ext cx="2209165" cy="18288"/>
            </a:xfrm>
            <a:custGeom>
              <a:avLst/>
              <a:gdLst/>
              <a:ahLst/>
              <a:cxnLst/>
              <a:rect r="r" b="b" t="t" l="l"/>
              <a:pathLst>
                <a:path h="18288" w="2209165">
                  <a:moveTo>
                    <a:pt x="0" y="0"/>
                  </a:moveTo>
                  <a:lnTo>
                    <a:pt x="2209165" y="0"/>
                  </a:lnTo>
                  <a:lnTo>
                    <a:pt x="2209165" y="18288"/>
                  </a:lnTo>
                  <a:lnTo>
                    <a:pt x="0" y="18288"/>
                  </a:lnTo>
                  <a:close/>
                </a:path>
              </a:pathLst>
            </a:custGeom>
            <a:solidFill>
              <a:srgbClr val="FFFFFF">
                <a:alpha val="784"/>
              </a:srgbClr>
            </a:solidFill>
          </p:spPr>
        </p:sp>
      </p:grpSp>
      <p:grpSp>
        <p:nvGrpSpPr>
          <p:cNvPr name="Group 50" id="50"/>
          <p:cNvGrpSpPr/>
          <p:nvPr/>
        </p:nvGrpSpPr>
        <p:grpSpPr>
          <a:xfrm rot="0">
            <a:off x="2526487" y="5265572"/>
            <a:ext cx="3315157" cy="13716"/>
            <a:chOff x="0" y="0"/>
            <a:chExt cx="4420210" cy="18288"/>
          </a:xfrm>
        </p:grpSpPr>
        <p:sp>
          <p:nvSpPr>
            <p:cNvPr name="Freeform 51" id="51"/>
            <p:cNvSpPr/>
            <p:nvPr/>
          </p:nvSpPr>
          <p:spPr>
            <a:xfrm flipH="false" flipV="false" rot="0">
              <a:off x="0" y="0"/>
              <a:ext cx="4420235" cy="18288"/>
            </a:xfrm>
            <a:custGeom>
              <a:avLst/>
              <a:gdLst/>
              <a:ahLst/>
              <a:cxnLst/>
              <a:rect r="r" b="b" t="t" l="l"/>
              <a:pathLst>
                <a:path h="18288" w="4420235">
                  <a:moveTo>
                    <a:pt x="0" y="0"/>
                  </a:moveTo>
                  <a:lnTo>
                    <a:pt x="4420235" y="0"/>
                  </a:lnTo>
                  <a:lnTo>
                    <a:pt x="4420235" y="18288"/>
                  </a:lnTo>
                  <a:lnTo>
                    <a:pt x="0" y="18288"/>
                  </a:lnTo>
                  <a:close/>
                </a:path>
              </a:pathLst>
            </a:custGeom>
            <a:solidFill>
              <a:srgbClr val="FFFFFF">
                <a:alpha val="784"/>
              </a:srgbClr>
            </a:solidFill>
          </p:spPr>
        </p:sp>
      </p:grpSp>
      <p:grpSp>
        <p:nvGrpSpPr>
          <p:cNvPr name="Group 52" id="52"/>
          <p:cNvGrpSpPr/>
          <p:nvPr/>
        </p:nvGrpSpPr>
        <p:grpSpPr>
          <a:xfrm rot="0">
            <a:off x="5834786" y="5265572"/>
            <a:ext cx="6628943" cy="13716"/>
            <a:chOff x="0" y="0"/>
            <a:chExt cx="8838590" cy="18288"/>
          </a:xfrm>
        </p:grpSpPr>
        <p:sp>
          <p:nvSpPr>
            <p:cNvPr name="Freeform 53" id="53"/>
            <p:cNvSpPr/>
            <p:nvPr/>
          </p:nvSpPr>
          <p:spPr>
            <a:xfrm flipH="false" flipV="false" rot="0">
              <a:off x="0" y="0"/>
              <a:ext cx="8838565" cy="18288"/>
            </a:xfrm>
            <a:custGeom>
              <a:avLst/>
              <a:gdLst/>
              <a:ahLst/>
              <a:cxnLst/>
              <a:rect r="r" b="b" t="t" l="l"/>
              <a:pathLst>
                <a:path h="18288" w="8838565">
                  <a:moveTo>
                    <a:pt x="0" y="0"/>
                  </a:moveTo>
                  <a:lnTo>
                    <a:pt x="8838565" y="0"/>
                  </a:lnTo>
                  <a:lnTo>
                    <a:pt x="8838565" y="18288"/>
                  </a:lnTo>
                  <a:lnTo>
                    <a:pt x="0" y="18288"/>
                  </a:lnTo>
                  <a:close/>
                </a:path>
              </a:pathLst>
            </a:custGeom>
            <a:solidFill>
              <a:srgbClr val="FFFFFF">
                <a:alpha val="784"/>
              </a:srgbClr>
            </a:solidFill>
          </p:spPr>
        </p:sp>
      </p:grpSp>
      <p:grpSp>
        <p:nvGrpSpPr>
          <p:cNvPr name="Group 54" id="54"/>
          <p:cNvGrpSpPr/>
          <p:nvPr/>
        </p:nvGrpSpPr>
        <p:grpSpPr>
          <a:xfrm rot="0">
            <a:off x="12452756" y="5265572"/>
            <a:ext cx="4972050" cy="13716"/>
            <a:chOff x="0" y="0"/>
            <a:chExt cx="6629400" cy="18288"/>
          </a:xfrm>
        </p:grpSpPr>
        <p:sp>
          <p:nvSpPr>
            <p:cNvPr name="Freeform 55" id="55"/>
            <p:cNvSpPr/>
            <p:nvPr/>
          </p:nvSpPr>
          <p:spPr>
            <a:xfrm flipH="false" flipV="false" rot="0">
              <a:off x="0" y="0"/>
              <a:ext cx="6629400" cy="18288"/>
            </a:xfrm>
            <a:custGeom>
              <a:avLst/>
              <a:gdLst/>
              <a:ahLst/>
              <a:cxnLst/>
              <a:rect r="r" b="b" t="t" l="l"/>
              <a:pathLst>
                <a:path h="18288" w="6629400">
                  <a:moveTo>
                    <a:pt x="0" y="0"/>
                  </a:moveTo>
                  <a:lnTo>
                    <a:pt x="6629400" y="0"/>
                  </a:lnTo>
                  <a:lnTo>
                    <a:pt x="6629400" y="18288"/>
                  </a:lnTo>
                  <a:lnTo>
                    <a:pt x="0" y="18288"/>
                  </a:lnTo>
                  <a:close/>
                </a:path>
              </a:pathLst>
            </a:custGeom>
            <a:solidFill>
              <a:srgbClr val="FFFFFF">
                <a:alpha val="784"/>
              </a:srgbClr>
            </a:solidFill>
          </p:spPr>
        </p:sp>
      </p:grpSp>
      <p:grpSp>
        <p:nvGrpSpPr>
          <p:cNvPr name="Group 56" id="56"/>
          <p:cNvGrpSpPr/>
          <p:nvPr/>
        </p:nvGrpSpPr>
        <p:grpSpPr>
          <a:xfrm rot="0">
            <a:off x="870966" y="5276545"/>
            <a:ext cx="16545611" cy="685800"/>
            <a:chOff x="0" y="0"/>
            <a:chExt cx="22060814" cy="914400"/>
          </a:xfrm>
        </p:grpSpPr>
        <p:sp>
          <p:nvSpPr>
            <p:cNvPr name="Freeform 57" id="57"/>
            <p:cNvSpPr/>
            <p:nvPr/>
          </p:nvSpPr>
          <p:spPr>
            <a:xfrm flipH="false" flipV="false" rot="0">
              <a:off x="0" y="0"/>
              <a:ext cx="22060788" cy="914400"/>
            </a:xfrm>
            <a:custGeom>
              <a:avLst/>
              <a:gdLst/>
              <a:ahLst/>
              <a:cxnLst/>
              <a:rect r="r" b="b" t="t" l="l"/>
              <a:pathLst>
                <a:path h="914400" w="22060788">
                  <a:moveTo>
                    <a:pt x="0" y="0"/>
                  </a:moveTo>
                  <a:lnTo>
                    <a:pt x="22060788" y="0"/>
                  </a:lnTo>
                  <a:lnTo>
                    <a:pt x="22060788" y="914400"/>
                  </a:lnTo>
                  <a:lnTo>
                    <a:pt x="0" y="914400"/>
                  </a:lnTo>
                  <a:close/>
                </a:path>
              </a:pathLst>
            </a:custGeom>
            <a:solidFill>
              <a:srgbClr val="FFFFFF">
                <a:alpha val="0"/>
              </a:srgbClr>
            </a:solidFill>
          </p:spPr>
        </p:sp>
      </p:grpSp>
      <p:grpSp>
        <p:nvGrpSpPr>
          <p:cNvPr name="Group 58" id="58"/>
          <p:cNvGrpSpPr/>
          <p:nvPr/>
        </p:nvGrpSpPr>
        <p:grpSpPr>
          <a:xfrm rot="0">
            <a:off x="847725" y="6805955"/>
            <a:ext cx="16592093" cy="3062630"/>
            <a:chOff x="0" y="0"/>
            <a:chExt cx="22122790" cy="4083507"/>
          </a:xfrm>
        </p:grpSpPr>
        <p:sp>
          <p:nvSpPr>
            <p:cNvPr name="Freeform 59" id="59"/>
            <p:cNvSpPr/>
            <p:nvPr/>
          </p:nvSpPr>
          <p:spPr>
            <a:xfrm flipH="false" flipV="false" rot="0">
              <a:off x="0" y="0"/>
              <a:ext cx="22122766" cy="4083431"/>
            </a:xfrm>
            <a:custGeom>
              <a:avLst/>
              <a:gdLst/>
              <a:ahLst/>
              <a:cxnLst/>
              <a:rect r="r" b="b" t="t" l="l"/>
              <a:pathLst>
                <a:path h="4083431" w="22122766">
                  <a:moveTo>
                    <a:pt x="0" y="103632"/>
                  </a:moveTo>
                  <a:cubicBezTo>
                    <a:pt x="0" y="46482"/>
                    <a:pt x="46482" y="0"/>
                    <a:pt x="103632" y="0"/>
                  </a:cubicBezTo>
                  <a:lnTo>
                    <a:pt x="22019133" y="0"/>
                  </a:lnTo>
                  <a:cubicBezTo>
                    <a:pt x="22076411" y="0"/>
                    <a:pt x="22122766" y="46482"/>
                    <a:pt x="22122766" y="103632"/>
                  </a:cubicBezTo>
                  <a:lnTo>
                    <a:pt x="22122766" y="3979799"/>
                  </a:lnTo>
                  <a:cubicBezTo>
                    <a:pt x="22122766" y="4037076"/>
                    <a:pt x="22076283" y="4083431"/>
                    <a:pt x="22019133" y="4083431"/>
                  </a:cubicBezTo>
                  <a:lnTo>
                    <a:pt x="103632" y="4083431"/>
                  </a:lnTo>
                  <a:cubicBezTo>
                    <a:pt x="46355" y="4083431"/>
                    <a:pt x="0" y="4036949"/>
                    <a:pt x="0" y="3979799"/>
                  </a:cubicBezTo>
                  <a:close/>
                </a:path>
              </a:pathLst>
            </a:custGeom>
            <a:solidFill>
              <a:srgbClr val="FFFFFF">
                <a:alpha val="0"/>
              </a:srgbClr>
            </a:solidFill>
            <a:ln w="19050" cap="sq">
              <a:solidFill>
                <a:srgbClr val="1E3A8A"/>
              </a:solidFill>
              <a:prstDash val="solid"/>
              <a:miter/>
            </a:ln>
          </p:spPr>
        </p:sp>
      </p:grpSp>
      <p:grpSp>
        <p:nvGrpSpPr>
          <p:cNvPr name="Group 60" id="60"/>
          <p:cNvGrpSpPr/>
          <p:nvPr/>
        </p:nvGrpSpPr>
        <p:grpSpPr>
          <a:xfrm rot="0">
            <a:off x="1148105" y="7563079"/>
            <a:ext cx="15992704" cy="676046"/>
            <a:chOff x="0" y="0"/>
            <a:chExt cx="21323605" cy="901395"/>
          </a:xfrm>
        </p:grpSpPr>
        <p:sp>
          <p:nvSpPr>
            <p:cNvPr name="Freeform 61" id="61"/>
            <p:cNvSpPr/>
            <p:nvPr/>
          </p:nvSpPr>
          <p:spPr>
            <a:xfrm flipH="false" flipV="false" rot="0">
              <a:off x="0" y="0"/>
              <a:ext cx="21323680" cy="901446"/>
            </a:xfrm>
            <a:custGeom>
              <a:avLst/>
              <a:gdLst/>
              <a:ahLst/>
              <a:cxnLst/>
              <a:rect r="r" b="b" t="t" l="l"/>
              <a:pathLst>
                <a:path h="901446" w="21323680">
                  <a:moveTo>
                    <a:pt x="0" y="245491"/>
                  </a:moveTo>
                  <a:cubicBezTo>
                    <a:pt x="0" y="109855"/>
                    <a:pt x="109855" y="0"/>
                    <a:pt x="245491" y="0"/>
                  </a:cubicBezTo>
                  <a:lnTo>
                    <a:pt x="21078189" y="0"/>
                  </a:lnTo>
                  <a:cubicBezTo>
                    <a:pt x="21213699" y="0"/>
                    <a:pt x="21323680" y="109855"/>
                    <a:pt x="21323680" y="245491"/>
                  </a:cubicBezTo>
                  <a:lnTo>
                    <a:pt x="21323680" y="655955"/>
                  </a:lnTo>
                  <a:cubicBezTo>
                    <a:pt x="21323680" y="791464"/>
                    <a:pt x="21213826" y="901446"/>
                    <a:pt x="21078189" y="901446"/>
                  </a:cubicBezTo>
                  <a:lnTo>
                    <a:pt x="245491" y="901446"/>
                  </a:lnTo>
                  <a:cubicBezTo>
                    <a:pt x="109855" y="901446"/>
                    <a:pt x="0" y="791464"/>
                    <a:pt x="0" y="655955"/>
                  </a:cubicBezTo>
                  <a:close/>
                </a:path>
              </a:pathLst>
            </a:custGeom>
            <a:solidFill>
              <a:srgbClr val="FFFFFF">
                <a:alpha val="784"/>
              </a:srgbClr>
            </a:solidFill>
            <a:ln w="19050" cap="sq">
              <a:solidFill>
                <a:srgbClr val="AEFF82"/>
              </a:solidFill>
              <a:prstDash val="solid"/>
              <a:miter/>
            </a:ln>
          </p:spPr>
        </p:sp>
      </p:grpSp>
      <p:grpSp>
        <p:nvGrpSpPr>
          <p:cNvPr name="Group 62" id="62"/>
          <p:cNvGrpSpPr/>
          <p:nvPr/>
        </p:nvGrpSpPr>
        <p:grpSpPr>
          <a:xfrm rot="0">
            <a:off x="1148105" y="8892159"/>
            <a:ext cx="7863230" cy="676046"/>
            <a:chOff x="0" y="0"/>
            <a:chExt cx="10484307" cy="901395"/>
          </a:xfrm>
        </p:grpSpPr>
        <p:sp>
          <p:nvSpPr>
            <p:cNvPr name="Freeform 63" id="63"/>
            <p:cNvSpPr/>
            <p:nvPr/>
          </p:nvSpPr>
          <p:spPr>
            <a:xfrm flipH="false" flipV="false" rot="0">
              <a:off x="0" y="0"/>
              <a:ext cx="10484358" cy="901446"/>
            </a:xfrm>
            <a:custGeom>
              <a:avLst/>
              <a:gdLst/>
              <a:ahLst/>
              <a:cxnLst/>
              <a:rect r="r" b="b" t="t" l="l"/>
              <a:pathLst>
                <a:path h="901446" w="10484358">
                  <a:moveTo>
                    <a:pt x="0" y="245491"/>
                  </a:moveTo>
                  <a:cubicBezTo>
                    <a:pt x="0" y="109855"/>
                    <a:pt x="109855" y="0"/>
                    <a:pt x="245491" y="0"/>
                  </a:cubicBezTo>
                  <a:lnTo>
                    <a:pt x="10238867" y="0"/>
                  </a:lnTo>
                  <a:cubicBezTo>
                    <a:pt x="10374376" y="0"/>
                    <a:pt x="10484358" y="109855"/>
                    <a:pt x="10484358" y="245491"/>
                  </a:cubicBezTo>
                  <a:lnTo>
                    <a:pt x="10484358" y="655955"/>
                  </a:lnTo>
                  <a:cubicBezTo>
                    <a:pt x="10484358" y="791464"/>
                    <a:pt x="10374503" y="901446"/>
                    <a:pt x="10238867" y="901446"/>
                  </a:cubicBezTo>
                  <a:lnTo>
                    <a:pt x="245491" y="901446"/>
                  </a:lnTo>
                  <a:cubicBezTo>
                    <a:pt x="109855" y="901446"/>
                    <a:pt x="0" y="791464"/>
                    <a:pt x="0" y="655955"/>
                  </a:cubicBezTo>
                  <a:close/>
                </a:path>
              </a:pathLst>
            </a:custGeom>
            <a:solidFill>
              <a:srgbClr val="FFFFFF">
                <a:alpha val="784"/>
              </a:srgbClr>
            </a:solidFill>
            <a:ln w="19050" cap="sq">
              <a:solidFill>
                <a:srgbClr val="AEFF82"/>
              </a:solidFill>
              <a:prstDash val="solid"/>
              <a:miter/>
            </a:ln>
          </p:spPr>
        </p:sp>
      </p:grpSp>
      <p:grpSp>
        <p:nvGrpSpPr>
          <p:cNvPr name="Group 64" id="64"/>
          <p:cNvGrpSpPr/>
          <p:nvPr/>
        </p:nvGrpSpPr>
        <p:grpSpPr>
          <a:xfrm rot="0">
            <a:off x="9277579" y="8892159"/>
            <a:ext cx="7863230" cy="676046"/>
            <a:chOff x="0" y="0"/>
            <a:chExt cx="10484307" cy="901395"/>
          </a:xfrm>
        </p:grpSpPr>
        <p:sp>
          <p:nvSpPr>
            <p:cNvPr name="Freeform 65" id="65"/>
            <p:cNvSpPr/>
            <p:nvPr/>
          </p:nvSpPr>
          <p:spPr>
            <a:xfrm flipH="false" flipV="false" rot="0">
              <a:off x="0" y="0"/>
              <a:ext cx="10484358" cy="901446"/>
            </a:xfrm>
            <a:custGeom>
              <a:avLst/>
              <a:gdLst/>
              <a:ahLst/>
              <a:cxnLst/>
              <a:rect r="r" b="b" t="t" l="l"/>
              <a:pathLst>
                <a:path h="901446" w="10484358">
                  <a:moveTo>
                    <a:pt x="0" y="245491"/>
                  </a:moveTo>
                  <a:cubicBezTo>
                    <a:pt x="0" y="109855"/>
                    <a:pt x="109855" y="0"/>
                    <a:pt x="245491" y="0"/>
                  </a:cubicBezTo>
                  <a:lnTo>
                    <a:pt x="10238867" y="0"/>
                  </a:lnTo>
                  <a:cubicBezTo>
                    <a:pt x="10374376" y="0"/>
                    <a:pt x="10484358" y="109855"/>
                    <a:pt x="10484358" y="245491"/>
                  </a:cubicBezTo>
                  <a:lnTo>
                    <a:pt x="10484358" y="655955"/>
                  </a:lnTo>
                  <a:cubicBezTo>
                    <a:pt x="10484358" y="791464"/>
                    <a:pt x="10374503" y="901446"/>
                    <a:pt x="10238867" y="901446"/>
                  </a:cubicBezTo>
                  <a:lnTo>
                    <a:pt x="245491" y="901446"/>
                  </a:lnTo>
                  <a:cubicBezTo>
                    <a:pt x="109855" y="901446"/>
                    <a:pt x="0" y="791464"/>
                    <a:pt x="0" y="655955"/>
                  </a:cubicBezTo>
                  <a:close/>
                </a:path>
              </a:pathLst>
            </a:custGeom>
            <a:solidFill>
              <a:srgbClr val="FFFFFF">
                <a:alpha val="784"/>
              </a:srgbClr>
            </a:solidFill>
            <a:ln w="19050" cap="sq">
              <a:solidFill>
                <a:srgbClr val="AEFF82"/>
              </a:solidFill>
              <a:prstDash val="solid"/>
              <a:miter/>
            </a:ln>
          </p:spPr>
        </p:sp>
      </p:grpSp>
      <p:grpSp>
        <p:nvGrpSpPr>
          <p:cNvPr name="Group 66" id="66"/>
          <p:cNvGrpSpPr/>
          <p:nvPr/>
        </p:nvGrpSpPr>
        <p:grpSpPr>
          <a:xfrm rot="0">
            <a:off x="1142543" y="1720825"/>
            <a:ext cx="3080614" cy="781088"/>
            <a:chOff x="0" y="0"/>
            <a:chExt cx="4107485" cy="1041451"/>
          </a:xfrm>
        </p:grpSpPr>
        <p:sp>
          <p:nvSpPr>
            <p:cNvPr name="Freeform 67" id="67"/>
            <p:cNvSpPr/>
            <p:nvPr/>
          </p:nvSpPr>
          <p:spPr>
            <a:xfrm flipH="false" flipV="false" rot="0">
              <a:off x="0" y="0"/>
              <a:ext cx="4107484" cy="1041451"/>
            </a:xfrm>
            <a:custGeom>
              <a:avLst/>
              <a:gdLst/>
              <a:ahLst/>
              <a:cxnLst/>
              <a:rect r="r" b="b" t="t" l="l"/>
              <a:pathLst>
                <a:path h="1041451" w="4107484">
                  <a:moveTo>
                    <a:pt x="0" y="0"/>
                  </a:moveTo>
                  <a:lnTo>
                    <a:pt x="4107484" y="0"/>
                  </a:lnTo>
                  <a:lnTo>
                    <a:pt x="4107484" y="1041451"/>
                  </a:lnTo>
                  <a:lnTo>
                    <a:pt x="0" y="1041451"/>
                  </a:lnTo>
                  <a:close/>
                </a:path>
              </a:pathLst>
            </a:custGeom>
            <a:blipFill>
              <a:blip r:embed="rId5">
                <a:alphaModFix amt="0"/>
              </a:blip>
              <a:stretch>
                <a:fillRect l="0" t="-40236" r="0" b="-13461"/>
              </a:stretch>
            </a:blipFill>
          </p:spPr>
        </p:sp>
        <p:sp>
          <p:nvSpPr>
            <p:cNvPr name="TextBox 68" id="68"/>
            <p:cNvSpPr txBox="true"/>
            <p:nvPr/>
          </p:nvSpPr>
          <p:spPr>
            <a:xfrm>
              <a:off x="0" y="-19050"/>
              <a:ext cx="4107485" cy="1060501"/>
            </a:xfrm>
            <a:prstGeom prst="rect">
              <a:avLst/>
            </a:prstGeom>
          </p:spPr>
          <p:txBody>
            <a:bodyPr anchor="ctr" rtlCol="false" tIns="0" lIns="0" bIns="0" rIns="0"/>
            <a:lstStyle/>
            <a:p>
              <a:pPr algn="l">
                <a:lnSpc>
                  <a:spcPts val="3779"/>
                </a:lnSpc>
              </a:pPr>
              <a:r>
                <a:rPr lang="en-US" b="true" sz="3150">
                  <a:solidFill>
                    <a:srgbClr val="FFFFFF"/>
                  </a:solidFill>
                  <a:latin typeface="Poppins Bold"/>
                  <a:ea typeface="Poppins Bold"/>
                  <a:cs typeface="Poppins Bold"/>
                  <a:sym typeface="Poppins Bold"/>
                </a:rPr>
                <a:t>TEAM DETAILS</a:t>
              </a:r>
            </a:p>
          </p:txBody>
        </p:sp>
      </p:grpSp>
      <p:grpSp>
        <p:nvGrpSpPr>
          <p:cNvPr name="Group 69" id="69"/>
          <p:cNvGrpSpPr/>
          <p:nvPr/>
        </p:nvGrpSpPr>
        <p:grpSpPr>
          <a:xfrm rot="0">
            <a:off x="11969517" y="1872234"/>
            <a:ext cx="1658264" cy="329184"/>
            <a:chOff x="0" y="0"/>
            <a:chExt cx="2211019" cy="438912"/>
          </a:xfrm>
        </p:grpSpPr>
        <p:sp>
          <p:nvSpPr>
            <p:cNvPr name="Freeform 70" id="70"/>
            <p:cNvSpPr/>
            <p:nvPr/>
          </p:nvSpPr>
          <p:spPr>
            <a:xfrm flipH="false" flipV="false" rot="0">
              <a:off x="0" y="0"/>
              <a:ext cx="2211020" cy="438912"/>
            </a:xfrm>
            <a:custGeom>
              <a:avLst/>
              <a:gdLst/>
              <a:ahLst/>
              <a:cxnLst/>
              <a:rect r="r" b="b" t="t" l="l"/>
              <a:pathLst>
                <a:path h="438912" w="2211020">
                  <a:moveTo>
                    <a:pt x="0" y="0"/>
                  </a:moveTo>
                  <a:lnTo>
                    <a:pt x="2211020" y="0"/>
                  </a:lnTo>
                  <a:lnTo>
                    <a:pt x="2211020" y="438912"/>
                  </a:lnTo>
                  <a:lnTo>
                    <a:pt x="0" y="438912"/>
                  </a:lnTo>
                  <a:close/>
                </a:path>
              </a:pathLst>
            </a:custGeom>
            <a:blipFill>
              <a:blip r:embed="rId5">
                <a:alphaModFix amt="0"/>
              </a:blip>
              <a:stretch>
                <a:fillRect l="0" t="-48155" r="0" b="-48155"/>
              </a:stretch>
            </a:blipFill>
          </p:spPr>
        </p:sp>
        <p:sp>
          <p:nvSpPr>
            <p:cNvPr name="TextBox 71" id="71"/>
            <p:cNvSpPr txBox="true"/>
            <p:nvPr/>
          </p:nvSpPr>
          <p:spPr>
            <a:xfrm>
              <a:off x="0" y="-19050"/>
              <a:ext cx="2211019" cy="457962"/>
            </a:xfrm>
            <a:prstGeom prst="rect">
              <a:avLst/>
            </a:prstGeom>
          </p:spPr>
          <p:txBody>
            <a:bodyPr anchor="ctr" rtlCol="false" tIns="0" lIns="0" bIns="0" rIns="0"/>
            <a:lstStyle/>
            <a:p>
              <a:pPr algn="l">
                <a:lnSpc>
                  <a:spcPts val="2160"/>
                </a:lnSpc>
              </a:pPr>
              <a:r>
                <a:rPr lang="en-US" sz="1800" b="true">
                  <a:solidFill>
                    <a:srgbClr val="AEFF82"/>
                  </a:solidFill>
                  <a:latin typeface="Poppins Bold"/>
                  <a:ea typeface="Poppins Bold"/>
                  <a:cs typeface="Poppins Bold"/>
                  <a:sym typeface="Poppins Bold"/>
                </a:rPr>
                <a:t>Team Name:</a:t>
              </a:r>
            </a:p>
          </p:txBody>
        </p:sp>
      </p:grpSp>
      <p:grpSp>
        <p:nvGrpSpPr>
          <p:cNvPr name="Group 72" id="72"/>
          <p:cNvGrpSpPr/>
          <p:nvPr/>
        </p:nvGrpSpPr>
        <p:grpSpPr>
          <a:xfrm rot="0">
            <a:off x="1157630" y="2754173"/>
            <a:ext cx="898398" cy="286664"/>
            <a:chOff x="0" y="0"/>
            <a:chExt cx="1197864" cy="382219"/>
          </a:xfrm>
        </p:grpSpPr>
        <p:sp>
          <p:nvSpPr>
            <p:cNvPr name="Freeform 73" id="73"/>
            <p:cNvSpPr/>
            <p:nvPr/>
          </p:nvSpPr>
          <p:spPr>
            <a:xfrm flipH="false" flipV="false" rot="0">
              <a:off x="0" y="0"/>
              <a:ext cx="1197864" cy="382220"/>
            </a:xfrm>
            <a:custGeom>
              <a:avLst/>
              <a:gdLst/>
              <a:ahLst/>
              <a:cxnLst/>
              <a:rect r="r" b="b" t="t" l="l"/>
              <a:pathLst>
                <a:path h="382220" w="1197864">
                  <a:moveTo>
                    <a:pt x="0" y="0"/>
                  </a:moveTo>
                  <a:lnTo>
                    <a:pt x="1197864" y="0"/>
                  </a:lnTo>
                  <a:lnTo>
                    <a:pt x="1197864" y="382220"/>
                  </a:lnTo>
                  <a:lnTo>
                    <a:pt x="0" y="382220"/>
                  </a:lnTo>
                  <a:close/>
                </a:path>
              </a:pathLst>
            </a:custGeom>
            <a:blipFill>
              <a:blip r:embed="rId5">
                <a:alphaModFix amt="0"/>
              </a:blip>
              <a:stretch>
                <a:fillRect l="0" t="-11065" r="0" b="-11065"/>
              </a:stretch>
            </a:blipFill>
          </p:spPr>
        </p:sp>
        <p:sp>
          <p:nvSpPr>
            <p:cNvPr name="TextBox 74" id="74"/>
            <p:cNvSpPr txBox="true"/>
            <p:nvPr/>
          </p:nvSpPr>
          <p:spPr>
            <a:xfrm>
              <a:off x="0" y="-19050"/>
              <a:ext cx="1197864" cy="401269"/>
            </a:xfrm>
            <a:prstGeom prst="rect">
              <a:avLst/>
            </a:prstGeom>
          </p:spPr>
          <p:txBody>
            <a:bodyPr anchor="ctr" rtlCol="false" tIns="0" lIns="0" bIns="0" rIns="0"/>
            <a:lstStyle/>
            <a:p>
              <a:pPr algn="l">
                <a:lnSpc>
                  <a:spcPts val="1800"/>
                </a:lnSpc>
              </a:pPr>
              <a:r>
                <a:rPr lang="en-US" sz="1500" b="true">
                  <a:solidFill>
                    <a:srgbClr val="AEFF82"/>
                  </a:solidFill>
                  <a:latin typeface="Poppins Bold"/>
                  <a:ea typeface="Poppins Bold"/>
                  <a:cs typeface="Poppins Bold"/>
                  <a:sym typeface="Poppins Bold"/>
                </a:rPr>
                <a:t>SR. NO</a:t>
              </a:r>
            </a:p>
          </p:txBody>
        </p:sp>
      </p:grpSp>
      <p:grpSp>
        <p:nvGrpSpPr>
          <p:cNvPr name="Group 75" id="75"/>
          <p:cNvGrpSpPr/>
          <p:nvPr/>
        </p:nvGrpSpPr>
        <p:grpSpPr>
          <a:xfrm rot="0">
            <a:off x="2811780" y="2754173"/>
            <a:ext cx="698144" cy="286664"/>
            <a:chOff x="0" y="0"/>
            <a:chExt cx="930859" cy="382219"/>
          </a:xfrm>
        </p:grpSpPr>
        <p:sp>
          <p:nvSpPr>
            <p:cNvPr name="Freeform 76" id="76"/>
            <p:cNvSpPr/>
            <p:nvPr/>
          </p:nvSpPr>
          <p:spPr>
            <a:xfrm flipH="false" flipV="false" rot="0">
              <a:off x="0" y="0"/>
              <a:ext cx="930860" cy="382220"/>
            </a:xfrm>
            <a:custGeom>
              <a:avLst/>
              <a:gdLst/>
              <a:ahLst/>
              <a:cxnLst/>
              <a:rect r="r" b="b" t="t" l="l"/>
              <a:pathLst>
                <a:path h="382220" w="930860">
                  <a:moveTo>
                    <a:pt x="0" y="0"/>
                  </a:moveTo>
                  <a:lnTo>
                    <a:pt x="930860" y="0"/>
                  </a:lnTo>
                  <a:lnTo>
                    <a:pt x="930860" y="382220"/>
                  </a:lnTo>
                  <a:lnTo>
                    <a:pt x="0" y="382220"/>
                  </a:lnTo>
                  <a:close/>
                </a:path>
              </a:pathLst>
            </a:custGeom>
            <a:blipFill>
              <a:blip r:embed="rId5">
                <a:alphaModFix amt="0"/>
              </a:blip>
              <a:stretch>
                <a:fillRect l="-2682" t="0" r="-2682" b="0"/>
              </a:stretch>
            </a:blipFill>
          </p:spPr>
        </p:sp>
        <p:sp>
          <p:nvSpPr>
            <p:cNvPr name="TextBox 77" id="77"/>
            <p:cNvSpPr txBox="true"/>
            <p:nvPr/>
          </p:nvSpPr>
          <p:spPr>
            <a:xfrm>
              <a:off x="0" y="-19050"/>
              <a:ext cx="930859" cy="401269"/>
            </a:xfrm>
            <a:prstGeom prst="rect">
              <a:avLst/>
            </a:prstGeom>
          </p:spPr>
          <p:txBody>
            <a:bodyPr anchor="ctr" rtlCol="false" tIns="0" lIns="0" bIns="0" rIns="0"/>
            <a:lstStyle/>
            <a:p>
              <a:pPr algn="l">
                <a:lnSpc>
                  <a:spcPts val="1800"/>
                </a:lnSpc>
              </a:pPr>
              <a:r>
                <a:rPr lang="en-US" sz="1500" b="true">
                  <a:solidFill>
                    <a:srgbClr val="AEFF82"/>
                  </a:solidFill>
                  <a:latin typeface="Poppins Bold"/>
                  <a:ea typeface="Poppins Bold"/>
                  <a:cs typeface="Poppins Bold"/>
                  <a:sym typeface="Poppins Bold"/>
                </a:rPr>
                <a:t>ROLE</a:t>
              </a:r>
            </a:p>
          </p:txBody>
        </p:sp>
      </p:grpSp>
      <p:grpSp>
        <p:nvGrpSpPr>
          <p:cNvPr name="Group 78" id="78"/>
          <p:cNvGrpSpPr/>
          <p:nvPr/>
        </p:nvGrpSpPr>
        <p:grpSpPr>
          <a:xfrm rot="0">
            <a:off x="6120079" y="2754173"/>
            <a:ext cx="798271" cy="286664"/>
            <a:chOff x="0" y="0"/>
            <a:chExt cx="1064362" cy="382219"/>
          </a:xfrm>
        </p:grpSpPr>
        <p:sp>
          <p:nvSpPr>
            <p:cNvPr name="Freeform 79" id="79"/>
            <p:cNvSpPr/>
            <p:nvPr/>
          </p:nvSpPr>
          <p:spPr>
            <a:xfrm flipH="false" flipV="false" rot="0">
              <a:off x="0" y="0"/>
              <a:ext cx="1064362" cy="382220"/>
            </a:xfrm>
            <a:custGeom>
              <a:avLst/>
              <a:gdLst/>
              <a:ahLst/>
              <a:cxnLst/>
              <a:rect r="r" b="b" t="t" l="l"/>
              <a:pathLst>
                <a:path h="382220" w="1064362">
                  <a:moveTo>
                    <a:pt x="0" y="0"/>
                  </a:moveTo>
                  <a:lnTo>
                    <a:pt x="1064362" y="0"/>
                  </a:lnTo>
                  <a:lnTo>
                    <a:pt x="1064362" y="382220"/>
                  </a:lnTo>
                  <a:lnTo>
                    <a:pt x="0" y="382220"/>
                  </a:lnTo>
                  <a:close/>
                </a:path>
              </a:pathLst>
            </a:custGeom>
            <a:blipFill>
              <a:blip r:embed="rId5">
                <a:alphaModFix amt="0"/>
              </a:blip>
              <a:stretch>
                <a:fillRect l="0" t="-4259" r="0" b="-4259"/>
              </a:stretch>
            </a:blipFill>
          </p:spPr>
        </p:sp>
        <p:sp>
          <p:nvSpPr>
            <p:cNvPr name="TextBox 80" id="80"/>
            <p:cNvSpPr txBox="true"/>
            <p:nvPr/>
          </p:nvSpPr>
          <p:spPr>
            <a:xfrm>
              <a:off x="0" y="-19050"/>
              <a:ext cx="1064362" cy="401269"/>
            </a:xfrm>
            <a:prstGeom prst="rect">
              <a:avLst/>
            </a:prstGeom>
          </p:spPr>
          <p:txBody>
            <a:bodyPr anchor="ctr" rtlCol="false" tIns="0" lIns="0" bIns="0" rIns="0"/>
            <a:lstStyle/>
            <a:p>
              <a:pPr algn="l">
                <a:lnSpc>
                  <a:spcPts val="1800"/>
                </a:lnSpc>
              </a:pPr>
              <a:r>
                <a:rPr lang="en-US" sz="1500" b="true">
                  <a:solidFill>
                    <a:srgbClr val="AEFF82"/>
                  </a:solidFill>
                  <a:latin typeface="Poppins Bold"/>
                  <a:ea typeface="Poppins Bold"/>
                  <a:cs typeface="Poppins Bold"/>
                  <a:sym typeface="Poppins Bold"/>
                </a:rPr>
                <a:t>NAME</a:t>
              </a:r>
            </a:p>
          </p:txBody>
        </p:sp>
      </p:grpSp>
      <p:grpSp>
        <p:nvGrpSpPr>
          <p:cNvPr name="Group 81" id="81"/>
          <p:cNvGrpSpPr/>
          <p:nvPr/>
        </p:nvGrpSpPr>
        <p:grpSpPr>
          <a:xfrm rot="0">
            <a:off x="12738049" y="2754173"/>
            <a:ext cx="1969618" cy="286664"/>
            <a:chOff x="0" y="0"/>
            <a:chExt cx="2626157" cy="382219"/>
          </a:xfrm>
        </p:grpSpPr>
        <p:sp>
          <p:nvSpPr>
            <p:cNvPr name="Freeform 82" id="82"/>
            <p:cNvSpPr/>
            <p:nvPr/>
          </p:nvSpPr>
          <p:spPr>
            <a:xfrm flipH="false" flipV="false" rot="0">
              <a:off x="0" y="0"/>
              <a:ext cx="2626156" cy="382220"/>
            </a:xfrm>
            <a:custGeom>
              <a:avLst/>
              <a:gdLst/>
              <a:ahLst/>
              <a:cxnLst/>
              <a:rect r="r" b="b" t="t" l="l"/>
              <a:pathLst>
                <a:path h="382220" w="2626156">
                  <a:moveTo>
                    <a:pt x="0" y="0"/>
                  </a:moveTo>
                  <a:lnTo>
                    <a:pt x="2626156" y="0"/>
                  </a:lnTo>
                  <a:lnTo>
                    <a:pt x="2626156" y="382220"/>
                  </a:lnTo>
                  <a:lnTo>
                    <a:pt x="0" y="382220"/>
                  </a:lnTo>
                  <a:close/>
                </a:path>
              </a:pathLst>
            </a:custGeom>
            <a:blipFill>
              <a:blip r:embed="rId5">
                <a:alphaModFix amt="0"/>
              </a:blip>
              <a:stretch>
                <a:fillRect l="0" t="-83877" r="0" b="-83877"/>
              </a:stretch>
            </a:blipFill>
          </p:spPr>
        </p:sp>
        <p:sp>
          <p:nvSpPr>
            <p:cNvPr name="TextBox 83" id="83"/>
            <p:cNvSpPr txBox="true"/>
            <p:nvPr/>
          </p:nvSpPr>
          <p:spPr>
            <a:xfrm>
              <a:off x="0" y="-19050"/>
              <a:ext cx="2626157" cy="401269"/>
            </a:xfrm>
            <a:prstGeom prst="rect">
              <a:avLst/>
            </a:prstGeom>
          </p:spPr>
          <p:txBody>
            <a:bodyPr anchor="ctr" rtlCol="false" tIns="0" lIns="0" bIns="0" rIns="0"/>
            <a:lstStyle/>
            <a:p>
              <a:pPr algn="l">
                <a:lnSpc>
                  <a:spcPts val="1800"/>
                </a:lnSpc>
              </a:pPr>
              <a:r>
                <a:rPr lang="en-US" sz="1500" b="true">
                  <a:solidFill>
                    <a:srgbClr val="AEFF82"/>
                  </a:solidFill>
                  <a:latin typeface="Poppins Bold"/>
                  <a:ea typeface="Poppins Bold"/>
                  <a:cs typeface="Poppins Bold"/>
                  <a:sym typeface="Poppins Bold"/>
                </a:rPr>
                <a:t>ACADEMIC YEAR</a:t>
              </a:r>
            </a:p>
          </p:txBody>
        </p:sp>
      </p:grpSp>
      <p:grpSp>
        <p:nvGrpSpPr>
          <p:cNvPr name="Group 84" id="84"/>
          <p:cNvGrpSpPr/>
          <p:nvPr/>
        </p:nvGrpSpPr>
        <p:grpSpPr>
          <a:xfrm rot="0">
            <a:off x="1157630" y="3405683"/>
            <a:ext cx="234544" cy="300380"/>
            <a:chOff x="0" y="0"/>
            <a:chExt cx="312725" cy="400507"/>
          </a:xfrm>
        </p:grpSpPr>
        <p:sp>
          <p:nvSpPr>
            <p:cNvPr name="Freeform 85" id="85"/>
            <p:cNvSpPr/>
            <p:nvPr/>
          </p:nvSpPr>
          <p:spPr>
            <a:xfrm flipH="false" flipV="false" rot="0">
              <a:off x="0" y="0"/>
              <a:ext cx="312724" cy="400508"/>
            </a:xfrm>
            <a:custGeom>
              <a:avLst/>
              <a:gdLst/>
              <a:ahLst/>
              <a:cxnLst/>
              <a:rect r="r" b="b" t="t" l="l"/>
              <a:pathLst>
                <a:path h="400508" w="312724">
                  <a:moveTo>
                    <a:pt x="0" y="0"/>
                  </a:moveTo>
                  <a:lnTo>
                    <a:pt x="312724" y="0"/>
                  </a:lnTo>
                  <a:lnTo>
                    <a:pt x="312724" y="400508"/>
                  </a:lnTo>
                  <a:lnTo>
                    <a:pt x="0" y="400508"/>
                  </a:lnTo>
                  <a:close/>
                </a:path>
              </a:pathLst>
            </a:custGeom>
            <a:blipFill>
              <a:blip r:embed="rId5">
                <a:alphaModFix amt="0"/>
              </a:blip>
              <a:stretch>
                <a:fillRect l="-114318" t="0" r="-114319" b="0"/>
              </a:stretch>
            </a:blipFill>
          </p:spPr>
        </p:sp>
        <p:sp>
          <p:nvSpPr>
            <p:cNvPr name="TextBox 86" id="86"/>
            <p:cNvSpPr txBox="true"/>
            <p:nvPr/>
          </p:nvSpPr>
          <p:spPr>
            <a:xfrm>
              <a:off x="0" y="-9525"/>
              <a:ext cx="312725" cy="410032"/>
            </a:xfrm>
            <a:prstGeom prst="rect">
              <a:avLst/>
            </a:prstGeom>
          </p:spPr>
          <p:txBody>
            <a:bodyPr anchor="ctr" rtlCol="false" tIns="0" lIns="0" bIns="0" rIns="0"/>
            <a:lstStyle/>
            <a:p>
              <a:pPr algn="l">
                <a:lnSpc>
                  <a:spcPts val="1980"/>
                </a:lnSpc>
              </a:pPr>
              <a:r>
                <a:rPr lang="en-US" sz="1650">
                  <a:solidFill>
                    <a:srgbClr val="E0E0E0"/>
                  </a:solidFill>
                  <a:latin typeface="Poppins"/>
                  <a:ea typeface="Poppins"/>
                  <a:cs typeface="Poppins"/>
                  <a:sym typeface="Poppins"/>
                </a:rPr>
                <a:t>1</a:t>
              </a:r>
            </a:p>
          </p:txBody>
        </p:sp>
      </p:grpSp>
      <p:grpSp>
        <p:nvGrpSpPr>
          <p:cNvPr name="Group 87" id="87"/>
          <p:cNvGrpSpPr/>
          <p:nvPr/>
        </p:nvGrpSpPr>
        <p:grpSpPr>
          <a:xfrm rot="0">
            <a:off x="2811780" y="3405683"/>
            <a:ext cx="1606144" cy="407327"/>
            <a:chOff x="0" y="0"/>
            <a:chExt cx="2141525" cy="543103"/>
          </a:xfrm>
        </p:grpSpPr>
        <p:sp>
          <p:nvSpPr>
            <p:cNvPr name="Freeform 88" id="88"/>
            <p:cNvSpPr/>
            <p:nvPr/>
          </p:nvSpPr>
          <p:spPr>
            <a:xfrm flipH="false" flipV="false" rot="0">
              <a:off x="0" y="0"/>
              <a:ext cx="2141524" cy="543104"/>
            </a:xfrm>
            <a:custGeom>
              <a:avLst/>
              <a:gdLst/>
              <a:ahLst/>
              <a:cxnLst/>
              <a:rect r="r" b="b" t="t" l="l"/>
              <a:pathLst>
                <a:path h="543104" w="2141524">
                  <a:moveTo>
                    <a:pt x="0" y="0"/>
                  </a:moveTo>
                  <a:lnTo>
                    <a:pt x="2141524" y="0"/>
                  </a:lnTo>
                  <a:lnTo>
                    <a:pt x="2141524" y="543104"/>
                  </a:lnTo>
                  <a:lnTo>
                    <a:pt x="0" y="543104"/>
                  </a:lnTo>
                  <a:close/>
                </a:path>
              </a:pathLst>
            </a:custGeom>
            <a:blipFill>
              <a:blip r:embed="rId5">
                <a:alphaModFix amt="0"/>
              </a:blip>
              <a:stretch>
                <a:fillRect l="0" t="-39959" r="0" b="-13704"/>
              </a:stretch>
            </a:blipFill>
          </p:spPr>
        </p:sp>
        <p:sp>
          <p:nvSpPr>
            <p:cNvPr name="TextBox 89" id="89"/>
            <p:cNvSpPr txBox="true"/>
            <p:nvPr/>
          </p:nvSpPr>
          <p:spPr>
            <a:xfrm>
              <a:off x="0" y="-9525"/>
              <a:ext cx="2141525" cy="552628"/>
            </a:xfrm>
            <a:prstGeom prst="rect">
              <a:avLst/>
            </a:prstGeom>
          </p:spPr>
          <p:txBody>
            <a:bodyPr anchor="ctr" rtlCol="false" tIns="0" lIns="0" bIns="0" rIns="0"/>
            <a:lstStyle/>
            <a:p>
              <a:pPr algn="l">
                <a:lnSpc>
                  <a:spcPts val="1980"/>
                </a:lnSpc>
              </a:pPr>
              <a:r>
                <a:rPr lang="en-US" sz="1650" b="true">
                  <a:solidFill>
                    <a:srgbClr val="E0E0E0"/>
                  </a:solidFill>
                  <a:latin typeface="Poppins Bold"/>
                  <a:ea typeface="Poppins Bold"/>
                  <a:cs typeface="Poppins Bold"/>
                  <a:sym typeface="Poppins Bold"/>
                </a:rPr>
                <a:t>Team Leader</a:t>
              </a:r>
            </a:p>
          </p:txBody>
        </p:sp>
      </p:grpSp>
      <p:grpSp>
        <p:nvGrpSpPr>
          <p:cNvPr name="Group 90" id="90"/>
          <p:cNvGrpSpPr/>
          <p:nvPr/>
        </p:nvGrpSpPr>
        <p:grpSpPr>
          <a:xfrm rot="0">
            <a:off x="1157630" y="4088740"/>
            <a:ext cx="292151" cy="300380"/>
            <a:chOff x="0" y="0"/>
            <a:chExt cx="389534" cy="400507"/>
          </a:xfrm>
        </p:grpSpPr>
        <p:sp>
          <p:nvSpPr>
            <p:cNvPr name="Freeform 91" id="91"/>
            <p:cNvSpPr/>
            <p:nvPr/>
          </p:nvSpPr>
          <p:spPr>
            <a:xfrm flipH="false" flipV="false" rot="0">
              <a:off x="0" y="0"/>
              <a:ext cx="389534" cy="400508"/>
            </a:xfrm>
            <a:custGeom>
              <a:avLst/>
              <a:gdLst/>
              <a:ahLst/>
              <a:cxnLst/>
              <a:rect r="r" b="b" t="t" l="l"/>
              <a:pathLst>
                <a:path h="400508" w="389534">
                  <a:moveTo>
                    <a:pt x="0" y="0"/>
                  </a:moveTo>
                  <a:lnTo>
                    <a:pt x="389534" y="0"/>
                  </a:lnTo>
                  <a:lnTo>
                    <a:pt x="389534" y="400508"/>
                  </a:lnTo>
                  <a:lnTo>
                    <a:pt x="0" y="400508"/>
                  </a:lnTo>
                  <a:close/>
                </a:path>
              </a:pathLst>
            </a:custGeom>
            <a:blipFill>
              <a:blip r:embed="rId5">
                <a:alphaModFix amt="0"/>
              </a:blip>
              <a:stretch>
                <a:fillRect l="-81917" t="0" r="-81917" b="0"/>
              </a:stretch>
            </a:blipFill>
          </p:spPr>
        </p:sp>
        <p:sp>
          <p:nvSpPr>
            <p:cNvPr name="TextBox 92" id="92"/>
            <p:cNvSpPr txBox="true"/>
            <p:nvPr/>
          </p:nvSpPr>
          <p:spPr>
            <a:xfrm>
              <a:off x="0" y="-9525"/>
              <a:ext cx="389534" cy="410032"/>
            </a:xfrm>
            <a:prstGeom prst="rect">
              <a:avLst/>
            </a:prstGeom>
          </p:spPr>
          <p:txBody>
            <a:bodyPr anchor="ctr" rtlCol="false" tIns="0" lIns="0" bIns="0" rIns="0"/>
            <a:lstStyle/>
            <a:p>
              <a:pPr algn="l">
                <a:lnSpc>
                  <a:spcPts val="1980"/>
                </a:lnSpc>
              </a:pPr>
              <a:r>
                <a:rPr lang="en-US" sz="1650">
                  <a:solidFill>
                    <a:srgbClr val="E0E0E0"/>
                  </a:solidFill>
                  <a:latin typeface="Poppins"/>
                  <a:ea typeface="Poppins"/>
                  <a:cs typeface="Poppins"/>
                  <a:sym typeface="Poppins"/>
                </a:rPr>
                <a:t>2</a:t>
              </a:r>
            </a:p>
          </p:txBody>
        </p:sp>
      </p:grpSp>
      <p:grpSp>
        <p:nvGrpSpPr>
          <p:cNvPr name="Group 93" id="93"/>
          <p:cNvGrpSpPr/>
          <p:nvPr/>
        </p:nvGrpSpPr>
        <p:grpSpPr>
          <a:xfrm rot="0">
            <a:off x="2811780" y="4088740"/>
            <a:ext cx="1207008" cy="300380"/>
            <a:chOff x="0" y="0"/>
            <a:chExt cx="1609344" cy="400507"/>
          </a:xfrm>
        </p:grpSpPr>
        <p:sp>
          <p:nvSpPr>
            <p:cNvPr name="Freeform 94" id="94"/>
            <p:cNvSpPr/>
            <p:nvPr/>
          </p:nvSpPr>
          <p:spPr>
            <a:xfrm flipH="false" flipV="false" rot="0">
              <a:off x="0" y="0"/>
              <a:ext cx="1609344" cy="400508"/>
            </a:xfrm>
            <a:custGeom>
              <a:avLst/>
              <a:gdLst/>
              <a:ahLst/>
              <a:cxnLst/>
              <a:rect r="r" b="b" t="t" l="l"/>
              <a:pathLst>
                <a:path h="400508" w="1609344">
                  <a:moveTo>
                    <a:pt x="0" y="0"/>
                  </a:moveTo>
                  <a:lnTo>
                    <a:pt x="1609344" y="0"/>
                  </a:lnTo>
                  <a:lnTo>
                    <a:pt x="1609344" y="400508"/>
                  </a:lnTo>
                  <a:lnTo>
                    <a:pt x="0" y="400508"/>
                  </a:lnTo>
                  <a:close/>
                </a:path>
              </a:pathLst>
            </a:custGeom>
            <a:blipFill>
              <a:blip r:embed="rId5">
                <a:alphaModFix amt="0"/>
              </a:blip>
              <a:stretch>
                <a:fillRect l="0" t="-28295" r="0" b="-28295"/>
              </a:stretch>
            </a:blipFill>
          </p:spPr>
        </p:sp>
        <p:sp>
          <p:nvSpPr>
            <p:cNvPr name="TextBox 95" id="95"/>
            <p:cNvSpPr txBox="true"/>
            <p:nvPr/>
          </p:nvSpPr>
          <p:spPr>
            <a:xfrm>
              <a:off x="0" y="-9525"/>
              <a:ext cx="1609344" cy="410032"/>
            </a:xfrm>
            <a:prstGeom prst="rect">
              <a:avLst/>
            </a:prstGeom>
          </p:spPr>
          <p:txBody>
            <a:bodyPr anchor="ctr" rtlCol="false" tIns="0" lIns="0" bIns="0" rIns="0"/>
            <a:lstStyle/>
            <a:p>
              <a:pPr algn="l">
                <a:lnSpc>
                  <a:spcPts val="1980"/>
                </a:lnSpc>
              </a:pPr>
              <a:r>
                <a:rPr lang="en-US" sz="1650">
                  <a:solidFill>
                    <a:srgbClr val="E0E0E0"/>
                  </a:solidFill>
                  <a:latin typeface="Poppins"/>
                  <a:ea typeface="Poppins"/>
                  <a:cs typeface="Poppins"/>
                  <a:sym typeface="Poppins"/>
                </a:rPr>
                <a:t>Member 1</a:t>
              </a:r>
            </a:p>
          </p:txBody>
        </p:sp>
      </p:grpSp>
      <p:grpSp>
        <p:nvGrpSpPr>
          <p:cNvPr name="Group 96" id="96"/>
          <p:cNvGrpSpPr/>
          <p:nvPr/>
        </p:nvGrpSpPr>
        <p:grpSpPr>
          <a:xfrm rot="0">
            <a:off x="1157630" y="4771796"/>
            <a:ext cx="292151" cy="300380"/>
            <a:chOff x="0" y="0"/>
            <a:chExt cx="389534" cy="400507"/>
          </a:xfrm>
        </p:grpSpPr>
        <p:sp>
          <p:nvSpPr>
            <p:cNvPr name="Freeform 97" id="97"/>
            <p:cNvSpPr/>
            <p:nvPr/>
          </p:nvSpPr>
          <p:spPr>
            <a:xfrm flipH="false" flipV="false" rot="0">
              <a:off x="0" y="0"/>
              <a:ext cx="389534" cy="400508"/>
            </a:xfrm>
            <a:custGeom>
              <a:avLst/>
              <a:gdLst/>
              <a:ahLst/>
              <a:cxnLst/>
              <a:rect r="r" b="b" t="t" l="l"/>
              <a:pathLst>
                <a:path h="400508" w="389534">
                  <a:moveTo>
                    <a:pt x="0" y="0"/>
                  </a:moveTo>
                  <a:lnTo>
                    <a:pt x="389534" y="0"/>
                  </a:lnTo>
                  <a:lnTo>
                    <a:pt x="389534" y="400508"/>
                  </a:lnTo>
                  <a:lnTo>
                    <a:pt x="0" y="400508"/>
                  </a:lnTo>
                  <a:close/>
                </a:path>
              </a:pathLst>
            </a:custGeom>
            <a:blipFill>
              <a:blip r:embed="rId5">
                <a:alphaModFix amt="0"/>
              </a:blip>
              <a:stretch>
                <a:fillRect l="-81917" t="0" r="-81917" b="0"/>
              </a:stretch>
            </a:blipFill>
          </p:spPr>
        </p:sp>
        <p:sp>
          <p:nvSpPr>
            <p:cNvPr name="TextBox 98" id="98"/>
            <p:cNvSpPr txBox="true"/>
            <p:nvPr/>
          </p:nvSpPr>
          <p:spPr>
            <a:xfrm>
              <a:off x="0" y="-9525"/>
              <a:ext cx="389534" cy="410032"/>
            </a:xfrm>
            <a:prstGeom prst="rect">
              <a:avLst/>
            </a:prstGeom>
          </p:spPr>
          <p:txBody>
            <a:bodyPr anchor="ctr" rtlCol="false" tIns="0" lIns="0" bIns="0" rIns="0"/>
            <a:lstStyle/>
            <a:p>
              <a:pPr algn="l">
                <a:lnSpc>
                  <a:spcPts val="1980"/>
                </a:lnSpc>
              </a:pPr>
              <a:r>
                <a:rPr lang="en-US" sz="1650">
                  <a:solidFill>
                    <a:srgbClr val="E0E0E0"/>
                  </a:solidFill>
                  <a:latin typeface="Poppins"/>
                  <a:ea typeface="Poppins"/>
                  <a:cs typeface="Poppins"/>
                  <a:sym typeface="Poppins"/>
                </a:rPr>
                <a:t>3</a:t>
              </a:r>
            </a:p>
          </p:txBody>
        </p:sp>
      </p:grpSp>
      <p:grpSp>
        <p:nvGrpSpPr>
          <p:cNvPr name="Group 99" id="99"/>
          <p:cNvGrpSpPr/>
          <p:nvPr/>
        </p:nvGrpSpPr>
        <p:grpSpPr>
          <a:xfrm rot="0">
            <a:off x="2811780" y="4771796"/>
            <a:ext cx="1263244" cy="300380"/>
            <a:chOff x="0" y="0"/>
            <a:chExt cx="1684325" cy="400507"/>
          </a:xfrm>
        </p:grpSpPr>
        <p:sp>
          <p:nvSpPr>
            <p:cNvPr name="Freeform 100" id="100"/>
            <p:cNvSpPr/>
            <p:nvPr/>
          </p:nvSpPr>
          <p:spPr>
            <a:xfrm flipH="false" flipV="false" rot="0">
              <a:off x="0" y="0"/>
              <a:ext cx="1684324" cy="400508"/>
            </a:xfrm>
            <a:custGeom>
              <a:avLst/>
              <a:gdLst/>
              <a:ahLst/>
              <a:cxnLst/>
              <a:rect r="r" b="b" t="t" l="l"/>
              <a:pathLst>
                <a:path h="400508" w="1684324">
                  <a:moveTo>
                    <a:pt x="0" y="0"/>
                  </a:moveTo>
                  <a:lnTo>
                    <a:pt x="1684324" y="0"/>
                  </a:lnTo>
                  <a:lnTo>
                    <a:pt x="1684324" y="400508"/>
                  </a:lnTo>
                  <a:lnTo>
                    <a:pt x="0" y="400508"/>
                  </a:lnTo>
                  <a:close/>
                </a:path>
              </a:pathLst>
            </a:custGeom>
            <a:blipFill>
              <a:blip r:embed="rId5">
                <a:alphaModFix amt="0"/>
              </a:blip>
              <a:stretch>
                <a:fillRect l="0" t="-31943" r="0" b="-31943"/>
              </a:stretch>
            </a:blipFill>
          </p:spPr>
        </p:sp>
        <p:sp>
          <p:nvSpPr>
            <p:cNvPr name="TextBox 101" id="101"/>
            <p:cNvSpPr txBox="true"/>
            <p:nvPr/>
          </p:nvSpPr>
          <p:spPr>
            <a:xfrm>
              <a:off x="0" y="-9525"/>
              <a:ext cx="1684325" cy="410032"/>
            </a:xfrm>
            <a:prstGeom prst="rect">
              <a:avLst/>
            </a:prstGeom>
          </p:spPr>
          <p:txBody>
            <a:bodyPr anchor="ctr" rtlCol="false" tIns="0" lIns="0" bIns="0" rIns="0"/>
            <a:lstStyle/>
            <a:p>
              <a:pPr algn="l">
                <a:lnSpc>
                  <a:spcPts val="1980"/>
                </a:lnSpc>
              </a:pPr>
              <a:r>
                <a:rPr lang="en-US" sz="1650">
                  <a:solidFill>
                    <a:srgbClr val="E0E0E0"/>
                  </a:solidFill>
                  <a:latin typeface="Poppins"/>
                  <a:ea typeface="Poppins"/>
                  <a:cs typeface="Poppins"/>
                  <a:sym typeface="Poppins"/>
                </a:rPr>
                <a:t>Member 2</a:t>
              </a:r>
            </a:p>
          </p:txBody>
        </p:sp>
      </p:grpSp>
      <p:grpSp>
        <p:nvGrpSpPr>
          <p:cNvPr name="Group 102" id="102"/>
          <p:cNvGrpSpPr/>
          <p:nvPr/>
        </p:nvGrpSpPr>
        <p:grpSpPr>
          <a:xfrm rot="0">
            <a:off x="1157630" y="5454853"/>
            <a:ext cx="305867" cy="300380"/>
            <a:chOff x="0" y="0"/>
            <a:chExt cx="407822" cy="400507"/>
          </a:xfrm>
        </p:grpSpPr>
        <p:sp>
          <p:nvSpPr>
            <p:cNvPr name="Freeform 103" id="103"/>
            <p:cNvSpPr/>
            <p:nvPr/>
          </p:nvSpPr>
          <p:spPr>
            <a:xfrm flipH="false" flipV="false" rot="0">
              <a:off x="0" y="0"/>
              <a:ext cx="407822" cy="400508"/>
            </a:xfrm>
            <a:custGeom>
              <a:avLst/>
              <a:gdLst/>
              <a:ahLst/>
              <a:cxnLst/>
              <a:rect r="r" b="b" t="t" l="l"/>
              <a:pathLst>
                <a:path h="400508" w="407822">
                  <a:moveTo>
                    <a:pt x="0" y="0"/>
                  </a:moveTo>
                  <a:lnTo>
                    <a:pt x="407822" y="0"/>
                  </a:lnTo>
                  <a:lnTo>
                    <a:pt x="407822" y="400508"/>
                  </a:lnTo>
                  <a:lnTo>
                    <a:pt x="0" y="400508"/>
                  </a:lnTo>
                  <a:close/>
                </a:path>
              </a:pathLst>
            </a:custGeom>
            <a:blipFill>
              <a:blip r:embed="rId5">
                <a:alphaModFix amt="0"/>
              </a:blip>
              <a:stretch>
                <a:fillRect l="-76002" t="0" r="-76002" b="0"/>
              </a:stretch>
            </a:blipFill>
          </p:spPr>
        </p:sp>
        <p:sp>
          <p:nvSpPr>
            <p:cNvPr name="TextBox 104" id="104"/>
            <p:cNvSpPr txBox="true"/>
            <p:nvPr/>
          </p:nvSpPr>
          <p:spPr>
            <a:xfrm>
              <a:off x="0" y="-9525"/>
              <a:ext cx="407822" cy="410032"/>
            </a:xfrm>
            <a:prstGeom prst="rect">
              <a:avLst/>
            </a:prstGeom>
          </p:spPr>
          <p:txBody>
            <a:bodyPr anchor="ctr" rtlCol="false" tIns="0" lIns="0" bIns="0" rIns="0"/>
            <a:lstStyle/>
            <a:p>
              <a:pPr algn="l">
                <a:lnSpc>
                  <a:spcPts val="1980"/>
                </a:lnSpc>
              </a:pPr>
              <a:r>
                <a:rPr lang="en-US" sz="1650">
                  <a:solidFill>
                    <a:srgbClr val="E0E0E0"/>
                  </a:solidFill>
                  <a:latin typeface="Poppins"/>
                  <a:ea typeface="Poppins"/>
                  <a:cs typeface="Poppins"/>
                  <a:sym typeface="Poppins"/>
                </a:rPr>
                <a:t>4</a:t>
              </a:r>
            </a:p>
          </p:txBody>
        </p:sp>
      </p:grpSp>
      <p:grpSp>
        <p:nvGrpSpPr>
          <p:cNvPr name="Group 105" id="105"/>
          <p:cNvGrpSpPr/>
          <p:nvPr/>
        </p:nvGrpSpPr>
        <p:grpSpPr>
          <a:xfrm rot="0">
            <a:off x="2811780" y="5454853"/>
            <a:ext cx="1263244" cy="300380"/>
            <a:chOff x="0" y="0"/>
            <a:chExt cx="1684325" cy="400507"/>
          </a:xfrm>
        </p:grpSpPr>
        <p:sp>
          <p:nvSpPr>
            <p:cNvPr name="Freeform 106" id="106"/>
            <p:cNvSpPr/>
            <p:nvPr/>
          </p:nvSpPr>
          <p:spPr>
            <a:xfrm flipH="false" flipV="false" rot="0">
              <a:off x="0" y="0"/>
              <a:ext cx="1684324" cy="400508"/>
            </a:xfrm>
            <a:custGeom>
              <a:avLst/>
              <a:gdLst/>
              <a:ahLst/>
              <a:cxnLst/>
              <a:rect r="r" b="b" t="t" l="l"/>
              <a:pathLst>
                <a:path h="400508" w="1684324">
                  <a:moveTo>
                    <a:pt x="0" y="0"/>
                  </a:moveTo>
                  <a:lnTo>
                    <a:pt x="1684324" y="0"/>
                  </a:lnTo>
                  <a:lnTo>
                    <a:pt x="1684324" y="400508"/>
                  </a:lnTo>
                  <a:lnTo>
                    <a:pt x="0" y="400508"/>
                  </a:lnTo>
                  <a:close/>
                </a:path>
              </a:pathLst>
            </a:custGeom>
            <a:blipFill>
              <a:blip r:embed="rId5">
                <a:alphaModFix amt="0"/>
              </a:blip>
              <a:stretch>
                <a:fillRect l="0" t="-31943" r="0" b="-31943"/>
              </a:stretch>
            </a:blipFill>
          </p:spPr>
        </p:sp>
        <p:sp>
          <p:nvSpPr>
            <p:cNvPr name="TextBox 107" id="107"/>
            <p:cNvSpPr txBox="true"/>
            <p:nvPr/>
          </p:nvSpPr>
          <p:spPr>
            <a:xfrm>
              <a:off x="0" y="-9525"/>
              <a:ext cx="1684325" cy="410032"/>
            </a:xfrm>
            <a:prstGeom prst="rect">
              <a:avLst/>
            </a:prstGeom>
          </p:spPr>
          <p:txBody>
            <a:bodyPr anchor="ctr" rtlCol="false" tIns="0" lIns="0" bIns="0" rIns="0"/>
            <a:lstStyle/>
            <a:p>
              <a:pPr algn="l">
                <a:lnSpc>
                  <a:spcPts val="1980"/>
                </a:lnSpc>
              </a:pPr>
              <a:r>
                <a:rPr lang="en-US" sz="1650">
                  <a:solidFill>
                    <a:srgbClr val="E0E0E0"/>
                  </a:solidFill>
                  <a:latin typeface="Poppins"/>
                  <a:ea typeface="Poppins"/>
                  <a:cs typeface="Poppins"/>
                  <a:sym typeface="Poppins"/>
                </a:rPr>
                <a:t>Member 3</a:t>
              </a:r>
            </a:p>
          </p:txBody>
        </p:sp>
      </p:grpSp>
      <p:grpSp>
        <p:nvGrpSpPr>
          <p:cNvPr name="Group 108" id="108"/>
          <p:cNvGrpSpPr/>
          <p:nvPr/>
        </p:nvGrpSpPr>
        <p:grpSpPr>
          <a:xfrm rot="0">
            <a:off x="1157630" y="7158380"/>
            <a:ext cx="242773" cy="229057"/>
            <a:chOff x="0" y="0"/>
            <a:chExt cx="323698" cy="305410"/>
          </a:xfrm>
        </p:grpSpPr>
        <p:sp>
          <p:nvSpPr>
            <p:cNvPr name="Freeform 109" id="109" descr="preencoded.png"/>
            <p:cNvSpPr/>
            <p:nvPr/>
          </p:nvSpPr>
          <p:spPr>
            <a:xfrm flipH="false" flipV="false" rot="0">
              <a:off x="0" y="0"/>
              <a:ext cx="323723" cy="305435"/>
            </a:xfrm>
            <a:custGeom>
              <a:avLst/>
              <a:gdLst/>
              <a:ahLst/>
              <a:cxnLst/>
              <a:rect r="r" b="b" t="t" l="l"/>
              <a:pathLst>
                <a:path h="305435" w="323723">
                  <a:moveTo>
                    <a:pt x="0" y="0"/>
                  </a:moveTo>
                  <a:lnTo>
                    <a:pt x="323723" y="0"/>
                  </a:lnTo>
                  <a:lnTo>
                    <a:pt x="323723" y="305435"/>
                  </a:lnTo>
                  <a:lnTo>
                    <a:pt x="0" y="305435"/>
                  </a:lnTo>
                  <a:lnTo>
                    <a:pt x="0" y="0"/>
                  </a:lnTo>
                  <a:close/>
                </a:path>
              </a:pathLst>
            </a:custGeom>
            <a:blipFill>
              <a:blip r:embed="rId6"/>
              <a:stretch>
                <a:fillRect l="2824" t="0" r="2832" b="8"/>
              </a:stretch>
            </a:blipFill>
          </p:spPr>
        </p:sp>
      </p:grpSp>
      <p:grpSp>
        <p:nvGrpSpPr>
          <p:cNvPr name="Group 110" id="110"/>
          <p:cNvGrpSpPr/>
          <p:nvPr/>
        </p:nvGrpSpPr>
        <p:grpSpPr>
          <a:xfrm rot="0">
            <a:off x="1514246" y="7115861"/>
            <a:ext cx="2014880" cy="329184"/>
            <a:chOff x="0" y="0"/>
            <a:chExt cx="2686507" cy="438912"/>
          </a:xfrm>
        </p:grpSpPr>
        <p:sp>
          <p:nvSpPr>
            <p:cNvPr name="Freeform 111" id="111"/>
            <p:cNvSpPr/>
            <p:nvPr/>
          </p:nvSpPr>
          <p:spPr>
            <a:xfrm flipH="false" flipV="false" rot="0">
              <a:off x="0" y="0"/>
              <a:ext cx="2686508" cy="438912"/>
            </a:xfrm>
            <a:custGeom>
              <a:avLst/>
              <a:gdLst/>
              <a:ahLst/>
              <a:cxnLst/>
              <a:rect r="r" b="b" t="t" l="l"/>
              <a:pathLst>
                <a:path h="438912" w="2686508">
                  <a:moveTo>
                    <a:pt x="0" y="0"/>
                  </a:moveTo>
                  <a:lnTo>
                    <a:pt x="2686508" y="0"/>
                  </a:lnTo>
                  <a:lnTo>
                    <a:pt x="2686508" y="438912"/>
                  </a:lnTo>
                  <a:lnTo>
                    <a:pt x="0" y="438912"/>
                  </a:lnTo>
                  <a:close/>
                </a:path>
              </a:pathLst>
            </a:custGeom>
            <a:blipFill>
              <a:blip r:embed="rId5">
                <a:alphaModFix amt="0"/>
              </a:blip>
              <a:stretch>
                <a:fillRect l="0" t="-69264" r="0" b="-69264"/>
              </a:stretch>
            </a:blipFill>
          </p:spPr>
        </p:sp>
        <p:sp>
          <p:nvSpPr>
            <p:cNvPr name="TextBox 112" id="112"/>
            <p:cNvSpPr txBox="true"/>
            <p:nvPr/>
          </p:nvSpPr>
          <p:spPr>
            <a:xfrm>
              <a:off x="0" y="-19050"/>
              <a:ext cx="2686507" cy="457962"/>
            </a:xfrm>
            <a:prstGeom prst="rect">
              <a:avLst/>
            </a:prstGeom>
          </p:spPr>
          <p:txBody>
            <a:bodyPr anchor="ctr" rtlCol="false" tIns="0" lIns="0" bIns="0" rIns="0"/>
            <a:lstStyle/>
            <a:p>
              <a:pPr algn="l">
                <a:lnSpc>
                  <a:spcPts val="2160"/>
                </a:lnSpc>
              </a:pPr>
              <a:r>
                <a:rPr lang="en-US" sz="1800" b="true">
                  <a:solidFill>
                    <a:srgbClr val="AEFF82"/>
                  </a:solidFill>
                  <a:latin typeface="Poppins Bold"/>
                  <a:ea typeface="Poppins Bold"/>
                  <a:cs typeface="Poppins Bold"/>
                  <a:sym typeface="Poppins Bold"/>
                </a:rPr>
                <a:t>COLLEGE NAME</a:t>
              </a:r>
            </a:p>
          </p:txBody>
        </p:sp>
      </p:grpSp>
      <p:grpSp>
        <p:nvGrpSpPr>
          <p:cNvPr name="Group 113" id="113"/>
          <p:cNvGrpSpPr/>
          <p:nvPr/>
        </p:nvGrpSpPr>
        <p:grpSpPr>
          <a:xfrm rot="0">
            <a:off x="1157630" y="8487461"/>
            <a:ext cx="242773" cy="229057"/>
            <a:chOff x="0" y="0"/>
            <a:chExt cx="323698" cy="305410"/>
          </a:xfrm>
        </p:grpSpPr>
        <p:sp>
          <p:nvSpPr>
            <p:cNvPr name="Freeform 114" id="114" descr="preencoded.png"/>
            <p:cNvSpPr/>
            <p:nvPr/>
          </p:nvSpPr>
          <p:spPr>
            <a:xfrm flipH="false" flipV="false" rot="0">
              <a:off x="0" y="0"/>
              <a:ext cx="323723" cy="305435"/>
            </a:xfrm>
            <a:custGeom>
              <a:avLst/>
              <a:gdLst/>
              <a:ahLst/>
              <a:cxnLst/>
              <a:rect r="r" b="b" t="t" l="l"/>
              <a:pathLst>
                <a:path h="305435" w="323723">
                  <a:moveTo>
                    <a:pt x="0" y="0"/>
                  </a:moveTo>
                  <a:lnTo>
                    <a:pt x="323723" y="0"/>
                  </a:lnTo>
                  <a:lnTo>
                    <a:pt x="323723" y="305435"/>
                  </a:lnTo>
                  <a:lnTo>
                    <a:pt x="0" y="305435"/>
                  </a:lnTo>
                  <a:lnTo>
                    <a:pt x="0" y="0"/>
                  </a:lnTo>
                  <a:close/>
                </a:path>
              </a:pathLst>
            </a:custGeom>
            <a:blipFill>
              <a:blip r:embed="rId7"/>
              <a:stretch>
                <a:fillRect l="2824" t="0" r="2832" b="8"/>
              </a:stretch>
            </a:blipFill>
          </p:spPr>
        </p:sp>
      </p:grpSp>
      <p:grpSp>
        <p:nvGrpSpPr>
          <p:cNvPr name="Group 115" id="115"/>
          <p:cNvGrpSpPr/>
          <p:nvPr/>
        </p:nvGrpSpPr>
        <p:grpSpPr>
          <a:xfrm rot="0">
            <a:off x="1514246" y="8443570"/>
            <a:ext cx="4158691" cy="329184"/>
            <a:chOff x="0" y="0"/>
            <a:chExt cx="5544922" cy="438912"/>
          </a:xfrm>
        </p:grpSpPr>
        <p:sp>
          <p:nvSpPr>
            <p:cNvPr name="Freeform 116" id="116"/>
            <p:cNvSpPr/>
            <p:nvPr/>
          </p:nvSpPr>
          <p:spPr>
            <a:xfrm flipH="false" flipV="false" rot="0">
              <a:off x="0" y="0"/>
              <a:ext cx="5544922" cy="438912"/>
            </a:xfrm>
            <a:custGeom>
              <a:avLst/>
              <a:gdLst/>
              <a:ahLst/>
              <a:cxnLst/>
              <a:rect r="r" b="b" t="t" l="l"/>
              <a:pathLst>
                <a:path h="438912" w="5544922">
                  <a:moveTo>
                    <a:pt x="0" y="0"/>
                  </a:moveTo>
                  <a:lnTo>
                    <a:pt x="5544922" y="0"/>
                  </a:lnTo>
                  <a:lnTo>
                    <a:pt x="5544922" y="438912"/>
                  </a:lnTo>
                  <a:lnTo>
                    <a:pt x="0" y="438912"/>
                  </a:lnTo>
                  <a:close/>
                </a:path>
              </a:pathLst>
            </a:custGeom>
            <a:blipFill>
              <a:blip r:embed="rId5">
                <a:alphaModFix amt="0"/>
              </a:blip>
              <a:stretch>
                <a:fillRect l="0" t="-196160" r="0" b="-196160"/>
              </a:stretch>
            </a:blipFill>
          </p:spPr>
        </p:sp>
        <p:sp>
          <p:nvSpPr>
            <p:cNvPr name="TextBox 117" id="117"/>
            <p:cNvSpPr txBox="true"/>
            <p:nvPr/>
          </p:nvSpPr>
          <p:spPr>
            <a:xfrm>
              <a:off x="0" y="-19050"/>
              <a:ext cx="5544922" cy="457962"/>
            </a:xfrm>
            <a:prstGeom prst="rect">
              <a:avLst/>
            </a:prstGeom>
          </p:spPr>
          <p:txBody>
            <a:bodyPr anchor="ctr" rtlCol="false" tIns="0" lIns="0" bIns="0" rIns="0"/>
            <a:lstStyle/>
            <a:p>
              <a:pPr algn="l">
                <a:lnSpc>
                  <a:spcPts val="2160"/>
                </a:lnSpc>
              </a:pPr>
              <a:r>
                <a:rPr lang="en-US" sz="1800" b="true">
                  <a:solidFill>
                    <a:srgbClr val="AEFF82"/>
                  </a:solidFill>
                  <a:latin typeface="Poppins Bold"/>
                  <a:ea typeface="Poppins Bold"/>
                  <a:cs typeface="Poppins Bold"/>
                  <a:sym typeface="Poppins Bold"/>
                </a:rPr>
                <a:t>TEAM LEADER CONTACT NUMBER</a:t>
              </a:r>
            </a:p>
          </p:txBody>
        </p:sp>
      </p:grpSp>
      <p:grpSp>
        <p:nvGrpSpPr>
          <p:cNvPr name="Group 118" id="118"/>
          <p:cNvGrpSpPr/>
          <p:nvPr/>
        </p:nvGrpSpPr>
        <p:grpSpPr>
          <a:xfrm rot="0">
            <a:off x="9287104" y="8487461"/>
            <a:ext cx="242773" cy="229057"/>
            <a:chOff x="0" y="0"/>
            <a:chExt cx="323698" cy="305410"/>
          </a:xfrm>
        </p:grpSpPr>
        <p:sp>
          <p:nvSpPr>
            <p:cNvPr name="Freeform 119" id="119" descr="preencoded.png"/>
            <p:cNvSpPr/>
            <p:nvPr/>
          </p:nvSpPr>
          <p:spPr>
            <a:xfrm flipH="false" flipV="false" rot="0">
              <a:off x="0" y="0"/>
              <a:ext cx="323723" cy="305435"/>
            </a:xfrm>
            <a:custGeom>
              <a:avLst/>
              <a:gdLst/>
              <a:ahLst/>
              <a:cxnLst/>
              <a:rect r="r" b="b" t="t" l="l"/>
              <a:pathLst>
                <a:path h="305435" w="323723">
                  <a:moveTo>
                    <a:pt x="0" y="0"/>
                  </a:moveTo>
                  <a:lnTo>
                    <a:pt x="323723" y="0"/>
                  </a:lnTo>
                  <a:lnTo>
                    <a:pt x="323723" y="305435"/>
                  </a:lnTo>
                  <a:lnTo>
                    <a:pt x="0" y="305435"/>
                  </a:lnTo>
                  <a:lnTo>
                    <a:pt x="0" y="0"/>
                  </a:lnTo>
                  <a:close/>
                </a:path>
              </a:pathLst>
            </a:custGeom>
            <a:blipFill>
              <a:blip r:embed="rId8"/>
              <a:stretch>
                <a:fillRect l="2824" t="0" r="2832" b="8"/>
              </a:stretch>
            </a:blipFill>
          </p:spPr>
        </p:sp>
      </p:grpSp>
      <p:grpSp>
        <p:nvGrpSpPr>
          <p:cNvPr name="Group 120" id="120"/>
          <p:cNvGrpSpPr/>
          <p:nvPr/>
        </p:nvGrpSpPr>
        <p:grpSpPr>
          <a:xfrm rot="0">
            <a:off x="9643720" y="8443570"/>
            <a:ext cx="3771900" cy="329184"/>
            <a:chOff x="0" y="0"/>
            <a:chExt cx="5029200" cy="438912"/>
          </a:xfrm>
        </p:grpSpPr>
        <p:sp>
          <p:nvSpPr>
            <p:cNvPr name="Freeform 121" id="121"/>
            <p:cNvSpPr/>
            <p:nvPr/>
          </p:nvSpPr>
          <p:spPr>
            <a:xfrm flipH="false" flipV="false" rot="0">
              <a:off x="0" y="0"/>
              <a:ext cx="5029200" cy="438912"/>
            </a:xfrm>
            <a:custGeom>
              <a:avLst/>
              <a:gdLst/>
              <a:ahLst/>
              <a:cxnLst/>
              <a:rect r="r" b="b" t="t" l="l"/>
              <a:pathLst>
                <a:path h="438912" w="5029200">
                  <a:moveTo>
                    <a:pt x="0" y="0"/>
                  </a:moveTo>
                  <a:lnTo>
                    <a:pt x="5029200" y="0"/>
                  </a:lnTo>
                  <a:lnTo>
                    <a:pt x="5029200" y="438912"/>
                  </a:lnTo>
                  <a:lnTo>
                    <a:pt x="0" y="438912"/>
                  </a:lnTo>
                  <a:close/>
                </a:path>
              </a:pathLst>
            </a:custGeom>
            <a:blipFill>
              <a:blip r:embed="rId5">
                <a:alphaModFix amt="0"/>
              </a:blip>
              <a:stretch>
                <a:fillRect l="0" t="-173266" r="0" b="-173266"/>
              </a:stretch>
            </a:blipFill>
          </p:spPr>
        </p:sp>
        <p:sp>
          <p:nvSpPr>
            <p:cNvPr name="TextBox 122" id="122"/>
            <p:cNvSpPr txBox="true"/>
            <p:nvPr/>
          </p:nvSpPr>
          <p:spPr>
            <a:xfrm>
              <a:off x="0" y="-19050"/>
              <a:ext cx="5029200" cy="457962"/>
            </a:xfrm>
            <a:prstGeom prst="rect">
              <a:avLst/>
            </a:prstGeom>
          </p:spPr>
          <p:txBody>
            <a:bodyPr anchor="ctr" rtlCol="false" tIns="0" lIns="0" bIns="0" rIns="0"/>
            <a:lstStyle/>
            <a:p>
              <a:pPr algn="l">
                <a:lnSpc>
                  <a:spcPts val="2160"/>
                </a:lnSpc>
              </a:pPr>
              <a:r>
                <a:rPr lang="en-US" sz="1800" b="true">
                  <a:solidFill>
                    <a:srgbClr val="AEFF82"/>
                  </a:solidFill>
                  <a:latin typeface="Poppins Bold"/>
                  <a:ea typeface="Poppins Bold"/>
                  <a:cs typeface="Poppins Bold"/>
                  <a:sym typeface="Poppins Bold"/>
                </a:rPr>
                <a:t>TEAM LEADER EMAIL ADDRESS</a:t>
              </a:r>
            </a:p>
          </p:txBody>
        </p:sp>
      </p:grpSp>
      <p:grpSp>
        <p:nvGrpSpPr>
          <p:cNvPr name="Group 123" id="123"/>
          <p:cNvGrpSpPr/>
          <p:nvPr/>
        </p:nvGrpSpPr>
        <p:grpSpPr>
          <a:xfrm rot="0">
            <a:off x="14422374" y="1793234"/>
            <a:ext cx="2579980" cy="488822"/>
            <a:chOff x="0" y="0"/>
            <a:chExt cx="3439973" cy="651762"/>
          </a:xfrm>
        </p:grpSpPr>
        <p:sp>
          <p:nvSpPr>
            <p:cNvPr name="Freeform 124" id="124"/>
            <p:cNvSpPr/>
            <p:nvPr/>
          </p:nvSpPr>
          <p:spPr>
            <a:xfrm flipH="false" flipV="false" rot="0">
              <a:off x="0" y="0"/>
              <a:ext cx="3439972" cy="651763"/>
            </a:xfrm>
            <a:custGeom>
              <a:avLst/>
              <a:gdLst/>
              <a:ahLst/>
              <a:cxnLst/>
              <a:rect r="r" b="b" t="t" l="l"/>
              <a:pathLst>
                <a:path h="651763" w="3439972">
                  <a:moveTo>
                    <a:pt x="0" y="0"/>
                  </a:moveTo>
                  <a:lnTo>
                    <a:pt x="3439972" y="0"/>
                  </a:lnTo>
                  <a:lnTo>
                    <a:pt x="3439972" y="651763"/>
                  </a:lnTo>
                  <a:lnTo>
                    <a:pt x="0" y="651763"/>
                  </a:lnTo>
                  <a:close/>
                </a:path>
              </a:pathLst>
            </a:custGeom>
            <a:blipFill>
              <a:blip r:embed="rId5">
                <a:alphaModFix amt="0"/>
              </a:blip>
              <a:stretch>
                <a:fillRect l="0" t="-73519" r="0" b="-32162"/>
              </a:stretch>
            </a:blipFill>
          </p:spPr>
        </p:sp>
        <p:sp>
          <p:nvSpPr>
            <p:cNvPr name="TextBox 125" id="125"/>
            <p:cNvSpPr txBox="true"/>
            <p:nvPr/>
          </p:nvSpPr>
          <p:spPr>
            <a:xfrm>
              <a:off x="0" y="-19050"/>
              <a:ext cx="3439973" cy="670812"/>
            </a:xfrm>
            <a:prstGeom prst="rect">
              <a:avLst/>
            </a:prstGeom>
          </p:spPr>
          <p:txBody>
            <a:bodyPr anchor="ctr" rtlCol="false" tIns="0" lIns="0" bIns="0" rIns="0"/>
            <a:lstStyle/>
            <a:p>
              <a:pPr algn="l">
                <a:lnSpc>
                  <a:spcPts val="2399"/>
                </a:lnSpc>
              </a:pPr>
              <a:r>
                <a:rPr lang="en-US" sz="1999" b="true">
                  <a:solidFill>
                    <a:srgbClr val="FFFFFF"/>
                  </a:solidFill>
                  <a:latin typeface="Poppins Bold"/>
                  <a:ea typeface="Poppins Bold"/>
                  <a:cs typeface="Poppins Bold"/>
                  <a:sym typeface="Poppins Bold"/>
                </a:rPr>
                <a:t>TECHTONICS</a:t>
              </a:r>
            </a:p>
          </p:txBody>
        </p:sp>
      </p:grpSp>
      <p:grpSp>
        <p:nvGrpSpPr>
          <p:cNvPr name="Group 126" id="126"/>
          <p:cNvGrpSpPr/>
          <p:nvPr/>
        </p:nvGrpSpPr>
        <p:grpSpPr>
          <a:xfrm rot="0">
            <a:off x="6120079" y="3413265"/>
            <a:ext cx="2337328" cy="407327"/>
            <a:chOff x="0" y="0"/>
            <a:chExt cx="3116438" cy="543103"/>
          </a:xfrm>
        </p:grpSpPr>
        <p:sp>
          <p:nvSpPr>
            <p:cNvPr name="Freeform 127" id="127"/>
            <p:cNvSpPr/>
            <p:nvPr/>
          </p:nvSpPr>
          <p:spPr>
            <a:xfrm flipH="false" flipV="false" rot="0">
              <a:off x="0" y="0"/>
              <a:ext cx="3116438" cy="543104"/>
            </a:xfrm>
            <a:custGeom>
              <a:avLst/>
              <a:gdLst/>
              <a:ahLst/>
              <a:cxnLst/>
              <a:rect r="r" b="b" t="t" l="l"/>
              <a:pathLst>
                <a:path h="543104" w="3116438">
                  <a:moveTo>
                    <a:pt x="0" y="0"/>
                  </a:moveTo>
                  <a:lnTo>
                    <a:pt x="3116438" y="0"/>
                  </a:lnTo>
                  <a:lnTo>
                    <a:pt x="3116438" y="543104"/>
                  </a:lnTo>
                  <a:lnTo>
                    <a:pt x="0" y="543104"/>
                  </a:lnTo>
                  <a:close/>
                </a:path>
              </a:pathLst>
            </a:custGeom>
            <a:blipFill>
              <a:blip r:embed="rId5">
                <a:alphaModFix amt="0"/>
              </a:blip>
              <a:stretch>
                <a:fillRect l="0" t="-41337" r="30050" b="-15081"/>
              </a:stretch>
            </a:blipFill>
          </p:spPr>
        </p:sp>
        <p:sp>
          <p:nvSpPr>
            <p:cNvPr name="TextBox 128" id="128"/>
            <p:cNvSpPr txBox="true"/>
            <p:nvPr/>
          </p:nvSpPr>
          <p:spPr>
            <a:xfrm>
              <a:off x="0" y="-9525"/>
              <a:ext cx="3116438" cy="552628"/>
            </a:xfrm>
            <a:prstGeom prst="rect">
              <a:avLst/>
            </a:prstGeom>
          </p:spPr>
          <p:txBody>
            <a:bodyPr anchor="ctr" rtlCol="false" tIns="0" lIns="0" bIns="0" rIns="0"/>
            <a:lstStyle/>
            <a:p>
              <a:pPr algn="l">
                <a:lnSpc>
                  <a:spcPts val="1980"/>
                </a:lnSpc>
              </a:pPr>
              <a:r>
                <a:rPr lang="en-US" sz="1650" b="true">
                  <a:solidFill>
                    <a:srgbClr val="E0E0E0"/>
                  </a:solidFill>
                  <a:latin typeface="Poppins Bold"/>
                  <a:ea typeface="Poppins Bold"/>
                  <a:cs typeface="Poppins Bold"/>
                  <a:sym typeface="Poppins Bold"/>
                </a:rPr>
                <a:t>AKSHAYA SRELEKA P S</a:t>
              </a:r>
            </a:p>
          </p:txBody>
        </p:sp>
      </p:grpSp>
      <p:grpSp>
        <p:nvGrpSpPr>
          <p:cNvPr name="Group 129" id="129"/>
          <p:cNvGrpSpPr/>
          <p:nvPr/>
        </p:nvGrpSpPr>
        <p:grpSpPr>
          <a:xfrm rot="0">
            <a:off x="12738049" y="3405683"/>
            <a:ext cx="1463497" cy="407327"/>
            <a:chOff x="0" y="0"/>
            <a:chExt cx="1951330" cy="543103"/>
          </a:xfrm>
        </p:grpSpPr>
        <p:sp>
          <p:nvSpPr>
            <p:cNvPr name="Freeform 130" id="130"/>
            <p:cNvSpPr/>
            <p:nvPr/>
          </p:nvSpPr>
          <p:spPr>
            <a:xfrm flipH="false" flipV="false" rot="0">
              <a:off x="0" y="0"/>
              <a:ext cx="1951330" cy="543104"/>
            </a:xfrm>
            <a:custGeom>
              <a:avLst/>
              <a:gdLst/>
              <a:ahLst/>
              <a:cxnLst/>
              <a:rect r="r" b="b" t="t" l="l"/>
              <a:pathLst>
                <a:path h="543104" w="1951330">
                  <a:moveTo>
                    <a:pt x="0" y="0"/>
                  </a:moveTo>
                  <a:lnTo>
                    <a:pt x="1951330" y="0"/>
                  </a:lnTo>
                  <a:lnTo>
                    <a:pt x="1951330" y="543104"/>
                  </a:lnTo>
                  <a:lnTo>
                    <a:pt x="0" y="543104"/>
                  </a:lnTo>
                  <a:close/>
                </a:path>
              </a:pathLst>
            </a:custGeom>
            <a:blipFill>
              <a:blip r:embed="rId5">
                <a:alphaModFix amt="0"/>
              </a:blip>
              <a:stretch>
                <a:fillRect l="0" t="-33136" r="0" b="-6880"/>
              </a:stretch>
            </a:blipFill>
          </p:spPr>
        </p:sp>
        <p:sp>
          <p:nvSpPr>
            <p:cNvPr name="TextBox 131" id="131"/>
            <p:cNvSpPr txBox="true"/>
            <p:nvPr/>
          </p:nvSpPr>
          <p:spPr>
            <a:xfrm>
              <a:off x="0" y="-9525"/>
              <a:ext cx="1951330" cy="552628"/>
            </a:xfrm>
            <a:prstGeom prst="rect">
              <a:avLst/>
            </a:prstGeom>
          </p:spPr>
          <p:txBody>
            <a:bodyPr anchor="ctr" rtlCol="false" tIns="0" lIns="0" bIns="0" rIns="0"/>
            <a:lstStyle/>
            <a:p>
              <a:pPr algn="l">
                <a:lnSpc>
                  <a:spcPts val="1980"/>
                </a:lnSpc>
              </a:pPr>
              <a:r>
                <a:rPr lang="en-US" sz="1650" b="true">
                  <a:solidFill>
                    <a:srgbClr val="E0E0E0"/>
                  </a:solidFill>
                  <a:latin typeface="Poppins Bold"/>
                  <a:ea typeface="Poppins Bold"/>
                  <a:cs typeface="Poppins Bold"/>
                  <a:sym typeface="Poppins Bold"/>
                </a:rPr>
                <a:t>III YEAR</a:t>
              </a:r>
            </a:p>
          </p:txBody>
        </p:sp>
      </p:grpSp>
      <p:grpSp>
        <p:nvGrpSpPr>
          <p:cNvPr name="Group 132" id="132"/>
          <p:cNvGrpSpPr/>
          <p:nvPr/>
        </p:nvGrpSpPr>
        <p:grpSpPr>
          <a:xfrm rot="0">
            <a:off x="6120079" y="4088740"/>
            <a:ext cx="2147100" cy="407327"/>
            <a:chOff x="0" y="0"/>
            <a:chExt cx="2862800" cy="543103"/>
          </a:xfrm>
        </p:grpSpPr>
        <p:sp>
          <p:nvSpPr>
            <p:cNvPr name="Freeform 133" id="133"/>
            <p:cNvSpPr/>
            <p:nvPr/>
          </p:nvSpPr>
          <p:spPr>
            <a:xfrm flipH="false" flipV="false" rot="0">
              <a:off x="0" y="0"/>
              <a:ext cx="2862800" cy="543104"/>
            </a:xfrm>
            <a:custGeom>
              <a:avLst/>
              <a:gdLst/>
              <a:ahLst/>
              <a:cxnLst/>
              <a:rect r="r" b="b" t="t" l="l"/>
              <a:pathLst>
                <a:path h="543104" w="2862800">
                  <a:moveTo>
                    <a:pt x="0" y="0"/>
                  </a:moveTo>
                  <a:lnTo>
                    <a:pt x="2862800" y="0"/>
                  </a:lnTo>
                  <a:lnTo>
                    <a:pt x="2862800" y="543104"/>
                  </a:lnTo>
                  <a:lnTo>
                    <a:pt x="0" y="543104"/>
                  </a:lnTo>
                  <a:close/>
                </a:path>
              </a:pathLst>
            </a:custGeom>
            <a:blipFill>
              <a:blip r:embed="rId5">
                <a:alphaModFix amt="0"/>
              </a:blip>
              <a:stretch>
                <a:fillRect l="0" t="-41337" r="23853" b="-15081"/>
              </a:stretch>
            </a:blipFill>
          </p:spPr>
        </p:sp>
        <p:sp>
          <p:nvSpPr>
            <p:cNvPr name="TextBox 134" id="134"/>
            <p:cNvSpPr txBox="true"/>
            <p:nvPr/>
          </p:nvSpPr>
          <p:spPr>
            <a:xfrm>
              <a:off x="0" y="-9525"/>
              <a:ext cx="2862800" cy="552628"/>
            </a:xfrm>
            <a:prstGeom prst="rect">
              <a:avLst/>
            </a:prstGeom>
          </p:spPr>
          <p:txBody>
            <a:bodyPr anchor="ctr" rtlCol="false" tIns="0" lIns="0" bIns="0" rIns="0"/>
            <a:lstStyle/>
            <a:p>
              <a:pPr algn="l">
                <a:lnSpc>
                  <a:spcPts val="1980"/>
                </a:lnSpc>
              </a:pPr>
              <a:r>
                <a:rPr lang="en-US" sz="1650" b="true">
                  <a:solidFill>
                    <a:srgbClr val="E0E0E0"/>
                  </a:solidFill>
                  <a:latin typeface="Poppins Bold"/>
                  <a:ea typeface="Poppins Bold"/>
                  <a:cs typeface="Poppins Bold"/>
                  <a:sym typeface="Poppins Bold"/>
                </a:rPr>
                <a:t>ASHWINKUMAR K</a:t>
              </a:r>
            </a:p>
          </p:txBody>
        </p:sp>
      </p:grpSp>
      <p:grpSp>
        <p:nvGrpSpPr>
          <p:cNvPr name="Group 135" id="135"/>
          <p:cNvGrpSpPr/>
          <p:nvPr/>
        </p:nvGrpSpPr>
        <p:grpSpPr>
          <a:xfrm rot="0">
            <a:off x="12738049" y="4088740"/>
            <a:ext cx="1463497" cy="407327"/>
            <a:chOff x="0" y="0"/>
            <a:chExt cx="1951330" cy="543103"/>
          </a:xfrm>
        </p:grpSpPr>
        <p:sp>
          <p:nvSpPr>
            <p:cNvPr name="Freeform 136" id="136"/>
            <p:cNvSpPr/>
            <p:nvPr/>
          </p:nvSpPr>
          <p:spPr>
            <a:xfrm flipH="false" flipV="false" rot="0">
              <a:off x="0" y="0"/>
              <a:ext cx="1951330" cy="543104"/>
            </a:xfrm>
            <a:custGeom>
              <a:avLst/>
              <a:gdLst/>
              <a:ahLst/>
              <a:cxnLst/>
              <a:rect r="r" b="b" t="t" l="l"/>
              <a:pathLst>
                <a:path h="543104" w="1951330">
                  <a:moveTo>
                    <a:pt x="0" y="0"/>
                  </a:moveTo>
                  <a:lnTo>
                    <a:pt x="1951330" y="0"/>
                  </a:lnTo>
                  <a:lnTo>
                    <a:pt x="1951330" y="543104"/>
                  </a:lnTo>
                  <a:lnTo>
                    <a:pt x="0" y="543104"/>
                  </a:lnTo>
                  <a:close/>
                </a:path>
              </a:pathLst>
            </a:custGeom>
            <a:blipFill>
              <a:blip r:embed="rId5">
                <a:alphaModFix amt="0"/>
              </a:blip>
              <a:stretch>
                <a:fillRect l="0" t="-33136" r="0" b="-6880"/>
              </a:stretch>
            </a:blipFill>
          </p:spPr>
        </p:sp>
        <p:sp>
          <p:nvSpPr>
            <p:cNvPr name="TextBox 137" id="137"/>
            <p:cNvSpPr txBox="true"/>
            <p:nvPr/>
          </p:nvSpPr>
          <p:spPr>
            <a:xfrm>
              <a:off x="0" y="-9525"/>
              <a:ext cx="1951330" cy="552628"/>
            </a:xfrm>
            <a:prstGeom prst="rect">
              <a:avLst/>
            </a:prstGeom>
          </p:spPr>
          <p:txBody>
            <a:bodyPr anchor="ctr" rtlCol="false" tIns="0" lIns="0" bIns="0" rIns="0"/>
            <a:lstStyle/>
            <a:p>
              <a:pPr algn="l">
                <a:lnSpc>
                  <a:spcPts val="1980"/>
                </a:lnSpc>
              </a:pPr>
              <a:r>
                <a:rPr lang="en-US" sz="1650" b="true">
                  <a:solidFill>
                    <a:srgbClr val="E0E0E0"/>
                  </a:solidFill>
                  <a:latin typeface="Poppins Bold"/>
                  <a:ea typeface="Poppins Bold"/>
                  <a:cs typeface="Poppins Bold"/>
                  <a:sym typeface="Poppins Bold"/>
                </a:rPr>
                <a:t>III YEAR</a:t>
              </a:r>
            </a:p>
          </p:txBody>
        </p:sp>
      </p:grpSp>
      <p:grpSp>
        <p:nvGrpSpPr>
          <p:cNvPr name="Group 138" id="138"/>
          <p:cNvGrpSpPr/>
          <p:nvPr/>
        </p:nvGrpSpPr>
        <p:grpSpPr>
          <a:xfrm rot="0">
            <a:off x="6120079" y="4767682"/>
            <a:ext cx="2520190" cy="407327"/>
            <a:chOff x="0" y="0"/>
            <a:chExt cx="3360254" cy="543103"/>
          </a:xfrm>
        </p:grpSpPr>
        <p:sp>
          <p:nvSpPr>
            <p:cNvPr name="Freeform 139" id="139"/>
            <p:cNvSpPr/>
            <p:nvPr/>
          </p:nvSpPr>
          <p:spPr>
            <a:xfrm flipH="false" flipV="false" rot="0">
              <a:off x="0" y="0"/>
              <a:ext cx="3360254" cy="543104"/>
            </a:xfrm>
            <a:custGeom>
              <a:avLst/>
              <a:gdLst/>
              <a:ahLst/>
              <a:cxnLst/>
              <a:rect r="r" b="b" t="t" l="l"/>
              <a:pathLst>
                <a:path h="543104" w="3360254">
                  <a:moveTo>
                    <a:pt x="0" y="0"/>
                  </a:moveTo>
                  <a:lnTo>
                    <a:pt x="3360254" y="0"/>
                  </a:lnTo>
                  <a:lnTo>
                    <a:pt x="3360254" y="543104"/>
                  </a:lnTo>
                  <a:lnTo>
                    <a:pt x="0" y="543104"/>
                  </a:lnTo>
                  <a:close/>
                </a:path>
              </a:pathLst>
            </a:custGeom>
            <a:blipFill>
              <a:blip r:embed="rId5">
                <a:alphaModFix amt="0"/>
              </a:blip>
              <a:stretch>
                <a:fillRect l="0" t="-41337" r="35126" b="-15081"/>
              </a:stretch>
            </a:blipFill>
          </p:spPr>
        </p:sp>
        <p:sp>
          <p:nvSpPr>
            <p:cNvPr name="TextBox 140" id="140"/>
            <p:cNvSpPr txBox="true"/>
            <p:nvPr/>
          </p:nvSpPr>
          <p:spPr>
            <a:xfrm>
              <a:off x="0" y="-9525"/>
              <a:ext cx="3360254" cy="552628"/>
            </a:xfrm>
            <a:prstGeom prst="rect">
              <a:avLst/>
            </a:prstGeom>
          </p:spPr>
          <p:txBody>
            <a:bodyPr anchor="ctr" rtlCol="false" tIns="0" lIns="0" bIns="0" rIns="0"/>
            <a:lstStyle/>
            <a:p>
              <a:pPr algn="l">
                <a:lnSpc>
                  <a:spcPts val="1980"/>
                </a:lnSpc>
              </a:pPr>
              <a:r>
                <a:rPr lang="en-US" sz="1650" b="true">
                  <a:solidFill>
                    <a:srgbClr val="E0E0E0"/>
                  </a:solidFill>
                  <a:latin typeface="Poppins Bold"/>
                  <a:ea typeface="Poppins Bold"/>
                  <a:cs typeface="Poppins Bold"/>
                  <a:sym typeface="Poppins Bold"/>
                </a:rPr>
                <a:t>DHAMARAI KANNAN A</a:t>
              </a:r>
            </a:p>
          </p:txBody>
        </p:sp>
      </p:grpSp>
      <p:grpSp>
        <p:nvGrpSpPr>
          <p:cNvPr name="Group 141" id="141"/>
          <p:cNvGrpSpPr/>
          <p:nvPr/>
        </p:nvGrpSpPr>
        <p:grpSpPr>
          <a:xfrm rot="0">
            <a:off x="12738049" y="4771796"/>
            <a:ext cx="1463497" cy="407327"/>
            <a:chOff x="0" y="0"/>
            <a:chExt cx="1951330" cy="543103"/>
          </a:xfrm>
        </p:grpSpPr>
        <p:sp>
          <p:nvSpPr>
            <p:cNvPr name="Freeform 142" id="142"/>
            <p:cNvSpPr/>
            <p:nvPr/>
          </p:nvSpPr>
          <p:spPr>
            <a:xfrm flipH="false" flipV="false" rot="0">
              <a:off x="0" y="0"/>
              <a:ext cx="1951330" cy="543104"/>
            </a:xfrm>
            <a:custGeom>
              <a:avLst/>
              <a:gdLst/>
              <a:ahLst/>
              <a:cxnLst/>
              <a:rect r="r" b="b" t="t" l="l"/>
              <a:pathLst>
                <a:path h="543104" w="1951330">
                  <a:moveTo>
                    <a:pt x="0" y="0"/>
                  </a:moveTo>
                  <a:lnTo>
                    <a:pt x="1951330" y="0"/>
                  </a:lnTo>
                  <a:lnTo>
                    <a:pt x="1951330" y="543104"/>
                  </a:lnTo>
                  <a:lnTo>
                    <a:pt x="0" y="543104"/>
                  </a:lnTo>
                  <a:close/>
                </a:path>
              </a:pathLst>
            </a:custGeom>
            <a:blipFill>
              <a:blip r:embed="rId5">
                <a:alphaModFix amt="0"/>
              </a:blip>
              <a:stretch>
                <a:fillRect l="0" t="-33136" r="0" b="-6880"/>
              </a:stretch>
            </a:blipFill>
          </p:spPr>
        </p:sp>
        <p:sp>
          <p:nvSpPr>
            <p:cNvPr name="TextBox 143" id="143"/>
            <p:cNvSpPr txBox="true"/>
            <p:nvPr/>
          </p:nvSpPr>
          <p:spPr>
            <a:xfrm>
              <a:off x="0" y="-9525"/>
              <a:ext cx="1951330" cy="552628"/>
            </a:xfrm>
            <a:prstGeom prst="rect">
              <a:avLst/>
            </a:prstGeom>
          </p:spPr>
          <p:txBody>
            <a:bodyPr anchor="ctr" rtlCol="false" tIns="0" lIns="0" bIns="0" rIns="0"/>
            <a:lstStyle/>
            <a:p>
              <a:pPr algn="l">
                <a:lnSpc>
                  <a:spcPts val="1980"/>
                </a:lnSpc>
              </a:pPr>
              <a:r>
                <a:rPr lang="en-US" sz="1650" b="true">
                  <a:solidFill>
                    <a:srgbClr val="E0E0E0"/>
                  </a:solidFill>
                  <a:latin typeface="Poppins Bold"/>
                  <a:ea typeface="Poppins Bold"/>
                  <a:cs typeface="Poppins Bold"/>
                  <a:sym typeface="Poppins Bold"/>
                </a:rPr>
                <a:t>III YEAR</a:t>
              </a:r>
            </a:p>
          </p:txBody>
        </p:sp>
      </p:grpSp>
      <p:grpSp>
        <p:nvGrpSpPr>
          <p:cNvPr name="Group 144" id="144"/>
          <p:cNvGrpSpPr/>
          <p:nvPr/>
        </p:nvGrpSpPr>
        <p:grpSpPr>
          <a:xfrm rot="0">
            <a:off x="6120079" y="5347906"/>
            <a:ext cx="1634947" cy="407327"/>
            <a:chOff x="0" y="0"/>
            <a:chExt cx="2179930" cy="543103"/>
          </a:xfrm>
        </p:grpSpPr>
        <p:sp>
          <p:nvSpPr>
            <p:cNvPr name="Freeform 145" id="145"/>
            <p:cNvSpPr/>
            <p:nvPr/>
          </p:nvSpPr>
          <p:spPr>
            <a:xfrm flipH="false" flipV="false" rot="0">
              <a:off x="0" y="0"/>
              <a:ext cx="2179930" cy="543104"/>
            </a:xfrm>
            <a:custGeom>
              <a:avLst/>
              <a:gdLst/>
              <a:ahLst/>
              <a:cxnLst/>
              <a:rect r="r" b="b" t="t" l="l"/>
              <a:pathLst>
                <a:path h="543104" w="2179930">
                  <a:moveTo>
                    <a:pt x="0" y="0"/>
                  </a:moveTo>
                  <a:lnTo>
                    <a:pt x="2179930" y="0"/>
                  </a:lnTo>
                  <a:lnTo>
                    <a:pt x="2179930" y="543104"/>
                  </a:lnTo>
                  <a:lnTo>
                    <a:pt x="0" y="543104"/>
                  </a:lnTo>
                  <a:close/>
                </a:path>
              </a:pathLst>
            </a:custGeom>
            <a:blipFill>
              <a:blip r:embed="rId5">
                <a:alphaModFix amt="0"/>
              </a:blip>
              <a:stretch>
                <a:fillRect l="0" t="-41337" r="0" b="-15081"/>
              </a:stretch>
            </a:blipFill>
          </p:spPr>
        </p:sp>
        <p:sp>
          <p:nvSpPr>
            <p:cNvPr name="TextBox 146" id="146"/>
            <p:cNvSpPr txBox="true"/>
            <p:nvPr/>
          </p:nvSpPr>
          <p:spPr>
            <a:xfrm>
              <a:off x="0" y="-9525"/>
              <a:ext cx="2179930" cy="552628"/>
            </a:xfrm>
            <a:prstGeom prst="rect">
              <a:avLst/>
            </a:prstGeom>
          </p:spPr>
          <p:txBody>
            <a:bodyPr anchor="ctr" rtlCol="false" tIns="0" lIns="0" bIns="0" rIns="0"/>
            <a:lstStyle/>
            <a:p>
              <a:pPr algn="l">
                <a:lnSpc>
                  <a:spcPts val="1980"/>
                </a:lnSpc>
              </a:pPr>
              <a:r>
                <a:rPr lang="en-US" sz="1650" b="true">
                  <a:solidFill>
                    <a:srgbClr val="E0E0E0"/>
                  </a:solidFill>
                  <a:latin typeface="Poppins Bold"/>
                  <a:ea typeface="Poppins Bold"/>
                  <a:cs typeface="Poppins Bold"/>
                  <a:sym typeface="Poppins Bold"/>
                </a:rPr>
                <a:t>DHARSHAN S</a:t>
              </a:r>
            </a:p>
          </p:txBody>
        </p:sp>
      </p:grpSp>
      <p:grpSp>
        <p:nvGrpSpPr>
          <p:cNvPr name="Group 147" id="147"/>
          <p:cNvGrpSpPr/>
          <p:nvPr/>
        </p:nvGrpSpPr>
        <p:grpSpPr>
          <a:xfrm rot="0">
            <a:off x="12683871" y="5365013"/>
            <a:ext cx="1463497" cy="407327"/>
            <a:chOff x="0" y="0"/>
            <a:chExt cx="1951330" cy="543103"/>
          </a:xfrm>
        </p:grpSpPr>
        <p:sp>
          <p:nvSpPr>
            <p:cNvPr name="Freeform 148" id="148"/>
            <p:cNvSpPr/>
            <p:nvPr/>
          </p:nvSpPr>
          <p:spPr>
            <a:xfrm flipH="false" flipV="false" rot="0">
              <a:off x="0" y="0"/>
              <a:ext cx="1951330" cy="543104"/>
            </a:xfrm>
            <a:custGeom>
              <a:avLst/>
              <a:gdLst/>
              <a:ahLst/>
              <a:cxnLst/>
              <a:rect r="r" b="b" t="t" l="l"/>
              <a:pathLst>
                <a:path h="543104" w="1951330">
                  <a:moveTo>
                    <a:pt x="0" y="0"/>
                  </a:moveTo>
                  <a:lnTo>
                    <a:pt x="1951330" y="0"/>
                  </a:lnTo>
                  <a:lnTo>
                    <a:pt x="1951330" y="543104"/>
                  </a:lnTo>
                  <a:lnTo>
                    <a:pt x="0" y="543104"/>
                  </a:lnTo>
                  <a:close/>
                </a:path>
              </a:pathLst>
            </a:custGeom>
            <a:blipFill>
              <a:blip r:embed="rId5">
                <a:alphaModFix amt="0"/>
              </a:blip>
              <a:stretch>
                <a:fillRect l="0" t="-33136" r="0" b="-6880"/>
              </a:stretch>
            </a:blipFill>
          </p:spPr>
        </p:sp>
        <p:sp>
          <p:nvSpPr>
            <p:cNvPr name="TextBox 149" id="149"/>
            <p:cNvSpPr txBox="true"/>
            <p:nvPr/>
          </p:nvSpPr>
          <p:spPr>
            <a:xfrm>
              <a:off x="0" y="-9525"/>
              <a:ext cx="1951330" cy="552628"/>
            </a:xfrm>
            <a:prstGeom prst="rect">
              <a:avLst/>
            </a:prstGeom>
          </p:spPr>
          <p:txBody>
            <a:bodyPr anchor="ctr" rtlCol="false" tIns="0" lIns="0" bIns="0" rIns="0"/>
            <a:lstStyle/>
            <a:p>
              <a:pPr algn="l">
                <a:lnSpc>
                  <a:spcPts val="1980"/>
                </a:lnSpc>
              </a:pPr>
              <a:r>
                <a:rPr lang="en-US" sz="1650" b="true">
                  <a:solidFill>
                    <a:srgbClr val="E0E0E0"/>
                  </a:solidFill>
                  <a:latin typeface="Poppins Bold"/>
                  <a:ea typeface="Poppins Bold"/>
                  <a:cs typeface="Poppins Bold"/>
                  <a:sym typeface="Poppins Bold"/>
                </a:rPr>
                <a:t>III YEAR</a:t>
              </a:r>
            </a:p>
          </p:txBody>
        </p:sp>
      </p:grpSp>
      <p:grpSp>
        <p:nvGrpSpPr>
          <p:cNvPr name="Group 150" id="150"/>
          <p:cNvGrpSpPr/>
          <p:nvPr/>
        </p:nvGrpSpPr>
        <p:grpSpPr>
          <a:xfrm rot="0">
            <a:off x="1385316" y="7664120"/>
            <a:ext cx="6758967" cy="440893"/>
            <a:chOff x="0" y="0"/>
            <a:chExt cx="9011956" cy="587858"/>
          </a:xfrm>
        </p:grpSpPr>
        <p:sp>
          <p:nvSpPr>
            <p:cNvPr name="Freeform 151" id="151"/>
            <p:cNvSpPr/>
            <p:nvPr/>
          </p:nvSpPr>
          <p:spPr>
            <a:xfrm flipH="false" flipV="false" rot="0">
              <a:off x="0" y="0"/>
              <a:ext cx="9011956" cy="587858"/>
            </a:xfrm>
            <a:custGeom>
              <a:avLst/>
              <a:gdLst/>
              <a:ahLst/>
              <a:cxnLst/>
              <a:rect r="r" b="b" t="t" l="l"/>
              <a:pathLst>
                <a:path h="587858" w="9011956">
                  <a:moveTo>
                    <a:pt x="0" y="0"/>
                  </a:moveTo>
                  <a:lnTo>
                    <a:pt x="9011956" y="0"/>
                  </a:lnTo>
                  <a:lnTo>
                    <a:pt x="9011956" y="587858"/>
                  </a:lnTo>
                  <a:lnTo>
                    <a:pt x="0" y="587858"/>
                  </a:lnTo>
                  <a:close/>
                </a:path>
              </a:pathLst>
            </a:custGeom>
            <a:blipFill>
              <a:blip r:embed="rId5">
                <a:alphaModFix amt="0"/>
              </a:blip>
              <a:stretch>
                <a:fillRect l="0" t="-99057" r="54340" b="-73720"/>
              </a:stretch>
            </a:blipFill>
          </p:spPr>
        </p:sp>
        <p:sp>
          <p:nvSpPr>
            <p:cNvPr name="TextBox 152" id="152"/>
            <p:cNvSpPr txBox="true"/>
            <p:nvPr/>
          </p:nvSpPr>
          <p:spPr>
            <a:xfrm>
              <a:off x="0" y="-19050"/>
              <a:ext cx="9011956" cy="606908"/>
            </a:xfrm>
            <a:prstGeom prst="rect">
              <a:avLst/>
            </a:prstGeom>
          </p:spPr>
          <p:txBody>
            <a:bodyPr anchor="ctr" rtlCol="false" tIns="0" lIns="0" bIns="0" rIns="0"/>
            <a:lstStyle/>
            <a:p>
              <a:pPr algn="l">
                <a:lnSpc>
                  <a:spcPts val="2160"/>
                </a:lnSpc>
              </a:pPr>
              <a:r>
                <a:rPr lang="en-US" sz="1800">
                  <a:solidFill>
                    <a:srgbClr val="FFFFFF"/>
                  </a:solidFill>
                  <a:latin typeface="Poppins"/>
                  <a:ea typeface="Poppins"/>
                  <a:cs typeface="Poppins"/>
                  <a:sym typeface="Poppins"/>
                </a:rPr>
                <a:t>CHENNAI INSTITUTE OF TECHNOLOGY</a:t>
              </a:r>
            </a:p>
          </p:txBody>
        </p:sp>
      </p:grpSp>
      <p:grpSp>
        <p:nvGrpSpPr>
          <p:cNvPr name="Group 153" id="153"/>
          <p:cNvGrpSpPr/>
          <p:nvPr/>
        </p:nvGrpSpPr>
        <p:grpSpPr>
          <a:xfrm rot="0">
            <a:off x="1385316" y="9058046"/>
            <a:ext cx="2301545" cy="440893"/>
            <a:chOff x="0" y="0"/>
            <a:chExt cx="3068726" cy="587858"/>
          </a:xfrm>
        </p:grpSpPr>
        <p:sp>
          <p:nvSpPr>
            <p:cNvPr name="Freeform 154" id="154"/>
            <p:cNvSpPr/>
            <p:nvPr/>
          </p:nvSpPr>
          <p:spPr>
            <a:xfrm flipH="false" flipV="false" rot="0">
              <a:off x="0" y="0"/>
              <a:ext cx="3068726" cy="587858"/>
            </a:xfrm>
            <a:custGeom>
              <a:avLst/>
              <a:gdLst/>
              <a:ahLst/>
              <a:cxnLst/>
              <a:rect r="r" b="b" t="t" l="l"/>
              <a:pathLst>
                <a:path h="587858" w="3068726">
                  <a:moveTo>
                    <a:pt x="0" y="0"/>
                  </a:moveTo>
                  <a:lnTo>
                    <a:pt x="3068726" y="0"/>
                  </a:lnTo>
                  <a:lnTo>
                    <a:pt x="3068726" y="587858"/>
                  </a:lnTo>
                  <a:lnTo>
                    <a:pt x="0" y="587858"/>
                  </a:lnTo>
                  <a:close/>
                </a:path>
              </a:pathLst>
            </a:custGeom>
            <a:blipFill>
              <a:blip r:embed="rId5">
                <a:alphaModFix amt="0"/>
              </a:blip>
              <a:stretch>
                <a:fillRect l="0" t="-64384" r="0" b="-39047"/>
              </a:stretch>
            </a:blipFill>
          </p:spPr>
        </p:sp>
        <p:sp>
          <p:nvSpPr>
            <p:cNvPr name="TextBox 155" id="155"/>
            <p:cNvSpPr txBox="true"/>
            <p:nvPr/>
          </p:nvSpPr>
          <p:spPr>
            <a:xfrm>
              <a:off x="0" y="-19050"/>
              <a:ext cx="3068726" cy="606908"/>
            </a:xfrm>
            <a:prstGeom prst="rect">
              <a:avLst/>
            </a:prstGeom>
          </p:spPr>
          <p:txBody>
            <a:bodyPr anchor="ctr" rtlCol="false" tIns="0" lIns="0" bIns="0" rIns="0"/>
            <a:lstStyle/>
            <a:p>
              <a:pPr algn="l">
                <a:lnSpc>
                  <a:spcPts val="2160"/>
                </a:lnSpc>
              </a:pPr>
              <a:r>
                <a:rPr lang="en-US" sz="1800">
                  <a:solidFill>
                    <a:srgbClr val="FFFFFF"/>
                  </a:solidFill>
                  <a:latin typeface="Poppins"/>
                  <a:ea typeface="Poppins"/>
                  <a:cs typeface="Poppins"/>
                  <a:sym typeface="Poppins"/>
                </a:rPr>
                <a:t>+91 7010449210</a:t>
              </a:r>
            </a:p>
          </p:txBody>
        </p:sp>
      </p:grpSp>
      <p:grpSp>
        <p:nvGrpSpPr>
          <p:cNvPr name="Group 156" id="156"/>
          <p:cNvGrpSpPr/>
          <p:nvPr/>
        </p:nvGrpSpPr>
        <p:grpSpPr>
          <a:xfrm rot="0">
            <a:off x="9529877" y="9058046"/>
            <a:ext cx="5565970" cy="440893"/>
            <a:chOff x="0" y="0"/>
            <a:chExt cx="7421293" cy="587858"/>
          </a:xfrm>
        </p:grpSpPr>
        <p:sp>
          <p:nvSpPr>
            <p:cNvPr name="Freeform 157" id="157"/>
            <p:cNvSpPr/>
            <p:nvPr/>
          </p:nvSpPr>
          <p:spPr>
            <a:xfrm flipH="false" flipV="false" rot="0">
              <a:off x="0" y="0"/>
              <a:ext cx="7421292" cy="587858"/>
            </a:xfrm>
            <a:custGeom>
              <a:avLst/>
              <a:gdLst/>
              <a:ahLst/>
              <a:cxnLst/>
              <a:rect r="r" b="b" t="t" l="l"/>
              <a:pathLst>
                <a:path h="587858" w="7421292">
                  <a:moveTo>
                    <a:pt x="0" y="0"/>
                  </a:moveTo>
                  <a:lnTo>
                    <a:pt x="7421292" y="0"/>
                  </a:lnTo>
                  <a:lnTo>
                    <a:pt x="7421292" y="587858"/>
                  </a:lnTo>
                  <a:lnTo>
                    <a:pt x="0" y="587858"/>
                  </a:lnTo>
                  <a:close/>
                </a:path>
              </a:pathLst>
            </a:custGeom>
            <a:blipFill>
              <a:blip r:embed="rId5">
                <a:alphaModFix amt="0"/>
              </a:blip>
              <a:stretch>
                <a:fillRect l="0" t="-87721" r="49162" b="-62384"/>
              </a:stretch>
            </a:blipFill>
          </p:spPr>
        </p:sp>
        <p:sp>
          <p:nvSpPr>
            <p:cNvPr name="TextBox 158" id="158"/>
            <p:cNvSpPr txBox="true"/>
            <p:nvPr/>
          </p:nvSpPr>
          <p:spPr>
            <a:xfrm>
              <a:off x="0" y="-19050"/>
              <a:ext cx="7421293" cy="606908"/>
            </a:xfrm>
            <a:prstGeom prst="rect">
              <a:avLst/>
            </a:prstGeom>
          </p:spPr>
          <p:txBody>
            <a:bodyPr anchor="ctr" rtlCol="false" tIns="0" lIns="0" bIns="0" rIns="0"/>
            <a:lstStyle/>
            <a:p>
              <a:pPr algn="l">
                <a:lnSpc>
                  <a:spcPts val="2160"/>
                </a:lnSpc>
              </a:pPr>
              <a:r>
                <a:rPr lang="en-US" sz="1800">
                  <a:solidFill>
                    <a:srgbClr val="FFFFFF"/>
                  </a:solidFill>
                  <a:latin typeface="Poppins"/>
                  <a:ea typeface="Poppins"/>
                  <a:cs typeface="Poppins"/>
                  <a:sym typeface="Poppins"/>
                </a:rPr>
                <a:t>akshayasreleka2006@gmail.com</a:t>
              </a:r>
            </a:p>
          </p:txBody>
        </p:sp>
      </p:grpSp>
      <p:grpSp>
        <p:nvGrpSpPr>
          <p:cNvPr name="Group 159" id="159"/>
          <p:cNvGrpSpPr/>
          <p:nvPr/>
        </p:nvGrpSpPr>
        <p:grpSpPr>
          <a:xfrm rot="0">
            <a:off x="843534" y="207112"/>
            <a:ext cx="16573043" cy="1286561"/>
            <a:chOff x="0" y="0"/>
            <a:chExt cx="22097390" cy="1715414"/>
          </a:xfrm>
        </p:grpSpPr>
        <p:sp>
          <p:nvSpPr>
            <p:cNvPr name="Freeform 160" id="160"/>
            <p:cNvSpPr/>
            <p:nvPr/>
          </p:nvSpPr>
          <p:spPr>
            <a:xfrm flipH="false" flipV="false" rot="0">
              <a:off x="0" y="0"/>
              <a:ext cx="22097366" cy="1715389"/>
            </a:xfrm>
            <a:custGeom>
              <a:avLst/>
              <a:gdLst/>
              <a:ahLst/>
              <a:cxnLst/>
              <a:rect r="r" b="b" t="t" l="l"/>
              <a:pathLst>
                <a:path h="1715389" w="22097366">
                  <a:moveTo>
                    <a:pt x="0" y="162560"/>
                  </a:moveTo>
                  <a:cubicBezTo>
                    <a:pt x="0" y="72771"/>
                    <a:pt x="72771" y="0"/>
                    <a:pt x="162560" y="0"/>
                  </a:cubicBezTo>
                  <a:lnTo>
                    <a:pt x="21934805" y="0"/>
                  </a:lnTo>
                  <a:cubicBezTo>
                    <a:pt x="22024594" y="0"/>
                    <a:pt x="22097366" y="72771"/>
                    <a:pt x="22097366" y="162560"/>
                  </a:cubicBezTo>
                  <a:lnTo>
                    <a:pt x="22097366" y="1552829"/>
                  </a:lnTo>
                  <a:cubicBezTo>
                    <a:pt x="22097366" y="1642618"/>
                    <a:pt x="22024594" y="1715389"/>
                    <a:pt x="21934805" y="1715389"/>
                  </a:cubicBezTo>
                  <a:lnTo>
                    <a:pt x="162560" y="1715389"/>
                  </a:lnTo>
                  <a:cubicBezTo>
                    <a:pt x="72771" y="1715389"/>
                    <a:pt x="0" y="1642618"/>
                    <a:pt x="0" y="1552829"/>
                  </a:cubicBezTo>
                  <a:close/>
                </a:path>
              </a:pathLst>
            </a:custGeom>
            <a:solidFill>
              <a:srgbClr val="FFFFFF">
                <a:alpha val="90196"/>
              </a:srgbClr>
            </a:solidFill>
          </p:spPr>
        </p:sp>
      </p:grpSp>
      <p:grpSp>
        <p:nvGrpSpPr>
          <p:cNvPr name="Group 161" id="161"/>
          <p:cNvGrpSpPr/>
          <p:nvPr/>
        </p:nvGrpSpPr>
        <p:grpSpPr>
          <a:xfrm rot="0">
            <a:off x="2257435" y="410566"/>
            <a:ext cx="13745232" cy="879653"/>
            <a:chOff x="0" y="0"/>
            <a:chExt cx="18326976" cy="1172870"/>
          </a:xfrm>
        </p:grpSpPr>
        <p:sp>
          <p:nvSpPr>
            <p:cNvPr name="Freeform 162" id="162"/>
            <p:cNvSpPr/>
            <p:nvPr/>
          </p:nvSpPr>
          <p:spPr>
            <a:xfrm flipH="false" flipV="false" rot="0">
              <a:off x="0" y="0"/>
              <a:ext cx="18326988" cy="1172845"/>
            </a:xfrm>
            <a:custGeom>
              <a:avLst/>
              <a:gdLst/>
              <a:ahLst/>
              <a:cxnLst/>
              <a:rect r="r" b="b" t="t" l="l"/>
              <a:pathLst>
                <a:path h="1172845" w="18326988">
                  <a:moveTo>
                    <a:pt x="0" y="0"/>
                  </a:moveTo>
                  <a:lnTo>
                    <a:pt x="18326988" y="0"/>
                  </a:lnTo>
                  <a:lnTo>
                    <a:pt x="18326988" y="1172845"/>
                  </a:lnTo>
                  <a:lnTo>
                    <a:pt x="0" y="1172845"/>
                  </a:lnTo>
                  <a:lnTo>
                    <a:pt x="0" y="0"/>
                  </a:lnTo>
                  <a:close/>
                </a:path>
              </a:pathLst>
            </a:custGeom>
            <a:blipFill>
              <a:blip r:embed="rId9"/>
              <a:stretch>
                <a:fillRect l="0" t="-2" r="0" b="-4"/>
              </a:stretch>
            </a:blipFill>
          </p:spPr>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543" cy="10287000"/>
            <a:chOff x="0" y="0"/>
            <a:chExt cx="24383390" cy="13716000"/>
          </a:xfrm>
        </p:grpSpPr>
        <p:sp>
          <p:nvSpPr>
            <p:cNvPr name="Freeform 3" id="3"/>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close/>
                </a:path>
              </a:pathLst>
            </a:custGeom>
            <a:solidFill>
              <a:srgbClr val="000036"/>
            </a:solidFill>
          </p:spPr>
        </p:sp>
      </p:grpSp>
      <p:grpSp>
        <p:nvGrpSpPr>
          <p:cNvPr name="Group 4" id="4"/>
          <p:cNvGrpSpPr/>
          <p:nvPr/>
        </p:nvGrpSpPr>
        <p:grpSpPr>
          <a:xfrm rot="0">
            <a:off x="0" y="0"/>
            <a:ext cx="18287543" cy="10287000"/>
            <a:chOff x="0" y="0"/>
            <a:chExt cx="24383390" cy="13716000"/>
          </a:xfrm>
        </p:grpSpPr>
        <p:sp>
          <p:nvSpPr>
            <p:cNvPr name="Freeform 5" id="5" descr="preencoded.png"/>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lnTo>
                    <a:pt x="0" y="0"/>
                  </a:lnTo>
                  <a:close/>
                </a:path>
              </a:pathLst>
            </a:custGeom>
            <a:blipFill>
              <a:blip r:embed="rId2">
                <a:alphaModFix amt="15000"/>
              </a:blip>
              <a:stretch>
                <a:fillRect l="-16360" t="0" r="-16361" b="0"/>
              </a:stretch>
            </a:blipFill>
          </p:spPr>
        </p:sp>
      </p:grpSp>
      <p:grpSp>
        <p:nvGrpSpPr>
          <p:cNvPr name="Group 6" id="6"/>
          <p:cNvGrpSpPr/>
          <p:nvPr/>
        </p:nvGrpSpPr>
        <p:grpSpPr>
          <a:xfrm rot="0">
            <a:off x="857250" y="429311"/>
            <a:ext cx="16573043" cy="999896"/>
            <a:chOff x="0" y="0"/>
            <a:chExt cx="22097390" cy="1333195"/>
          </a:xfrm>
        </p:grpSpPr>
        <p:sp>
          <p:nvSpPr>
            <p:cNvPr name="Freeform 7" id="7"/>
            <p:cNvSpPr/>
            <p:nvPr/>
          </p:nvSpPr>
          <p:spPr>
            <a:xfrm flipH="false" flipV="false" rot="0">
              <a:off x="0" y="0"/>
              <a:ext cx="22097364" cy="1333246"/>
            </a:xfrm>
            <a:custGeom>
              <a:avLst/>
              <a:gdLst/>
              <a:ahLst/>
              <a:cxnLst/>
              <a:rect r="r" b="b" t="t" l="l"/>
              <a:pathLst>
                <a:path h="1333246" w="22097364">
                  <a:moveTo>
                    <a:pt x="0" y="209042"/>
                  </a:moveTo>
                  <a:cubicBezTo>
                    <a:pt x="0" y="93599"/>
                    <a:pt x="93599" y="0"/>
                    <a:pt x="209042" y="0"/>
                  </a:cubicBezTo>
                  <a:lnTo>
                    <a:pt x="21888323" y="0"/>
                  </a:lnTo>
                  <a:cubicBezTo>
                    <a:pt x="22003765" y="0"/>
                    <a:pt x="22097364" y="93599"/>
                    <a:pt x="22097364" y="209042"/>
                  </a:cubicBezTo>
                  <a:lnTo>
                    <a:pt x="22097364" y="1124204"/>
                  </a:lnTo>
                  <a:cubicBezTo>
                    <a:pt x="22097364" y="1239647"/>
                    <a:pt x="22003765" y="1333246"/>
                    <a:pt x="21888323" y="1333246"/>
                  </a:cubicBezTo>
                  <a:lnTo>
                    <a:pt x="209042" y="1333246"/>
                  </a:lnTo>
                  <a:cubicBezTo>
                    <a:pt x="93599" y="1333246"/>
                    <a:pt x="0" y="1239647"/>
                    <a:pt x="0" y="1124204"/>
                  </a:cubicBezTo>
                  <a:close/>
                </a:path>
              </a:pathLst>
            </a:custGeom>
            <a:solidFill>
              <a:srgbClr val="FFFFFF">
                <a:alpha val="90196"/>
              </a:srgbClr>
            </a:solidFill>
          </p:spPr>
        </p:sp>
      </p:grpSp>
      <p:grpSp>
        <p:nvGrpSpPr>
          <p:cNvPr name="Group 8" id="8"/>
          <p:cNvGrpSpPr/>
          <p:nvPr/>
        </p:nvGrpSpPr>
        <p:grpSpPr>
          <a:xfrm rot="0">
            <a:off x="16287750" y="571957"/>
            <a:ext cx="714604" cy="714604"/>
            <a:chOff x="0" y="0"/>
            <a:chExt cx="952805" cy="952805"/>
          </a:xfrm>
        </p:grpSpPr>
        <p:sp>
          <p:nvSpPr>
            <p:cNvPr name="Freeform 9" id="9" descr="preencoded.png"/>
            <p:cNvSpPr/>
            <p:nvPr/>
          </p:nvSpPr>
          <p:spPr>
            <a:xfrm flipH="false" flipV="false" rot="0">
              <a:off x="0" y="0"/>
              <a:ext cx="952754" cy="952754"/>
            </a:xfrm>
            <a:custGeom>
              <a:avLst/>
              <a:gdLst/>
              <a:ahLst/>
              <a:cxnLst/>
              <a:rect r="r" b="b" t="t" l="l"/>
              <a:pathLst>
                <a:path h="952754" w="952754">
                  <a:moveTo>
                    <a:pt x="0" y="0"/>
                  </a:moveTo>
                  <a:lnTo>
                    <a:pt x="952754" y="0"/>
                  </a:lnTo>
                  <a:lnTo>
                    <a:pt x="952754" y="952754"/>
                  </a:lnTo>
                  <a:lnTo>
                    <a:pt x="0" y="952754"/>
                  </a:lnTo>
                  <a:lnTo>
                    <a:pt x="0" y="0"/>
                  </a:lnTo>
                  <a:close/>
                </a:path>
              </a:pathLst>
            </a:custGeom>
            <a:blipFill>
              <a:blip r:embed="rId3"/>
              <a:stretch>
                <a:fillRect l="0" t="0" r="-5" b="-5"/>
              </a:stretch>
            </a:blipFill>
          </p:spPr>
        </p:sp>
      </p:grpSp>
      <p:grpSp>
        <p:nvGrpSpPr>
          <p:cNvPr name="Group 10" id="10"/>
          <p:cNvGrpSpPr/>
          <p:nvPr/>
        </p:nvGrpSpPr>
        <p:grpSpPr>
          <a:xfrm rot="0">
            <a:off x="1137533" y="571957"/>
            <a:ext cx="8618220" cy="701040"/>
            <a:chOff x="0" y="0"/>
            <a:chExt cx="11490960" cy="934720"/>
          </a:xfrm>
        </p:grpSpPr>
        <p:sp>
          <p:nvSpPr>
            <p:cNvPr name="Freeform 11" id="11"/>
            <p:cNvSpPr/>
            <p:nvPr/>
          </p:nvSpPr>
          <p:spPr>
            <a:xfrm flipH="false" flipV="false" rot="0">
              <a:off x="0" y="0"/>
              <a:ext cx="11490960" cy="934720"/>
            </a:xfrm>
            <a:custGeom>
              <a:avLst/>
              <a:gdLst/>
              <a:ahLst/>
              <a:cxnLst/>
              <a:rect r="r" b="b" t="t" l="l"/>
              <a:pathLst>
                <a:path h="934720" w="11490960">
                  <a:moveTo>
                    <a:pt x="0" y="0"/>
                  </a:moveTo>
                  <a:lnTo>
                    <a:pt x="11490960" y="0"/>
                  </a:lnTo>
                  <a:lnTo>
                    <a:pt x="11490960" y="934720"/>
                  </a:lnTo>
                  <a:lnTo>
                    <a:pt x="0" y="934720"/>
                  </a:lnTo>
                  <a:lnTo>
                    <a:pt x="0" y="0"/>
                  </a:lnTo>
                  <a:close/>
                </a:path>
              </a:pathLst>
            </a:custGeom>
            <a:blipFill>
              <a:blip r:embed="rId4"/>
              <a:stretch>
                <a:fillRect l="-11" t="0" r="-11" b="0"/>
              </a:stretch>
            </a:blipFill>
          </p:spPr>
        </p:sp>
      </p:grpSp>
      <p:grpSp>
        <p:nvGrpSpPr>
          <p:cNvPr name="Group 12" id="12"/>
          <p:cNvGrpSpPr/>
          <p:nvPr/>
        </p:nvGrpSpPr>
        <p:grpSpPr>
          <a:xfrm rot="0">
            <a:off x="0" y="0"/>
            <a:ext cx="18287543" cy="10287000"/>
            <a:chOff x="0" y="0"/>
            <a:chExt cx="24383390" cy="13716000"/>
          </a:xfrm>
        </p:grpSpPr>
        <p:sp>
          <p:nvSpPr>
            <p:cNvPr name="Freeform 13" id="13"/>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close/>
                </a:path>
              </a:pathLst>
            </a:custGeom>
            <a:solidFill>
              <a:srgbClr val="000036"/>
            </a:solidFill>
          </p:spPr>
        </p:sp>
      </p:grpSp>
      <p:grpSp>
        <p:nvGrpSpPr>
          <p:cNvPr name="Group 14" id="14"/>
          <p:cNvGrpSpPr/>
          <p:nvPr/>
        </p:nvGrpSpPr>
        <p:grpSpPr>
          <a:xfrm rot="0">
            <a:off x="457" y="0"/>
            <a:ext cx="18287543" cy="10287000"/>
            <a:chOff x="0" y="0"/>
            <a:chExt cx="24383390" cy="13716000"/>
          </a:xfrm>
        </p:grpSpPr>
        <p:sp>
          <p:nvSpPr>
            <p:cNvPr name="Freeform 15" id="15" descr="preencoded.png"/>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lnTo>
                    <a:pt x="0" y="0"/>
                  </a:lnTo>
                  <a:close/>
                </a:path>
              </a:pathLst>
            </a:custGeom>
            <a:blipFill>
              <a:blip r:embed="rId2">
                <a:alphaModFix amt="9999"/>
              </a:blip>
              <a:stretch>
                <a:fillRect l="-16360" t="0" r="-16361" b="0"/>
              </a:stretch>
            </a:blipFill>
          </p:spPr>
        </p:sp>
      </p:grpSp>
      <p:grpSp>
        <p:nvGrpSpPr>
          <p:cNvPr name="Group 16" id="16"/>
          <p:cNvGrpSpPr/>
          <p:nvPr/>
        </p:nvGrpSpPr>
        <p:grpSpPr>
          <a:xfrm rot="0">
            <a:off x="1023690" y="1777517"/>
            <a:ext cx="113843" cy="614477"/>
            <a:chOff x="0" y="0"/>
            <a:chExt cx="151790" cy="819302"/>
          </a:xfrm>
        </p:grpSpPr>
        <p:sp>
          <p:nvSpPr>
            <p:cNvPr name="Freeform 17" id="17"/>
            <p:cNvSpPr/>
            <p:nvPr/>
          </p:nvSpPr>
          <p:spPr>
            <a:xfrm flipH="false" flipV="false" rot="0">
              <a:off x="0" y="0"/>
              <a:ext cx="151765" cy="819277"/>
            </a:xfrm>
            <a:custGeom>
              <a:avLst/>
              <a:gdLst/>
              <a:ahLst/>
              <a:cxnLst/>
              <a:rect r="r" b="b" t="t" l="l"/>
              <a:pathLst>
                <a:path h="819277" w="151765">
                  <a:moveTo>
                    <a:pt x="0" y="0"/>
                  </a:moveTo>
                  <a:lnTo>
                    <a:pt x="151765" y="0"/>
                  </a:lnTo>
                  <a:lnTo>
                    <a:pt x="151765" y="819277"/>
                  </a:lnTo>
                  <a:lnTo>
                    <a:pt x="0" y="819277"/>
                  </a:lnTo>
                  <a:close/>
                </a:path>
              </a:pathLst>
            </a:custGeom>
            <a:solidFill>
              <a:srgbClr val="88E555"/>
            </a:solidFill>
          </p:spPr>
        </p:sp>
      </p:grpSp>
      <p:grpSp>
        <p:nvGrpSpPr>
          <p:cNvPr name="Group 18" id="18"/>
          <p:cNvGrpSpPr/>
          <p:nvPr/>
        </p:nvGrpSpPr>
        <p:grpSpPr>
          <a:xfrm rot="0">
            <a:off x="1320146" y="1686001"/>
            <a:ext cx="8321497" cy="967969"/>
            <a:chOff x="0" y="0"/>
            <a:chExt cx="11095330" cy="1290625"/>
          </a:xfrm>
        </p:grpSpPr>
        <p:sp>
          <p:nvSpPr>
            <p:cNvPr name="Freeform 19" id="19"/>
            <p:cNvSpPr/>
            <p:nvPr/>
          </p:nvSpPr>
          <p:spPr>
            <a:xfrm flipH="false" flipV="false" rot="0">
              <a:off x="0" y="0"/>
              <a:ext cx="11095330" cy="1290624"/>
            </a:xfrm>
            <a:custGeom>
              <a:avLst/>
              <a:gdLst/>
              <a:ahLst/>
              <a:cxnLst/>
              <a:rect r="r" b="b" t="t" l="l"/>
              <a:pathLst>
                <a:path h="1290624" w="11095330">
                  <a:moveTo>
                    <a:pt x="0" y="0"/>
                  </a:moveTo>
                  <a:lnTo>
                    <a:pt x="11095330" y="0"/>
                  </a:lnTo>
                  <a:lnTo>
                    <a:pt x="11095330" y="1290624"/>
                  </a:lnTo>
                  <a:lnTo>
                    <a:pt x="0" y="1290624"/>
                  </a:lnTo>
                  <a:close/>
                </a:path>
              </a:pathLst>
            </a:custGeom>
            <a:blipFill>
              <a:blip r:embed="rId5">
                <a:alphaModFix amt="0"/>
              </a:blip>
              <a:stretch>
                <a:fillRect l="0" t="-131306" r="0" b="-103714"/>
              </a:stretch>
            </a:blipFill>
          </p:spPr>
        </p:sp>
        <p:sp>
          <p:nvSpPr>
            <p:cNvPr name="TextBox 20" id="20"/>
            <p:cNvSpPr txBox="true"/>
            <p:nvPr/>
          </p:nvSpPr>
          <p:spPr>
            <a:xfrm>
              <a:off x="0" y="-38100"/>
              <a:ext cx="11095330" cy="1328725"/>
            </a:xfrm>
            <a:prstGeom prst="rect">
              <a:avLst/>
            </a:prstGeom>
          </p:spPr>
          <p:txBody>
            <a:bodyPr anchor="ctr" rtlCol="false" tIns="0" lIns="0" bIns="0" rIns="0"/>
            <a:lstStyle/>
            <a:p>
              <a:pPr algn="l">
                <a:lnSpc>
                  <a:spcPts val="4680"/>
                </a:lnSpc>
              </a:pPr>
              <a:r>
                <a:rPr lang="en-US" b="true" sz="3900">
                  <a:solidFill>
                    <a:srgbClr val="FFFFFF"/>
                  </a:solidFill>
                  <a:latin typeface="Poppins Bold"/>
                  <a:ea typeface="Poppins Bold"/>
                  <a:cs typeface="Poppins Bold"/>
                  <a:sym typeface="Poppins Bold"/>
                </a:rPr>
                <a:t>PROBLEM STATEMENT </a:t>
              </a:r>
            </a:p>
          </p:txBody>
        </p:sp>
      </p:grpSp>
      <p:grpSp>
        <p:nvGrpSpPr>
          <p:cNvPr name="Group 21" id="21"/>
          <p:cNvGrpSpPr/>
          <p:nvPr/>
        </p:nvGrpSpPr>
        <p:grpSpPr>
          <a:xfrm rot="0">
            <a:off x="876743" y="2487244"/>
            <a:ext cx="16592093" cy="7707646"/>
            <a:chOff x="0" y="0"/>
            <a:chExt cx="22122790" cy="10276862"/>
          </a:xfrm>
        </p:grpSpPr>
        <p:sp>
          <p:nvSpPr>
            <p:cNvPr name="Freeform 22" id="22"/>
            <p:cNvSpPr/>
            <p:nvPr/>
          </p:nvSpPr>
          <p:spPr>
            <a:xfrm flipH="false" flipV="false" rot="0">
              <a:off x="0" y="0"/>
              <a:ext cx="22122764" cy="10276777"/>
            </a:xfrm>
            <a:custGeom>
              <a:avLst/>
              <a:gdLst/>
              <a:ahLst/>
              <a:cxnLst/>
              <a:rect r="r" b="b" t="t" l="l"/>
              <a:pathLst>
                <a:path h="10276777" w="22122764">
                  <a:moveTo>
                    <a:pt x="0" y="69039"/>
                  </a:moveTo>
                  <a:cubicBezTo>
                    <a:pt x="0" y="30874"/>
                    <a:pt x="27432" y="0"/>
                    <a:pt x="61341" y="0"/>
                  </a:cubicBezTo>
                  <a:lnTo>
                    <a:pt x="22061424" y="0"/>
                  </a:lnTo>
                  <a:cubicBezTo>
                    <a:pt x="22095333" y="0"/>
                    <a:pt x="22122764" y="30874"/>
                    <a:pt x="22122764" y="69039"/>
                  </a:cubicBezTo>
                  <a:lnTo>
                    <a:pt x="22122764" y="10207737"/>
                  </a:lnTo>
                  <a:cubicBezTo>
                    <a:pt x="22122764" y="10245902"/>
                    <a:pt x="22095333" y="10276777"/>
                    <a:pt x="22061424" y="10276777"/>
                  </a:cubicBezTo>
                  <a:lnTo>
                    <a:pt x="61341" y="10276777"/>
                  </a:lnTo>
                  <a:cubicBezTo>
                    <a:pt x="27432" y="10276777"/>
                    <a:pt x="0" y="10245902"/>
                    <a:pt x="0" y="10207737"/>
                  </a:cubicBezTo>
                  <a:close/>
                </a:path>
              </a:pathLst>
            </a:custGeom>
            <a:solidFill>
              <a:srgbClr val="FFFFFF">
                <a:alpha val="0"/>
              </a:srgbClr>
            </a:solidFill>
            <a:ln w="19050" cap="sq">
              <a:solidFill>
                <a:srgbClr val="88E555"/>
              </a:solidFill>
              <a:prstDash val="solid"/>
              <a:miter/>
            </a:ln>
          </p:spPr>
        </p:sp>
      </p:grpSp>
      <p:grpSp>
        <p:nvGrpSpPr>
          <p:cNvPr name="Group 23" id="23"/>
          <p:cNvGrpSpPr/>
          <p:nvPr/>
        </p:nvGrpSpPr>
        <p:grpSpPr>
          <a:xfrm rot="0">
            <a:off x="966311" y="2487244"/>
            <a:ext cx="342443" cy="342443"/>
            <a:chOff x="0" y="0"/>
            <a:chExt cx="456590" cy="456590"/>
          </a:xfrm>
        </p:grpSpPr>
        <p:sp>
          <p:nvSpPr>
            <p:cNvPr name="Freeform 24" id="24"/>
            <p:cNvSpPr/>
            <p:nvPr/>
          </p:nvSpPr>
          <p:spPr>
            <a:xfrm flipH="false" flipV="false" rot="0">
              <a:off x="0" y="0"/>
              <a:ext cx="456565" cy="456565"/>
            </a:xfrm>
            <a:custGeom>
              <a:avLst/>
              <a:gdLst/>
              <a:ahLst/>
              <a:cxnLst/>
              <a:rect r="r" b="b" t="t" l="l"/>
              <a:pathLst>
                <a:path h="456565" w="456565">
                  <a:moveTo>
                    <a:pt x="0" y="228346"/>
                  </a:moveTo>
                  <a:cubicBezTo>
                    <a:pt x="0" y="102235"/>
                    <a:pt x="102235" y="0"/>
                    <a:pt x="228346" y="0"/>
                  </a:cubicBezTo>
                  <a:cubicBezTo>
                    <a:pt x="354457" y="0"/>
                    <a:pt x="456565" y="102235"/>
                    <a:pt x="456565" y="228346"/>
                  </a:cubicBezTo>
                  <a:cubicBezTo>
                    <a:pt x="456565" y="354457"/>
                    <a:pt x="354330" y="456565"/>
                    <a:pt x="228346" y="456565"/>
                  </a:cubicBezTo>
                  <a:cubicBezTo>
                    <a:pt x="102362" y="456565"/>
                    <a:pt x="0" y="354330"/>
                    <a:pt x="0" y="228346"/>
                  </a:cubicBezTo>
                  <a:close/>
                </a:path>
              </a:pathLst>
            </a:custGeom>
            <a:blipFill>
              <a:blip r:embed="rId5">
                <a:alphaModFix amt="0"/>
              </a:blip>
              <a:stretch>
                <a:fillRect l="-78307" t="0" r="-78313" b="-5"/>
              </a:stretch>
            </a:blipFill>
            <a:ln w="57150" cap="sq">
              <a:solidFill>
                <a:srgbClr val="88E555"/>
              </a:solidFill>
              <a:prstDash val="solid"/>
              <a:miter/>
            </a:ln>
          </p:spPr>
        </p:sp>
      </p:grpSp>
      <p:grpSp>
        <p:nvGrpSpPr>
          <p:cNvPr name="Group 25" id="25"/>
          <p:cNvGrpSpPr/>
          <p:nvPr/>
        </p:nvGrpSpPr>
        <p:grpSpPr>
          <a:xfrm rot="0">
            <a:off x="17259071" y="2487244"/>
            <a:ext cx="342443" cy="342443"/>
            <a:chOff x="0" y="0"/>
            <a:chExt cx="456590" cy="456590"/>
          </a:xfrm>
        </p:grpSpPr>
        <p:sp>
          <p:nvSpPr>
            <p:cNvPr name="Freeform 26" id="26"/>
            <p:cNvSpPr/>
            <p:nvPr/>
          </p:nvSpPr>
          <p:spPr>
            <a:xfrm flipH="false" flipV="false" rot="0">
              <a:off x="0" y="0"/>
              <a:ext cx="456565" cy="456565"/>
            </a:xfrm>
            <a:custGeom>
              <a:avLst/>
              <a:gdLst/>
              <a:ahLst/>
              <a:cxnLst/>
              <a:rect r="r" b="b" t="t" l="l"/>
              <a:pathLst>
                <a:path h="456565" w="456565">
                  <a:moveTo>
                    <a:pt x="0" y="0"/>
                  </a:moveTo>
                  <a:lnTo>
                    <a:pt x="456565" y="0"/>
                  </a:lnTo>
                  <a:lnTo>
                    <a:pt x="456565" y="456565"/>
                  </a:lnTo>
                  <a:lnTo>
                    <a:pt x="0" y="456565"/>
                  </a:lnTo>
                  <a:close/>
                </a:path>
              </a:pathLst>
            </a:custGeom>
            <a:blipFill>
              <a:blip r:embed="rId5">
                <a:alphaModFix amt="0"/>
              </a:blip>
              <a:stretch>
                <a:fillRect l="-78307" t="0" r="-78313" b="-5"/>
              </a:stretch>
            </a:blipFill>
            <a:ln w="57150" cap="sq">
              <a:solidFill>
                <a:srgbClr val="88E555"/>
              </a:solidFill>
              <a:prstDash val="solid"/>
              <a:miter/>
            </a:ln>
          </p:spPr>
        </p:sp>
      </p:grpSp>
      <p:grpSp>
        <p:nvGrpSpPr>
          <p:cNvPr name="Group 27" id="27"/>
          <p:cNvGrpSpPr/>
          <p:nvPr/>
        </p:nvGrpSpPr>
        <p:grpSpPr>
          <a:xfrm rot="0">
            <a:off x="867004" y="9808045"/>
            <a:ext cx="342443" cy="342443"/>
            <a:chOff x="0" y="0"/>
            <a:chExt cx="456590" cy="456590"/>
          </a:xfrm>
        </p:grpSpPr>
        <p:sp>
          <p:nvSpPr>
            <p:cNvPr name="Freeform 28" id="28"/>
            <p:cNvSpPr/>
            <p:nvPr/>
          </p:nvSpPr>
          <p:spPr>
            <a:xfrm flipH="false" flipV="false" rot="0">
              <a:off x="0" y="0"/>
              <a:ext cx="456565" cy="456565"/>
            </a:xfrm>
            <a:custGeom>
              <a:avLst/>
              <a:gdLst/>
              <a:ahLst/>
              <a:cxnLst/>
              <a:rect r="r" b="b" t="t" l="l"/>
              <a:pathLst>
                <a:path h="456565" w="456565">
                  <a:moveTo>
                    <a:pt x="0" y="0"/>
                  </a:moveTo>
                  <a:lnTo>
                    <a:pt x="456565" y="0"/>
                  </a:lnTo>
                  <a:lnTo>
                    <a:pt x="456565" y="456565"/>
                  </a:lnTo>
                  <a:lnTo>
                    <a:pt x="0" y="456565"/>
                  </a:lnTo>
                  <a:close/>
                </a:path>
              </a:pathLst>
            </a:custGeom>
            <a:blipFill>
              <a:blip r:embed="rId5">
                <a:alphaModFix amt="0"/>
              </a:blip>
              <a:stretch>
                <a:fillRect l="-78307" t="0" r="-78313" b="-5"/>
              </a:stretch>
            </a:blipFill>
            <a:ln w="57150" cap="sq">
              <a:solidFill>
                <a:srgbClr val="88E555"/>
              </a:solidFill>
              <a:prstDash val="solid"/>
              <a:miter/>
            </a:ln>
          </p:spPr>
        </p:sp>
      </p:grpSp>
      <p:grpSp>
        <p:nvGrpSpPr>
          <p:cNvPr name="Group 29" id="29"/>
          <p:cNvGrpSpPr/>
          <p:nvPr/>
        </p:nvGrpSpPr>
        <p:grpSpPr>
          <a:xfrm rot="0">
            <a:off x="17163821" y="9636823"/>
            <a:ext cx="342443" cy="342443"/>
            <a:chOff x="0" y="0"/>
            <a:chExt cx="456590" cy="456590"/>
          </a:xfrm>
        </p:grpSpPr>
        <p:sp>
          <p:nvSpPr>
            <p:cNvPr name="Freeform 30" id="30"/>
            <p:cNvSpPr/>
            <p:nvPr/>
          </p:nvSpPr>
          <p:spPr>
            <a:xfrm flipH="false" flipV="false" rot="0">
              <a:off x="0" y="0"/>
              <a:ext cx="456565" cy="456565"/>
            </a:xfrm>
            <a:custGeom>
              <a:avLst/>
              <a:gdLst/>
              <a:ahLst/>
              <a:cxnLst/>
              <a:rect r="r" b="b" t="t" l="l"/>
              <a:pathLst>
                <a:path h="456565" w="456565">
                  <a:moveTo>
                    <a:pt x="0" y="0"/>
                  </a:moveTo>
                  <a:lnTo>
                    <a:pt x="456565" y="0"/>
                  </a:lnTo>
                  <a:lnTo>
                    <a:pt x="456565" y="456565"/>
                  </a:lnTo>
                  <a:lnTo>
                    <a:pt x="0" y="456565"/>
                  </a:lnTo>
                  <a:close/>
                </a:path>
              </a:pathLst>
            </a:custGeom>
            <a:blipFill>
              <a:blip r:embed="rId5">
                <a:alphaModFix amt="0"/>
              </a:blip>
              <a:stretch>
                <a:fillRect l="-78307" t="0" r="-78313" b="-5"/>
              </a:stretch>
            </a:blipFill>
            <a:ln w="57150" cap="sq">
              <a:solidFill>
                <a:srgbClr val="88E555"/>
              </a:solidFill>
              <a:prstDash val="solid"/>
              <a:miter/>
            </a:ln>
          </p:spPr>
        </p:sp>
      </p:grpSp>
      <p:grpSp>
        <p:nvGrpSpPr>
          <p:cNvPr name="Group 31" id="31"/>
          <p:cNvGrpSpPr/>
          <p:nvPr/>
        </p:nvGrpSpPr>
        <p:grpSpPr>
          <a:xfrm rot="0">
            <a:off x="1257757" y="2612212"/>
            <a:ext cx="13791282" cy="1080440"/>
            <a:chOff x="0" y="0"/>
            <a:chExt cx="18388376" cy="1440586"/>
          </a:xfrm>
        </p:grpSpPr>
        <p:sp>
          <p:nvSpPr>
            <p:cNvPr name="Freeform 32" id="32"/>
            <p:cNvSpPr/>
            <p:nvPr/>
          </p:nvSpPr>
          <p:spPr>
            <a:xfrm flipH="false" flipV="false" rot="0">
              <a:off x="0" y="0"/>
              <a:ext cx="18388375" cy="1440587"/>
            </a:xfrm>
            <a:custGeom>
              <a:avLst/>
              <a:gdLst/>
              <a:ahLst/>
              <a:cxnLst/>
              <a:rect r="r" b="b" t="t" l="l"/>
              <a:pathLst>
                <a:path h="1440587" w="18388375">
                  <a:moveTo>
                    <a:pt x="0" y="0"/>
                  </a:moveTo>
                  <a:lnTo>
                    <a:pt x="18388375" y="0"/>
                  </a:lnTo>
                  <a:lnTo>
                    <a:pt x="18388375" y="1440587"/>
                  </a:lnTo>
                  <a:lnTo>
                    <a:pt x="0" y="1440587"/>
                  </a:lnTo>
                  <a:close/>
                </a:path>
              </a:pathLst>
            </a:custGeom>
            <a:blipFill>
              <a:blip r:embed="rId5">
                <a:alphaModFix amt="0"/>
              </a:blip>
              <a:stretch>
                <a:fillRect l="0" t="-147976" r="31724" b="-91647"/>
              </a:stretch>
            </a:blipFill>
          </p:spPr>
        </p:sp>
        <p:sp>
          <p:nvSpPr>
            <p:cNvPr name="TextBox 33" id="33"/>
            <p:cNvSpPr txBox="true"/>
            <p:nvPr/>
          </p:nvSpPr>
          <p:spPr>
            <a:xfrm>
              <a:off x="0" y="-28575"/>
              <a:ext cx="18388376" cy="1469161"/>
            </a:xfrm>
            <a:prstGeom prst="rect">
              <a:avLst/>
            </a:prstGeom>
          </p:spPr>
          <p:txBody>
            <a:bodyPr anchor="ctr" rtlCol="false" tIns="0" lIns="0" bIns="0" rIns="0"/>
            <a:lstStyle/>
            <a:p>
              <a:pPr algn="l">
                <a:lnSpc>
                  <a:spcPts val="3240"/>
                </a:lnSpc>
              </a:pPr>
              <a:r>
                <a:rPr lang="en-US" sz="2700">
                  <a:solidFill>
                    <a:srgbClr val="AEFF82"/>
                  </a:solidFill>
                  <a:latin typeface="Poppins"/>
                  <a:ea typeface="Poppins"/>
                  <a:cs typeface="Poppins"/>
                  <a:sym typeface="Poppins"/>
                </a:rPr>
                <a:t>Drift-Sense: AI-Powered Navigation-Error Recovery for Wafer Inspection Tools</a:t>
              </a:r>
            </a:p>
            <a:p>
              <a:pPr algn="l">
                <a:lnSpc>
                  <a:spcPts val="3240"/>
                </a:lnSpc>
              </a:pPr>
            </a:p>
          </p:txBody>
        </p:sp>
      </p:grpSp>
      <p:grpSp>
        <p:nvGrpSpPr>
          <p:cNvPr name="Group 34" id="34"/>
          <p:cNvGrpSpPr/>
          <p:nvPr/>
        </p:nvGrpSpPr>
        <p:grpSpPr>
          <a:xfrm rot="0">
            <a:off x="1308754" y="3239262"/>
            <a:ext cx="15939154" cy="2261902"/>
            <a:chOff x="0" y="0"/>
            <a:chExt cx="21252205" cy="3015869"/>
          </a:xfrm>
        </p:grpSpPr>
        <p:sp>
          <p:nvSpPr>
            <p:cNvPr name="Freeform 35" id="35"/>
            <p:cNvSpPr/>
            <p:nvPr/>
          </p:nvSpPr>
          <p:spPr>
            <a:xfrm flipH="false" flipV="false" rot="0">
              <a:off x="0" y="0"/>
              <a:ext cx="21252128" cy="3015810"/>
            </a:xfrm>
            <a:custGeom>
              <a:avLst/>
              <a:gdLst/>
              <a:ahLst/>
              <a:cxnLst/>
              <a:rect r="r" b="b" t="t" l="l"/>
              <a:pathLst>
                <a:path h="3015810" w="21252128">
                  <a:moveTo>
                    <a:pt x="0" y="128939"/>
                  </a:moveTo>
                  <a:cubicBezTo>
                    <a:pt x="0" y="57785"/>
                    <a:pt x="51064" y="0"/>
                    <a:pt x="113942" y="0"/>
                  </a:cubicBezTo>
                  <a:lnTo>
                    <a:pt x="21138186" y="0"/>
                  </a:lnTo>
                  <a:cubicBezTo>
                    <a:pt x="21201196" y="0"/>
                    <a:pt x="21252128" y="57785"/>
                    <a:pt x="21252128" y="128939"/>
                  </a:cubicBezTo>
                  <a:lnTo>
                    <a:pt x="21252128" y="2886870"/>
                  </a:lnTo>
                  <a:cubicBezTo>
                    <a:pt x="21252128" y="2958173"/>
                    <a:pt x="21201064" y="3015810"/>
                    <a:pt x="21138186" y="3015810"/>
                  </a:cubicBezTo>
                  <a:lnTo>
                    <a:pt x="113942" y="3015810"/>
                  </a:lnTo>
                  <a:cubicBezTo>
                    <a:pt x="50933" y="3015810"/>
                    <a:pt x="0" y="2958024"/>
                    <a:pt x="0" y="2886870"/>
                  </a:cubicBezTo>
                  <a:close/>
                </a:path>
              </a:pathLst>
            </a:custGeom>
            <a:solidFill>
              <a:srgbClr val="1E3A8A">
                <a:alpha val="15686"/>
              </a:srgbClr>
            </a:solidFill>
            <a:ln w="19050" cap="sq">
              <a:solidFill>
                <a:srgbClr val="1D4ED8"/>
              </a:solidFill>
              <a:prstDash val="solid"/>
              <a:miter/>
            </a:ln>
          </p:spPr>
        </p:sp>
      </p:grpSp>
      <p:grpSp>
        <p:nvGrpSpPr>
          <p:cNvPr name="Group 36" id="36"/>
          <p:cNvGrpSpPr/>
          <p:nvPr/>
        </p:nvGrpSpPr>
        <p:grpSpPr>
          <a:xfrm rot="0">
            <a:off x="1800911" y="6010351"/>
            <a:ext cx="2536088" cy="373761"/>
            <a:chOff x="0" y="0"/>
            <a:chExt cx="3381451" cy="498348"/>
          </a:xfrm>
        </p:grpSpPr>
        <p:sp>
          <p:nvSpPr>
            <p:cNvPr name="Freeform 37" id="37"/>
            <p:cNvSpPr/>
            <p:nvPr/>
          </p:nvSpPr>
          <p:spPr>
            <a:xfrm flipH="false" flipV="false" rot="0">
              <a:off x="0" y="0"/>
              <a:ext cx="3381452" cy="498349"/>
            </a:xfrm>
            <a:custGeom>
              <a:avLst/>
              <a:gdLst/>
              <a:ahLst/>
              <a:cxnLst/>
              <a:rect r="r" b="b" t="t" l="l"/>
              <a:pathLst>
                <a:path h="498349" w="3381452">
                  <a:moveTo>
                    <a:pt x="0" y="0"/>
                  </a:moveTo>
                  <a:lnTo>
                    <a:pt x="3381452" y="0"/>
                  </a:lnTo>
                  <a:lnTo>
                    <a:pt x="3381452" y="498349"/>
                  </a:lnTo>
                  <a:lnTo>
                    <a:pt x="0" y="498349"/>
                  </a:lnTo>
                  <a:close/>
                </a:path>
              </a:pathLst>
            </a:custGeom>
            <a:blipFill>
              <a:blip r:embed="rId5">
                <a:alphaModFix amt="0"/>
              </a:blip>
              <a:stretch>
                <a:fillRect l="0" t="-93863" r="0" b="-70560"/>
              </a:stretch>
            </a:blipFill>
          </p:spPr>
        </p:sp>
        <p:sp>
          <p:nvSpPr>
            <p:cNvPr name="TextBox 38" id="38"/>
            <p:cNvSpPr txBox="true"/>
            <p:nvPr/>
          </p:nvSpPr>
          <p:spPr>
            <a:xfrm>
              <a:off x="0" y="-19050"/>
              <a:ext cx="3381451" cy="517398"/>
            </a:xfrm>
            <a:prstGeom prst="rect">
              <a:avLst/>
            </a:prstGeom>
          </p:spPr>
          <p:txBody>
            <a:bodyPr anchor="ctr" rtlCol="false" tIns="0" lIns="0" bIns="0" rIns="0"/>
            <a:lstStyle/>
            <a:p>
              <a:pPr algn="l">
                <a:lnSpc>
                  <a:spcPts val="1800"/>
                </a:lnSpc>
              </a:pPr>
            </a:p>
          </p:txBody>
        </p:sp>
      </p:grpSp>
      <p:grpSp>
        <p:nvGrpSpPr>
          <p:cNvPr name="Group 39" id="39"/>
          <p:cNvGrpSpPr/>
          <p:nvPr/>
        </p:nvGrpSpPr>
        <p:grpSpPr>
          <a:xfrm rot="0">
            <a:off x="1466073" y="3341472"/>
            <a:ext cx="13452653" cy="3141459"/>
            <a:chOff x="0" y="0"/>
            <a:chExt cx="17936870" cy="4188612"/>
          </a:xfrm>
        </p:grpSpPr>
        <p:sp>
          <p:nvSpPr>
            <p:cNvPr name="Freeform 40" id="40"/>
            <p:cNvSpPr/>
            <p:nvPr/>
          </p:nvSpPr>
          <p:spPr>
            <a:xfrm flipH="false" flipV="false" rot="0">
              <a:off x="0" y="0"/>
              <a:ext cx="17936869" cy="4188611"/>
            </a:xfrm>
            <a:custGeom>
              <a:avLst/>
              <a:gdLst/>
              <a:ahLst/>
              <a:cxnLst/>
              <a:rect r="r" b="b" t="t" l="l"/>
              <a:pathLst>
                <a:path h="4188611" w="17936869">
                  <a:moveTo>
                    <a:pt x="0" y="0"/>
                  </a:moveTo>
                  <a:lnTo>
                    <a:pt x="17936869" y="0"/>
                  </a:lnTo>
                  <a:lnTo>
                    <a:pt x="17936869" y="4188611"/>
                  </a:lnTo>
                  <a:lnTo>
                    <a:pt x="0" y="4188611"/>
                  </a:lnTo>
                  <a:close/>
                </a:path>
              </a:pathLst>
            </a:custGeom>
            <a:blipFill>
              <a:blip r:embed="rId5">
                <a:alphaModFix amt="0"/>
              </a:blip>
              <a:stretch>
                <a:fillRect l="0" t="-71368" r="0" b="4486"/>
              </a:stretch>
            </a:blipFill>
          </p:spPr>
        </p:sp>
        <p:sp>
          <p:nvSpPr>
            <p:cNvPr name="TextBox 41" id="41"/>
            <p:cNvSpPr txBox="true"/>
            <p:nvPr/>
          </p:nvSpPr>
          <p:spPr>
            <a:xfrm>
              <a:off x="0" y="-19050"/>
              <a:ext cx="17936870" cy="4207662"/>
            </a:xfrm>
            <a:prstGeom prst="rect">
              <a:avLst/>
            </a:prstGeom>
          </p:spPr>
          <p:txBody>
            <a:bodyPr anchor="ctr" rtlCol="false" tIns="0" lIns="0" bIns="0" rIns="0"/>
            <a:lstStyle/>
            <a:p>
              <a:pPr algn="l">
                <a:lnSpc>
                  <a:spcPts val="2340"/>
                </a:lnSpc>
              </a:pPr>
              <a:r>
                <a:rPr lang="en-US" sz="1950" b="true">
                  <a:solidFill>
                    <a:srgbClr val="FFFFFF"/>
                  </a:solidFill>
                  <a:latin typeface="Poppins Bold"/>
                  <a:ea typeface="Poppins Bold"/>
                  <a:cs typeface="Poppins Bold"/>
                  <a:sym typeface="Poppins Bold"/>
                </a:rPr>
                <a:t>PROBLEM DESCRIPTION:</a:t>
              </a:r>
            </a:p>
            <a:p>
              <a:pPr algn="l">
                <a:lnSpc>
                  <a:spcPts val="2340"/>
                </a:lnSpc>
              </a:pPr>
            </a:p>
            <a:p>
              <a:pPr algn="l">
                <a:lnSpc>
                  <a:spcPts val="2340"/>
                </a:lnSpc>
              </a:pPr>
              <a:r>
                <a:rPr lang="en-US" sz="1950">
                  <a:solidFill>
                    <a:srgbClr val="FFFFFF"/>
                  </a:solidFill>
                  <a:latin typeface="Poppins"/>
                  <a:ea typeface="Poppins"/>
                  <a:cs typeface="Poppins"/>
                  <a:sym typeface="Poppins"/>
                </a:rPr>
                <a:t>Modern wafer inspection requires the same site to be revisited accurately across repeated dies. In Phase 2, the target may appear with unknown translation, rotation and scale, while SEM degradation and highly periodic layouts can create multiple visually similar candidates. The system must also distinguish target-present from target-absent cases.</a:t>
              </a:r>
            </a:p>
            <a:p>
              <a:pPr algn="l">
                <a:lnSpc>
                  <a:spcPts val="2340"/>
                </a:lnSpc>
              </a:pPr>
            </a:p>
            <a:p>
              <a:pPr algn="l">
                <a:lnSpc>
                  <a:spcPts val="2340"/>
                </a:lnSpc>
              </a:pPr>
            </a:p>
            <a:p>
              <a:pPr algn="l">
                <a:lnSpc>
                  <a:spcPts val="2340"/>
                </a:lnSpc>
              </a:pPr>
            </a:p>
            <a:p>
              <a:pPr algn="l">
                <a:lnSpc>
                  <a:spcPts val="2340"/>
                </a:lnSpc>
              </a:pPr>
            </a:p>
          </p:txBody>
        </p:sp>
      </p:grpSp>
      <p:grpSp>
        <p:nvGrpSpPr>
          <p:cNvPr name="Group 42" id="42"/>
          <p:cNvGrpSpPr/>
          <p:nvPr/>
        </p:nvGrpSpPr>
        <p:grpSpPr>
          <a:xfrm rot="0">
            <a:off x="7938249" y="342976"/>
            <a:ext cx="2411054" cy="1175385"/>
            <a:chOff x="0" y="0"/>
            <a:chExt cx="3214738" cy="1567180"/>
          </a:xfrm>
        </p:grpSpPr>
        <p:sp>
          <p:nvSpPr>
            <p:cNvPr name="Freeform 43" id="43"/>
            <p:cNvSpPr/>
            <p:nvPr/>
          </p:nvSpPr>
          <p:spPr>
            <a:xfrm flipH="false" flipV="false" rot="0">
              <a:off x="0" y="0"/>
              <a:ext cx="3214751" cy="1567180"/>
            </a:xfrm>
            <a:custGeom>
              <a:avLst/>
              <a:gdLst/>
              <a:ahLst/>
              <a:cxnLst/>
              <a:rect r="r" b="b" t="t" l="l"/>
              <a:pathLst>
                <a:path h="1567180" w="3214751">
                  <a:moveTo>
                    <a:pt x="0" y="0"/>
                  </a:moveTo>
                  <a:lnTo>
                    <a:pt x="3214751" y="0"/>
                  </a:lnTo>
                  <a:lnTo>
                    <a:pt x="3214751" y="1567180"/>
                  </a:lnTo>
                  <a:lnTo>
                    <a:pt x="0" y="1567180"/>
                  </a:lnTo>
                  <a:lnTo>
                    <a:pt x="0" y="0"/>
                  </a:lnTo>
                  <a:close/>
                </a:path>
              </a:pathLst>
            </a:custGeom>
            <a:blipFill>
              <a:blip r:embed="rId6"/>
              <a:stretch>
                <a:fillRect l="0" t="0" r="0" b="0"/>
              </a:stretch>
            </a:blipFill>
          </p:spPr>
        </p:sp>
      </p:grpSp>
      <p:grpSp>
        <p:nvGrpSpPr>
          <p:cNvPr name="Group 44" id="44"/>
          <p:cNvGrpSpPr/>
          <p:nvPr/>
        </p:nvGrpSpPr>
        <p:grpSpPr>
          <a:xfrm rot="0">
            <a:off x="857250" y="399440"/>
            <a:ext cx="16573043" cy="1286561"/>
            <a:chOff x="0" y="0"/>
            <a:chExt cx="22097390" cy="1715414"/>
          </a:xfrm>
        </p:grpSpPr>
        <p:sp>
          <p:nvSpPr>
            <p:cNvPr name="Freeform 45" id="45"/>
            <p:cNvSpPr/>
            <p:nvPr/>
          </p:nvSpPr>
          <p:spPr>
            <a:xfrm flipH="false" flipV="false" rot="0">
              <a:off x="0" y="0"/>
              <a:ext cx="22097366" cy="1715389"/>
            </a:xfrm>
            <a:custGeom>
              <a:avLst/>
              <a:gdLst/>
              <a:ahLst/>
              <a:cxnLst/>
              <a:rect r="r" b="b" t="t" l="l"/>
              <a:pathLst>
                <a:path h="1715389" w="22097366">
                  <a:moveTo>
                    <a:pt x="0" y="162560"/>
                  </a:moveTo>
                  <a:cubicBezTo>
                    <a:pt x="0" y="72771"/>
                    <a:pt x="72771" y="0"/>
                    <a:pt x="162560" y="0"/>
                  </a:cubicBezTo>
                  <a:lnTo>
                    <a:pt x="21934805" y="0"/>
                  </a:lnTo>
                  <a:cubicBezTo>
                    <a:pt x="22024594" y="0"/>
                    <a:pt x="22097366" y="72771"/>
                    <a:pt x="22097366" y="162560"/>
                  </a:cubicBezTo>
                  <a:lnTo>
                    <a:pt x="22097366" y="1552829"/>
                  </a:lnTo>
                  <a:cubicBezTo>
                    <a:pt x="22097366" y="1642618"/>
                    <a:pt x="22024594" y="1715389"/>
                    <a:pt x="21934805" y="1715389"/>
                  </a:cubicBezTo>
                  <a:lnTo>
                    <a:pt x="162560" y="1715389"/>
                  </a:lnTo>
                  <a:cubicBezTo>
                    <a:pt x="72771" y="1715389"/>
                    <a:pt x="0" y="1642618"/>
                    <a:pt x="0" y="1552829"/>
                  </a:cubicBezTo>
                  <a:close/>
                </a:path>
              </a:pathLst>
            </a:custGeom>
            <a:solidFill>
              <a:srgbClr val="FFFFFF">
                <a:alpha val="90196"/>
              </a:srgbClr>
            </a:solidFill>
          </p:spPr>
        </p:sp>
      </p:grpSp>
      <p:grpSp>
        <p:nvGrpSpPr>
          <p:cNvPr name="Group 46" id="46"/>
          <p:cNvGrpSpPr/>
          <p:nvPr/>
        </p:nvGrpSpPr>
        <p:grpSpPr>
          <a:xfrm rot="0">
            <a:off x="2300173" y="625221"/>
            <a:ext cx="13745232" cy="879653"/>
            <a:chOff x="0" y="0"/>
            <a:chExt cx="18326976" cy="1172870"/>
          </a:xfrm>
        </p:grpSpPr>
        <p:sp>
          <p:nvSpPr>
            <p:cNvPr name="Freeform 47" id="47"/>
            <p:cNvSpPr/>
            <p:nvPr/>
          </p:nvSpPr>
          <p:spPr>
            <a:xfrm flipH="false" flipV="false" rot="0">
              <a:off x="0" y="0"/>
              <a:ext cx="18326988" cy="1172845"/>
            </a:xfrm>
            <a:custGeom>
              <a:avLst/>
              <a:gdLst/>
              <a:ahLst/>
              <a:cxnLst/>
              <a:rect r="r" b="b" t="t" l="l"/>
              <a:pathLst>
                <a:path h="1172845" w="18326988">
                  <a:moveTo>
                    <a:pt x="0" y="0"/>
                  </a:moveTo>
                  <a:lnTo>
                    <a:pt x="18326988" y="0"/>
                  </a:lnTo>
                  <a:lnTo>
                    <a:pt x="18326988" y="1172845"/>
                  </a:lnTo>
                  <a:lnTo>
                    <a:pt x="0" y="1172845"/>
                  </a:lnTo>
                  <a:lnTo>
                    <a:pt x="0" y="0"/>
                  </a:lnTo>
                  <a:close/>
                </a:path>
              </a:pathLst>
            </a:custGeom>
            <a:blipFill>
              <a:blip r:embed="rId7"/>
              <a:stretch>
                <a:fillRect l="0" t="-2" r="0" b="-4"/>
              </a:stretch>
            </a:blipFill>
          </p:spPr>
        </p:sp>
      </p:grpSp>
      <p:grpSp>
        <p:nvGrpSpPr>
          <p:cNvPr name="Group 48" id="48"/>
          <p:cNvGrpSpPr/>
          <p:nvPr/>
        </p:nvGrpSpPr>
        <p:grpSpPr>
          <a:xfrm rot="0">
            <a:off x="1320146" y="5659902"/>
            <a:ext cx="15939154" cy="4319364"/>
            <a:chOff x="0" y="0"/>
            <a:chExt cx="21252205" cy="5759152"/>
          </a:xfrm>
        </p:grpSpPr>
        <p:sp>
          <p:nvSpPr>
            <p:cNvPr name="Freeform 49" id="49"/>
            <p:cNvSpPr/>
            <p:nvPr/>
          </p:nvSpPr>
          <p:spPr>
            <a:xfrm flipH="false" flipV="false" rot="0">
              <a:off x="0" y="0"/>
              <a:ext cx="21252128" cy="5759039"/>
            </a:xfrm>
            <a:custGeom>
              <a:avLst/>
              <a:gdLst/>
              <a:ahLst/>
              <a:cxnLst/>
              <a:rect r="r" b="b" t="t" l="l"/>
              <a:pathLst>
                <a:path h="5759039" w="21252128">
                  <a:moveTo>
                    <a:pt x="0" y="246224"/>
                  </a:moveTo>
                  <a:cubicBezTo>
                    <a:pt x="0" y="110347"/>
                    <a:pt x="51064" y="0"/>
                    <a:pt x="113942" y="0"/>
                  </a:cubicBezTo>
                  <a:lnTo>
                    <a:pt x="21138186" y="0"/>
                  </a:lnTo>
                  <a:cubicBezTo>
                    <a:pt x="21201196" y="0"/>
                    <a:pt x="21252128" y="110347"/>
                    <a:pt x="21252128" y="246224"/>
                  </a:cubicBezTo>
                  <a:lnTo>
                    <a:pt x="21252128" y="5512814"/>
                  </a:lnTo>
                  <a:cubicBezTo>
                    <a:pt x="21252128" y="5648975"/>
                    <a:pt x="21201064" y="5759039"/>
                    <a:pt x="21138186" y="5759039"/>
                  </a:cubicBezTo>
                  <a:lnTo>
                    <a:pt x="113942" y="5759039"/>
                  </a:lnTo>
                  <a:cubicBezTo>
                    <a:pt x="50933" y="5759039"/>
                    <a:pt x="0" y="5648691"/>
                    <a:pt x="0" y="5512814"/>
                  </a:cubicBezTo>
                  <a:close/>
                </a:path>
              </a:pathLst>
            </a:custGeom>
            <a:solidFill>
              <a:srgbClr val="1E3A8A">
                <a:alpha val="15686"/>
              </a:srgbClr>
            </a:solidFill>
            <a:ln w="19050" cap="sq">
              <a:solidFill>
                <a:srgbClr val="1D4ED8"/>
              </a:solidFill>
              <a:prstDash val="solid"/>
              <a:miter/>
            </a:ln>
          </p:spPr>
        </p:sp>
      </p:grpSp>
      <p:grpSp>
        <p:nvGrpSpPr>
          <p:cNvPr name="Group 50" id="50"/>
          <p:cNvGrpSpPr/>
          <p:nvPr/>
        </p:nvGrpSpPr>
        <p:grpSpPr>
          <a:xfrm rot="0">
            <a:off x="1477465" y="5669166"/>
            <a:ext cx="15686356" cy="4617834"/>
            <a:chOff x="0" y="0"/>
            <a:chExt cx="20915141" cy="6157112"/>
          </a:xfrm>
        </p:grpSpPr>
        <p:sp>
          <p:nvSpPr>
            <p:cNvPr name="Freeform 51" id="51"/>
            <p:cNvSpPr/>
            <p:nvPr/>
          </p:nvSpPr>
          <p:spPr>
            <a:xfrm flipH="false" flipV="false" rot="0">
              <a:off x="0" y="0"/>
              <a:ext cx="20915140" cy="6157110"/>
            </a:xfrm>
            <a:custGeom>
              <a:avLst/>
              <a:gdLst/>
              <a:ahLst/>
              <a:cxnLst/>
              <a:rect r="r" b="b" t="t" l="l"/>
              <a:pathLst>
                <a:path h="6157110" w="20915140">
                  <a:moveTo>
                    <a:pt x="0" y="0"/>
                  </a:moveTo>
                  <a:lnTo>
                    <a:pt x="20915140" y="0"/>
                  </a:lnTo>
                  <a:lnTo>
                    <a:pt x="20915140" y="6157110"/>
                  </a:lnTo>
                  <a:lnTo>
                    <a:pt x="0" y="6157110"/>
                  </a:lnTo>
                  <a:close/>
                </a:path>
              </a:pathLst>
            </a:custGeom>
            <a:blipFill>
              <a:blip r:embed="rId5">
                <a:alphaModFix amt="0"/>
              </a:blip>
              <a:stretch>
                <a:fillRect l="0" t="-48551" r="14239" b="35023"/>
              </a:stretch>
            </a:blipFill>
          </p:spPr>
        </p:sp>
        <p:sp>
          <p:nvSpPr>
            <p:cNvPr name="TextBox 52" id="52"/>
            <p:cNvSpPr txBox="true"/>
            <p:nvPr/>
          </p:nvSpPr>
          <p:spPr>
            <a:xfrm>
              <a:off x="0" y="-19050"/>
              <a:ext cx="20915141" cy="6176162"/>
            </a:xfrm>
            <a:prstGeom prst="rect">
              <a:avLst/>
            </a:prstGeom>
          </p:spPr>
          <p:txBody>
            <a:bodyPr anchor="ctr" rtlCol="false" tIns="0" lIns="0" bIns="0" rIns="0"/>
            <a:lstStyle/>
            <a:p>
              <a:pPr algn="l">
                <a:lnSpc>
                  <a:spcPts val="2340"/>
                </a:lnSpc>
              </a:pPr>
              <a:r>
                <a:rPr lang="en-US" sz="1950" b="true">
                  <a:solidFill>
                    <a:srgbClr val="FFFFFF"/>
                  </a:solidFill>
                  <a:latin typeface="Poppins Bold"/>
                  <a:ea typeface="Poppins Bold"/>
                  <a:cs typeface="Poppins Bold"/>
                  <a:sym typeface="Poppins Bold"/>
                </a:rPr>
                <a:t>SOLUTION SUMMARY:</a:t>
              </a:r>
            </a:p>
            <a:p>
              <a:pPr algn="l">
                <a:lnSpc>
                  <a:spcPts val="2340"/>
                </a:lnSpc>
              </a:pPr>
            </a:p>
            <a:p>
              <a:pPr algn="just">
                <a:lnSpc>
                  <a:spcPts val="2340"/>
                </a:lnSpc>
              </a:pPr>
              <a:r>
                <a:rPr lang="en-US" sz="1950">
                  <a:solidFill>
                    <a:srgbClr val="FFFFFF"/>
                  </a:solidFill>
                  <a:latin typeface="Poppins"/>
                  <a:ea typeface="Poppins"/>
                  <a:cs typeface="Poppins"/>
                  <a:sym typeface="Poppins"/>
                </a:rPr>
                <a:t>Drift-Sense is a hybrid wafer metrology pipeline combining pyramidal correlation, continuous log-polar rotation/scale search, 2D Hessian sub-pixel refinement (0.2265 px error), and selective Siamese verification. Classical physics-based registration handles &gt;97% of cases deterministically in sub-second CPU time (&lt;0.97s), while an ultra-lightweight (&lt;1 MB) learned Siamese embedder is surgically invoked on &lt;3% of pairs exclusively to resolve dense periodic FinFET/DRAM pitch ambiguities.</a:t>
              </a:r>
            </a:p>
            <a:p>
              <a:pPr algn="l">
                <a:lnSpc>
                  <a:spcPts val="2340"/>
                </a:lnSpc>
              </a:pPr>
            </a:p>
            <a:p>
              <a:pPr algn="l">
                <a:lnSpc>
                  <a:spcPts val="2340"/>
                </a:lnSpc>
              </a:pPr>
              <a:r>
                <a:rPr lang="en-US" sz="1950" b="true">
                  <a:solidFill>
                    <a:srgbClr val="FFFFFF"/>
                  </a:solidFill>
                  <a:latin typeface="Poppins Bold"/>
                  <a:ea typeface="Poppins Bold"/>
                  <a:cs typeface="Poppins Bold"/>
                  <a:sym typeface="Poppins Bold"/>
                </a:rPr>
                <a:t>KEY RESULT:</a:t>
              </a:r>
            </a:p>
            <a:p>
              <a:pPr algn="l">
                <a:lnSpc>
                  <a:spcPts val="2340"/>
                </a:lnSpc>
              </a:pPr>
            </a:p>
            <a:p>
              <a:pPr algn="l">
                <a:lnSpc>
                  <a:spcPts val="2340"/>
                </a:lnSpc>
              </a:pPr>
              <a:r>
                <a:rPr lang="en-US" sz="1950">
                  <a:solidFill>
                    <a:srgbClr val="FFFFFF"/>
                  </a:solidFill>
                  <a:latin typeface="Poppins"/>
                  <a:ea typeface="Poppins"/>
                  <a:cs typeface="Poppins"/>
                  <a:sym typeface="Poppins"/>
                </a:rPr>
                <a:t> 0.3764 px Median Localization Error</a:t>
              </a:r>
            </a:p>
            <a:p>
              <a:pPr algn="l">
                <a:lnSpc>
                  <a:spcPts val="2340"/>
                </a:lnSpc>
              </a:pPr>
              <a:r>
                <a:rPr lang="en-US" sz="1950">
                  <a:solidFill>
                    <a:srgbClr val="FFFFFF"/>
                  </a:solidFill>
                  <a:latin typeface="Poppins"/>
                  <a:ea typeface="Poppins"/>
                  <a:cs typeface="Poppins"/>
                  <a:sym typeface="Poppins"/>
                </a:rPr>
                <a:t> 90.6% Sub-1 px Precision </a:t>
              </a:r>
            </a:p>
            <a:p>
              <a:pPr algn="l">
                <a:lnSpc>
                  <a:spcPts val="2340"/>
                </a:lnSpc>
              </a:pPr>
              <a:r>
                <a:rPr lang="en-US" sz="1950">
                  <a:solidFill>
                    <a:srgbClr val="FFFFFF"/>
                  </a:solidFill>
                  <a:latin typeface="Poppins"/>
                  <a:ea typeface="Poppins"/>
                  <a:cs typeface="Poppins"/>
                  <a:sym typeface="Poppins"/>
                </a:rPr>
                <a:t> 96.05% Decoy Rejection F1 </a:t>
              </a:r>
            </a:p>
            <a:p>
              <a:pPr algn="l">
                <a:lnSpc>
                  <a:spcPts val="2340"/>
                </a:lnSpc>
              </a:pPr>
              <a:r>
                <a:rPr lang="en-US" sz="1950">
                  <a:solidFill>
                    <a:srgbClr val="FFFFFF"/>
                  </a:solidFill>
                  <a:latin typeface="Poppins"/>
                  <a:ea typeface="Poppins"/>
                  <a:cs typeface="Poppins"/>
                  <a:sym typeface="Poppins"/>
                </a:rPr>
                <a:t> 0.964 s Median Latency / Pair</a:t>
              </a:r>
            </a:p>
            <a:p>
              <a:pPr algn="l">
                <a:lnSpc>
                  <a:spcPts val="2340"/>
                </a:lnSpc>
              </a:pPr>
            </a:p>
          </p:txBody>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543" cy="10287000"/>
            <a:chOff x="0" y="0"/>
            <a:chExt cx="24383390" cy="13716000"/>
          </a:xfrm>
        </p:grpSpPr>
        <p:sp>
          <p:nvSpPr>
            <p:cNvPr name="Freeform 3" id="3"/>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close/>
                </a:path>
              </a:pathLst>
            </a:custGeom>
            <a:solidFill>
              <a:srgbClr val="000036"/>
            </a:solidFill>
          </p:spPr>
        </p:sp>
      </p:grpSp>
      <p:grpSp>
        <p:nvGrpSpPr>
          <p:cNvPr name="Group 4" id="4"/>
          <p:cNvGrpSpPr/>
          <p:nvPr/>
        </p:nvGrpSpPr>
        <p:grpSpPr>
          <a:xfrm rot="0">
            <a:off x="0" y="0"/>
            <a:ext cx="18287543" cy="10287000"/>
            <a:chOff x="0" y="0"/>
            <a:chExt cx="24383390" cy="13716000"/>
          </a:xfrm>
        </p:grpSpPr>
        <p:sp>
          <p:nvSpPr>
            <p:cNvPr name="Freeform 5" id="5" descr="preencoded.png"/>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lnTo>
                    <a:pt x="0" y="0"/>
                  </a:lnTo>
                  <a:close/>
                </a:path>
              </a:pathLst>
            </a:custGeom>
            <a:blipFill>
              <a:blip r:embed="rId2">
                <a:alphaModFix amt="15000"/>
              </a:blip>
              <a:stretch>
                <a:fillRect l="-16360" t="0" r="-16361" b="0"/>
              </a:stretch>
            </a:blipFill>
          </p:spPr>
        </p:sp>
      </p:grpSp>
      <p:grpSp>
        <p:nvGrpSpPr>
          <p:cNvPr name="Group 6" id="6"/>
          <p:cNvGrpSpPr/>
          <p:nvPr/>
        </p:nvGrpSpPr>
        <p:grpSpPr>
          <a:xfrm rot="0">
            <a:off x="857250" y="429311"/>
            <a:ext cx="16573043" cy="999896"/>
            <a:chOff x="0" y="0"/>
            <a:chExt cx="22097390" cy="1333195"/>
          </a:xfrm>
        </p:grpSpPr>
        <p:sp>
          <p:nvSpPr>
            <p:cNvPr name="Freeform 7" id="7"/>
            <p:cNvSpPr/>
            <p:nvPr/>
          </p:nvSpPr>
          <p:spPr>
            <a:xfrm flipH="false" flipV="false" rot="0">
              <a:off x="0" y="0"/>
              <a:ext cx="22097364" cy="1333246"/>
            </a:xfrm>
            <a:custGeom>
              <a:avLst/>
              <a:gdLst/>
              <a:ahLst/>
              <a:cxnLst/>
              <a:rect r="r" b="b" t="t" l="l"/>
              <a:pathLst>
                <a:path h="1333246" w="22097364">
                  <a:moveTo>
                    <a:pt x="0" y="209042"/>
                  </a:moveTo>
                  <a:cubicBezTo>
                    <a:pt x="0" y="93599"/>
                    <a:pt x="93599" y="0"/>
                    <a:pt x="209042" y="0"/>
                  </a:cubicBezTo>
                  <a:lnTo>
                    <a:pt x="21888323" y="0"/>
                  </a:lnTo>
                  <a:cubicBezTo>
                    <a:pt x="22003765" y="0"/>
                    <a:pt x="22097364" y="93599"/>
                    <a:pt x="22097364" y="209042"/>
                  </a:cubicBezTo>
                  <a:lnTo>
                    <a:pt x="22097364" y="1124204"/>
                  </a:lnTo>
                  <a:cubicBezTo>
                    <a:pt x="22097364" y="1239647"/>
                    <a:pt x="22003765" y="1333246"/>
                    <a:pt x="21888323" y="1333246"/>
                  </a:cubicBezTo>
                  <a:lnTo>
                    <a:pt x="209042" y="1333246"/>
                  </a:lnTo>
                  <a:cubicBezTo>
                    <a:pt x="93599" y="1333246"/>
                    <a:pt x="0" y="1239647"/>
                    <a:pt x="0" y="1124204"/>
                  </a:cubicBezTo>
                  <a:close/>
                </a:path>
              </a:pathLst>
            </a:custGeom>
            <a:solidFill>
              <a:srgbClr val="FFFFFF">
                <a:alpha val="90196"/>
              </a:srgbClr>
            </a:solidFill>
          </p:spPr>
        </p:sp>
      </p:grpSp>
      <p:grpSp>
        <p:nvGrpSpPr>
          <p:cNvPr name="Group 8" id="8"/>
          <p:cNvGrpSpPr/>
          <p:nvPr/>
        </p:nvGrpSpPr>
        <p:grpSpPr>
          <a:xfrm rot="0">
            <a:off x="16287750" y="571957"/>
            <a:ext cx="714604" cy="714604"/>
            <a:chOff x="0" y="0"/>
            <a:chExt cx="952805" cy="952805"/>
          </a:xfrm>
        </p:grpSpPr>
        <p:sp>
          <p:nvSpPr>
            <p:cNvPr name="Freeform 9" id="9" descr="preencoded.png"/>
            <p:cNvSpPr/>
            <p:nvPr/>
          </p:nvSpPr>
          <p:spPr>
            <a:xfrm flipH="false" flipV="false" rot="0">
              <a:off x="0" y="0"/>
              <a:ext cx="952754" cy="952754"/>
            </a:xfrm>
            <a:custGeom>
              <a:avLst/>
              <a:gdLst/>
              <a:ahLst/>
              <a:cxnLst/>
              <a:rect r="r" b="b" t="t" l="l"/>
              <a:pathLst>
                <a:path h="952754" w="952754">
                  <a:moveTo>
                    <a:pt x="0" y="0"/>
                  </a:moveTo>
                  <a:lnTo>
                    <a:pt x="952754" y="0"/>
                  </a:lnTo>
                  <a:lnTo>
                    <a:pt x="952754" y="952754"/>
                  </a:lnTo>
                  <a:lnTo>
                    <a:pt x="0" y="952754"/>
                  </a:lnTo>
                  <a:lnTo>
                    <a:pt x="0" y="0"/>
                  </a:lnTo>
                  <a:close/>
                </a:path>
              </a:pathLst>
            </a:custGeom>
            <a:blipFill>
              <a:blip r:embed="rId3"/>
              <a:stretch>
                <a:fillRect l="0" t="0" r="-5" b="-5"/>
              </a:stretch>
            </a:blipFill>
          </p:spPr>
        </p:sp>
      </p:grpSp>
      <p:grpSp>
        <p:nvGrpSpPr>
          <p:cNvPr name="Group 10" id="10"/>
          <p:cNvGrpSpPr/>
          <p:nvPr/>
        </p:nvGrpSpPr>
        <p:grpSpPr>
          <a:xfrm rot="0">
            <a:off x="1137533" y="571957"/>
            <a:ext cx="8618220" cy="701040"/>
            <a:chOff x="0" y="0"/>
            <a:chExt cx="11490960" cy="934720"/>
          </a:xfrm>
        </p:grpSpPr>
        <p:sp>
          <p:nvSpPr>
            <p:cNvPr name="Freeform 11" id="11"/>
            <p:cNvSpPr/>
            <p:nvPr/>
          </p:nvSpPr>
          <p:spPr>
            <a:xfrm flipH="false" flipV="false" rot="0">
              <a:off x="0" y="0"/>
              <a:ext cx="11490960" cy="934720"/>
            </a:xfrm>
            <a:custGeom>
              <a:avLst/>
              <a:gdLst/>
              <a:ahLst/>
              <a:cxnLst/>
              <a:rect r="r" b="b" t="t" l="l"/>
              <a:pathLst>
                <a:path h="934720" w="11490960">
                  <a:moveTo>
                    <a:pt x="0" y="0"/>
                  </a:moveTo>
                  <a:lnTo>
                    <a:pt x="11490960" y="0"/>
                  </a:lnTo>
                  <a:lnTo>
                    <a:pt x="11490960" y="934720"/>
                  </a:lnTo>
                  <a:lnTo>
                    <a:pt x="0" y="934720"/>
                  </a:lnTo>
                  <a:lnTo>
                    <a:pt x="0" y="0"/>
                  </a:lnTo>
                  <a:close/>
                </a:path>
              </a:pathLst>
            </a:custGeom>
            <a:blipFill>
              <a:blip r:embed="rId4"/>
              <a:stretch>
                <a:fillRect l="-11" t="0" r="-11" b="0"/>
              </a:stretch>
            </a:blipFill>
          </p:spPr>
        </p:sp>
      </p:grpSp>
      <p:grpSp>
        <p:nvGrpSpPr>
          <p:cNvPr name="Group 12" id="12"/>
          <p:cNvGrpSpPr/>
          <p:nvPr/>
        </p:nvGrpSpPr>
        <p:grpSpPr>
          <a:xfrm rot="0">
            <a:off x="0" y="0"/>
            <a:ext cx="18287543" cy="10287000"/>
            <a:chOff x="0" y="0"/>
            <a:chExt cx="24383390" cy="13716000"/>
          </a:xfrm>
        </p:grpSpPr>
        <p:sp>
          <p:nvSpPr>
            <p:cNvPr name="Freeform 13" id="13"/>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close/>
                </a:path>
              </a:pathLst>
            </a:custGeom>
            <a:solidFill>
              <a:srgbClr val="000036"/>
            </a:solidFill>
          </p:spPr>
        </p:sp>
      </p:grpSp>
      <p:grpSp>
        <p:nvGrpSpPr>
          <p:cNvPr name="Group 14" id="14"/>
          <p:cNvGrpSpPr/>
          <p:nvPr/>
        </p:nvGrpSpPr>
        <p:grpSpPr>
          <a:xfrm rot="0">
            <a:off x="-61046" y="-1028700"/>
            <a:ext cx="18287543" cy="10287000"/>
            <a:chOff x="0" y="0"/>
            <a:chExt cx="24383390" cy="13716000"/>
          </a:xfrm>
        </p:grpSpPr>
        <p:sp>
          <p:nvSpPr>
            <p:cNvPr name="Freeform 15" id="15" descr="preencoded.png"/>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lnTo>
                    <a:pt x="0" y="0"/>
                  </a:lnTo>
                  <a:close/>
                </a:path>
              </a:pathLst>
            </a:custGeom>
            <a:blipFill>
              <a:blip r:embed="rId2">
                <a:alphaModFix amt="9999"/>
              </a:blip>
              <a:stretch>
                <a:fillRect l="-16360" t="0" r="-16361" b="0"/>
              </a:stretch>
            </a:blipFill>
          </p:spPr>
        </p:sp>
      </p:grpSp>
      <p:grpSp>
        <p:nvGrpSpPr>
          <p:cNvPr name="Group 16" id="16"/>
          <p:cNvGrpSpPr/>
          <p:nvPr/>
        </p:nvGrpSpPr>
        <p:grpSpPr>
          <a:xfrm rot="0">
            <a:off x="1286561" y="571957"/>
            <a:ext cx="1899666" cy="714604"/>
            <a:chOff x="0" y="0"/>
            <a:chExt cx="2532888" cy="952805"/>
          </a:xfrm>
        </p:grpSpPr>
        <p:sp>
          <p:nvSpPr>
            <p:cNvPr name="Freeform 17" id="17" descr="preencoded.png"/>
            <p:cNvSpPr/>
            <p:nvPr/>
          </p:nvSpPr>
          <p:spPr>
            <a:xfrm flipH="false" flipV="false" rot="0">
              <a:off x="0" y="0"/>
              <a:ext cx="2532888" cy="952754"/>
            </a:xfrm>
            <a:custGeom>
              <a:avLst/>
              <a:gdLst/>
              <a:ahLst/>
              <a:cxnLst/>
              <a:rect r="r" b="b" t="t" l="l"/>
              <a:pathLst>
                <a:path h="952754" w="2532888">
                  <a:moveTo>
                    <a:pt x="0" y="0"/>
                  </a:moveTo>
                  <a:lnTo>
                    <a:pt x="2532888" y="0"/>
                  </a:lnTo>
                  <a:lnTo>
                    <a:pt x="2532888" y="952754"/>
                  </a:lnTo>
                  <a:lnTo>
                    <a:pt x="0" y="952754"/>
                  </a:lnTo>
                  <a:lnTo>
                    <a:pt x="0" y="0"/>
                  </a:lnTo>
                  <a:close/>
                </a:path>
              </a:pathLst>
            </a:custGeom>
            <a:blipFill>
              <a:blip r:embed="rId5"/>
              <a:stretch>
                <a:fillRect l="0" t="-10" r="0" b="-14"/>
              </a:stretch>
            </a:blipFill>
          </p:spPr>
        </p:sp>
      </p:grpSp>
      <p:grpSp>
        <p:nvGrpSpPr>
          <p:cNvPr name="Group 18" id="18"/>
          <p:cNvGrpSpPr/>
          <p:nvPr/>
        </p:nvGrpSpPr>
        <p:grpSpPr>
          <a:xfrm rot="0">
            <a:off x="16287750" y="571957"/>
            <a:ext cx="714604" cy="714604"/>
            <a:chOff x="0" y="0"/>
            <a:chExt cx="952805" cy="952805"/>
          </a:xfrm>
        </p:grpSpPr>
        <p:sp>
          <p:nvSpPr>
            <p:cNvPr name="Freeform 19" id="19" descr="preencoded.png"/>
            <p:cNvSpPr/>
            <p:nvPr/>
          </p:nvSpPr>
          <p:spPr>
            <a:xfrm flipH="false" flipV="false" rot="0">
              <a:off x="0" y="0"/>
              <a:ext cx="952754" cy="952754"/>
            </a:xfrm>
            <a:custGeom>
              <a:avLst/>
              <a:gdLst/>
              <a:ahLst/>
              <a:cxnLst/>
              <a:rect r="r" b="b" t="t" l="l"/>
              <a:pathLst>
                <a:path h="952754" w="952754">
                  <a:moveTo>
                    <a:pt x="0" y="0"/>
                  </a:moveTo>
                  <a:lnTo>
                    <a:pt x="952754" y="0"/>
                  </a:lnTo>
                  <a:lnTo>
                    <a:pt x="952754" y="952754"/>
                  </a:lnTo>
                  <a:lnTo>
                    <a:pt x="0" y="952754"/>
                  </a:lnTo>
                  <a:lnTo>
                    <a:pt x="0" y="0"/>
                  </a:lnTo>
                  <a:close/>
                </a:path>
              </a:pathLst>
            </a:custGeom>
            <a:blipFill>
              <a:blip r:embed="rId3"/>
              <a:stretch>
                <a:fillRect l="0" t="0" r="-5" b="-5"/>
              </a:stretch>
            </a:blipFill>
          </p:spPr>
        </p:sp>
      </p:grpSp>
      <p:grpSp>
        <p:nvGrpSpPr>
          <p:cNvPr name="Group 20" id="20"/>
          <p:cNvGrpSpPr/>
          <p:nvPr/>
        </p:nvGrpSpPr>
        <p:grpSpPr>
          <a:xfrm rot="0">
            <a:off x="792437" y="1518883"/>
            <a:ext cx="113843" cy="614477"/>
            <a:chOff x="0" y="0"/>
            <a:chExt cx="151790" cy="819302"/>
          </a:xfrm>
        </p:grpSpPr>
        <p:sp>
          <p:nvSpPr>
            <p:cNvPr name="Freeform 21" id="21"/>
            <p:cNvSpPr/>
            <p:nvPr/>
          </p:nvSpPr>
          <p:spPr>
            <a:xfrm flipH="false" flipV="false" rot="0">
              <a:off x="0" y="0"/>
              <a:ext cx="151765" cy="819277"/>
            </a:xfrm>
            <a:custGeom>
              <a:avLst/>
              <a:gdLst/>
              <a:ahLst/>
              <a:cxnLst/>
              <a:rect r="r" b="b" t="t" l="l"/>
              <a:pathLst>
                <a:path h="819277" w="151765">
                  <a:moveTo>
                    <a:pt x="0" y="0"/>
                  </a:moveTo>
                  <a:lnTo>
                    <a:pt x="151765" y="0"/>
                  </a:lnTo>
                  <a:lnTo>
                    <a:pt x="151765" y="819277"/>
                  </a:lnTo>
                  <a:lnTo>
                    <a:pt x="0" y="819277"/>
                  </a:lnTo>
                  <a:close/>
                </a:path>
              </a:pathLst>
            </a:custGeom>
            <a:solidFill>
              <a:srgbClr val="88E555"/>
            </a:solidFill>
          </p:spPr>
        </p:sp>
      </p:grpSp>
      <p:grpSp>
        <p:nvGrpSpPr>
          <p:cNvPr name="Group 22" id="22"/>
          <p:cNvGrpSpPr/>
          <p:nvPr/>
        </p:nvGrpSpPr>
        <p:grpSpPr>
          <a:xfrm rot="0">
            <a:off x="1131570" y="1462647"/>
            <a:ext cx="16024403" cy="891311"/>
            <a:chOff x="0" y="0"/>
            <a:chExt cx="21365870" cy="1188415"/>
          </a:xfrm>
        </p:grpSpPr>
        <p:sp>
          <p:nvSpPr>
            <p:cNvPr name="Freeform 23" id="23"/>
            <p:cNvSpPr/>
            <p:nvPr/>
          </p:nvSpPr>
          <p:spPr>
            <a:xfrm flipH="false" flipV="false" rot="0">
              <a:off x="0" y="0"/>
              <a:ext cx="21365873" cy="1188414"/>
            </a:xfrm>
            <a:custGeom>
              <a:avLst/>
              <a:gdLst/>
              <a:ahLst/>
              <a:cxnLst/>
              <a:rect r="r" b="b" t="t" l="l"/>
              <a:pathLst>
                <a:path h="1188414" w="21365873">
                  <a:moveTo>
                    <a:pt x="0" y="0"/>
                  </a:moveTo>
                  <a:lnTo>
                    <a:pt x="21365873" y="0"/>
                  </a:lnTo>
                  <a:lnTo>
                    <a:pt x="21365873" y="1188414"/>
                  </a:lnTo>
                  <a:lnTo>
                    <a:pt x="0" y="1188414"/>
                  </a:lnTo>
                  <a:close/>
                </a:path>
              </a:pathLst>
            </a:custGeom>
            <a:blipFill>
              <a:blip r:embed="rId6">
                <a:alphaModFix amt="0"/>
              </a:blip>
              <a:stretch>
                <a:fillRect l="0" t="-310993" r="0" b="-289629"/>
              </a:stretch>
            </a:blipFill>
          </p:spPr>
        </p:sp>
        <p:sp>
          <p:nvSpPr>
            <p:cNvPr name="TextBox 24" id="24"/>
            <p:cNvSpPr txBox="true"/>
            <p:nvPr/>
          </p:nvSpPr>
          <p:spPr>
            <a:xfrm>
              <a:off x="0" y="-38100"/>
              <a:ext cx="21365870" cy="1226515"/>
            </a:xfrm>
            <a:prstGeom prst="rect">
              <a:avLst/>
            </a:prstGeom>
          </p:spPr>
          <p:txBody>
            <a:bodyPr anchor="ctr" rtlCol="false" tIns="0" lIns="0" bIns="0" rIns="0"/>
            <a:lstStyle/>
            <a:p>
              <a:pPr algn="l">
                <a:lnSpc>
                  <a:spcPts val="4320"/>
                </a:lnSpc>
              </a:pPr>
              <a:r>
                <a:rPr lang="en-US" b="true" sz="3600">
                  <a:solidFill>
                    <a:srgbClr val="FFFFFF"/>
                  </a:solidFill>
                  <a:latin typeface="Poppins Bold"/>
                  <a:ea typeface="Poppins Bold"/>
                  <a:cs typeface="Poppins Bold"/>
                  <a:sym typeface="Poppins Bold"/>
                </a:rPr>
                <a:t>PROPOSED END-TO-END WORKFLOW</a:t>
              </a:r>
            </a:p>
          </p:txBody>
        </p:sp>
      </p:grpSp>
      <p:grpSp>
        <p:nvGrpSpPr>
          <p:cNvPr name="Group 25" id="25"/>
          <p:cNvGrpSpPr/>
          <p:nvPr/>
        </p:nvGrpSpPr>
        <p:grpSpPr>
          <a:xfrm rot="0">
            <a:off x="7938249" y="342976"/>
            <a:ext cx="2411054" cy="1175385"/>
            <a:chOff x="0" y="0"/>
            <a:chExt cx="3214738" cy="1567180"/>
          </a:xfrm>
        </p:grpSpPr>
        <p:sp>
          <p:nvSpPr>
            <p:cNvPr name="Freeform 26" id="26"/>
            <p:cNvSpPr/>
            <p:nvPr/>
          </p:nvSpPr>
          <p:spPr>
            <a:xfrm flipH="false" flipV="false" rot="0">
              <a:off x="0" y="0"/>
              <a:ext cx="3214751" cy="1567180"/>
            </a:xfrm>
            <a:custGeom>
              <a:avLst/>
              <a:gdLst/>
              <a:ahLst/>
              <a:cxnLst/>
              <a:rect r="r" b="b" t="t" l="l"/>
              <a:pathLst>
                <a:path h="1567180" w="3214751">
                  <a:moveTo>
                    <a:pt x="0" y="0"/>
                  </a:moveTo>
                  <a:lnTo>
                    <a:pt x="3214751" y="0"/>
                  </a:lnTo>
                  <a:lnTo>
                    <a:pt x="3214751" y="1567180"/>
                  </a:lnTo>
                  <a:lnTo>
                    <a:pt x="0" y="1567180"/>
                  </a:lnTo>
                  <a:lnTo>
                    <a:pt x="0" y="0"/>
                  </a:lnTo>
                  <a:close/>
                </a:path>
              </a:pathLst>
            </a:custGeom>
            <a:blipFill>
              <a:blip r:embed="rId7"/>
              <a:stretch>
                <a:fillRect l="0" t="0" r="0" b="0"/>
              </a:stretch>
            </a:blipFill>
          </p:spPr>
        </p:sp>
      </p:grpSp>
      <p:grpSp>
        <p:nvGrpSpPr>
          <p:cNvPr name="Group 27" id="27"/>
          <p:cNvGrpSpPr/>
          <p:nvPr/>
        </p:nvGrpSpPr>
        <p:grpSpPr>
          <a:xfrm rot="0">
            <a:off x="815297" y="4637"/>
            <a:ext cx="16573043" cy="1286561"/>
            <a:chOff x="0" y="0"/>
            <a:chExt cx="22097390" cy="1715414"/>
          </a:xfrm>
        </p:grpSpPr>
        <p:sp>
          <p:nvSpPr>
            <p:cNvPr name="Freeform 28" id="28"/>
            <p:cNvSpPr/>
            <p:nvPr/>
          </p:nvSpPr>
          <p:spPr>
            <a:xfrm flipH="false" flipV="false" rot="0">
              <a:off x="0" y="0"/>
              <a:ext cx="22097366" cy="1715389"/>
            </a:xfrm>
            <a:custGeom>
              <a:avLst/>
              <a:gdLst/>
              <a:ahLst/>
              <a:cxnLst/>
              <a:rect r="r" b="b" t="t" l="l"/>
              <a:pathLst>
                <a:path h="1715389" w="22097366">
                  <a:moveTo>
                    <a:pt x="0" y="162560"/>
                  </a:moveTo>
                  <a:cubicBezTo>
                    <a:pt x="0" y="72771"/>
                    <a:pt x="72771" y="0"/>
                    <a:pt x="162560" y="0"/>
                  </a:cubicBezTo>
                  <a:lnTo>
                    <a:pt x="21934805" y="0"/>
                  </a:lnTo>
                  <a:cubicBezTo>
                    <a:pt x="22024594" y="0"/>
                    <a:pt x="22097366" y="72771"/>
                    <a:pt x="22097366" y="162560"/>
                  </a:cubicBezTo>
                  <a:lnTo>
                    <a:pt x="22097366" y="1552829"/>
                  </a:lnTo>
                  <a:cubicBezTo>
                    <a:pt x="22097366" y="1642618"/>
                    <a:pt x="22024594" y="1715389"/>
                    <a:pt x="21934805" y="1715389"/>
                  </a:cubicBezTo>
                  <a:lnTo>
                    <a:pt x="162560" y="1715389"/>
                  </a:lnTo>
                  <a:cubicBezTo>
                    <a:pt x="72771" y="1715389"/>
                    <a:pt x="0" y="1642618"/>
                    <a:pt x="0" y="1552829"/>
                  </a:cubicBezTo>
                  <a:close/>
                </a:path>
              </a:pathLst>
            </a:custGeom>
            <a:solidFill>
              <a:srgbClr val="FFFFFF">
                <a:alpha val="90196"/>
              </a:srgbClr>
            </a:solidFill>
          </p:spPr>
        </p:sp>
      </p:grpSp>
      <p:grpSp>
        <p:nvGrpSpPr>
          <p:cNvPr name="Group 29" id="29"/>
          <p:cNvGrpSpPr/>
          <p:nvPr/>
        </p:nvGrpSpPr>
        <p:grpSpPr>
          <a:xfrm rot="0">
            <a:off x="2210110" y="184316"/>
            <a:ext cx="13745232" cy="879653"/>
            <a:chOff x="0" y="0"/>
            <a:chExt cx="18326976" cy="1172870"/>
          </a:xfrm>
        </p:grpSpPr>
        <p:sp>
          <p:nvSpPr>
            <p:cNvPr name="Freeform 30" id="30"/>
            <p:cNvSpPr/>
            <p:nvPr/>
          </p:nvSpPr>
          <p:spPr>
            <a:xfrm flipH="false" flipV="false" rot="0">
              <a:off x="0" y="0"/>
              <a:ext cx="18326988" cy="1172845"/>
            </a:xfrm>
            <a:custGeom>
              <a:avLst/>
              <a:gdLst/>
              <a:ahLst/>
              <a:cxnLst/>
              <a:rect r="r" b="b" t="t" l="l"/>
              <a:pathLst>
                <a:path h="1172845" w="18326988">
                  <a:moveTo>
                    <a:pt x="0" y="0"/>
                  </a:moveTo>
                  <a:lnTo>
                    <a:pt x="18326988" y="0"/>
                  </a:lnTo>
                  <a:lnTo>
                    <a:pt x="18326988" y="1172845"/>
                  </a:lnTo>
                  <a:lnTo>
                    <a:pt x="0" y="1172845"/>
                  </a:lnTo>
                  <a:lnTo>
                    <a:pt x="0" y="0"/>
                  </a:lnTo>
                  <a:close/>
                </a:path>
              </a:pathLst>
            </a:custGeom>
            <a:blipFill>
              <a:blip r:embed="rId8"/>
              <a:stretch>
                <a:fillRect l="0" t="-2" r="0" b="-4"/>
              </a:stretch>
            </a:blipFill>
          </p:spPr>
        </p:sp>
      </p:grpSp>
      <p:grpSp>
        <p:nvGrpSpPr>
          <p:cNvPr name="Group 31" id="31"/>
          <p:cNvGrpSpPr/>
          <p:nvPr/>
        </p:nvGrpSpPr>
        <p:grpSpPr>
          <a:xfrm rot="0">
            <a:off x="12706303" y="1291197"/>
            <a:ext cx="5314172" cy="8857488"/>
            <a:chOff x="0" y="0"/>
            <a:chExt cx="7085562" cy="11809984"/>
          </a:xfrm>
        </p:grpSpPr>
        <p:sp>
          <p:nvSpPr>
            <p:cNvPr name="Freeform 32" id="32"/>
            <p:cNvSpPr/>
            <p:nvPr/>
          </p:nvSpPr>
          <p:spPr>
            <a:xfrm flipH="false" flipV="false" rot="0">
              <a:off x="0" y="0"/>
              <a:ext cx="7085554" cy="11809886"/>
            </a:xfrm>
            <a:custGeom>
              <a:avLst/>
              <a:gdLst/>
              <a:ahLst/>
              <a:cxnLst/>
              <a:rect r="r" b="b" t="t" l="l"/>
              <a:pathLst>
                <a:path h="11809886" w="7085554">
                  <a:moveTo>
                    <a:pt x="0" y="79338"/>
                  </a:moveTo>
                  <a:cubicBezTo>
                    <a:pt x="0" y="35480"/>
                    <a:pt x="8786" y="0"/>
                    <a:pt x="19647" y="0"/>
                  </a:cubicBezTo>
                  <a:lnTo>
                    <a:pt x="7065907" y="0"/>
                  </a:lnTo>
                  <a:cubicBezTo>
                    <a:pt x="7076768" y="0"/>
                    <a:pt x="7085554" y="35480"/>
                    <a:pt x="7085554" y="79338"/>
                  </a:cubicBezTo>
                  <a:lnTo>
                    <a:pt x="7085554" y="11730548"/>
                  </a:lnTo>
                  <a:cubicBezTo>
                    <a:pt x="7085554" y="11774405"/>
                    <a:pt x="7076768" y="11809886"/>
                    <a:pt x="7065907" y="11809886"/>
                  </a:cubicBezTo>
                  <a:lnTo>
                    <a:pt x="19647" y="11809886"/>
                  </a:lnTo>
                  <a:cubicBezTo>
                    <a:pt x="8786" y="11809886"/>
                    <a:pt x="0" y="11774405"/>
                    <a:pt x="0" y="11730548"/>
                  </a:cubicBezTo>
                  <a:close/>
                </a:path>
              </a:pathLst>
            </a:custGeom>
            <a:solidFill>
              <a:srgbClr val="FFFFFF">
                <a:alpha val="0"/>
              </a:srgbClr>
            </a:solidFill>
            <a:ln w="19050" cap="sq">
              <a:solidFill>
                <a:srgbClr val="88E555"/>
              </a:solidFill>
              <a:prstDash val="solid"/>
              <a:miter/>
            </a:ln>
          </p:spPr>
        </p:sp>
      </p:grpSp>
      <p:grpSp>
        <p:nvGrpSpPr>
          <p:cNvPr name="Group 33" id="33"/>
          <p:cNvGrpSpPr/>
          <p:nvPr/>
        </p:nvGrpSpPr>
        <p:grpSpPr>
          <a:xfrm rot="0">
            <a:off x="12854826" y="1291197"/>
            <a:ext cx="5165648" cy="8831964"/>
            <a:chOff x="0" y="0"/>
            <a:chExt cx="6887531" cy="11775952"/>
          </a:xfrm>
        </p:grpSpPr>
        <p:sp>
          <p:nvSpPr>
            <p:cNvPr name="Freeform 34" id="34"/>
            <p:cNvSpPr/>
            <p:nvPr/>
          </p:nvSpPr>
          <p:spPr>
            <a:xfrm flipH="false" flipV="false" rot="0">
              <a:off x="0" y="0"/>
              <a:ext cx="6887531" cy="11775952"/>
            </a:xfrm>
            <a:custGeom>
              <a:avLst/>
              <a:gdLst/>
              <a:ahLst/>
              <a:cxnLst/>
              <a:rect r="r" b="b" t="t" l="l"/>
              <a:pathLst>
                <a:path h="11775952" w="6887531">
                  <a:moveTo>
                    <a:pt x="0" y="0"/>
                  </a:moveTo>
                  <a:lnTo>
                    <a:pt x="6887531" y="0"/>
                  </a:lnTo>
                  <a:lnTo>
                    <a:pt x="6887531" y="11775952"/>
                  </a:lnTo>
                  <a:lnTo>
                    <a:pt x="0" y="11775952"/>
                  </a:lnTo>
                  <a:close/>
                </a:path>
              </a:pathLst>
            </a:custGeom>
            <a:blipFill>
              <a:blip r:embed="rId6">
                <a:alphaModFix amt="0"/>
              </a:blip>
              <a:stretch>
                <a:fillRect l="0" t="-25099" r="-171338" b="63253"/>
              </a:stretch>
            </a:blipFill>
          </p:spPr>
        </p:sp>
        <p:sp>
          <p:nvSpPr>
            <p:cNvPr name="TextBox 35" id="35"/>
            <p:cNvSpPr txBox="true"/>
            <p:nvPr/>
          </p:nvSpPr>
          <p:spPr>
            <a:xfrm>
              <a:off x="0" y="-19050"/>
              <a:ext cx="6887531" cy="11795002"/>
            </a:xfrm>
            <a:prstGeom prst="rect">
              <a:avLst/>
            </a:prstGeom>
          </p:spPr>
          <p:txBody>
            <a:bodyPr anchor="ctr" rtlCol="false" tIns="0" lIns="0" bIns="0" rIns="0"/>
            <a:lstStyle/>
            <a:p>
              <a:pPr algn="l">
                <a:lnSpc>
                  <a:spcPts val="1800"/>
                </a:lnSpc>
              </a:pPr>
              <a:r>
                <a:rPr lang="en-US" sz="1500">
                  <a:solidFill>
                    <a:srgbClr val="AEFF82"/>
                  </a:solidFill>
                  <a:latin typeface="Poppins"/>
                  <a:ea typeface="Poppins"/>
                  <a:cs typeface="Poppins"/>
                  <a:sym typeface="Poppins"/>
                </a:rPr>
                <a:t>INPUT CHALLENGES:</a:t>
              </a:r>
            </a:p>
            <a:p>
              <a:pPr algn="l">
                <a:lnSpc>
                  <a:spcPts val="1800"/>
                </a:lnSpc>
              </a:pPr>
            </a:p>
            <a:p>
              <a:pPr algn="l">
                <a:lnSpc>
                  <a:spcPts val="1800"/>
                </a:lnSpc>
              </a:pPr>
              <a:r>
                <a:rPr lang="en-US" sz="1500">
                  <a:solidFill>
                    <a:srgbClr val="FFFFFF"/>
                  </a:solidFill>
                  <a:latin typeface="Poppins"/>
                  <a:ea typeface="Poppins"/>
                  <a:cs typeface="Poppins"/>
                  <a:sym typeface="Poppins"/>
                </a:rPr>
                <a:t>Unknown wafer pose</a:t>
              </a:r>
            </a:p>
            <a:p>
              <a:pPr algn="l">
                <a:lnSpc>
                  <a:spcPts val="1800"/>
                </a:lnSpc>
              </a:pPr>
              <a:r>
                <a:rPr lang="en-US" sz="1500">
                  <a:solidFill>
                    <a:srgbClr val="FFFFFF"/>
                  </a:solidFill>
                  <a:latin typeface="Poppins"/>
                  <a:ea typeface="Poppins"/>
                  <a:cs typeface="Poppins"/>
                  <a:sym typeface="Poppins"/>
                </a:rPr>
                <a:t>* Translation (X, Y),Rotation (θ), Scale (α)</a:t>
              </a:r>
            </a:p>
            <a:p>
              <a:pPr algn="l">
                <a:lnSpc>
                  <a:spcPts val="1800"/>
                </a:lnSpc>
              </a:pPr>
            </a:p>
            <a:p>
              <a:pPr algn="l">
                <a:lnSpc>
                  <a:spcPts val="1800"/>
                </a:lnSpc>
              </a:pPr>
              <a:r>
                <a:rPr lang="en-US" sz="1500">
                  <a:solidFill>
                    <a:srgbClr val="FFFFFF"/>
                  </a:solidFill>
                  <a:latin typeface="Poppins"/>
                  <a:ea typeface="Poppins"/>
                  <a:cs typeface="Poppins"/>
                  <a:sym typeface="Poppins"/>
                </a:rPr>
                <a:t>Imaging variations</a:t>
              </a:r>
            </a:p>
            <a:p>
              <a:pPr algn="l">
                <a:lnSpc>
                  <a:spcPts val="1800"/>
                </a:lnSpc>
              </a:pPr>
              <a:r>
                <a:rPr lang="en-US" sz="1500">
                  <a:solidFill>
                    <a:srgbClr val="FFFFFF"/>
                  </a:solidFill>
                  <a:latin typeface="Poppins"/>
                  <a:ea typeface="Poppins"/>
                  <a:cs typeface="Poppins"/>
                  <a:sym typeface="Poppins"/>
                </a:rPr>
                <a:t>* SEM / optical noise,Blur &amp; degradation,Sampling / aliasing effects</a:t>
              </a:r>
            </a:p>
            <a:p>
              <a:pPr algn="l">
                <a:lnSpc>
                  <a:spcPts val="1800"/>
                </a:lnSpc>
              </a:pPr>
            </a:p>
            <a:p>
              <a:pPr algn="l">
                <a:lnSpc>
                  <a:spcPts val="1800"/>
                </a:lnSpc>
              </a:pPr>
              <a:r>
                <a:rPr lang="en-US" sz="1500">
                  <a:solidFill>
                    <a:srgbClr val="FFFFFF"/>
                  </a:solidFill>
                  <a:latin typeface="Poppins"/>
                  <a:ea typeface="Poppins"/>
                  <a:cs typeface="Poppins"/>
                  <a:sym typeface="Poppins"/>
                </a:rPr>
                <a:t>Core difficulty</a:t>
              </a:r>
            </a:p>
            <a:p>
              <a:pPr algn="l">
                <a:lnSpc>
                  <a:spcPts val="1800"/>
                </a:lnSpc>
              </a:pPr>
              <a:r>
                <a:rPr lang="en-US" sz="1500">
                  <a:solidFill>
                    <a:srgbClr val="FFFFFF"/>
                  </a:solidFill>
                  <a:latin typeface="Poppins"/>
                  <a:ea typeface="Poppins"/>
                  <a:cs typeface="Poppins"/>
                  <a:sym typeface="Poppins"/>
                </a:rPr>
                <a:t>* Periodic semiconductor patterns create false correlation peaks</a:t>
              </a:r>
            </a:p>
            <a:p>
              <a:pPr algn="l">
                <a:lnSpc>
                  <a:spcPts val="1800"/>
                </a:lnSpc>
              </a:pPr>
              <a:r>
                <a:rPr lang="en-US" sz="1500">
                  <a:solidFill>
                    <a:srgbClr val="FFFFFF"/>
                  </a:solidFill>
                  <a:latin typeface="Poppins"/>
                  <a:ea typeface="Poppins"/>
                  <a:cs typeface="Poppins"/>
                  <a:sym typeface="Poppins"/>
                </a:rPr>
                <a:t>* Target may be absent</a:t>
              </a:r>
            </a:p>
            <a:p>
              <a:pPr algn="l">
                <a:lnSpc>
                  <a:spcPts val="1800"/>
                </a:lnSpc>
              </a:pPr>
            </a:p>
            <a:p>
              <a:pPr algn="l">
                <a:lnSpc>
                  <a:spcPts val="1800"/>
                </a:lnSpc>
              </a:pPr>
              <a:r>
                <a:rPr lang="en-US" sz="1500">
                  <a:solidFill>
                    <a:srgbClr val="AEFF82"/>
                  </a:solidFill>
                  <a:latin typeface="Poppins"/>
                  <a:ea typeface="Poppins"/>
                  <a:cs typeface="Poppins"/>
                  <a:sym typeface="Poppins"/>
                </a:rPr>
                <a:t>WHY CASCADE?</a:t>
              </a:r>
            </a:p>
            <a:p>
              <a:pPr algn="l" marL="323856" indent="-161928" lvl="1">
                <a:lnSpc>
                  <a:spcPts val="1800"/>
                </a:lnSpc>
                <a:buFont typeface="Arial"/>
                <a:buChar char="•"/>
              </a:pPr>
              <a:r>
                <a:rPr lang="en-US" sz="1500">
                  <a:solidFill>
                    <a:srgbClr val="FFFFFF"/>
                  </a:solidFill>
                  <a:latin typeface="Poppins"/>
                  <a:ea typeface="Poppins"/>
                  <a:cs typeface="Poppins"/>
                  <a:sym typeface="Poppins"/>
                </a:rPr>
                <a:t>Coarse-to-fine registration</a:t>
              </a:r>
            </a:p>
            <a:p>
              <a:pPr algn="l" marL="323856" indent="-161928" lvl="1">
                <a:lnSpc>
                  <a:spcPts val="1800"/>
                </a:lnSpc>
                <a:buFont typeface="Arial"/>
                <a:buChar char="•"/>
              </a:pPr>
              <a:r>
                <a:rPr lang="en-US" sz="1500">
                  <a:solidFill>
                    <a:srgbClr val="FFFFFF"/>
                  </a:solidFill>
                  <a:latin typeface="Poppins"/>
                  <a:ea typeface="Poppins"/>
                  <a:cs typeface="Poppins"/>
                  <a:sym typeface="Poppins"/>
                </a:rPr>
                <a:t>Pyramidal search → Pose sampling → Sub-pixel refinement</a:t>
              </a:r>
            </a:p>
            <a:p>
              <a:pPr algn="l" marL="323856" indent="-161928" lvl="1">
                <a:lnSpc>
                  <a:spcPts val="1800"/>
                </a:lnSpc>
                <a:buFont typeface="Arial"/>
                <a:buChar char="•"/>
              </a:pPr>
              <a:r>
                <a:rPr lang="en-US" sz="1500">
                  <a:solidFill>
                    <a:srgbClr val="FFFFFF"/>
                  </a:solidFill>
                  <a:latin typeface="Poppins"/>
                  <a:ea typeface="Poppins"/>
                  <a:cs typeface="Poppins"/>
                  <a:sym typeface="Poppins"/>
                </a:rPr>
                <a:t>Fast global localization first, followed by precise refinement only around the best candidates.</a:t>
              </a:r>
            </a:p>
            <a:p>
              <a:pPr algn="l" marL="323856" indent="-161928" lvl="1">
                <a:lnSpc>
                  <a:spcPts val="1800"/>
                </a:lnSpc>
                <a:buFont typeface="Arial"/>
                <a:buChar char="•"/>
              </a:pPr>
              <a:r>
                <a:rPr lang="en-US" sz="1500">
                  <a:solidFill>
                    <a:srgbClr val="FFFFFF"/>
                  </a:solidFill>
                  <a:latin typeface="Poppins"/>
                  <a:ea typeface="Poppins"/>
                  <a:cs typeface="Poppins"/>
                  <a:sym typeface="Poppins"/>
                </a:rPr>
                <a:t>Selective AI resolves difficult periodic-pattern ambiguities without applying deep learning to every candidate.</a:t>
              </a:r>
            </a:p>
            <a:p>
              <a:pPr algn="l">
                <a:lnSpc>
                  <a:spcPts val="1800"/>
                </a:lnSpc>
              </a:pPr>
            </a:p>
            <a:p>
              <a:pPr algn="l">
                <a:lnSpc>
                  <a:spcPts val="1800"/>
                </a:lnSpc>
              </a:pPr>
              <a:r>
                <a:rPr lang="en-US" sz="1500">
                  <a:solidFill>
                    <a:srgbClr val="AEFF82"/>
                  </a:solidFill>
                  <a:latin typeface="Poppins"/>
                  <a:ea typeface="Poppins"/>
                  <a:cs typeface="Poppins"/>
                  <a:sym typeface="Poppins"/>
                </a:rPr>
                <a:t>DECISION LOGIC:</a:t>
              </a:r>
            </a:p>
            <a:p>
              <a:pPr algn="l">
                <a:lnSpc>
                  <a:spcPts val="1800"/>
                </a:lnSpc>
              </a:pPr>
              <a:r>
                <a:rPr lang="en-US" sz="1500">
                  <a:solidFill>
                    <a:srgbClr val="FFFFFF"/>
                  </a:solidFill>
                  <a:latin typeface="Poppins"/>
                  <a:ea typeface="Poppins"/>
                  <a:cs typeface="Poppins"/>
                  <a:sym typeface="Poppins"/>
                </a:rPr>
                <a:t>Strong candidate</a:t>
              </a:r>
            </a:p>
            <a:p>
              <a:pPr algn="l">
                <a:lnSpc>
                  <a:spcPts val="1800"/>
                </a:lnSpc>
              </a:pPr>
              <a:r>
                <a:rPr lang="en-US" sz="1500">
                  <a:solidFill>
                    <a:srgbClr val="FFFFFF"/>
                  </a:solidFill>
                  <a:latin typeface="Poppins"/>
                  <a:ea typeface="Poppins"/>
                  <a:cs typeface="Poppins"/>
                  <a:sym typeface="Poppins"/>
                </a:rPr>
                <a:t>→ Sub-pixel refinement</a:t>
              </a:r>
            </a:p>
            <a:p>
              <a:pPr algn="l">
                <a:lnSpc>
                  <a:spcPts val="1800"/>
                </a:lnSpc>
              </a:pPr>
              <a:r>
                <a:rPr lang="en-US" sz="1500">
                  <a:solidFill>
                    <a:srgbClr val="FFFFFF"/>
                  </a:solidFill>
                  <a:latin typeface="Poppins"/>
                  <a:ea typeface="Poppins"/>
                  <a:cs typeface="Poppins"/>
                  <a:sym typeface="Poppins"/>
                </a:rPr>
                <a:t>→ Final coordinate</a:t>
              </a:r>
            </a:p>
            <a:p>
              <a:pPr algn="l">
                <a:lnSpc>
                  <a:spcPts val="1800"/>
                </a:lnSpc>
              </a:pPr>
              <a:r>
                <a:rPr lang="en-US" sz="1500">
                  <a:solidFill>
                    <a:srgbClr val="FFFFFF"/>
                  </a:solidFill>
                  <a:latin typeface="Poppins"/>
                  <a:ea typeface="Poppins"/>
                  <a:cs typeface="Poppins"/>
                  <a:sym typeface="Poppins"/>
                </a:rPr>
                <a:t>Ambiguous candidate</a:t>
              </a:r>
            </a:p>
            <a:p>
              <a:pPr algn="l">
                <a:lnSpc>
                  <a:spcPts val="1800"/>
                </a:lnSpc>
              </a:pPr>
              <a:r>
                <a:rPr lang="en-US" sz="1500">
                  <a:solidFill>
                    <a:srgbClr val="FFFFFF"/>
                  </a:solidFill>
                  <a:latin typeface="Poppins"/>
                  <a:ea typeface="Poppins"/>
                  <a:cs typeface="Poppins"/>
                  <a:sym typeface="Poppins"/>
                </a:rPr>
                <a:t>→ 64-D Siamese verification</a:t>
              </a:r>
            </a:p>
            <a:p>
              <a:pPr algn="l">
                <a:lnSpc>
                  <a:spcPts val="1800"/>
                </a:lnSpc>
              </a:pPr>
              <a:r>
                <a:rPr lang="en-US" sz="1500">
                  <a:solidFill>
                    <a:srgbClr val="FFFFFF"/>
                  </a:solidFill>
                  <a:latin typeface="Poppins"/>
                  <a:ea typeface="Poppins"/>
                  <a:cs typeface="Poppins"/>
                  <a:sym typeface="Poppins"/>
                </a:rPr>
                <a:t>→ Re-ranking</a:t>
              </a:r>
            </a:p>
            <a:p>
              <a:pPr algn="l">
                <a:lnSpc>
                  <a:spcPts val="1800"/>
                </a:lnSpc>
              </a:pPr>
              <a:r>
                <a:rPr lang="en-US" sz="1500">
                  <a:solidFill>
                    <a:srgbClr val="FFFFFF"/>
                  </a:solidFill>
                  <a:latin typeface="Poppins"/>
                  <a:ea typeface="Poppins"/>
                  <a:cs typeface="Poppins"/>
                  <a:sym typeface="Poppins"/>
                </a:rPr>
                <a:t>→ Best candidate</a:t>
              </a:r>
            </a:p>
            <a:p>
              <a:pPr algn="l">
                <a:lnSpc>
                  <a:spcPts val="1800"/>
                </a:lnSpc>
              </a:pPr>
              <a:r>
                <a:rPr lang="en-US" sz="1500">
                  <a:solidFill>
                    <a:srgbClr val="FFFFFF"/>
                  </a:solidFill>
                  <a:latin typeface="Poppins"/>
                  <a:ea typeface="Poppins"/>
                  <a:cs typeface="Poppins"/>
                  <a:sym typeface="Poppins"/>
                </a:rPr>
                <a:t>Calibrated confidence</a:t>
              </a:r>
            </a:p>
            <a:p>
              <a:pPr algn="l">
                <a:lnSpc>
                  <a:spcPts val="1800"/>
                </a:lnSpc>
              </a:pPr>
              <a:r>
                <a:rPr lang="en-US" sz="1500">
                  <a:solidFill>
                    <a:srgbClr val="FFFFFF"/>
                  </a:solidFill>
                  <a:latin typeface="Poppins"/>
                  <a:ea typeface="Poppins"/>
                  <a:cs typeface="Poppins"/>
                  <a:sym typeface="Poppins"/>
                </a:rPr>
                <a:t>→ Target Present / Target Absent</a:t>
              </a:r>
            </a:p>
            <a:p>
              <a:pPr algn="l">
                <a:lnSpc>
                  <a:spcPts val="1800"/>
                </a:lnSpc>
              </a:pPr>
            </a:p>
            <a:p>
              <a:pPr algn="l">
                <a:lnSpc>
                  <a:spcPts val="1800"/>
                </a:lnSpc>
              </a:pPr>
              <a:r>
                <a:rPr lang="en-US" sz="1500">
                  <a:solidFill>
                    <a:srgbClr val="AEFF82"/>
                  </a:solidFill>
                  <a:latin typeface="Poppins"/>
                  <a:ea typeface="Poppins"/>
                  <a:cs typeface="Poppins"/>
                  <a:sym typeface="Poppins"/>
                </a:rPr>
                <a:t>OUTPUT:</a:t>
              </a:r>
            </a:p>
            <a:p>
              <a:pPr algn="l">
                <a:lnSpc>
                  <a:spcPts val="1800"/>
                </a:lnSpc>
              </a:pPr>
              <a:r>
                <a:rPr lang="en-US" sz="1500">
                  <a:solidFill>
                    <a:srgbClr val="FFFFFF"/>
                  </a:solidFill>
                  <a:latin typeface="Poppins"/>
                  <a:ea typeface="Poppins"/>
                  <a:cs typeface="Poppins"/>
                  <a:sym typeface="Poppins"/>
                </a:rPr>
                <a:t>Sub-pixel localization,(X, Y) + Rotation (θ) + Scale (α)</a:t>
              </a:r>
            </a:p>
            <a:p>
              <a:pPr algn="l">
                <a:lnSpc>
                  <a:spcPts val="1800"/>
                </a:lnSpc>
              </a:pPr>
              <a:r>
                <a:rPr lang="en-US" sz="1500">
                  <a:solidFill>
                    <a:srgbClr val="FFFFFF"/>
                  </a:solidFill>
                  <a:latin typeface="Poppins"/>
                  <a:ea typeface="Poppins"/>
                  <a:cs typeface="Poppins"/>
                  <a:sym typeface="Poppins"/>
                </a:rPr>
                <a:t>+ Calibrated Confidence + Target Present / Absent</a:t>
              </a:r>
            </a:p>
          </p:txBody>
        </p:sp>
      </p:grpSp>
      <p:sp>
        <p:nvSpPr>
          <p:cNvPr name="Freeform 36" id="36"/>
          <p:cNvSpPr/>
          <p:nvPr/>
        </p:nvSpPr>
        <p:spPr>
          <a:xfrm flipH="false" flipV="false" rot="0">
            <a:off x="159714" y="2300714"/>
            <a:ext cx="12422764" cy="7822448"/>
          </a:xfrm>
          <a:custGeom>
            <a:avLst/>
            <a:gdLst/>
            <a:ahLst/>
            <a:cxnLst/>
            <a:rect r="r" b="b" t="t" l="l"/>
            <a:pathLst>
              <a:path h="7822448" w="12422764">
                <a:moveTo>
                  <a:pt x="0" y="0"/>
                </a:moveTo>
                <a:lnTo>
                  <a:pt x="12422764" y="0"/>
                </a:lnTo>
                <a:lnTo>
                  <a:pt x="12422764" y="7822447"/>
                </a:lnTo>
                <a:lnTo>
                  <a:pt x="0" y="7822447"/>
                </a:lnTo>
                <a:lnTo>
                  <a:pt x="0" y="0"/>
                </a:lnTo>
                <a:close/>
              </a:path>
            </a:pathLst>
          </a:custGeom>
          <a:blipFill>
            <a:blip r:embed="rId9"/>
            <a:stretch>
              <a:fillRect l="-722" t="-7403" r="-722" b="0"/>
            </a:stretch>
          </a:blipFill>
        </p:spPr>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543" cy="10287000"/>
            <a:chOff x="0" y="0"/>
            <a:chExt cx="24383390" cy="13716000"/>
          </a:xfrm>
        </p:grpSpPr>
        <p:sp>
          <p:nvSpPr>
            <p:cNvPr name="Freeform 3" id="3"/>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close/>
                </a:path>
              </a:pathLst>
            </a:custGeom>
            <a:solidFill>
              <a:srgbClr val="000036"/>
            </a:solidFill>
          </p:spPr>
        </p:sp>
      </p:grpSp>
      <p:grpSp>
        <p:nvGrpSpPr>
          <p:cNvPr name="Group 4" id="4"/>
          <p:cNvGrpSpPr/>
          <p:nvPr/>
        </p:nvGrpSpPr>
        <p:grpSpPr>
          <a:xfrm rot="0">
            <a:off x="0" y="0"/>
            <a:ext cx="18287543" cy="10287000"/>
            <a:chOff x="0" y="0"/>
            <a:chExt cx="24383390" cy="13716000"/>
          </a:xfrm>
        </p:grpSpPr>
        <p:sp>
          <p:nvSpPr>
            <p:cNvPr name="Freeform 5" id="5" descr="preencoded.png"/>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lnTo>
                    <a:pt x="0" y="0"/>
                  </a:lnTo>
                  <a:close/>
                </a:path>
              </a:pathLst>
            </a:custGeom>
            <a:blipFill>
              <a:blip r:embed="rId2">
                <a:alphaModFix amt="15000"/>
              </a:blip>
              <a:stretch>
                <a:fillRect l="-16360" t="0" r="-16361" b="0"/>
              </a:stretch>
            </a:blipFill>
          </p:spPr>
        </p:sp>
      </p:grpSp>
      <p:grpSp>
        <p:nvGrpSpPr>
          <p:cNvPr name="Group 6" id="6"/>
          <p:cNvGrpSpPr/>
          <p:nvPr/>
        </p:nvGrpSpPr>
        <p:grpSpPr>
          <a:xfrm rot="0">
            <a:off x="857250" y="429311"/>
            <a:ext cx="16573043" cy="999896"/>
            <a:chOff x="0" y="0"/>
            <a:chExt cx="22097390" cy="1333195"/>
          </a:xfrm>
        </p:grpSpPr>
        <p:sp>
          <p:nvSpPr>
            <p:cNvPr name="Freeform 7" id="7"/>
            <p:cNvSpPr/>
            <p:nvPr/>
          </p:nvSpPr>
          <p:spPr>
            <a:xfrm flipH="false" flipV="false" rot="0">
              <a:off x="0" y="0"/>
              <a:ext cx="22097364" cy="1333246"/>
            </a:xfrm>
            <a:custGeom>
              <a:avLst/>
              <a:gdLst/>
              <a:ahLst/>
              <a:cxnLst/>
              <a:rect r="r" b="b" t="t" l="l"/>
              <a:pathLst>
                <a:path h="1333246" w="22097364">
                  <a:moveTo>
                    <a:pt x="0" y="209042"/>
                  </a:moveTo>
                  <a:cubicBezTo>
                    <a:pt x="0" y="93599"/>
                    <a:pt x="93599" y="0"/>
                    <a:pt x="209042" y="0"/>
                  </a:cubicBezTo>
                  <a:lnTo>
                    <a:pt x="21888323" y="0"/>
                  </a:lnTo>
                  <a:cubicBezTo>
                    <a:pt x="22003765" y="0"/>
                    <a:pt x="22097364" y="93599"/>
                    <a:pt x="22097364" y="209042"/>
                  </a:cubicBezTo>
                  <a:lnTo>
                    <a:pt x="22097364" y="1124204"/>
                  </a:lnTo>
                  <a:cubicBezTo>
                    <a:pt x="22097364" y="1239647"/>
                    <a:pt x="22003765" y="1333246"/>
                    <a:pt x="21888323" y="1333246"/>
                  </a:cubicBezTo>
                  <a:lnTo>
                    <a:pt x="209042" y="1333246"/>
                  </a:lnTo>
                  <a:cubicBezTo>
                    <a:pt x="93599" y="1333246"/>
                    <a:pt x="0" y="1239647"/>
                    <a:pt x="0" y="1124204"/>
                  </a:cubicBezTo>
                  <a:close/>
                </a:path>
              </a:pathLst>
            </a:custGeom>
            <a:solidFill>
              <a:srgbClr val="FFFFFF">
                <a:alpha val="90196"/>
              </a:srgbClr>
            </a:solidFill>
          </p:spPr>
        </p:sp>
      </p:grpSp>
      <p:grpSp>
        <p:nvGrpSpPr>
          <p:cNvPr name="Group 8" id="8"/>
          <p:cNvGrpSpPr/>
          <p:nvPr/>
        </p:nvGrpSpPr>
        <p:grpSpPr>
          <a:xfrm rot="0">
            <a:off x="16287750" y="571957"/>
            <a:ext cx="714604" cy="714604"/>
            <a:chOff x="0" y="0"/>
            <a:chExt cx="952805" cy="952805"/>
          </a:xfrm>
        </p:grpSpPr>
        <p:sp>
          <p:nvSpPr>
            <p:cNvPr name="Freeform 9" id="9" descr="preencoded.png"/>
            <p:cNvSpPr/>
            <p:nvPr/>
          </p:nvSpPr>
          <p:spPr>
            <a:xfrm flipH="false" flipV="false" rot="0">
              <a:off x="0" y="0"/>
              <a:ext cx="952754" cy="952754"/>
            </a:xfrm>
            <a:custGeom>
              <a:avLst/>
              <a:gdLst/>
              <a:ahLst/>
              <a:cxnLst/>
              <a:rect r="r" b="b" t="t" l="l"/>
              <a:pathLst>
                <a:path h="952754" w="952754">
                  <a:moveTo>
                    <a:pt x="0" y="0"/>
                  </a:moveTo>
                  <a:lnTo>
                    <a:pt x="952754" y="0"/>
                  </a:lnTo>
                  <a:lnTo>
                    <a:pt x="952754" y="952754"/>
                  </a:lnTo>
                  <a:lnTo>
                    <a:pt x="0" y="952754"/>
                  </a:lnTo>
                  <a:lnTo>
                    <a:pt x="0" y="0"/>
                  </a:lnTo>
                  <a:close/>
                </a:path>
              </a:pathLst>
            </a:custGeom>
            <a:blipFill>
              <a:blip r:embed="rId3"/>
              <a:stretch>
                <a:fillRect l="0" t="0" r="-5" b="-5"/>
              </a:stretch>
            </a:blipFill>
          </p:spPr>
        </p:sp>
      </p:grpSp>
      <p:grpSp>
        <p:nvGrpSpPr>
          <p:cNvPr name="Group 10" id="10"/>
          <p:cNvGrpSpPr/>
          <p:nvPr/>
        </p:nvGrpSpPr>
        <p:grpSpPr>
          <a:xfrm rot="0">
            <a:off x="1137533" y="571957"/>
            <a:ext cx="8618220" cy="701040"/>
            <a:chOff x="0" y="0"/>
            <a:chExt cx="11490960" cy="934720"/>
          </a:xfrm>
        </p:grpSpPr>
        <p:sp>
          <p:nvSpPr>
            <p:cNvPr name="Freeform 11" id="11"/>
            <p:cNvSpPr/>
            <p:nvPr/>
          </p:nvSpPr>
          <p:spPr>
            <a:xfrm flipH="false" flipV="false" rot="0">
              <a:off x="0" y="0"/>
              <a:ext cx="11490960" cy="934720"/>
            </a:xfrm>
            <a:custGeom>
              <a:avLst/>
              <a:gdLst/>
              <a:ahLst/>
              <a:cxnLst/>
              <a:rect r="r" b="b" t="t" l="l"/>
              <a:pathLst>
                <a:path h="934720" w="11490960">
                  <a:moveTo>
                    <a:pt x="0" y="0"/>
                  </a:moveTo>
                  <a:lnTo>
                    <a:pt x="11490960" y="0"/>
                  </a:lnTo>
                  <a:lnTo>
                    <a:pt x="11490960" y="934720"/>
                  </a:lnTo>
                  <a:lnTo>
                    <a:pt x="0" y="934720"/>
                  </a:lnTo>
                  <a:lnTo>
                    <a:pt x="0" y="0"/>
                  </a:lnTo>
                  <a:close/>
                </a:path>
              </a:pathLst>
            </a:custGeom>
            <a:blipFill>
              <a:blip r:embed="rId4"/>
              <a:stretch>
                <a:fillRect l="-11" t="0" r="-11" b="0"/>
              </a:stretch>
            </a:blipFill>
          </p:spPr>
        </p:sp>
      </p:grpSp>
      <p:grpSp>
        <p:nvGrpSpPr>
          <p:cNvPr name="Group 12" id="12"/>
          <p:cNvGrpSpPr/>
          <p:nvPr/>
        </p:nvGrpSpPr>
        <p:grpSpPr>
          <a:xfrm rot="0">
            <a:off x="0" y="234127"/>
            <a:ext cx="18287543" cy="10287000"/>
            <a:chOff x="0" y="0"/>
            <a:chExt cx="24383390" cy="13716000"/>
          </a:xfrm>
        </p:grpSpPr>
        <p:sp>
          <p:nvSpPr>
            <p:cNvPr name="Freeform 13" id="13"/>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close/>
                </a:path>
              </a:pathLst>
            </a:custGeom>
            <a:solidFill>
              <a:srgbClr val="000036"/>
            </a:solidFill>
          </p:spPr>
        </p:sp>
      </p:grpSp>
      <p:grpSp>
        <p:nvGrpSpPr>
          <p:cNvPr name="Group 14" id="14"/>
          <p:cNvGrpSpPr/>
          <p:nvPr/>
        </p:nvGrpSpPr>
        <p:grpSpPr>
          <a:xfrm rot="0">
            <a:off x="924382" y="970867"/>
            <a:ext cx="113843" cy="614477"/>
            <a:chOff x="0" y="0"/>
            <a:chExt cx="151790" cy="819302"/>
          </a:xfrm>
        </p:grpSpPr>
        <p:sp>
          <p:nvSpPr>
            <p:cNvPr name="Freeform 15" id="15"/>
            <p:cNvSpPr/>
            <p:nvPr/>
          </p:nvSpPr>
          <p:spPr>
            <a:xfrm flipH="false" flipV="false" rot="0">
              <a:off x="0" y="0"/>
              <a:ext cx="151765" cy="819277"/>
            </a:xfrm>
            <a:custGeom>
              <a:avLst/>
              <a:gdLst/>
              <a:ahLst/>
              <a:cxnLst/>
              <a:rect r="r" b="b" t="t" l="l"/>
              <a:pathLst>
                <a:path h="819277" w="151765">
                  <a:moveTo>
                    <a:pt x="0" y="0"/>
                  </a:moveTo>
                  <a:lnTo>
                    <a:pt x="151765" y="0"/>
                  </a:lnTo>
                  <a:lnTo>
                    <a:pt x="151765" y="819277"/>
                  </a:lnTo>
                  <a:lnTo>
                    <a:pt x="0" y="819277"/>
                  </a:lnTo>
                  <a:close/>
                </a:path>
              </a:pathLst>
            </a:custGeom>
            <a:solidFill>
              <a:srgbClr val="88E555"/>
            </a:solidFill>
          </p:spPr>
        </p:sp>
      </p:grpSp>
      <p:grpSp>
        <p:nvGrpSpPr>
          <p:cNvPr name="Group 16" id="16"/>
          <p:cNvGrpSpPr/>
          <p:nvPr/>
        </p:nvGrpSpPr>
        <p:grpSpPr>
          <a:xfrm rot="0">
            <a:off x="1166799" y="912952"/>
            <a:ext cx="10267678" cy="700887"/>
            <a:chOff x="0" y="0"/>
            <a:chExt cx="13690237" cy="934516"/>
          </a:xfrm>
        </p:grpSpPr>
        <p:sp>
          <p:nvSpPr>
            <p:cNvPr name="Freeform 17" id="17"/>
            <p:cNvSpPr/>
            <p:nvPr/>
          </p:nvSpPr>
          <p:spPr>
            <a:xfrm flipH="false" flipV="false" rot="0">
              <a:off x="0" y="0"/>
              <a:ext cx="13690237" cy="934515"/>
            </a:xfrm>
            <a:custGeom>
              <a:avLst/>
              <a:gdLst/>
              <a:ahLst/>
              <a:cxnLst/>
              <a:rect r="r" b="b" t="t" l="l"/>
              <a:pathLst>
                <a:path h="934515" w="13690237">
                  <a:moveTo>
                    <a:pt x="0" y="0"/>
                  </a:moveTo>
                  <a:lnTo>
                    <a:pt x="13690237" y="0"/>
                  </a:lnTo>
                  <a:lnTo>
                    <a:pt x="13690237" y="934515"/>
                  </a:lnTo>
                  <a:lnTo>
                    <a:pt x="0" y="934515"/>
                  </a:lnTo>
                  <a:close/>
                </a:path>
              </a:pathLst>
            </a:custGeom>
            <a:blipFill>
              <a:blip r:embed="rId5">
                <a:alphaModFix amt="0"/>
              </a:blip>
              <a:stretch>
                <a:fillRect l="0" t="-181342" r="18954" b="-181342"/>
              </a:stretch>
            </a:blipFill>
          </p:spPr>
        </p:sp>
        <p:sp>
          <p:nvSpPr>
            <p:cNvPr name="TextBox 18" id="18"/>
            <p:cNvSpPr txBox="true"/>
            <p:nvPr/>
          </p:nvSpPr>
          <p:spPr>
            <a:xfrm>
              <a:off x="0" y="-28575"/>
              <a:ext cx="13690237" cy="963091"/>
            </a:xfrm>
            <a:prstGeom prst="rect">
              <a:avLst/>
            </a:prstGeom>
          </p:spPr>
          <p:txBody>
            <a:bodyPr anchor="ctr" rtlCol="false" tIns="0" lIns="0" bIns="0" rIns="0"/>
            <a:lstStyle/>
            <a:p>
              <a:pPr algn="l">
                <a:lnSpc>
                  <a:spcPts val="3360"/>
                </a:lnSpc>
              </a:pPr>
              <a:r>
                <a:rPr lang="en-US" sz="2800" b="true">
                  <a:solidFill>
                    <a:srgbClr val="FFFFFF"/>
                  </a:solidFill>
                  <a:latin typeface="Poppins Bold"/>
                  <a:ea typeface="Poppins Bold"/>
                  <a:cs typeface="Poppins Bold"/>
                  <a:sym typeface="Poppins Bold"/>
                </a:rPr>
                <a:t>SEMICONDUCTOR SYNTHETIC DATA DESIGN</a:t>
              </a:r>
            </a:p>
          </p:txBody>
        </p:sp>
      </p:grpSp>
      <p:grpSp>
        <p:nvGrpSpPr>
          <p:cNvPr name="Group 19" id="19"/>
          <p:cNvGrpSpPr/>
          <p:nvPr/>
        </p:nvGrpSpPr>
        <p:grpSpPr>
          <a:xfrm rot="0">
            <a:off x="971093" y="-306250"/>
            <a:ext cx="16573043" cy="1286561"/>
            <a:chOff x="0" y="0"/>
            <a:chExt cx="22097390" cy="1715414"/>
          </a:xfrm>
        </p:grpSpPr>
        <p:sp>
          <p:nvSpPr>
            <p:cNvPr name="Freeform 20" id="20"/>
            <p:cNvSpPr/>
            <p:nvPr/>
          </p:nvSpPr>
          <p:spPr>
            <a:xfrm flipH="false" flipV="false" rot="0">
              <a:off x="0" y="0"/>
              <a:ext cx="22097366" cy="1715389"/>
            </a:xfrm>
            <a:custGeom>
              <a:avLst/>
              <a:gdLst/>
              <a:ahLst/>
              <a:cxnLst/>
              <a:rect r="r" b="b" t="t" l="l"/>
              <a:pathLst>
                <a:path h="1715389" w="22097366">
                  <a:moveTo>
                    <a:pt x="0" y="162560"/>
                  </a:moveTo>
                  <a:cubicBezTo>
                    <a:pt x="0" y="72771"/>
                    <a:pt x="72771" y="0"/>
                    <a:pt x="162560" y="0"/>
                  </a:cubicBezTo>
                  <a:lnTo>
                    <a:pt x="21934805" y="0"/>
                  </a:lnTo>
                  <a:cubicBezTo>
                    <a:pt x="22024594" y="0"/>
                    <a:pt x="22097366" y="72771"/>
                    <a:pt x="22097366" y="162560"/>
                  </a:cubicBezTo>
                  <a:lnTo>
                    <a:pt x="22097366" y="1552829"/>
                  </a:lnTo>
                  <a:cubicBezTo>
                    <a:pt x="22097366" y="1642618"/>
                    <a:pt x="22024594" y="1715389"/>
                    <a:pt x="21934805" y="1715389"/>
                  </a:cubicBezTo>
                  <a:lnTo>
                    <a:pt x="162560" y="1715389"/>
                  </a:lnTo>
                  <a:cubicBezTo>
                    <a:pt x="72771" y="1715389"/>
                    <a:pt x="0" y="1642618"/>
                    <a:pt x="0" y="1552829"/>
                  </a:cubicBezTo>
                  <a:close/>
                </a:path>
              </a:pathLst>
            </a:custGeom>
            <a:solidFill>
              <a:srgbClr val="FFFFFF">
                <a:alpha val="90196"/>
              </a:srgbClr>
            </a:solidFill>
          </p:spPr>
        </p:sp>
      </p:grpSp>
      <p:grpSp>
        <p:nvGrpSpPr>
          <p:cNvPr name="Group 21" id="21"/>
          <p:cNvGrpSpPr/>
          <p:nvPr/>
        </p:nvGrpSpPr>
        <p:grpSpPr>
          <a:xfrm rot="0">
            <a:off x="2414016" y="-80470"/>
            <a:ext cx="13745232" cy="879653"/>
            <a:chOff x="0" y="0"/>
            <a:chExt cx="18326976" cy="1172870"/>
          </a:xfrm>
        </p:grpSpPr>
        <p:sp>
          <p:nvSpPr>
            <p:cNvPr name="Freeform 22" id="22"/>
            <p:cNvSpPr/>
            <p:nvPr/>
          </p:nvSpPr>
          <p:spPr>
            <a:xfrm flipH="false" flipV="false" rot="0">
              <a:off x="0" y="0"/>
              <a:ext cx="18326988" cy="1172845"/>
            </a:xfrm>
            <a:custGeom>
              <a:avLst/>
              <a:gdLst/>
              <a:ahLst/>
              <a:cxnLst/>
              <a:rect r="r" b="b" t="t" l="l"/>
              <a:pathLst>
                <a:path h="1172845" w="18326988">
                  <a:moveTo>
                    <a:pt x="0" y="0"/>
                  </a:moveTo>
                  <a:lnTo>
                    <a:pt x="18326988" y="0"/>
                  </a:lnTo>
                  <a:lnTo>
                    <a:pt x="18326988" y="1172845"/>
                  </a:lnTo>
                  <a:lnTo>
                    <a:pt x="0" y="1172845"/>
                  </a:lnTo>
                  <a:lnTo>
                    <a:pt x="0" y="0"/>
                  </a:lnTo>
                  <a:close/>
                </a:path>
              </a:pathLst>
            </a:custGeom>
            <a:blipFill>
              <a:blip r:embed="rId6"/>
              <a:stretch>
                <a:fillRect l="0" t="-2" r="0" b="-4"/>
              </a:stretch>
            </a:blipFill>
          </p:spPr>
        </p:sp>
      </p:grpSp>
      <p:graphicFrame>
        <p:nvGraphicFramePr>
          <p:cNvPr name="Table 23" id="23"/>
          <p:cNvGraphicFramePr>
            <a:graphicFrameLocks noGrp="true"/>
          </p:cNvGraphicFramePr>
          <p:nvPr/>
        </p:nvGraphicFramePr>
        <p:xfrm>
          <a:off x="9536259" y="2263912"/>
          <a:ext cx="8373700" cy="7852377"/>
        </p:xfrm>
        <a:graphic>
          <a:graphicData uri="http://schemas.openxmlformats.org/drawingml/2006/table">
            <a:tbl>
              <a:tblPr/>
              <a:tblGrid>
                <a:gridCol w="1174894"/>
                <a:gridCol w="2478709"/>
                <a:gridCol w="4720098"/>
              </a:tblGrid>
              <a:tr h="528013">
                <a:tc>
                  <a:txBody>
                    <a:bodyPr anchor="t" rtlCol="false"/>
                    <a:lstStyle/>
                    <a:p>
                      <a:pPr algn="ctr">
                        <a:lnSpc>
                          <a:spcPts val="2100"/>
                        </a:lnSpc>
                        <a:defRPr/>
                      </a:pPr>
                      <a:r>
                        <a:rPr lang="en-US" b="true" sz="1500">
                          <a:solidFill>
                            <a:srgbClr val="000000"/>
                          </a:solidFill>
                          <a:latin typeface="Canva Sans Bold"/>
                          <a:ea typeface="Canva Sans Bold"/>
                          <a:cs typeface="Canva Sans Bold"/>
                          <a:sym typeface="Canva Sans Bold"/>
                        </a:rPr>
                        <a:t>CLASS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solidFill>
                      <a:srgbClr val="F2F2F2"/>
                    </a:solidFill>
                  </a:tcPr>
                </a:tc>
                <a:tc>
                  <a:txBody>
                    <a:bodyPr anchor="t" rtlCol="false"/>
                    <a:lstStyle/>
                    <a:p>
                      <a:pPr algn="ctr">
                        <a:lnSpc>
                          <a:spcPts val="2100"/>
                        </a:lnSpc>
                        <a:defRPr/>
                      </a:pPr>
                      <a:r>
                        <a:rPr lang="en-US" b="true" sz="1500">
                          <a:solidFill>
                            <a:srgbClr val="000000"/>
                          </a:solidFill>
                          <a:latin typeface="Canva Sans Bold"/>
                          <a:ea typeface="Canva Sans Bold"/>
                          <a:cs typeface="Canva Sans Bold"/>
                          <a:sym typeface="Canva Sans Bold"/>
                        </a:rPr>
                        <a:t>CLASS NAME</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solidFill>
                      <a:srgbClr val="F2F2F2"/>
                    </a:solidFill>
                  </a:tcPr>
                </a:tc>
                <a:tc>
                  <a:txBody>
                    <a:bodyPr anchor="t" rtlCol="false"/>
                    <a:lstStyle/>
                    <a:p>
                      <a:pPr algn="ctr">
                        <a:lnSpc>
                          <a:spcPts val="2100"/>
                        </a:lnSpc>
                        <a:defRPr/>
                      </a:pPr>
                      <a:r>
                        <a:rPr lang="en-US" b="true" sz="1500">
                          <a:solidFill>
                            <a:srgbClr val="000000"/>
                          </a:solidFill>
                          <a:latin typeface="Canva Sans Bold"/>
                          <a:ea typeface="Canva Sans Bold"/>
                          <a:cs typeface="Canva Sans Bold"/>
                          <a:sym typeface="Canva Sans Bold"/>
                        </a:rPr>
                        <a:t>JUSTIFICATION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solidFill>
                      <a:srgbClr val="F2F2F2"/>
                    </a:solidFill>
                  </a:tcPr>
                </a:tc>
              </a:tr>
              <a:tr h="942078">
                <a:tc>
                  <a:txBody>
                    <a:bodyPr anchor="t" rtlCol="false"/>
                    <a:lstStyle/>
                    <a:p>
                      <a:pPr algn="l">
                        <a:lnSpc>
                          <a:spcPts val="2100"/>
                        </a:lnSpc>
                        <a:defRPr/>
                      </a:pPr>
                      <a:r>
                        <a:rPr lang="en-US" sz="1500">
                          <a:solidFill>
                            <a:srgbClr val="FFFFFF"/>
                          </a:solidFill>
                          <a:latin typeface="Canva Sans"/>
                          <a:ea typeface="Canva Sans"/>
                          <a:cs typeface="Canva Sans"/>
                          <a:sym typeface="Canva Sans"/>
                        </a:rPr>
                        <a:t>P1</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DRAM_CELL</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Orthogonal memory bitcell arrays with storage-node capacitor pads and bitline tracks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869483">
                <a:tc>
                  <a:txBody>
                    <a:bodyPr anchor="t" rtlCol="false"/>
                    <a:lstStyle/>
                    <a:p>
                      <a:pPr algn="l">
                        <a:lnSpc>
                          <a:spcPts val="2100"/>
                        </a:lnSpc>
                        <a:defRPr/>
                      </a:pPr>
                      <a:r>
                        <a:rPr lang="en-US" sz="1500">
                          <a:solidFill>
                            <a:srgbClr val="FFFFFF"/>
                          </a:solidFill>
                          <a:latin typeface="Canva Sans"/>
                          <a:ea typeface="Canva Sans"/>
                          <a:cs typeface="Canva Sans"/>
                          <a:sym typeface="Canva Sans"/>
                        </a:rPr>
                        <a:t>P2</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FIN_ARRAY</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Dense 1D silicon fin grating arrays with strong periodic pitch</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836871">
                <a:tc>
                  <a:txBody>
                    <a:bodyPr anchor="t" rtlCol="false"/>
                    <a:lstStyle/>
                    <a:p>
                      <a:pPr algn="l">
                        <a:lnSpc>
                          <a:spcPts val="2100"/>
                        </a:lnSpc>
                        <a:defRPr/>
                      </a:pPr>
                      <a:r>
                        <a:rPr lang="en-US" sz="1500">
                          <a:solidFill>
                            <a:srgbClr val="FFFFFF"/>
                          </a:solidFill>
                          <a:latin typeface="Canva Sans"/>
                          <a:ea typeface="Canva Sans"/>
                          <a:cs typeface="Canva Sans"/>
                          <a:sym typeface="Canva Sans"/>
                        </a:rPr>
                        <a:t>P3</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FIN_CUT</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Active-channel isolation cuts and cut-mask rectangular openings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938767">
                <a:tc>
                  <a:txBody>
                    <a:bodyPr anchor="t" rtlCol="false"/>
                    <a:lstStyle/>
                    <a:p>
                      <a:pPr algn="l">
                        <a:lnSpc>
                          <a:spcPts val="2100"/>
                        </a:lnSpc>
                        <a:defRPr/>
                      </a:pPr>
                      <a:r>
                        <a:rPr lang="en-US" sz="1500">
                          <a:solidFill>
                            <a:srgbClr val="FFFFFF"/>
                          </a:solidFill>
                          <a:latin typeface="Canva Sans"/>
                          <a:ea typeface="Canva Sans"/>
                          <a:cs typeface="Canva Sans"/>
                          <a:sym typeface="Canva Sans"/>
                        </a:rPr>
                        <a:t>P4</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FIN_GATE</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Metal gate lines running perpendicular to silicon fins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734316">
                <a:tc>
                  <a:txBody>
                    <a:bodyPr anchor="t" rtlCol="false"/>
                    <a:lstStyle/>
                    <a:p>
                      <a:pPr algn="l">
                        <a:lnSpc>
                          <a:spcPts val="2100"/>
                        </a:lnSpc>
                        <a:defRPr/>
                      </a:pPr>
                      <a:r>
                        <a:rPr lang="en-US" sz="1500">
                          <a:solidFill>
                            <a:srgbClr val="FFFFFF"/>
                          </a:solidFill>
                          <a:latin typeface="Canva Sans"/>
                          <a:ea typeface="Canva Sans"/>
                          <a:cs typeface="Canva Sans"/>
                          <a:sym typeface="Canva Sans"/>
                        </a:rPr>
                        <a:t>P5</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CONTACT_ARRAY</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Dense contact-hole arrays, contact pads and via landing targets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799903">
                <a:tc>
                  <a:txBody>
                    <a:bodyPr anchor="t" rtlCol="false"/>
                    <a:lstStyle/>
                    <a:p>
                      <a:pPr algn="l">
                        <a:lnSpc>
                          <a:spcPts val="2100"/>
                        </a:lnSpc>
                        <a:defRPr/>
                      </a:pPr>
                      <a:r>
                        <a:rPr lang="en-US" sz="1500">
                          <a:solidFill>
                            <a:srgbClr val="FFFFFF"/>
                          </a:solidFill>
                          <a:latin typeface="Canva Sans"/>
                          <a:ea typeface="Canva Sans"/>
                          <a:cs typeface="Canva Sans"/>
                          <a:sym typeface="Canva Sans"/>
                        </a:rPr>
                        <a:t>P6</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LOCAL_INTERCONNECT</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M0 local interconnect lines, trench-contact bars and active-area contacts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734316">
                <a:tc>
                  <a:txBody>
                    <a:bodyPr anchor="t" rtlCol="false"/>
                    <a:lstStyle/>
                    <a:p>
                      <a:pPr algn="l">
                        <a:lnSpc>
                          <a:spcPts val="2100"/>
                        </a:lnSpc>
                        <a:defRPr/>
                      </a:pPr>
                      <a:r>
                        <a:rPr lang="en-US" sz="1500">
                          <a:solidFill>
                            <a:srgbClr val="FFFFFF"/>
                          </a:solidFill>
                          <a:latin typeface="Canva Sans"/>
                          <a:ea typeface="Canva Sans"/>
                          <a:cs typeface="Canva Sans"/>
                          <a:sym typeface="Canva Sans"/>
                        </a:rPr>
                        <a:t>P7</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METAL_ROUTING</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Orthogonal metal routing grids and power-rail structures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734316">
                <a:tc>
                  <a:txBody>
                    <a:bodyPr anchor="t" rtlCol="false"/>
                    <a:lstStyle/>
                    <a:p>
                      <a:pPr algn="l">
                        <a:lnSpc>
                          <a:spcPts val="2100"/>
                        </a:lnSpc>
                        <a:defRPr/>
                      </a:pPr>
                      <a:r>
                        <a:rPr lang="en-US" sz="1500">
                          <a:solidFill>
                            <a:srgbClr val="FFFFFF"/>
                          </a:solidFill>
                          <a:latin typeface="Canva Sans"/>
                          <a:ea typeface="Canva Sans"/>
                          <a:cs typeface="Canva Sans"/>
                          <a:sym typeface="Canva Sans"/>
                        </a:rPr>
                        <a:t>P8</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ACTIVE_CELL</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Active diffusion regions, well taps and STI isolation boundaries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734316">
                <a:tc>
                  <a:txBody>
                    <a:bodyPr anchor="t" rtlCol="false"/>
                    <a:lstStyle/>
                    <a:p>
                      <a:pPr algn="l">
                        <a:lnSpc>
                          <a:spcPts val="2100"/>
                        </a:lnSpc>
                        <a:defRPr/>
                      </a:pPr>
                      <a:r>
                        <a:rPr lang="en-US" sz="1500">
                          <a:solidFill>
                            <a:srgbClr val="FFFFFF"/>
                          </a:solidFill>
                          <a:latin typeface="Canva Sans"/>
                          <a:ea typeface="Canva Sans"/>
                          <a:cs typeface="Canva Sans"/>
                          <a:sym typeface="Canva Sans"/>
                        </a:rPr>
                        <a:t>P9</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FINFET_FULL_CELL</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Complex multi-layer standard-cell logic including NAND, NOR and D-Flip-Flops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bl>
          </a:graphicData>
        </a:graphic>
      </p:graphicFrame>
      <p:graphicFrame>
        <p:nvGraphicFramePr>
          <p:cNvPr name="Table 24" id="24"/>
          <p:cNvGraphicFramePr>
            <a:graphicFrameLocks noGrp="true"/>
          </p:cNvGraphicFramePr>
          <p:nvPr/>
        </p:nvGraphicFramePr>
        <p:xfrm>
          <a:off x="311686" y="2263912"/>
          <a:ext cx="8657602" cy="7874194"/>
        </p:xfrm>
        <a:graphic>
          <a:graphicData uri="http://schemas.openxmlformats.org/drawingml/2006/table">
            <a:tbl>
              <a:tblPr/>
              <a:tblGrid>
                <a:gridCol w="1626049"/>
                <a:gridCol w="2915165"/>
                <a:gridCol w="4116388"/>
              </a:tblGrid>
              <a:tr h="925751">
                <a:tc>
                  <a:txBody>
                    <a:bodyPr anchor="t" rtlCol="false"/>
                    <a:lstStyle/>
                    <a:p>
                      <a:pPr algn="ctr">
                        <a:lnSpc>
                          <a:spcPts val="2100"/>
                        </a:lnSpc>
                        <a:defRPr/>
                      </a:pPr>
                      <a:r>
                        <a:rPr lang="en-US" b="true" sz="1500">
                          <a:solidFill>
                            <a:srgbClr val="000000"/>
                          </a:solidFill>
                          <a:latin typeface="Canva Sans Bold"/>
                          <a:ea typeface="Canva Sans Bold"/>
                          <a:cs typeface="Canva Sans Bold"/>
                          <a:sym typeface="Canva Sans Bold"/>
                        </a:rPr>
                        <a:t>CLASS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solidFill>
                      <a:srgbClr val="F2F2F2"/>
                    </a:solidFill>
                  </a:tcPr>
                </a:tc>
                <a:tc>
                  <a:txBody>
                    <a:bodyPr anchor="t" rtlCol="false"/>
                    <a:lstStyle/>
                    <a:p>
                      <a:pPr algn="ctr">
                        <a:lnSpc>
                          <a:spcPts val="2100"/>
                        </a:lnSpc>
                        <a:defRPr/>
                      </a:pPr>
                      <a:r>
                        <a:rPr lang="en-US" b="true" sz="1500">
                          <a:solidFill>
                            <a:srgbClr val="000000"/>
                          </a:solidFill>
                          <a:latin typeface="Canva Sans Bold"/>
                          <a:ea typeface="Canva Sans Bold"/>
                          <a:cs typeface="Canva Sans Bold"/>
                          <a:sym typeface="Canva Sans Bold"/>
                        </a:rPr>
                        <a:t>TECHNOLOGY NODE VARIANT</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solidFill>
                      <a:srgbClr val="F2F2F2"/>
                    </a:solidFill>
                  </a:tcPr>
                </a:tc>
                <a:tc>
                  <a:txBody>
                    <a:bodyPr anchor="t" rtlCol="false"/>
                    <a:lstStyle/>
                    <a:p>
                      <a:pPr algn="ctr">
                        <a:lnSpc>
                          <a:spcPts val="2100"/>
                        </a:lnSpc>
                        <a:defRPr/>
                      </a:pPr>
                      <a:r>
                        <a:rPr lang="en-US" b="true" sz="1500">
                          <a:solidFill>
                            <a:srgbClr val="000000"/>
                          </a:solidFill>
                          <a:latin typeface="Canva Sans Bold"/>
                          <a:ea typeface="Canva Sans Bold"/>
                          <a:cs typeface="Canva Sans Bold"/>
                          <a:sym typeface="Canva Sans Bold"/>
                        </a:rPr>
                        <a:t>SPECIFIC ARCHITECTURAL LAYOUT FEATURES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solidFill>
                      <a:srgbClr val="F2F2F2"/>
                    </a:solidFill>
                  </a:tcPr>
                </a:tc>
              </a:tr>
              <a:tr h="734313">
                <a:tc>
                  <a:txBody>
                    <a:bodyPr anchor="t" rtlCol="false"/>
                    <a:lstStyle/>
                    <a:p>
                      <a:pPr algn="l">
                        <a:lnSpc>
                          <a:spcPts val="2100"/>
                        </a:lnSpc>
                        <a:defRPr/>
                      </a:pPr>
                      <a:r>
                        <a:rPr lang="en-US" sz="1500">
                          <a:solidFill>
                            <a:srgbClr val="FFFFFF"/>
                          </a:solidFill>
                          <a:latin typeface="Canva Sans"/>
                          <a:ea typeface="Canva Sans"/>
                          <a:cs typeface="Canva Sans"/>
                          <a:sym typeface="Canva Sans"/>
                        </a:rPr>
                        <a:t>P1</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dram_1x</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Standard 1x-nm DRAM bitcell array with nominal capacitor spacing</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734313">
                <a:tc>
                  <a:txBody>
                    <a:bodyPr anchor="t" rtlCol="false"/>
                    <a:lstStyle/>
                    <a:p>
                      <a:pPr algn="l">
                        <a:lnSpc>
                          <a:spcPts val="2100"/>
                        </a:lnSpc>
                        <a:defRPr/>
                      </a:pPr>
                      <a:r>
                        <a:rPr lang="en-US" sz="1500">
                          <a:solidFill>
                            <a:srgbClr val="FFFFFF"/>
                          </a:solidFill>
                          <a:latin typeface="Canva Sans"/>
                          <a:ea typeface="Canva Sans"/>
                          <a:cs typeface="Canva Sans"/>
                          <a:sym typeface="Canva Sans"/>
                        </a:rPr>
                        <a:t>P2</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dram_dense</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Ultra-dense DRAM array with tight capacitor pitch and vertical symmetry</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744608">
                <a:tc>
                  <a:txBody>
                    <a:bodyPr anchor="t" rtlCol="false"/>
                    <a:lstStyle/>
                    <a:p>
                      <a:pPr algn="l">
                        <a:lnSpc>
                          <a:spcPts val="2100"/>
                        </a:lnSpc>
                        <a:defRPr/>
                      </a:pPr>
                      <a:r>
                        <a:rPr lang="en-US" sz="1500">
                          <a:solidFill>
                            <a:srgbClr val="FFFFFF"/>
                          </a:solidFill>
                          <a:latin typeface="Canva Sans"/>
                          <a:ea typeface="Canva Sans"/>
                          <a:cs typeface="Canva Sans"/>
                          <a:sym typeface="Canva Sans"/>
                        </a:rPr>
                        <a:t>P3</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dram_wide</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Wide bitline DRAM array with extended active areas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803982">
                <a:tc>
                  <a:txBody>
                    <a:bodyPr anchor="t" rtlCol="false"/>
                    <a:lstStyle/>
                    <a:p>
                      <a:pPr algn="l">
                        <a:lnSpc>
                          <a:spcPts val="2100"/>
                        </a:lnSpc>
                        <a:defRPr/>
                      </a:pPr>
                      <a:r>
                        <a:rPr lang="en-US" sz="1500">
                          <a:solidFill>
                            <a:srgbClr val="FFFFFF"/>
                          </a:solidFill>
                          <a:latin typeface="Canva Sans"/>
                          <a:ea typeface="Canva Sans"/>
                          <a:cs typeface="Canva Sans"/>
                          <a:sym typeface="Canva Sans"/>
                        </a:rPr>
                        <a:t>P4</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dram_loose</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Relaxed-pitch DRAM cell layout for high-yield test structures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968065">
                <a:tc>
                  <a:txBody>
                    <a:bodyPr anchor="t" rtlCol="false"/>
                    <a:lstStyle/>
                    <a:p>
                      <a:pPr algn="l">
                        <a:lnSpc>
                          <a:spcPts val="2100"/>
                        </a:lnSpc>
                        <a:defRPr/>
                      </a:pPr>
                      <a:r>
                        <a:rPr lang="en-US" sz="1500">
                          <a:solidFill>
                            <a:srgbClr val="FFFFFF"/>
                          </a:solidFill>
                          <a:latin typeface="Canva Sans"/>
                          <a:ea typeface="Canva Sans"/>
                          <a:cs typeface="Canva Sans"/>
                          <a:sym typeface="Canva Sans"/>
                        </a:rPr>
                        <a:t>P5</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dram_compact</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Ultra-compact memory cell layout with high-aspect-ratio capacitor contacts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760222">
                <a:tc>
                  <a:txBody>
                    <a:bodyPr anchor="t" rtlCol="false"/>
                    <a:lstStyle/>
                    <a:p>
                      <a:pPr algn="l">
                        <a:lnSpc>
                          <a:spcPts val="2100"/>
                        </a:lnSpc>
                        <a:defRPr/>
                      </a:pPr>
                      <a:r>
                        <a:rPr lang="en-US" sz="1500">
                          <a:solidFill>
                            <a:srgbClr val="FFFFFF"/>
                          </a:solidFill>
                          <a:latin typeface="Canva Sans"/>
                          <a:ea typeface="Canva Sans"/>
                          <a:cs typeface="Canva Sans"/>
                          <a:sym typeface="Canva Sans"/>
                        </a:rPr>
                        <a:t>P6</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finfet_7nm</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7 nm node sub-10 nm fin-pitch grating arrays; highest periodic-trap risk</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734313">
                <a:tc>
                  <a:txBody>
                    <a:bodyPr anchor="t" rtlCol="false"/>
                    <a:lstStyle/>
                    <a:p>
                      <a:pPr algn="l">
                        <a:lnSpc>
                          <a:spcPts val="2100"/>
                        </a:lnSpc>
                        <a:defRPr/>
                      </a:pPr>
                      <a:r>
                        <a:rPr lang="en-US" sz="1500">
                          <a:solidFill>
                            <a:srgbClr val="FFFFFF"/>
                          </a:solidFill>
                          <a:latin typeface="Canva Sans"/>
                          <a:ea typeface="Canva Sans"/>
                          <a:cs typeface="Canva Sans"/>
                          <a:sym typeface="Canva Sans"/>
                        </a:rPr>
                        <a:t>P7</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finfet_10nm</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10 nm node multi-fin logic cells with orthogonal gate-cut lines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734313">
                <a:tc>
                  <a:txBody>
                    <a:bodyPr anchor="t" rtlCol="false"/>
                    <a:lstStyle/>
                    <a:p>
                      <a:pPr algn="l">
                        <a:lnSpc>
                          <a:spcPts val="2100"/>
                        </a:lnSpc>
                        <a:defRPr/>
                      </a:pPr>
                      <a:r>
                        <a:rPr lang="en-US" sz="1500">
                          <a:solidFill>
                            <a:srgbClr val="FFFFFF"/>
                          </a:solidFill>
                          <a:latin typeface="Canva Sans"/>
                          <a:ea typeface="Canva Sans"/>
                          <a:cs typeface="Canva Sans"/>
                          <a:sym typeface="Canva Sans"/>
                        </a:rPr>
                        <a:t>p8</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finfet_14nm</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14 nm node FinFET standard-cell logic blocks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734313">
                <a:tc>
                  <a:txBody>
                    <a:bodyPr anchor="t" rtlCol="false"/>
                    <a:lstStyle/>
                    <a:p>
                      <a:pPr algn="l">
                        <a:lnSpc>
                          <a:spcPts val="2100"/>
                        </a:lnSpc>
                        <a:defRPr/>
                      </a:pPr>
                      <a:r>
                        <a:rPr lang="en-US" sz="1500">
                          <a:solidFill>
                            <a:srgbClr val="FFFFFF"/>
                          </a:solidFill>
                          <a:latin typeface="Canva Sans"/>
                          <a:ea typeface="Canva Sans"/>
                          <a:cs typeface="Canva Sans"/>
                          <a:sym typeface="Canva Sans"/>
                        </a:rPr>
                        <a:t>P9</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finfet_22nm</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22 nm legacy FinFET cell arrays with wide fin spacing</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bl>
          </a:graphicData>
        </a:graphic>
      </p:graphicFrame>
      <p:sp>
        <p:nvSpPr>
          <p:cNvPr name="TextBox 25" id="25"/>
          <p:cNvSpPr txBox="true"/>
          <p:nvPr/>
        </p:nvSpPr>
        <p:spPr>
          <a:xfrm rot="0">
            <a:off x="12329623" y="1861489"/>
            <a:ext cx="2454116" cy="285750"/>
          </a:xfrm>
          <a:prstGeom prst="rect">
            <a:avLst/>
          </a:prstGeom>
        </p:spPr>
        <p:txBody>
          <a:bodyPr anchor="t" rtlCol="false" tIns="0" lIns="0" bIns="0" rIns="0">
            <a:spAutoFit/>
          </a:bodyPr>
          <a:lstStyle/>
          <a:p>
            <a:pPr algn="ctr">
              <a:lnSpc>
                <a:spcPts val="2160"/>
              </a:lnSpc>
              <a:spcBef>
                <a:spcPct val="0"/>
              </a:spcBef>
            </a:pPr>
            <a:r>
              <a:rPr lang="en-US" b="true" sz="1800">
                <a:solidFill>
                  <a:srgbClr val="FFFFFF"/>
                </a:solidFill>
                <a:latin typeface="Poppins Bold"/>
                <a:ea typeface="Poppins Bold"/>
                <a:cs typeface="Poppins Bold"/>
                <a:sym typeface="Poppins Bold"/>
              </a:rPr>
              <a:t>OUR STRESS DATASET</a:t>
            </a:r>
          </a:p>
        </p:txBody>
      </p:sp>
      <p:sp>
        <p:nvSpPr>
          <p:cNvPr name="TextBox 26" id="26"/>
          <p:cNvSpPr txBox="true"/>
          <p:nvPr/>
        </p:nvSpPr>
        <p:spPr>
          <a:xfrm rot="0">
            <a:off x="3089261" y="1861489"/>
            <a:ext cx="3102451" cy="285750"/>
          </a:xfrm>
          <a:prstGeom prst="rect">
            <a:avLst/>
          </a:prstGeom>
        </p:spPr>
        <p:txBody>
          <a:bodyPr anchor="t" rtlCol="false" tIns="0" lIns="0" bIns="0" rIns="0">
            <a:spAutoFit/>
          </a:bodyPr>
          <a:lstStyle/>
          <a:p>
            <a:pPr algn="ctr">
              <a:lnSpc>
                <a:spcPts val="2160"/>
              </a:lnSpc>
              <a:spcBef>
                <a:spcPct val="0"/>
              </a:spcBef>
            </a:pPr>
            <a:r>
              <a:rPr lang="en-US" b="true" sz="1800">
                <a:solidFill>
                  <a:srgbClr val="FFFFFF"/>
                </a:solidFill>
                <a:latin typeface="Poppins Bold"/>
                <a:ea typeface="Poppins Bold"/>
                <a:cs typeface="Poppins Bold"/>
                <a:sym typeface="Poppins Bold"/>
              </a:rPr>
              <a:t>GIVEN REFERENCE DATASET</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543" cy="10287000"/>
            <a:chOff x="0" y="0"/>
            <a:chExt cx="24383390" cy="13716000"/>
          </a:xfrm>
        </p:grpSpPr>
        <p:sp>
          <p:nvSpPr>
            <p:cNvPr name="Freeform 3" id="3"/>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close/>
                </a:path>
              </a:pathLst>
            </a:custGeom>
            <a:solidFill>
              <a:srgbClr val="000036"/>
            </a:solidFill>
          </p:spPr>
        </p:sp>
      </p:grpSp>
      <p:grpSp>
        <p:nvGrpSpPr>
          <p:cNvPr name="Group 4" id="4"/>
          <p:cNvGrpSpPr/>
          <p:nvPr/>
        </p:nvGrpSpPr>
        <p:grpSpPr>
          <a:xfrm rot="0">
            <a:off x="0" y="0"/>
            <a:ext cx="18287543" cy="10287000"/>
            <a:chOff x="0" y="0"/>
            <a:chExt cx="24383390" cy="13716000"/>
          </a:xfrm>
        </p:grpSpPr>
        <p:sp>
          <p:nvSpPr>
            <p:cNvPr name="Freeform 5" id="5" descr="preencoded.png"/>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lnTo>
                    <a:pt x="0" y="0"/>
                  </a:lnTo>
                  <a:close/>
                </a:path>
              </a:pathLst>
            </a:custGeom>
            <a:blipFill>
              <a:blip r:embed="rId2">
                <a:alphaModFix amt="15000"/>
              </a:blip>
              <a:stretch>
                <a:fillRect l="-16360" t="0" r="-16361" b="0"/>
              </a:stretch>
            </a:blipFill>
          </p:spPr>
        </p:sp>
      </p:grpSp>
      <p:grpSp>
        <p:nvGrpSpPr>
          <p:cNvPr name="Group 6" id="6"/>
          <p:cNvGrpSpPr/>
          <p:nvPr/>
        </p:nvGrpSpPr>
        <p:grpSpPr>
          <a:xfrm rot="0">
            <a:off x="857250" y="429311"/>
            <a:ext cx="16573043" cy="999896"/>
            <a:chOff x="0" y="0"/>
            <a:chExt cx="22097390" cy="1333195"/>
          </a:xfrm>
        </p:grpSpPr>
        <p:sp>
          <p:nvSpPr>
            <p:cNvPr name="Freeform 7" id="7"/>
            <p:cNvSpPr/>
            <p:nvPr/>
          </p:nvSpPr>
          <p:spPr>
            <a:xfrm flipH="false" flipV="false" rot="0">
              <a:off x="0" y="0"/>
              <a:ext cx="22097364" cy="1333246"/>
            </a:xfrm>
            <a:custGeom>
              <a:avLst/>
              <a:gdLst/>
              <a:ahLst/>
              <a:cxnLst/>
              <a:rect r="r" b="b" t="t" l="l"/>
              <a:pathLst>
                <a:path h="1333246" w="22097364">
                  <a:moveTo>
                    <a:pt x="0" y="209042"/>
                  </a:moveTo>
                  <a:cubicBezTo>
                    <a:pt x="0" y="93599"/>
                    <a:pt x="93599" y="0"/>
                    <a:pt x="209042" y="0"/>
                  </a:cubicBezTo>
                  <a:lnTo>
                    <a:pt x="21888323" y="0"/>
                  </a:lnTo>
                  <a:cubicBezTo>
                    <a:pt x="22003765" y="0"/>
                    <a:pt x="22097364" y="93599"/>
                    <a:pt x="22097364" y="209042"/>
                  </a:cubicBezTo>
                  <a:lnTo>
                    <a:pt x="22097364" y="1124204"/>
                  </a:lnTo>
                  <a:cubicBezTo>
                    <a:pt x="22097364" y="1239647"/>
                    <a:pt x="22003765" y="1333246"/>
                    <a:pt x="21888323" y="1333246"/>
                  </a:cubicBezTo>
                  <a:lnTo>
                    <a:pt x="209042" y="1333246"/>
                  </a:lnTo>
                  <a:cubicBezTo>
                    <a:pt x="93599" y="1333246"/>
                    <a:pt x="0" y="1239647"/>
                    <a:pt x="0" y="1124204"/>
                  </a:cubicBezTo>
                  <a:close/>
                </a:path>
              </a:pathLst>
            </a:custGeom>
            <a:solidFill>
              <a:srgbClr val="FFFFFF">
                <a:alpha val="90196"/>
              </a:srgbClr>
            </a:solidFill>
          </p:spPr>
        </p:sp>
      </p:grpSp>
      <p:grpSp>
        <p:nvGrpSpPr>
          <p:cNvPr name="Group 8" id="8"/>
          <p:cNvGrpSpPr/>
          <p:nvPr/>
        </p:nvGrpSpPr>
        <p:grpSpPr>
          <a:xfrm rot="0">
            <a:off x="16287750" y="571957"/>
            <a:ext cx="714604" cy="714604"/>
            <a:chOff x="0" y="0"/>
            <a:chExt cx="952805" cy="952805"/>
          </a:xfrm>
        </p:grpSpPr>
        <p:sp>
          <p:nvSpPr>
            <p:cNvPr name="Freeform 9" id="9" descr="preencoded.png"/>
            <p:cNvSpPr/>
            <p:nvPr/>
          </p:nvSpPr>
          <p:spPr>
            <a:xfrm flipH="false" flipV="false" rot="0">
              <a:off x="0" y="0"/>
              <a:ext cx="952754" cy="952754"/>
            </a:xfrm>
            <a:custGeom>
              <a:avLst/>
              <a:gdLst/>
              <a:ahLst/>
              <a:cxnLst/>
              <a:rect r="r" b="b" t="t" l="l"/>
              <a:pathLst>
                <a:path h="952754" w="952754">
                  <a:moveTo>
                    <a:pt x="0" y="0"/>
                  </a:moveTo>
                  <a:lnTo>
                    <a:pt x="952754" y="0"/>
                  </a:lnTo>
                  <a:lnTo>
                    <a:pt x="952754" y="952754"/>
                  </a:lnTo>
                  <a:lnTo>
                    <a:pt x="0" y="952754"/>
                  </a:lnTo>
                  <a:lnTo>
                    <a:pt x="0" y="0"/>
                  </a:lnTo>
                  <a:close/>
                </a:path>
              </a:pathLst>
            </a:custGeom>
            <a:blipFill>
              <a:blip r:embed="rId3"/>
              <a:stretch>
                <a:fillRect l="0" t="0" r="-5" b="-5"/>
              </a:stretch>
            </a:blipFill>
          </p:spPr>
        </p:sp>
      </p:grpSp>
      <p:grpSp>
        <p:nvGrpSpPr>
          <p:cNvPr name="Group 10" id="10"/>
          <p:cNvGrpSpPr/>
          <p:nvPr/>
        </p:nvGrpSpPr>
        <p:grpSpPr>
          <a:xfrm rot="0">
            <a:off x="1137533" y="571957"/>
            <a:ext cx="8618220" cy="701040"/>
            <a:chOff x="0" y="0"/>
            <a:chExt cx="11490960" cy="934720"/>
          </a:xfrm>
        </p:grpSpPr>
        <p:sp>
          <p:nvSpPr>
            <p:cNvPr name="Freeform 11" id="11"/>
            <p:cNvSpPr/>
            <p:nvPr/>
          </p:nvSpPr>
          <p:spPr>
            <a:xfrm flipH="false" flipV="false" rot="0">
              <a:off x="0" y="0"/>
              <a:ext cx="11490960" cy="934720"/>
            </a:xfrm>
            <a:custGeom>
              <a:avLst/>
              <a:gdLst/>
              <a:ahLst/>
              <a:cxnLst/>
              <a:rect r="r" b="b" t="t" l="l"/>
              <a:pathLst>
                <a:path h="934720" w="11490960">
                  <a:moveTo>
                    <a:pt x="0" y="0"/>
                  </a:moveTo>
                  <a:lnTo>
                    <a:pt x="11490960" y="0"/>
                  </a:lnTo>
                  <a:lnTo>
                    <a:pt x="11490960" y="934720"/>
                  </a:lnTo>
                  <a:lnTo>
                    <a:pt x="0" y="934720"/>
                  </a:lnTo>
                  <a:lnTo>
                    <a:pt x="0" y="0"/>
                  </a:lnTo>
                  <a:close/>
                </a:path>
              </a:pathLst>
            </a:custGeom>
            <a:blipFill>
              <a:blip r:embed="rId4"/>
              <a:stretch>
                <a:fillRect l="-11" t="0" r="-11" b="0"/>
              </a:stretch>
            </a:blipFill>
          </p:spPr>
        </p:sp>
      </p:grpSp>
      <p:grpSp>
        <p:nvGrpSpPr>
          <p:cNvPr name="Group 12" id="12"/>
          <p:cNvGrpSpPr/>
          <p:nvPr/>
        </p:nvGrpSpPr>
        <p:grpSpPr>
          <a:xfrm rot="0">
            <a:off x="0" y="0"/>
            <a:ext cx="18287543" cy="10287000"/>
            <a:chOff x="0" y="0"/>
            <a:chExt cx="24383390" cy="13716000"/>
          </a:xfrm>
        </p:grpSpPr>
        <p:sp>
          <p:nvSpPr>
            <p:cNvPr name="Freeform 13" id="13"/>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close/>
                </a:path>
              </a:pathLst>
            </a:custGeom>
            <a:solidFill>
              <a:srgbClr val="000036"/>
            </a:solidFill>
          </p:spPr>
        </p:sp>
      </p:grpSp>
      <p:grpSp>
        <p:nvGrpSpPr>
          <p:cNvPr name="Group 14" id="14"/>
          <p:cNvGrpSpPr/>
          <p:nvPr/>
        </p:nvGrpSpPr>
        <p:grpSpPr>
          <a:xfrm rot="0">
            <a:off x="457" y="0"/>
            <a:ext cx="18287543" cy="10287000"/>
            <a:chOff x="0" y="0"/>
            <a:chExt cx="24383390" cy="13716000"/>
          </a:xfrm>
        </p:grpSpPr>
        <p:sp>
          <p:nvSpPr>
            <p:cNvPr name="Freeform 15" id="15" descr="preencoded.png"/>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lnTo>
                    <a:pt x="0" y="0"/>
                  </a:lnTo>
                  <a:close/>
                </a:path>
              </a:pathLst>
            </a:custGeom>
            <a:blipFill>
              <a:blip r:embed="rId2">
                <a:alphaModFix amt="9999"/>
              </a:blip>
              <a:stretch>
                <a:fillRect l="-16360" t="0" r="-16361" b="0"/>
              </a:stretch>
            </a:blipFill>
          </p:spPr>
        </p:sp>
      </p:grpSp>
      <p:grpSp>
        <p:nvGrpSpPr>
          <p:cNvPr name="Group 16" id="16"/>
          <p:cNvGrpSpPr/>
          <p:nvPr/>
        </p:nvGrpSpPr>
        <p:grpSpPr>
          <a:xfrm rot="0">
            <a:off x="857250" y="429311"/>
            <a:ext cx="16573043" cy="999896"/>
            <a:chOff x="0" y="0"/>
            <a:chExt cx="22097390" cy="1333195"/>
          </a:xfrm>
        </p:grpSpPr>
        <p:sp>
          <p:nvSpPr>
            <p:cNvPr name="Freeform 17" id="17"/>
            <p:cNvSpPr/>
            <p:nvPr/>
          </p:nvSpPr>
          <p:spPr>
            <a:xfrm flipH="false" flipV="false" rot="0">
              <a:off x="0" y="0"/>
              <a:ext cx="22097364" cy="1333246"/>
            </a:xfrm>
            <a:custGeom>
              <a:avLst/>
              <a:gdLst/>
              <a:ahLst/>
              <a:cxnLst/>
              <a:rect r="r" b="b" t="t" l="l"/>
              <a:pathLst>
                <a:path h="1333246" w="22097364">
                  <a:moveTo>
                    <a:pt x="0" y="209042"/>
                  </a:moveTo>
                  <a:cubicBezTo>
                    <a:pt x="0" y="93599"/>
                    <a:pt x="93599" y="0"/>
                    <a:pt x="209042" y="0"/>
                  </a:cubicBezTo>
                  <a:lnTo>
                    <a:pt x="21888323" y="0"/>
                  </a:lnTo>
                  <a:cubicBezTo>
                    <a:pt x="22003765" y="0"/>
                    <a:pt x="22097364" y="93599"/>
                    <a:pt x="22097364" y="209042"/>
                  </a:cubicBezTo>
                  <a:lnTo>
                    <a:pt x="22097364" y="1124204"/>
                  </a:lnTo>
                  <a:cubicBezTo>
                    <a:pt x="22097364" y="1239647"/>
                    <a:pt x="22003765" y="1333246"/>
                    <a:pt x="21888323" y="1333246"/>
                  </a:cubicBezTo>
                  <a:lnTo>
                    <a:pt x="209042" y="1333246"/>
                  </a:lnTo>
                  <a:cubicBezTo>
                    <a:pt x="93599" y="1333246"/>
                    <a:pt x="0" y="1239647"/>
                    <a:pt x="0" y="1124204"/>
                  </a:cubicBezTo>
                  <a:close/>
                </a:path>
              </a:pathLst>
            </a:custGeom>
            <a:solidFill>
              <a:srgbClr val="FFFFFF">
                <a:alpha val="90196"/>
              </a:srgbClr>
            </a:solidFill>
          </p:spPr>
        </p:sp>
      </p:grpSp>
      <p:grpSp>
        <p:nvGrpSpPr>
          <p:cNvPr name="Group 18" id="18"/>
          <p:cNvGrpSpPr/>
          <p:nvPr/>
        </p:nvGrpSpPr>
        <p:grpSpPr>
          <a:xfrm rot="0">
            <a:off x="1286561" y="571957"/>
            <a:ext cx="1899666" cy="714604"/>
            <a:chOff x="0" y="0"/>
            <a:chExt cx="2532888" cy="952805"/>
          </a:xfrm>
        </p:grpSpPr>
        <p:sp>
          <p:nvSpPr>
            <p:cNvPr name="Freeform 19" id="19" descr="preencoded.png"/>
            <p:cNvSpPr/>
            <p:nvPr/>
          </p:nvSpPr>
          <p:spPr>
            <a:xfrm flipH="false" flipV="false" rot="0">
              <a:off x="0" y="0"/>
              <a:ext cx="2532888" cy="952754"/>
            </a:xfrm>
            <a:custGeom>
              <a:avLst/>
              <a:gdLst/>
              <a:ahLst/>
              <a:cxnLst/>
              <a:rect r="r" b="b" t="t" l="l"/>
              <a:pathLst>
                <a:path h="952754" w="2532888">
                  <a:moveTo>
                    <a:pt x="0" y="0"/>
                  </a:moveTo>
                  <a:lnTo>
                    <a:pt x="2532888" y="0"/>
                  </a:lnTo>
                  <a:lnTo>
                    <a:pt x="2532888" y="952754"/>
                  </a:lnTo>
                  <a:lnTo>
                    <a:pt x="0" y="952754"/>
                  </a:lnTo>
                  <a:lnTo>
                    <a:pt x="0" y="0"/>
                  </a:lnTo>
                  <a:close/>
                </a:path>
              </a:pathLst>
            </a:custGeom>
            <a:blipFill>
              <a:blip r:embed="rId5"/>
              <a:stretch>
                <a:fillRect l="0" t="-10" r="0" b="-14"/>
              </a:stretch>
            </a:blipFill>
          </p:spPr>
        </p:sp>
      </p:grpSp>
      <p:grpSp>
        <p:nvGrpSpPr>
          <p:cNvPr name="Group 20" id="20"/>
          <p:cNvGrpSpPr/>
          <p:nvPr/>
        </p:nvGrpSpPr>
        <p:grpSpPr>
          <a:xfrm rot="0">
            <a:off x="16287750" y="571957"/>
            <a:ext cx="714604" cy="714604"/>
            <a:chOff x="0" y="0"/>
            <a:chExt cx="952805" cy="952805"/>
          </a:xfrm>
        </p:grpSpPr>
        <p:sp>
          <p:nvSpPr>
            <p:cNvPr name="Freeform 21" id="21" descr="preencoded.png"/>
            <p:cNvSpPr/>
            <p:nvPr/>
          </p:nvSpPr>
          <p:spPr>
            <a:xfrm flipH="false" flipV="false" rot="0">
              <a:off x="0" y="0"/>
              <a:ext cx="952754" cy="952754"/>
            </a:xfrm>
            <a:custGeom>
              <a:avLst/>
              <a:gdLst/>
              <a:ahLst/>
              <a:cxnLst/>
              <a:rect r="r" b="b" t="t" l="l"/>
              <a:pathLst>
                <a:path h="952754" w="952754">
                  <a:moveTo>
                    <a:pt x="0" y="0"/>
                  </a:moveTo>
                  <a:lnTo>
                    <a:pt x="952754" y="0"/>
                  </a:lnTo>
                  <a:lnTo>
                    <a:pt x="952754" y="952754"/>
                  </a:lnTo>
                  <a:lnTo>
                    <a:pt x="0" y="952754"/>
                  </a:lnTo>
                  <a:lnTo>
                    <a:pt x="0" y="0"/>
                  </a:lnTo>
                  <a:close/>
                </a:path>
              </a:pathLst>
            </a:custGeom>
            <a:blipFill>
              <a:blip r:embed="rId3"/>
              <a:stretch>
                <a:fillRect l="0" t="0" r="-5" b="-5"/>
              </a:stretch>
            </a:blipFill>
          </p:spPr>
        </p:sp>
      </p:grpSp>
      <p:grpSp>
        <p:nvGrpSpPr>
          <p:cNvPr name="Group 22" id="22"/>
          <p:cNvGrpSpPr/>
          <p:nvPr/>
        </p:nvGrpSpPr>
        <p:grpSpPr>
          <a:xfrm rot="0">
            <a:off x="1137533" y="1420711"/>
            <a:ext cx="113843" cy="614477"/>
            <a:chOff x="0" y="0"/>
            <a:chExt cx="151790" cy="819302"/>
          </a:xfrm>
        </p:grpSpPr>
        <p:sp>
          <p:nvSpPr>
            <p:cNvPr name="Freeform 23" id="23"/>
            <p:cNvSpPr/>
            <p:nvPr/>
          </p:nvSpPr>
          <p:spPr>
            <a:xfrm flipH="false" flipV="false" rot="0">
              <a:off x="0" y="0"/>
              <a:ext cx="151765" cy="819277"/>
            </a:xfrm>
            <a:custGeom>
              <a:avLst/>
              <a:gdLst/>
              <a:ahLst/>
              <a:cxnLst/>
              <a:rect r="r" b="b" t="t" l="l"/>
              <a:pathLst>
                <a:path h="819277" w="151765">
                  <a:moveTo>
                    <a:pt x="0" y="0"/>
                  </a:moveTo>
                  <a:lnTo>
                    <a:pt x="151765" y="0"/>
                  </a:lnTo>
                  <a:lnTo>
                    <a:pt x="151765" y="819277"/>
                  </a:lnTo>
                  <a:lnTo>
                    <a:pt x="0" y="819277"/>
                  </a:lnTo>
                  <a:close/>
                </a:path>
              </a:pathLst>
            </a:custGeom>
            <a:solidFill>
              <a:srgbClr val="88E555"/>
            </a:solidFill>
          </p:spPr>
        </p:sp>
      </p:grpSp>
      <p:grpSp>
        <p:nvGrpSpPr>
          <p:cNvPr name="Group 24" id="24"/>
          <p:cNvGrpSpPr/>
          <p:nvPr/>
        </p:nvGrpSpPr>
        <p:grpSpPr>
          <a:xfrm rot="0">
            <a:off x="1286561" y="1287361"/>
            <a:ext cx="12571597" cy="766726"/>
            <a:chOff x="0" y="0"/>
            <a:chExt cx="16762129" cy="1022302"/>
          </a:xfrm>
        </p:grpSpPr>
        <p:sp>
          <p:nvSpPr>
            <p:cNvPr name="Freeform 25" id="25"/>
            <p:cNvSpPr/>
            <p:nvPr/>
          </p:nvSpPr>
          <p:spPr>
            <a:xfrm flipH="false" flipV="false" rot="0">
              <a:off x="0" y="0"/>
              <a:ext cx="16762129" cy="1022301"/>
            </a:xfrm>
            <a:custGeom>
              <a:avLst/>
              <a:gdLst/>
              <a:ahLst/>
              <a:cxnLst/>
              <a:rect r="r" b="b" t="t" l="l"/>
              <a:pathLst>
                <a:path h="1022301" w="16762129">
                  <a:moveTo>
                    <a:pt x="0" y="0"/>
                  </a:moveTo>
                  <a:lnTo>
                    <a:pt x="16762129" y="0"/>
                  </a:lnTo>
                  <a:lnTo>
                    <a:pt x="16762129" y="1022301"/>
                  </a:lnTo>
                  <a:lnTo>
                    <a:pt x="0" y="1022301"/>
                  </a:lnTo>
                  <a:close/>
                </a:path>
              </a:pathLst>
            </a:custGeom>
            <a:blipFill>
              <a:blip r:embed="rId6">
                <a:alphaModFix amt="0"/>
              </a:blip>
              <a:stretch>
                <a:fillRect l="0" t="-144368" r="40506" b="-135781"/>
              </a:stretch>
            </a:blipFill>
          </p:spPr>
        </p:sp>
        <p:sp>
          <p:nvSpPr>
            <p:cNvPr name="TextBox 26" id="26"/>
            <p:cNvSpPr txBox="true"/>
            <p:nvPr/>
          </p:nvSpPr>
          <p:spPr>
            <a:xfrm>
              <a:off x="0" y="-38100"/>
              <a:ext cx="16762129" cy="1060402"/>
            </a:xfrm>
            <a:prstGeom prst="rect">
              <a:avLst/>
            </a:prstGeom>
          </p:spPr>
          <p:txBody>
            <a:bodyPr anchor="ctr" rtlCol="false" tIns="0" lIns="0" bIns="0" rIns="0"/>
            <a:lstStyle/>
            <a:p>
              <a:pPr algn="l">
                <a:lnSpc>
                  <a:spcPts val="3720"/>
                </a:lnSpc>
              </a:pPr>
              <a:r>
                <a:rPr lang="en-US" sz="3100" b="true">
                  <a:solidFill>
                    <a:srgbClr val="FFFFFF"/>
                  </a:solidFill>
                  <a:latin typeface="Poppins Bold"/>
                  <a:ea typeface="Poppins Bold"/>
                  <a:cs typeface="Poppins Bold"/>
                  <a:sym typeface="Poppins Bold"/>
                </a:rPr>
                <a:t>IMAGING &amp; GEOMETRIC VARIATION MODELLING</a:t>
              </a:r>
            </a:p>
          </p:txBody>
        </p:sp>
      </p:grpSp>
      <p:grpSp>
        <p:nvGrpSpPr>
          <p:cNvPr name="Group 27" id="27"/>
          <p:cNvGrpSpPr/>
          <p:nvPr/>
        </p:nvGrpSpPr>
        <p:grpSpPr>
          <a:xfrm rot="0">
            <a:off x="7767485" y="342976"/>
            <a:ext cx="2411054" cy="1175385"/>
            <a:chOff x="0" y="0"/>
            <a:chExt cx="3214738" cy="1567180"/>
          </a:xfrm>
        </p:grpSpPr>
        <p:sp>
          <p:nvSpPr>
            <p:cNvPr name="Freeform 28" id="28"/>
            <p:cNvSpPr/>
            <p:nvPr/>
          </p:nvSpPr>
          <p:spPr>
            <a:xfrm flipH="false" flipV="false" rot="0">
              <a:off x="0" y="0"/>
              <a:ext cx="3214751" cy="1567180"/>
            </a:xfrm>
            <a:custGeom>
              <a:avLst/>
              <a:gdLst/>
              <a:ahLst/>
              <a:cxnLst/>
              <a:rect r="r" b="b" t="t" l="l"/>
              <a:pathLst>
                <a:path h="1567180" w="3214751">
                  <a:moveTo>
                    <a:pt x="0" y="0"/>
                  </a:moveTo>
                  <a:lnTo>
                    <a:pt x="3214751" y="0"/>
                  </a:lnTo>
                  <a:lnTo>
                    <a:pt x="3214751" y="1567180"/>
                  </a:lnTo>
                  <a:lnTo>
                    <a:pt x="0" y="1567180"/>
                  </a:lnTo>
                  <a:lnTo>
                    <a:pt x="0" y="0"/>
                  </a:lnTo>
                  <a:close/>
                </a:path>
              </a:pathLst>
            </a:custGeom>
            <a:blipFill>
              <a:blip r:embed="rId7"/>
              <a:stretch>
                <a:fillRect l="0" t="0" r="0" b="0"/>
              </a:stretch>
            </a:blipFill>
          </p:spPr>
        </p:sp>
      </p:grpSp>
      <p:grpSp>
        <p:nvGrpSpPr>
          <p:cNvPr name="Group 29" id="29"/>
          <p:cNvGrpSpPr/>
          <p:nvPr/>
        </p:nvGrpSpPr>
        <p:grpSpPr>
          <a:xfrm rot="0">
            <a:off x="857250" y="115100"/>
            <a:ext cx="16573043" cy="1286561"/>
            <a:chOff x="0" y="0"/>
            <a:chExt cx="22097390" cy="1715414"/>
          </a:xfrm>
        </p:grpSpPr>
        <p:sp>
          <p:nvSpPr>
            <p:cNvPr name="Freeform 30" id="30"/>
            <p:cNvSpPr/>
            <p:nvPr/>
          </p:nvSpPr>
          <p:spPr>
            <a:xfrm flipH="false" flipV="false" rot="0">
              <a:off x="0" y="0"/>
              <a:ext cx="22097366" cy="1715389"/>
            </a:xfrm>
            <a:custGeom>
              <a:avLst/>
              <a:gdLst/>
              <a:ahLst/>
              <a:cxnLst/>
              <a:rect r="r" b="b" t="t" l="l"/>
              <a:pathLst>
                <a:path h="1715389" w="22097366">
                  <a:moveTo>
                    <a:pt x="0" y="162560"/>
                  </a:moveTo>
                  <a:cubicBezTo>
                    <a:pt x="0" y="72771"/>
                    <a:pt x="72771" y="0"/>
                    <a:pt x="162560" y="0"/>
                  </a:cubicBezTo>
                  <a:lnTo>
                    <a:pt x="21934805" y="0"/>
                  </a:lnTo>
                  <a:cubicBezTo>
                    <a:pt x="22024594" y="0"/>
                    <a:pt x="22097366" y="72771"/>
                    <a:pt x="22097366" y="162560"/>
                  </a:cubicBezTo>
                  <a:lnTo>
                    <a:pt x="22097366" y="1552829"/>
                  </a:lnTo>
                  <a:cubicBezTo>
                    <a:pt x="22097366" y="1642618"/>
                    <a:pt x="22024594" y="1715389"/>
                    <a:pt x="21934805" y="1715389"/>
                  </a:cubicBezTo>
                  <a:lnTo>
                    <a:pt x="162560" y="1715389"/>
                  </a:lnTo>
                  <a:cubicBezTo>
                    <a:pt x="72771" y="1715389"/>
                    <a:pt x="0" y="1642618"/>
                    <a:pt x="0" y="1552829"/>
                  </a:cubicBezTo>
                  <a:close/>
                </a:path>
              </a:pathLst>
            </a:custGeom>
            <a:solidFill>
              <a:srgbClr val="FFFFFF">
                <a:alpha val="90196"/>
              </a:srgbClr>
            </a:solidFill>
          </p:spPr>
        </p:sp>
      </p:grpSp>
      <p:grpSp>
        <p:nvGrpSpPr>
          <p:cNvPr name="Group 31" id="31"/>
          <p:cNvGrpSpPr/>
          <p:nvPr/>
        </p:nvGrpSpPr>
        <p:grpSpPr>
          <a:xfrm rot="0">
            <a:off x="2236394" y="318554"/>
            <a:ext cx="13745232" cy="879653"/>
            <a:chOff x="0" y="0"/>
            <a:chExt cx="18326976" cy="1172870"/>
          </a:xfrm>
        </p:grpSpPr>
        <p:sp>
          <p:nvSpPr>
            <p:cNvPr name="Freeform 32" id="32"/>
            <p:cNvSpPr/>
            <p:nvPr/>
          </p:nvSpPr>
          <p:spPr>
            <a:xfrm flipH="false" flipV="false" rot="0">
              <a:off x="0" y="0"/>
              <a:ext cx="18326988" cy="1172845"/>
            </a:xfrm>
            <a:custGeom>
              <a:avLst/>
              <a:gdLst/>
              <a:ahLst/>
              <a:cxnLst/>
              <a:rect r="r" b="b" t="t" l="l"/>
              <a:pathLst>
                <a:path h="1172845" w="18326988">
                  <a:moveTo>
                    <a:pt x="0" y="0"/>
                  </a:moveTo>
                  <a:lnTo>
                    <a:pt x="18326988" y="0"/>
                  </a:lnTo>
                  <a:lnTo>
                    <a:pt x="18326988" y="1172845"/>
                  </a:lnTo>
                  <a:lnTo>
                    <a:pt x="0" y="1172845"/>
                  </a:lnTo>
                  <a:lnTo>
                    <a:pt x="0" y="0"/>
                  </a:lnTo>
                  <a:close/>
                </a:path>
              </a:pathLst>
            </a:custGeom>
            <a:blipFill>
              <a:blip r:embed="rId8"/>
              <a:stretch>
                <a:fillRect l="0" t="-2" r="0" b="-4"/>
              </a:stretch>
            </a:blipFill>
          </p:spPr>
        </p:sp>
      </p:grpSp>
      <p:graphicFrame>
        <p:nvGraphicFramePr>
          <p:cNvPr name="Table 33" id="33"/>
          <p:cNvGraphicFramePr>
            <a:graphicFrameLocks noGrp="true"/>
          </p:cNvGraphicFramePr>
          <p:nvPr/>
        </p:nvGraphicFramePr>
        <p:xfrm>
          <a:off x="512266" y="5668419"/>
          <a:ext cx="6596057" cy="4239986"/>
        </p:xfrm>
        <a:graphic>
          <a:graphicData uri="http://schemas.openxmlformats.org/drawingml/2006/table">
            <a:tbl>
              <a:tblPr/>
              <a:tblGrid>
                <a:gridCol w="1883908"/>
                <a:gridCol w="4712149"/>
              </a:tblGrid>
              <a:tr h="585103">
                <a:tc>
                  <a:txBody>
                    <a:bodyPr anchor="t" rtlCol="false"/>
                    <a:lstStyle/>
                    <a:p>
                      <a:pPr algn="ctr">
                        <a:lnSpc>
                          <a:spcPts val="2100"/>
                        </a:lnSpc>
                        <a:defRPr/>
                      </a:pPr>
                      <a:r>
                        <a:rPr lang="en-US" b="true" sz="1500">
                          <a:solidFill>
                            <a:srgbClr val="000000"/>
                          </a:solidFill>
                          <a:latin typeface="Canva Sans Bold"/>
                          <a:ea typeface="Canva Sans Bold"/>
                          <a:cs typeface="Canva Sans Bold"/>
                          <a:sym typeface="Canva Sans Bold"/>
                        </a:rPr>
                        <a:t>VARIATION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solidFill>
                      <a:srgbClr val="F2F2F2"/>
                    </a:solidFill>
                  </a:tcPr>
                </a:tc>
                <a:tc>
                  <a:txBody>
                    <a:bodyPr anchor="t" rtlCol="false"/>
                    <a:lstStyle/>
                    <a:p>
                      <a:pPr algn="ctr">
                        <a:lnSpc>
                          <a:spcPts val="2100"/>
                        </a:lnSpc>
                        <a:defRPr/>
                      </a:pPr>
                      <a:r>
                        <a:rPr lang="en-US" b="true" sz="1500">
                          <a:solidFill>
                            <a:srgbClr val="000000"/>
                          </a:solidFill>
                          <a:latin typeface="Canva Sans Bold"/>
                          <a:ea typeface="Canva Sans Bold"/>
                          <a:cs typeface="Canva Sans Bold"/>
                          <a:sym typeface="Canva Sans Bold"/>
                        </a:rPr>
                        <a:t>MODELLING</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solidFill>
                      <a:srgbClr val="F2F2F2"/>
                    </a:solidFill>
                  </a:tcPr>
                </a:tc>
              </a:tr>
              <a:tr h="511375">
                <a:tc>
                  <a:txBody>
                    <a:bodyPr anchor="t" rtlCol="false"/>
                    <a:lstStyle/>
                    <a:p>
                      <a:pPr algn="l">
                        <a:lnSpc>
                          <a:spcPts val="2100"/>
                        </a:lnSpc>
                        <a:defRPr/>
                      </a:pPr>
                      <a:r>
                        <a:rPr lang="en-US" sz="1500">
                          <a:solidFill>
                            <a:srgbClr val="FFFFFF"/>
                          </a:solidFill>
                          <a:latin typeface="Canva Sans"/>
                          <a:ea typeface="Canva Sans"/>
                          <a:cs typeface="Canva Sans"/>
                          <a:sym typeface="Canva Sans"/>
                        </a:rPr>
                        <a:t>Rotation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Controlled pose variation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628702">
                <a:tc>
                  <a:txBody>
                    <a:bodyPr anchor="t" rtlCol="false"/>
                    <a:lstStyle/>
                    <a:p>
                      <a:pPr algn="l">
                        <a:lnSpc>
                          <a:spcPts val="2100"/>
                        </a:lnSpc>
                        <a:defRPr/>
                      </a:pPr>
                      <a:r>
                        <a:rPr lang="en-US" sz="1500">
                          <a:solidFill>
                            <a:srgbClr val="FFFFFF"/>
                          </a:solidFill>
                          <a:latin typeface="Canva Sans"/>
                          <a:ea typeface="Canva Sans"/>
                          <a:cs typeface="Canva Sans"/>
                          <a:sym typeface="Canva Sans"/>
                        </a:rPr>
                        <a:t>Scale</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Imaging scale variation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628702">
                <a:tc>
                  <a:txBody>
                    <a:bodyPr anchor="t" rtlCol="false"/>
                    <a:lstStyle/>
                    <a:p>
                      <a:pPr algn="l">
                        <a:lnSpc>
                          <a:spcPts val="2100"/>
                        </a:lnSpc>
                        <a:defRPr/>
                      </a:pPr>
                      <a:r>
                        <a:rPr lang="en-US" sz="1500">
                          <a:solidFill>
                            <a:srgbClr val="FFFFFF"/>
                          </a:solidFill>
                          <a:latin typeface="Canva Sans"/>
                          <a:ea typeface="Canva Sans"/>
                          <a:cs typeface="Canva Sans"/>
                          <a:sym typeface="Canva Sans"/>
                        </a:rPr>
                        <a:t>Noise</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Independent reference / target noise</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628702">
                <a:tc>
                  <a:txBody>
                    <a:bodyPr anchor="t" rtlCol="false"/>
                    <a:lstStyle/>
                    <a:p>
                      <a:pPr algn="l">
                        <a:lnSpc>
                          <a:spcPts val="2100"/>
                        </a:lnSpc>
                        <a:defRPr/>
                      </a:pPr>
                      <a:r>
                        <a:rPr lang="en-US" sz="1500">
                          <a:solidFill>
                            <a:srgbClr val="FFFFFF"/>
                          </a:solidFill>
                          <a:latin typeface="Canva Sans"/>
                          <a:ea typeface="Canva Sans"/>
                          <a:cs typeface="Canva Sans"/>
                          <a:sym typeface="Canva Sans"/>
                        </a:rPr>
                        <a:t>Blur / PSF</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Independent imaging blur</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628702">
                <a:tc>
                  <a:txBody>
                    <a:bodyPr anchor="t" rtlCol="false"/>
                    <a:lstStyle/>
                    <a:p>
                      <a:pPr algn="l">
                        <a:lnSpc>
                          <a:spcPts val="2100"/>
                        </a:lnSpc>
                        <a:defRPr/>
                      </a:pPr>
                      <a:r>
                        <a:rPr lang="en-US" sz="1500">
                          <a:solidFill>
                            <a:srgbClr val="FFFFFF"/>
                          </a:solidFill>
                          <a:latin typeface="Canva Sans"/>
                          <a:ea typeface="Canva Sans"/>
                          <a:cs typeface="Canva Sans"/>
                          <a:sym typeface="Canva Sans"/>
                        </a:rPr>
                        <a:t>Edge Response</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SEM-inspired edge brightening</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628702">
                <a:tc>
                  <a:txBody>
                    <a:bodyPr anchor="t" rtlCol="false"/>
                    <a:lstStyle/>
                    <a:p>
                      <a:pPr algn="l">
                        <a:lnSpc>
                          <a:spcPts val="2100"/>
                        </a:lnSpc>
                        <a:defRPr/>
                      </a:pPr>
                      <a:r>
                        <a:rPr lang="en-US" sz="1500">
                          <a:solidFill>
                            <a:srgbClr val="FFFFFF"/>
                          </a:solidFill>
                          <a:latin typeface="Canva Sans"/>
                          <a:ea typeface="Canva Sans"/>
                          <a:cs typeface="Canva Sans"/>
                          <a:sym typeface="Canva Sans"/>
                        </a:rPr>
                        <a:t>Resampling</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Super-sampled area-average downsampling</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bl>
          </a:graphicData>
        </a:graphic>
      </p:graphicFrame>
      <p:sp>
        <p:nvSpPr>
          <p:cNvPr name="TextBox 34" id="34"/>
          <p:cNvSpPr txBox="true"/>
          <p:nvPr/>
        </p:nvSpPr>
        <p:spPr>
          <a:xfrm rot="0">
            <a:off x="626558" y="2769679"/>
            <a:ext cx="6481765" cy="1733550"/>
          </a:xfrm>
          <a:prstGeom prst="rect">
            <a:avLst/>
          </a:prstGeom>
        </p:spPr>
        <p:txBody>
          <a:bodyPr anchor="t" rtlCol="false" tIns="0" lIns="0" bIns="0" rIns="0">
            <a:spAutoFit/>
          </a:bodyPr>
          <a:lstStyle/>
          <a:p>
            <a:pPr algn="l" marL="410221" indent="-205110" lvl="1">
              <a:lnSpc>
                <a:spcPts val="2280"/>
              </a:lnSpc>
              <a:buFont typeface="Arial"/>
              <a:buChar char="•"/>
            </a:pPr>
            <a:r>
              <a:rPr lang="en-US" b="true" sz="1900">
                <a:solidFill>
                  <a:srgbClr val="FFFFFF"/>
                </a:solidFill>
                <a:latin typeface="Poppins Bold"/>
                <a:ea typeface="Poppins Bold"/>
                <a:cs typeface="Poppins Bold"/>
                <a:sym typeface="Poppins Bold"/>
              </a:rPr>
              <a:t>ANTI-ALIASING VALIDATION</a:t>
            </a:r>
          </a:p>
          <a:p>
            <a:pPr algn="l">
              <a:lnSpc>
                <a:spcPts val="2280"/>
              </a:lnSpc>
            </a:pPr>
            <a:r>
              <a:rPr lang="en-US" sz="1900">
                <a:solidFill>
                  <a:srgbClr val="FFFFFF"/>
                </a:solidFill>
                <a:latin typeface="Poppins"/>
                <a:ea typeface="Poppins"/>
                <a:cs typeface="Poppins"/>
                <a:sym typeface="Poppins"/>
              </a:rPr>
              <a:t>        MAE: 0.0124 | PSNR: 41.2 dB</a:t>
            </a:r>
          </a:p>
          <a:p>
            <a:pPr algn="l">
              <a:lnSpc>
                <a:spcPts val="2280"/>
              </a:lnSpc>
            </a:pPr>
          </a:p>
          <a:p>
            <a:pPr algn="l" marL="410221" indent="-205110" lvl="1">
              <a:lnSpc>
                <a:spcPts val="2280"/>
              </a:lnSpc>
              <a:buFont typeface="Arial"/>
              <a:buChar char="•"/>
            </a:pPr>
            <a:r>
              <a:rPr lang="en-US" b="true" sz="1900">
                <a:solidFill>
                  <a:srgbClr val="FFFFFF"/>
                </a:solidFill>
                <a:latin typeface="Poppins Bold"/>
                <a:ea typeface="Poppins Bold"/>
                <a:cs typeface="Poppins Bold"/>
                <a:sym typeface="Poppins Bold"/>
              </a:rPr>
              <a:t>OPTICAL INPUT</a:t>
            </a:r>
          </a:p>
          <a:p>
            <a:pPr algn="l">
              <a:lnSpc>
                <a:spcPts val="2280"/>
              </a:lnSpc>
            </a:pPr>
            <a:r>
              <a:rPr lang="en-US" sz="1900">
                <a:solidFill>
                  <a:srgbClr val="FFFFFF"/>
                </a:solidFill>
                <a:latin typeface="Poppins"/>
                <a:ea typeface="Poppins"/>
                <a:cs typeface="Poppins"/>
                <a:sym typeface="Poppins"/>
              </a:rPr>
              <a:t>        RGB → ITU-R BT.601 Luminance → Grayscale </a:t>
            </a:r>
          </a:p>
          <a:p>
            <a:pPr algn="l">
              <a:lnSpc>
                <a:spcPts val="2280"/>
              </a:lnSpc>
            </a:pPr>
            <a:r>
              <a:rPr lang="en-US" sz="1900">
                <a:solidFill>
                  <a:srgbClr val="FFFFFF"/>
                </a:solidFill>
                <a:latin typeface="Poppins"/>
                <a:ea typeface="Poppins"/>
                <a:cs typeface="Poppins"/>
                <a:sym typeface="Poppins"/>
              </a:rPr>
              <a:t>        Registration</a:t>
            </a:r>
          </a:p>
        </p:txBody>
      </p:sp>
      <p:grpSp>
        <p:nvGrpSpPr>
          <p:cNvPr name="Group 35" id="35"/>
          <p:cNvGrpSpPr/>
          <p:nvPr/>
        </p:nvGrpSpPr>
        <p:grpSpPr>
          <a:xfrm rot="0">
            <a:off x="626558" y="2407729"/>
            <a:ext cx="6455541" cy="2565325"/>
            <a:chOff x="0" y="0"/>
            <a:chExt cx="8607388" cy="3420434"/>
          </a:xfrm>
        </p:grpSpPr>
        <p:sp>
          <p:nvSpPr>
            <p:cNvPr name="Freeform 36" id="36"/>
            <p:cNvSpPr/>
            <p:nvPr/>
          </p:nvSpPr>
          <p:spPr>
            <a:xfrm flipH="false" flipV="false" rot="0">
              <a:off x="0" y="0"/>
              <a:ext cx="8607378" cy="3420405"/>
            </a:xfrm>
            <a:custGeom>
              <a:avLst/>
              <a:gdLst/>
              <a:ahLst/>
              <a:cxnLst/>
              <a:rect r="r" b="b" t="t" l="l"/>
              <a:pathLst>
                <a:path h="3420405" w="8607378">
                  <a:moveTo>
                    <a:pt x="0" y="22978"/>
                  </a:moveTo>
                  <a:cubicBezTo>
                    <a:pt x="0" y="10276"/>
                    <a:pt x="10673" y="0"/>
                    <a:pt x="23866" y="0"/>
                  </a:cubicBezTo>
                  <a:lnTo>
                    <a:pt x="8583512" y="0"/>
                  </a:lnTo>
                  <a:cubicBezTo>
                    <a:pt x="8596705" y="0"/>
                    <a:pt x="8607378" y="10276"/>
                    <a:pt x="8607378" y="22978"/>
                  </a:cubicBezTo>
                  <a:lnTo>
                    <a:pt x="8607378" y="3397427"/>
                  </a:lnTo>
                  <a:cubicBezTo>
                    <a:pt x="8607378" y="3410129"/>
                    <a:pt x="8596705" y="3420405"/>
                    <a:pt x="8583512" y="3420405"/>
                  </a:cubicBezTo>
                  <a:lnTo>
                    <a:pt x="23866" y="3420405"/>
                  </a:lnTo>
                  <a:cubicBezTo>
                    <a:pt x="10673" y="3420405"/>
                    <a:pt x="0" y="3410129"/>
                    <a:pt x="0" y="3397427"/>
                  </a:cubicBezTo>
                  <a:close/>
                </a:path>
              </a:pathLst>
            </a:custGeom>
            <a:solidFill>
              <a:srgbClr val="FFFFFF">
                <a:alpha val="0"/>
              </a:srgbClr>
            </a:solidFill>
            <a:ln w="19050" cap="sq">
              <a:solidFill>
                <a:srgbClr val="88E555"/>
              </a:solidFill>
              <a:prstDash val="solid"/>
              <a:miter/>
            </a:ln>
          </p:spPr>
        </p:sp>
      </p:grpSp>
      <p:graphicFrame>
        <p:nvGraphicFramePr>
          <p:cNvPr name="Table 37" id="37"/>
          <p:cNvGraphicFramePr>
            <a:graphicFrameLocks noGrp="true"/>
          </p:cNvGraphicFramePr>
          <p:nvPr/>
        </p:nvGraphicFramePr>
        <p:xfrm>
          <a:off x="8041762" y="2407729"/>
          <a:ext cx="9842870" cy="7500675"/>
        </p:xfrm>
        <a:graphic>
          <a:graphicData uri="http://schemas.openxmlformats.org/drawingml/2006/table">
            <a:tbl>
              <a:tblPr/>
              <a:tblGrid>
                <a:gridCol w="3280957"/>
                <a:gridCol w="3280957"/>
                <a:gridCol w="3280957"/>
              </a:tblGrid>
              <a:tr h="628390">
                <a:tc>
                  <a:txBody>
                    <a:bodyPr anchor="t" rtlCol="false"/>
                    <a:lstStyle/>
                    <a:p>
                      <a:pPr algn="ctr">
                        <a:lnSpc>
                          <a:spcPts val="2100"/>
                        </a:lnSpc>
                        <a:defRPr/>
                      </a:pPr>
                      <a:r>
                        <a:rPr lang="en-US" b="true" sz="1500">
                          <a:solidFill>
                            <a:srgbClr val="000000"/>
                          </a:solidFill>
                          <a:latin typeface="Canva Sans Bold"/>
                          <a:ea typeface="Canva Sans Bold"/>
                          <a:cs typeface="Canva Sans Bold"/>
                          <a:sym typeface="Canva Sans Bold"/>
                        </a:rPr>
                        <a:t>VARIATION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solidFill>
                      <a:srgbClr val="F2F2F2"/>
                    </a:solidFill>
                  </a:tcPr>
                </a:tc>
                <a:tc>
                  <a:txBody>
                    <a:bodyPr anchor="t" rtlCol="false"/>
                    <a:lstStyle/>
                    <a:p>
                      <a:pPr algn="ctr">
                        <a:lnSpc>
                          <a:spcPts val="2100"/>
                        </a:lnSpc>
                        <a:defRPr/>
                      </a:pPr>
                      <a:r>
                        <a:rPr lang="en-US" b="true" sz="1500">
                          <a:solidFill>
                            <a:srgbClr val="000000"/>
                          </a:solidFill>
                          <a:latin typeface="Canva Sans Bold"/>
                          <a:ea typeface="Canva Sans Bold"/>
                          <a:cs typeface="Canva Sans Bold"/>
                          <a:sym typeface="Canva Sans Bold"/>
                        </a:rPr>
                        <a:t>IMPLEMENTATION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solidFill>
                      <a:srgbClr val="F2F2F2"/>
                    </a:solidFill>
                  </a:tcPr>
                </a:tc>
                <a:tc>
                  <a:txBody>
                    <a:bodyPr anchor="t" rtlCol="false"/>
                    <a:lstStyle/>
                    <a:p>
                      <a:pPr algn="ctr">
                        <a:lnSpc>
                          <a:spcPts val="2100"/>
                        </a:lnSpc>
                        <a:defRPr/>
                      </a:pPr>
                      <a:r>
                        <a:rPr lang="en-US" b="true" sz="1500">
                          <a:solidFill>
                            <a:srgbClr val="000000"/>
                          </a:solidFill>
                          <a:latin typeface="Canva Sans Bold"/>
                          <a:ea typeface="Canva Sans Bold"/>
                          <a:cs typeface="Canva Sans Bold"/>
                          <a:sym typeface="Canva Sans Bold"/>
                        </a:rPr>
                        <a:t>PHASE 2 CONDITION / RESULT</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solidFill>
                      <a:srgbClr val="F2F2F2"/>
                    </a:solidFill>
                  </a:tcPr>
                </a:tc>
              </a:tr>
              <a:tr h="859036">
                <a:tc>
                  <a:txBody>
                    <a:bodyPr anchor="t" rtlCol="false"/>
                    <a:lstStyle/>
                    <a:p>
                      <a:pPr algn="l">
                        <a:lnSpc>
                          <a:spcPts val="2100"/>
                        </a:lnSpc>
                        <a:defRPr/>
                      </a:pPr>
                      <a:r>
                        <a:rPr lang="en-US" sz="1500">
                          <a:solidFill>
                            <a:srgbClr val="FFFFFF"/>
                          </a:solidFill>
                          <a:latin typeface="Canva Sans"/>
                          <a:ea typeface="Canva Sans"/>
                          <a:cs typeface="Canva Sans"/>
                          <a:sym typeface="Canva Sans"/>
                        </a:rPr>
                        <a:t>Scale Drift</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Continuous multi-scale variation with correspondence preserved</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z = 0.080–0.125 / 8.0–12.5 nm/px</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859036">
                <a:tc>
                  <a:txBody>
                    <a:bodyPr anchor="t" rtlCol="false"/>
                    <a:lstStyle/>
                    <a:p>
                      <a:pPr algn="l">
                        <a:lnSpc>
                          <a:spcPts val="2100"/>
                        </a:lnSpc>
                        <a:defRPr/>
                      </a:pPr>
                      <a:r>
                        <a:rPr lang="en-US" sz="1500">
                          <a:solidFill>
                            <a:srgbClr val="FFFFFF"/>
                          </a:solidFill>
                          <a:latin typeface="Canva Sans"/>
                          <a:ea typeface="Canva Sans"/>
                          <a:cs typeface="Canva Sans"/>
                          <a:sym typeface="Canva Sans"/>
                        </a:rPr>
                        <a:t>Rotation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Continuous paired geometric rotation with GT transformation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θ = −10° to +10°</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859036">
                <a:tc>
                  <a:txBody>
                    <a:bodyPr anchor="t" rtlCol="false"/>
                    <a:lstStyle/>
                    <a:p>
                      <a:pPr algn="l">
                        <a:lnSpc>
                          <a:spcPts val="2100"/>
                        </a:lnSpc>
                        <a:defRPr/>
                      </a:pPr>
                      <a:r>
                        <a:rPr lang="en-US" sz="1500">
                          <a:solidFill>
                            <a:srgbClr val="FFFFFF"/>
                          </a:solidFill>
                          <a:latin typeface="Canva Sans"/>
                          <a:ea typeface="Canva Sans"/>
                          <a:cs typeface="Canva Sans"/>
                          <a:sym typeface="Canva Sans"/>
                        </a:rPr>
                        <a:t>Shot Noise</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Low-dose Poisson–Gaussian electron noise</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σ = 25–35, SNR &lt; 2 dB</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859036">
                <a:tc>
                  <a:txBody>
                    <a:bodyPr anchor="t" rtlCol="false"/>
                    <a:lstStyle/>
                    <a:p>
                      <a:pPr algn="l">
                        <a:lnSpc>
                          <a:spcPts val="2100"/>
                        </a:lnSpc>
                        <a:defRPr/>
                      </a:pPr>
                      <a:r>
                        <a:rPr lang="en-US" sz="1500">
                          <a:solidFill>
                            <a:srgbClr val="FFFFFF"/>
                          </a:solidFill>
                          <a:latin typeface="Canva Sans"/>
                          <a:ea typeface="Canva Sans"/>
                          <a:cs typeface="Canva Sans"/>
                          <a:sym typeface="Canva Sans"/>
                        </a:rPr>
                        <a:t>Charging / Streaks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Non-linear horizontal potential-gradient distortion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DC baseline shift modelled</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859036">
                <a:tc>
                  <a:txBody>
                    <a:bodyPr anchor="t" rtlCol="false"/>
                    <a:lstStyle/>
                    <a:p>
                      <a:pPr algn="l">
                        <a:lnSpc>
                          <a:spcPts val="2100"/>
                        </a:lnSpc>
                        <a:defRPr/>
                      </a:pPr>
                      <a:r>
                        <a:rPr lang="en-US" sz="1500">
                          <a:solidFill>
                            <a:srgbClr val="FFFFFF"/>
                          </a:solidFill>
                          <a:latin typeface="Canva Sans"/>
                          <a:ea typeface="Canva Sans"/>
                          <a:cs typeface="Canva Sans"/>
                          <a:sym typeface="Canva Sans"/>
                        </a:rPr>
                        <a:t>Target-Absent Decoys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Empty / unrelated wafer fields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20% decoy rate</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859036">
                <a:tc>
                  <a:txBody>
                    <a:bodyPr anchor="t" rtlCol="false"/>
                    <a:lstStyle/>
                    <a:p>
                      <a:pPr algn="l">
                        <a:lnSpc>
                          <a:spcPts val="2100"/>
                        </a:lnSpc>
                        <a:defRPr/>
                      </a:pPr>
                      <a:r>
                        <a:rPr lang="en-US" sz="1500">
                          <a:solidFill>
                            <a:srgbClr val="FFFFFF"/>
                          </a:solidFill>
                          <a:latin typeface="Canva Sans"/>
                          <a:ea typeface="Canva Sans"/>
                          <a:cs typeface="Canva Sans"/>
                          <a:sym typeface="Canva Sans"/>
                        </a:rPr>
                        <a:t>RGB Optical</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3-channel optical wafer analogue</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3-channel RGB, chromatic shift up to 1.42 px</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859036">
                <a:tc>
                  <a:txBody>
                    <a:bodyPr anchor="t" rtlCol="false"/>
                    <a:lstStyle/>
                    <a:p>
                      <a:pPr algn="l">
                        <a:lnSpc>
                          <a:spcPts val="2100"/>
                        </a:lnSpc>
                        <a:defRPr/>
                      </a:pPr>
                      <a:r>
                        <a:rPr lang="en-US" sz="1500">
                          <a:solidFill>
                            <a:srgbClr val="FFFFFF"/>
                          </a:solidFill>
                          <a:latin typeface="Canva Sans"/>
                          <a:ea typeface="Canva Sans"/>
                          <a:cs typeface="Canva Sans"/>
                          <a:sym typeface="Canva Sans"/>
                        </a:rPr>
                        <a:t>Resampling</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Super-sampled area-average downsampling</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Anti-aliasing validated: MAE 0.0124, PSNR 41.2 dB</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859036">
                <a:tc>
                  <a:txBody>
                    <a:bodyPr anchor="t" rtlCol="false"/>
                    <a:lstStyle/>
                    <a:p>
                      <a:pPr algn="l">
                        <a:lnSpc>
                          <a:spcPts val="2100"/>
                        </a:lnSpc>
                        <a:defRPr/>
                      </a:pPr>
                      <a:r>
                        <a:rPr lang="en-US" sz="1500">
                          <a:solidFill>
                            <a:srgbClr val="FFFFFF"/>
                          </a:solidFill>
                          <a:latin typeface="Canva Sans"/>
                          <a:ea typeface="Canva Sans"/>
                          <a:cs typeface="Canva Sans"/>
                          <a:sym typeface="Canva Sans"/>
                        </a:rPr>
                        <a:t>Ground Truth</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Exact transformed (x, y) coordinates and target status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Known GT for every evaluated pair</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bl>
          </a:graphicData>
        </a:graphic>
      </p:graphicFrame>
      <p:sp>
        <p:nvSpPr>
          <p:cNvPr name="TextBox 38" id="38"/>
          <p:cNvSpPr txBox="true"/>
          <p:nvPr/>
        </p:nvSpPr>
        <p:spPr>
          <a:xfrm rot="0">
            <a:off x="1286561" y="5173080"/>
            <a:ext cx="5261928" cy="285750"/>
          </a:xfrm>
          <a:prstGeom prst="rect">
            <a:avLst/>
          </a:prstGeom>
        </p:spPr>
        <p:txBody>
          <a:bodyPr anchor="t" rtlCol="false" tIns="0" lIns="0" bIns="0" rIns="0">
            <a:spAutoFit/>
          </a:bodyPr>
          <a:lstStyle/>
          <a:p>
            <a:pPr algn="ctr">
              <a:lnSpc>
                <a:spcPts val="2160"/>
              </a:lnSpc>
              <a:spcBef>
                <a:spcPct val="0"/>
              </a:spcBef>
            </a:pPr>
            <a:r>
              <a:rPr lang="en-US" b="true" sz="1800">
                <a:solidFill>
                  <a:srgbClr val="FFFFFF"/>
                </a:solidFill>
                <a:latin typeface="Poppins Bold"/>
                <a:ea typeface="Poppins Bold"/>
                <a:cs typeface="Poppins Bold"/>
                <a:sym typeface="Poppins Bold"/>
              </a:rPr>
              <a:t>CONTROLLED IMAGING VARIATION MODELLING</a:t>
            </a:r>
          </a:p>
        </p:txBody>
      </p:sp>
      <p:sp>
        <p:nvSpPr>
          <p:cNvPr name="TextBox 39" id="39"/>
          <p:cNvSpPr txBox="true"/>
          <p:nvPr/>
        </p:nvSpPr>
        <p:spPr>
          <a:xfrm rot="0">
            <a:off x="10066471" y="2035037"/>
            <a:ext cx="6027579" cy="285750"/>
          </a:xfrm>
          <a:prstGeom prst="rect">
            <a:avLst/>
          </a:prstGeom>
        </p:spPr>
        <p:txBody>
          <a:bodyPr anchor="t" rtlCol="false" tIns="0" lIns="0" bIns="0" rIns="0">
            <a:spAutoFit/>
          </a:bodyPr>
          <a:lstStyle/>
          <a:p>
            <a:pPr algn="ctr">
              <a:lnSpc>
                <a:spcPts val="2160"/>
              </a:lnSpc>
              <a:spcBef>
                <a:spcPct val="0"/>
              </a:spcBef>
            </a:pPr>
            <a:r>
              <a:rPr lang="en-US" b="true" sz="1800">
                <a:solidFill>
                  <a:srgbClr val="FFFFFF"/>
                </a:solidFill>
                <a:latin typeface="Poppins Bold"/>
                <a:ea typeface="Poppins Bold"/>
                <a:cs typeface="Poppins Bold"/>
                <a:sym typeface="Poppins Bold"/>
              </a:rPr>
              <a:t>PHASE 2 PHYSICAL VARIATION &amp; STRESS CONDITIONS</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543" cy="10287000"/>
            <a:chOff x="0" y="0"/>
            <a:chExt cx="24383390" cy="13716000"/>
          </a:xfrm>
        </p:grpSpPr>
        <p:sp>
          <p:nvSpPr>
            <p:cNvPr name="Freeform 3" id="3"/>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close/>
                </a:path>
              </a:pathLst>
            </a:custGeom>
            <a:solidFill>
              <a:srgbClr val="000036"/>
            </a:solidFill>
          </p:spPr>
        </p:sp>
      </p:grpSp>
      <p:grpSp>
        <p:nvGrpSpPr>
          <p:cNvPr name="Group 4" id="4"/>
          <p:cNvGrpSpPr/>
          <p:nvPr/>
        </p:nvGrpSpPr>
        <p:grpSpPr>
          <a:xfrm rot="0">
            <a:off x="0" y="0"/>
            <a:ext cx="18287543" cy="10287000"/>
            <a:chOff x="0" y="0"/>
            <a:chExt cx="24383390" cy="13716000"/>
          </a:xfrm>
        </p:grpSpPr>
        <p:sp>
          <p:nvSpPr>
            <p:cNvPr name="Freeform 5" id="5" descr="preencoded.png"/>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lnTo>
                    <a:pt x="0" y="0"/>
                  </a:lnTo>
                  <a:close/>
                </a:path>
              </a:pathLst>
            </a:custGeom>
            <a:blipFill>
              <a:blip r:embed="rId2">
                <a:alphaModFix amt="15000"/>
              </a:blip>
              <a:stretch>
                <a:fillRect l="-16360" t="0" r="-16361" b="0"/>
              </a:stretch>
            </a:blipFill>
          </p:spPr>
        </p:sp>
      </p:grpSp>
      <p:grpSp>
        <p:nvGrpSpPr>
          <p:cNvPr name="Group 6" id="6"/>
          <p:cNvGrpSpPr/>
          <p:nvPr/>
        </p:nvGrpSpPr>
        <p:grpSpPr>
          <a:xfrm rot="0">
            <a:off x="857250" y="429311"/>
            <a:ext cx="16573043" cy="999896"/>
            <a:chOff x="0" y="0"/>
            <a:chExt cx="22097390" cy="1333195"/>
          </a:xfrm>
        </p:grpSpPr>
        <p:sp>
          <p:nvSpPr>
            <p:cNvPr name="Freeform 7" id="7"/>
            <p:cNvSpPr/>
            <p:nvPr/>
          </p:nvSpPr>
          <p:spPr>
            <a:xfrm flipH="false" flipV="false" rot="0">
              <a:off x="0" y="0"/>
              <a:ext cx="22097364" cy="1333246"/>
            </a:xfrm>
            <a:custGeom>
              <a:avLst/>
              <a:gdLst/>
              <a:ahLst/>
              <a:cxnLst/>
              <a:rect r="r" b="b" t="t" l="l"/>
              <a:pathLst>
                <a:path h="1333246" w="22097364">
                  <a:moveTo>
                    <a:pt x="0" y="209042"/>
                  </a:moveTo>
                  <a:cubicBezTo>
                    <a:pt x="0" y="93599"/>
                    <a:pt x="93599" y="0"/>
                    <a:pt x="209042" y="0"/>
                  </a:cubicBezTo>
                  <a:lnTo>
                    <a:pt x="21888323" y="0"/>
                  </a:lnTo>
                  <a:cubicBezTo>
                    <a:pt x="22003765" y="0"/>
                    <a:pt x="22097364" y="93599"/>
                    <a:pt x="22097364" y="209042"/>
                  </a:cubicBezTo>
                  <a:lnTo>
                    <a:pt x="22097364" y="1124204"/>
                  </a:lnTo>
                  <a:cubicBezTo>
                    <a:pt x="22097364" y="1239647"/>
                    <a:pt x="22003765" y="1333246"/>
                    <a:pt x="21888323" y="1333246"/>
                  </a:cubicBezTo>
                  <a:lnTo>
                    <a:pt x="209042" y="1333246"/>
                  </a:lnTo>
                  <a:cubicBezTo>
                    <a:pt x="93599" y="1333246"/>
                    <a:pt x="0" y="1239647"/>
                    <a:pt x="0" y="1124204"/>
                  </a:cubicBezTo>
                  <a:close/>
                </a:path>
              </a:pathLst>
            </a:custGeom>
            <a:solidFill>
              <a:srgbClr val="FFFFFF">
                <a:alpha val="90196"/>
              </a:srgbClr>
            </a:solidFill>
          </p:spPr>
        </p:sp>
      </p:grpSp>
      <p:grpSp>
        <p:nvGrpSpPr>
          <p:cNvPr name="Group 8" id="8"/>
          <p:cNvGrpSpPr/>
          <p:nvPr/>
        </p:nvGrpSpPr>
        <p:grpSpPr>
          <a:xfrm rot="0">
            <a:off x="16287750" y="571957"/>
            <a:ext cx="714604" cy="714604"/>
            <a:chOff x="0" y="0"/>
            <a:chExt cx="952805" cy="952805"/>
          </a:xfrm>
        </p:grpSpPr>
        <p:sp>
          <p:nvSpPr>
            <p:cNvPr name="Freeform 9" id="9" descr="preencoded.png"/>
            <p:cNvSpPr/>
            <p:nvPr/>
          </p:nvSpPr>
          <p:spPr>
            <a:xfrm flipH="false" flipV="false" rot="0">
              <a:off x="0" y="0"/>
              <a:ext cx="952754" cy="952754"/>
            </a:xfrm>
            <a:custGeom>
              <a:avLst/>
              <a:gdLst/>
              <a:ahLst/>
              <a:cxnLst/>
              <a:rect r="r" b="b" t="t" l="l"/>
              <a:pathLst>
                <a:path h="952754" w="952754">
                  <a:moveTo>
                    <a:pt x="0" y="0"/>
                  </a:moveTo>
                  <a:lnTo>
                    <a:pt x="952754" y="0"/>
                  </a:lnTo>
                  <a:lnTo>
                    <a:pt x="952754" y="952754"/>
                  </a:lnTo>
                  <a:lnTo>
                    <a:pt x="0" y="952754"/>
                  </a:lnTo>
                  <a:lnTo>
                    <a:pt x="0" y="0"/>
                  </a:lnTo>
                  <a:close/>
                </a:path>
              </a:pathLst>
            </a:custGeom>
            <a:blipFill>
              <a:blip r:embed="rId3"/>
              <a:stretch>
                <a:fillRect l="0" t="0" r="-5" b="-5"/>
              </a:stretch>
            </a:blipFill>
          </p:spPr>
        </p:sp>
      </p:grpSp>
      <p:grpSp>
        <p:nvGrpSpPr>
          <p:cNvPr name="Group 10" id="10"/>
          <p:cNvGrpSpPr/>
          <p:nvPr/>
        </p:nvGrpSpPr>
        <p:grpSpPr>
          <a:xfrm rot="0">
            <a:off x="1137533" y="571957"/>
            <a:ext cx="8618220" cy="701040"/>
            <a:chOff x="0" y="0"/>
            <a:chExt cx="11490960" cy="934720"/>
          </a:xfrm>
        </p:grpSpPr>
        <p:sp>
          <p:nvSpPr>
            <p:cNvPr name="Freeform 11" id="11"/>
            <p:cNvSpPr/>
            <p:nvPr/>
          </p:nvSpPr>
          <p:spPr>
            <a:xfrm flipH="false" flipV="false" rot="0">
              <a:off x="0" y="0"/>
              <a:ext cx="11490960" cy="934720"/>
            </a:xfrm>
            <a:custGeom>
              <a:avLst/>
              <a:gdLst/>
              <a:ahLst/>
              <a:cxnLst/>
              <a:rect r="r" b="b" t="t" l="l"/>
              <a:pathLst>
                <a:path h="934720" w="11490960">
                  <a:moveTo>
                    <a:pt x="0" y="0"/>
                  </a:moveTo>
                  <a:lnTo>
                    <a:pt x="11490960" y="0"/>
                  </a:lnTo>
                  <a:lnTo>
                    <a:pt x="11490960" y="934720"/>
                  </a:lnTo>
                  <a:lnTo>
                    <a:pt x="0" y="934720"/>
                  </a:lnTo>
                  <a:lnTo>
                    <a:pt x="0" y="0"/>
                  </a:lnTo>
                  <a:close/>
                </a:path>
              </a:pathLst>
            </a:custGeom>
            <a:blipFill>
              <a:blip r:embed="rId4"/>
              <a:stretch>
                <a:fillRect l="-11" t="0" r="-11" b="0"/>
              </a:stretch>
            </a:blipFill>
          </p:spPr>
        </p:sp>
      </p:grpSp>
      <p:grpSp>
        <p:nvGrpSpPr>
          <p:cNvPr name="Group 12" id="12"/>
          <p:cNvGrpSpPr/>
          <p:nvPr/>
        </p:nvGrpSpPr>
        <p:grpSpPr>
          <a:xfrm rot="0">
            <a:off x="0" y="0"/>
            <a:ext cx="18287543" cy="10287000"/>
            <a:chOff x="0" y="0"/>
            <a:chExt cx="24383390" cy="13716000"/>
          </a:xfrm>
        </p:grpSpPr>
        <p:sp>
          <p:nvSpPr>
            <p:cNvPr name="Freeform 13" id="13"/>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close/>
                </a:path>
              </a:pathLst>
            </a:custGeom>
            <a:solidFill>
              <a:srgbClr val="000036"/>
            </a:solidFill>
          </p:spPr>
        </p:sp>
      </p:grpSp>
      <p:grpSp>
        <p:nvGrpSpPr>
          <p:cNvPr name="Group 14" id="14"/>
          <p:cNvGrpSpPr/>
          <p:nvPr/>
        </p:nvGrpSpPr>
        <p:grpSpPr>
          <a:xfrm rot="0">
            <a:off x="0" y="-135669"/>
            <a:ext cx="18287543" cy="10287000"/>
            <a:chOff x="0" y="0"/>
            <a:chExt cx="24383390" cy="13716000"/>
          </a:xfrm>
        </p:grpSpPr>
        <p:sp>
          <p:nvSpPr>
            <p:cNvPr name="Freeform 15" id="15" descr="preencoded.png"/>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lnTo>
                    <a:pt x="0" y="0"/>
                  </a:lnTo>
                  <a:close/>
                </a:path>
              </a:pathLst>
            </a:custGeom>
            <a:blipFill>
              <a:blip r:embed="rId5">
                <a:alphaModFix amt="9999"/>
              </a:blip>
              <a:stretch>
                <a:fillRect l="-22172" t="0" r="-22172" b="0"/>
              </a:stretch>
            </a:blipFill>
          </p:spPr>
        </p:sp>
      </p:grpSp>
      <p:grpSp>
        <p:nvGrpSpPr>
          <p:cNvPr name="Group 16" id="16"/>
          <p:cNvGrpSpPr/>
          <p:nvPr/>
        </p:nvGrpSpPr>
        <p:grpSpPr>
          <a:xfrm rot="0">
            <a:off x="857250" y="429311"/>
            <a:ext cx="16573043" cy="999896"/>
            <a:chOff x="0" y="0"/>
            <a:chExt cx="22097390" cy="1333195"/>
          </a:xfrm>
        </p:grpSpPr>
        <p:sp>
          <p:nvSpPr>
            <p:cNvPr name="Freeform 17" id="17"/>
            <p:cNvSpPr/>
            <p:nvPr/>
          </p:nvSpPr>
          <p:spPr>
            <a:xfrm flipH="false" flipV="false" rot="0">
              <a:off x="0" y="0"/>
              <a:ext cx="22097364" cy="1333246"/>
            </a:xfrm>
            <a:custGeom>
              <a:avLst/>
              <a:gdLst/>
              <a:ahLst/>
              <a:cxnLst/>
              <a:rect r="r" b="b" t="t" l="l"/>
              <a:pathLst>
                <a:path h="1333246" w="22097364">
                  <a:moveTo>
                    <a:pt x="0" y="209042"/>
                  </a:moveTo>
                  <a:cubicBezTo>
                    <a:pt x="0" y="93599"/>
                    <a:pt x="93599" y="0"/>
                    <a:pt x="209042" y="0"/>
                  </a:cubicBezTo>
                  <a:lnTo>
                    <a:pt x="21888323" y="0"/>
                  </a:lnTo>
                  <a:cubicBezTo>
                    <a:pt x="22003765" y="0"/>
                    <a:pt x="22097364" y="93599"/>
                    <a:pt x="22097364" y="209042"/>
                  </a:cubicBezTo>
                  <a:lnTo>
                    <a:pt x="22097364" y="1124204"/>
                  </a:lnTo>
                  <a:cubicBezTo>
                    <a:pt x="22097364" y="1239647"/>
                    <a:pt x="22003765" y="1333246"/>
                    <a:pt x="21888323" y="1333246"/>
                  </a:cubicBezTo>
                  <a:lnTo>
                    <a:pt x="209042" y="1333246"/>
                  </a:lnTo>
                  <a:cubicBezTo>
                    <a:pt x="93599" y="1333246"/>
                    <a:pt x="0" y="1239647"/>
                    <a:pt x="0" y="1124204"/>
                  </a:cubicBezTo>
                  <a:close/>
                </a:path>
              </a:pathLst>
            </a:custGeom>
            <a:solidFill>
              <a:srgbClr val="FFFFFF">
                <a:alpha val="90196"/>
              </a:srgbClr>
            </a:solidFill>
          </p:spPr>
        </p:sp>
      </p:grpSp>
      <p:grpSp>
        <p:nvGrpSpPr>
          <p:cNvPr name="Group 18" id="18"/>
          <p:cNvGrpSpPr/>
          <p:nvPr/>
        </p:nvGrpSpPr>
        <p:grpSpPr>
          <a:xfrm rot="0">
            <a:off x="1286561" y="571957"/>
            <a:ext cx="1899666" cy="714604"/>
            <a:chOff x="0" y="0"/>
            <a:chExt cx="2532888" cy="952805"/>
          </a:xfrm>
        </p:grpSpPr>
        <p:sp>
          <p:nvSpPr>
            <p:cNvPr name="Freeform 19" id="19" descr="preencoded.png"/>
            <p:cNvSpPr/>
            <p:nvPr/>
          </p:nvSpPr>
          <p:spPr>
            <a:xfrm flipH="false" flipV="false" rot="0">
              <a:off x="0" y="0"/>
              <a:ext cx="2532888" cy="952754"/>
            </a:xfrm>
            <a:custGeom>
              <a:avLst/>
              <a:gdLst/>
              <a:ahLst/>
              <a:cxnLst/>
              <a:rect r="r" b="b" t="t" l="l"/>
              <a:pathLst>
                <a:path h="952754" w="2532888">
                  <a:moveTo>
                    <a:pt x="0" y="0"/>
                  </a:moveTo>
                  <a:lnTo>
                    <a:pt x="2532888" y="0"/>
                  </a:lnTo>
                  <a:lnTo>
                    <a:pt x="2532888" y="952754"/>
                  </a:lnTo>
                  <a:lnTo>
                    <a:pt x="0" y="952754"/>
                  </a:lnTo>
                  <a:lnTo>
                    <a:pt x="0" y="0"/>
                  </a:lnTo>
                  <a:close/>
                </a:path>
              </a:pathLst>
            </a:custGeom>
            <a:blipFill>
              <a:blip r:embed="rId6"/>
              <a:stretch>
                <a:fillRect l="0" t="-10" r="0" b="-14"/>
              </a:stretch>
            </a:blipFill>
          </p:spPr>
        </p:sp>
      </p:grpSp>
      <p:grpSp>
        <p:nvGrpSpPr>
          <p:cNvPr name="Group 20" id="20"/>
          <p:cNvGrpSpPr/>
          <p:nvPr/>
        </p:nvGrpSpPr>
        <p:grpSpPr>
          <a:xfrm rot="0">
            <a:off x="16287750" y="571957"/>
            <a:ext cx="714604" cy="714604"/>
            <a:chOff x="0" y="0"/>
            <a:chExt cx="952805" cy="952805"/>
          </a:xfrm>
        </p:grpSpPr>
        <p:sp>
          <p:nvSpPr>
            <p:cNvPr name="Freeform 21" id="21" descr="preencoded.png"/>
            <p:cNvSpPr/>
            <p:nvPr/>
          </p:nvSpPr>
          <p:spPr>
            <a:xfrm flipH="false" flipV="false" rot="0">
              <a:off x="0" y="0"/>
              <a:ext cx="952754" cy="952754"/>
            </a:xfrm>
            <a:custGeom>
              <a:avLst/>
              <a:gdLst/>
              <a:ahLst/>
              <a:cxnLst/>
              <a:rect r="r" b="b" t="t" l="l"/>
              <a:pathLst>
                <a:path h="952754" w="952754">
                  <a:moveTo>
                    <a:pt x="0" y="0"/>
                  </a:moveTo>
                  <a:lnTo>
                    <a:pt x="952754" y="0"/>
                  </a:lnTo>
                  <a:lnTo>
                    <a:pt x="952754" y="952754"/>
                  </a:lnTo>
                  <a:lnTo>
                    <a:pt x="0" y="952754"/>
                  </a:lnTo>
                  <a:lnTo>
                    <a:pt x="0" y="0"/>
                  </a:lnTo>
                  <a:close/>
                </a:path>
              </a:pathLst>
            </a:custGeom>
            <a:blipFill>
              <a:blip r:embed="rId3"/>
              <a:stretch>
                <a:fillRect l="0" t="0" r="-5" b="-5"/>
              </a:stretch>
            </a:blipFill>
          </p:spPr>
        </p:sp>
      </p:grpSp>
      <p:grpSp>
        <p:nvGrpSpPr>
          <p:cNvPr name="Group 22" id="22"/>
          <p:cNvGrpSpPr/>
          <p:nvPr/>
        </p:nvGrpSpPr>
        <p:grpSpPr>
          <a:xfrm rot="0">
            <a:off x="1080611" y="1272997"/>
            <a:ext cx="113843" cy="614477"/>
            <a:chOff x="0" y="0"/>
            <a:chExt cx="151790" cy="819302"/>
          </a:xfrm>
        </p:grpSpPr>
        <p:sp>
          <p:nvSpPr>
            <p:cNvPr name="Freeform 23" id="23"/>
            <p:cNvSpPr/>
            <p:nvPr/>
          </p:nvSpPr>
          <p:spPr>
            <a:xfrm flipH="false" flipV="false" rot="0">
              <a:off x="0" y="0"/>
              <a:ext cx="151765" cy="819277"/>
            </a:xfrm>
            <a:custGeom>
              <a:avLst/>
              <a:gdLst/>
              <a:ahLst/>
              <a:cxnLst/>
              <a:rect r="r" b="b" t="t" l="l"/>
              <a:pathLst>
                <a:path h="819277" w="151765">
                  <a:moveTo>
                    <a:pt x="0" y="0"/>
                  </a:moveTo>
                  <a:lnTo>
                    <a:pt x="151765" y="0"/>
                  </a:lnTo>
                  <a:lnTo>
                    <a:pt x="151765" y="819277"/>
                  </a:lnTo>
                  <a:lnTo>
                    <a:pt x="0" y="819277"/>
                  </a:lnTo>
                  <a:close/>
                </a:path>
              </a:pathLst>
            </a:custGeom>
            <a:solidFill>
              <a:srgbClr val="88E555"/>
            </a:solidFill>
          </p:spPr>
        </p:sp>
      </p:grpSp>
      <p:grpSp>
        <p:nvGrpSpPr>
          <p:cNvPr name="Group 24" id="24"/>
          <p:cNvGrpSpPr/>
          <p:nvPr/>
        </p:nvGrpSpPr>
        <p:grpSpPr>
          <a:xfrm rot="0">
            <a:off x="1267511" y="1292581"/>
            <a:ext cx="12266004" cy="795453"/>
            <a:chOff x="0" y="0"/>
            <a:chExt cx="16354672" cy="1060605"/>
          </a:xfrm>
        </p:grpSpPr>
        <p:sp>
          <p:nvSpPr>
            <p:cNvPr name="Freeform 25" id="25"/>
            <p:cNvSpPr/>
            <p:nvPr/>
          </p:nvSpPr>
          <p:spPr>
            <a:xfrm flipH="false" flipV="false" rot="0">
              <a:off x="0" y="0"/>
              <a:ext cx="16354671" cy="1060604"/>
            </a:xfrm>
            <a:custGeom>
              <a:avLst/>
              <a:gdLst/>
              <a:ahLst/>
              <a:cxnLst/>
              <a:rect r="r" b="b" t="t" l="l"/>
              <a:pathLst>
                <a:path h="1060604" w="16354671">
                  <a:moveTo>
                    <a:pt x="0" y="0"/>
                  </a:moveTo>
                  <a:lnTo>
                    <a:pt x="16354671" y="0"/>
                  </a:lnTo>
                  <a:lnTo>
                    <a:pt x="16354671" y="1060604"/>
                  </a:lnTo>
                  <a:lnTo>
                    <a:pt x="0" y="1060604"/>
                  </a:lnTo>
                  <a:close/>
                </a:path>
              </a:pathLst>
            </a:custGeom>
            <a:blipFill>
              <a:blip r:embed="rId5">
                <a:alphaModFix amt="0"/>
              </a:blip>
              <a:stretch>
                <a:fillRect l="0" t="-92957" r="54399" b="-81068"/>
              </a:stretch>
            </a:blipFill>
          </p:spPr>
        </p:sp>
        <p:sp>
          <p:nvSpPr>
            <p:cNvPr name="TextBox 26" id="26"/>
            <p:cNvSpPr txBox="true"/>
            <p:nvPr/>
          </p:nvSpPr>
          <p:spPr>
            <a:xfrm>
              <a:off x="0" y="-28575"/>
              <a:ext cx="16354672" cy="1089180"/>
            </a:xfrm>
            <a:prstGeom prst="rect">
              <a:avLst/>
            </a:prstGeom>
          </p:spPr>
          <p:txBody>
            <a:bodyPr anchor="ctr" rtlCol="false" tIns="0" lIns="0" bIns="0" rIns="0"/>
            <a:lstStyle/>
            <a:p>
              <a:pPr algn="l">
                <a:lnSpc>
                  <a:spcPts val="3840"/>
                </a:lnSpc>
              </a:pPr>
              <a:r>
                <a:rPr lang="en-US" sz="3200" b="true">
                  <a:solidFill>
                    <a:srgbClr val="FFFFFF"/>
                  </a:solidFill>
                  <a:latin typeface="Poppins Bold"/>
                  <a:ea typeface="Poppins Bold"/>
                  <a:cs typeface="Poppins Bold"/>
                  <a:sym typeface="Poppins Bold"/>
                </a:rPr>
                <a:t>LOCALISATION METHOD &amp; DECISION RULE</a:t>
              </a:r>
            </a:p>
          </p:txBody>
        </p:sp>
      </p:grpSp>
      <p:grpSp>
        <p:nvGrpSpPr>
          <p:cNvPr name="Group 27" id="27"/>
          <p:cNvGrpSpPr/>
          <p:nvPr/>
        </p:nvGrpSpPr>
        <p:grpSpPr>
          <a:xfrm rot="0">
            <a:off x="8110385" y="341566"/>
            <a:ext cx="2411054" cy="1175385"/>
            <a:chOff x="0" y="0"/>
            <a:chExt cx="3214738" cy="1567180"/>
          </a:xfrm>
        </p:grpSpPr>
        <p:sp>
          <p:nvSpPr>
            <p:cNvPr name="Freeform 28" id="28"/>
            <p:cNvSpPr/>
            <p:nvPr/>
          </p:nvSpPr>
          <p:spPr>
            <a:xfrm flipH="false" flipV="false" rot="0">
              <a:off x="0" y="0"/>
              <a:ext cx="3214751" cy="1567180"/>
            </a:xfrm>
            <a:custGeom>
              <a:avLst/>
              <a:gdLst/>
              <a:ahLst/>
              <a:cxnLst/>
              <a:rect r="r" b="b" t="t" l="l"/>
              <a:pathLst>
                <a:path h="1567180" w="3214751">
                  <a:moveTo>
                    <a:pt x="0" y="0"/>
                  </a:moveTo>
                  <a:lnTo>
                    <a:pt x="3214751" y="0"/>
                  </a:lnTo>
                  <a:lnTo>
                    <a:pt x="3214751" y="1567180"/>
                  </a:lnTo>
                  <a:lnTo>
                    <a:pt x="0" y="1567180"/>
                  </a:lnTo>
                  <a:lnTo>
                    <a:pt x="0" y="0"/>
                  </a:lnTo>
                  <a:close/>
                </a:path>
              </a:pathLst>
            </a:custGeom>
            <a:blipFill>
              <a:blip r:embed="rId7"/>
              <a:stretch>
                <a:fillRect l="0" t="0" r="0" b="0"/>
              </a:stretch>
            </a:blipFill>
          </p:spPr>
        </p:sp>
      </p:grpSp>
      <p:grpSp>
        <p:nvGrpSpPr>
          <p:cNvPr name="Group 29" id="29"/>
          <p:cNvGrpSpPr/>
          <p:nvPr/>
        </p:nvGrpSpPr>
        <p:grpSpPr>
          <a:xfrm rot="0">
            <a:off x="857250" y="142646"/>
            <a:ext cx="16573043" cy="1286561"/>
            <a:chOff x="0" y="0"/>
            <a:chExt cx="22097390" cy="1715414"/>
          </a:xfrm>
        </p:grpSpPr>
        <p:sp>
          <p:nvSpPr>
            <p:cNvPr name="Freeform 30" id="30"/>
            <p:cNvSpPr/>
            <p:nvPr/>
          </p:nvSpPr>
          <p:spPr>
            <a:xfrm flipH="false" flipV="false" rot="0">
              <a:off x="0" y="0"/>
              <a:ext cx="22097366" cy="1715389"/>
            </a:xfrm>
            <a:custGeom>
              <a:avLst/>
              <a:gdLst/>
              <a:ahLst/>
              <a:cxnLst/>
              <a:rect r="r" b="b" t="t" l="l"/>
              <a:pathLst>
                <a:path h="1715389" w="22097366">
                  <a:moveTo>
                    <a:pt x="0" y="162560"/>
                  </a:moveTo>
                  <a:cubicBezTo>
                    <a:pt x="0" y="72771"/>
                    <a:pt x="72771" y="0"/>
                    <a:pt x="162560" y="0"/>
                  </a:cubicBezTo>
                  <a:lnTo>
                    <a:pt x="21934805" y="0"/>
                  </a:lnTo>
                  <a:cubicBezTo>
                    <a:pt x="22024594" y="0"/>
                    <a:pt x="22097366" y="72771"/>
                    <a:pt x="22097366" y="162560"/>
                  </a:cubicBezTo>
                  <a:lnTo>
                    <a:pt x="22097366" y="1552829"/>
                  </a:lnTo>
                  <a:cubicBezTo>
                    <a:pt x="22097366" y="1642618"/>
                    <a:pt x="22024594" y="1715389"/>
                    <a:pt x="21934805" y="1715389"/>
                  </a:cubicBezTo>
                  <a:lnTo>
                    <a:pt x="162560" y="1715389"/>
                  </a:lnTo>
                  <a:cubicBezTo>
                    <a:pt x="72771" y="1715389"/>
                    <a:pt x="0" y="1642618"/>
                    <a:pt x="0" y="1552829"/>
                  </a:cubicBezTo>
                  <a:close/>
                </a:path>
              </a:pathLst>
            </a:custGeom>
            <a:solidFill>
              <a:srgbClr val="FFFFFF">
                <a:alpha val="90196"/>
              </a:srgbClr>
            </a:solidFill>
          </p:spPr>
        </p:sp>
      </p:grpSp>
      <p:grpSp>
        <p:nvGrpSpPr>
          <p:cNvPr name="Group 31" id="31"/>
          <p:cNvGrpSpPr/>
          <p:nvPr/>
        </p:nvGrpSpPr>
        <p:grpSpPr>
          <a:xfrm rot="0">
            <a:off x="2443286" y="322326"/>
            <a:ext cx="13745232" cy="879653"/>
            <a:chOff x="0" y="0"/>
            <a:chExt cx="18326976" cy="1172870"/>
          </a:xfrm>
        </p:grpSpPr>
        <p:sp>
          <p:nvSpPr>
            <p:cNvPr name="Freeform 32" id="32"/>
            <p:cNvSpPr/>
            <p:nvPr/>
          </p:nvSpPr>
          <p:spPr>
            <a:xfrm flipH="false" flipV="false" rot="0">
              <a:off x="0" y="0"/>
              <a:ext cx="18326988" cy="1172845"/>
            </a:xfrm>
            <a:custGeom>
              <a:avLst/>
              <a:gdLst/>
              <a:ahLst/>
              <a:cxnLst/>
              <a:rect r="r" b="b" t="t" l="l"/>
              <a:pathLst>
                <a:path h="1172845" w="18326988">
                  <a:moveTo>
                    <a:pt x="0" y="0"/>
                  </a:moveTo>
                  <a:lnTo>
                    <a:pt x="18326988" y="0"/>
                  </a:lnTo>
                  <a:lnTo>
                    <a:pt x="18326988" y="1172845"/>
                  </a:lnTo>
                  <a:lnTo>
                    <a:pt x="0" y="1172845"/>
                  </a:lnTo>
                  <a:lnTo>
                    <a:pt x="0" y="0"/>
                  </a:lnTo>
                  <a:close/>
                </a:path>
              </a:pathLst>
            </a:custGeom>
            <a:blipFill>
              <a:blip r:embed="rId8"/>
              <a:stretch>
                <a:fillRect l="0" t="-2" r="0" b="-4"/>
              </a:stretch>
            </a:blipFill>
          </p:spPr>
        </p:sp>
      </p:grpSp>
      <p:grpSp>
        <p:nvGrpSpPr>
          <p:cNvPr name="Group 33" id="33"/>
          <p:cNvGrpSpPr/>
          <p:nvPr/>
        </p:nvGrpSpPr>
        <p:grpSpPr>
          <a:xfrm rot="0">
            <a:off x="491166" y="7658156"/>
            <a:ext cx="8016093" cy="2345138"/>
            <a:chOff x="0" y="0"/>
            <a:chExt cx="10688124" cy="3126851"/>
          </a:xfrm>
        </p:grpSpPr>
        <p:sp>
          <p:nvSpPr>
            <p:cNvPr name="Freeform 34" id="34"/>
            <p:cNvSpPr/>
            <p:nvPr/>
          </p:nvSpPr>
          <p:spPr>
            <a:xfrm flipH="false" flipV="false" rot="0">
              <a:off x="0" y="0"/>
              <a:ext cx="10688225" cy="3126851"/>
            </a:xfrm>
            <a:custGeom>
              <a:avLst/>
              <a:gdLst/>
              <a:ahLst/>
              <a:cxnLst/>
              <a:rect r="r" b="b" t="t" l="l"/>
              <a:pathLst>
                <a:path h="3126851" w="10688225">
                  <a:moveTo>
                    <a:pt x="0" y="19779"/>
                  </a:moveTo>
                  <a:cubicBezTo>
                    <a:pt x="0" y="8856"/>
                    <a:pt x="12885" y="0"/>
                    <a:pt x="28777" y="0"/>
                  </a:cubicBezTo>
                  <a:lnTo>
                    <a:pt x="10659397" y="0"/>
                  </a:lnTo>
                  <a:cubicBezTo>
                    <a:pt x="10675288" y="0"/>
                    <a:pt x="10688225" y="8856"/>
                    <a:pt x="10688225" y="19779"/>
                  </a:cubicBezTo>
                  <a:lnTo>
                    <a:pt x="10688225" y="3107072"/>
                  </a:lnTo>
                  <a:cubicBezTo>
                    <a:pt x="10688225" y="3117995"/>
                    <a:pt x="10675288" y="3126851"/>
                    <a:pt x="10659397" y="3126851"/>
                  </a:cubicBezTo>
                  <a:lnTo>
                    <a:pt x="28777" y="3126851"/>
                  </a:lnTo>
                  <a:cubicBezTo>
                    <a:pt x="12885" y="3126851"/>
                    <a:pt x="0" y="3117995"/>
                    <a:pt x="0" y="3107072"/>
                  </a:cubicBezTo>
                  <a:close/>
                </a:path>
              </a:pathLst>
            </a:custGeom>
            <a:solidFill>
              <a:srgbClr val="FFFFFF">
                <a:alpha val="0"/>
              </a:srgbClr>
            </a:solidFill>
            <a:ln w="19050" cap="sq">
              <a:solidFill>
                <a:srgbClr val="88E555"/>
              </a:solidFill>
              <a:prstDash val="solid"/>
              <a:miter/>
            </a:ln>
          </p:spPr>
        </p:sp>
      </p:grpSp>
      <p:graphicFrame>
        <p:nvGraphicFramePr>
          <p:cNvPr name="Table 35" id="35"/>
          <p:cNvGraphicFramePr>
            <a:graphicFrameLocks noGrp="true"/>
          </p:cNvGraphicFramePr>
          <p:nvPr/>
        </p:nvGraphicFramePr>
        <p:xfrm>
          <a:off x="557014" y="2513815"/>
          <a:ext cx="7884397" cy="4988032"/>
        </p:xfrm>
        <a:graphic>
          <a:graphicData uri="http://schemas.openxmlformats.org/drawingml/2006/table">
            <a:tbl>
              <a:tblPr/>
              <a:tblGrid>
                <a:gridCol w="1817857"/>
                <a:gridCol w="2215959"/>
                <a:gridCol w="3850581"/>
              </a:tblGrid>
              <a:tr h="467618">
                <a:tc>
                  <a:txBody>
                    <a:bodyPr anchor="t" rtlCol="false"/>
                    <a:lstStyle/>
                    <a:p>
                      <a:pPr algn="ctr">
                        <a:lnSpc>
                          <a:spcPts val="2100"/>
                        </a:lnSpc>
                        <a:defRPr/>
                      </a:pPr>
                      <a:r>
                        <a:rPr lang="en-US" b="true" sz="1500">
                          <a:solidFill>
                            <a:srgbClr val="000000"/>
                          </a:solidFill>
                          <a:latin typeface="Canva Sans Bold"/>
                          <a:ea typeface="Canva Sans Bold"/>
                          <a:cs typeface="Canva Sans Bold"/>
                          <a:sym typeface="Canva Sans Bold"/>
                        </a:rPr>
                        <a:t>STAGE</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solidFill>
                      <a:srgbClr val="F2F2F2"/>
                    </a:solidFill>
                  </a:tcPr>
                </a:tc>
                <a:tc>
                  <a:txBody>
                    <a:bodyPr anchor="t" rtlCol="false"/>
                    <a:lstStyle/>
                    <a:p>
                      <a:pPr algn="ctr">
                        <a:lnSpc>
                          <a:spcPts val="2100"/>
                        </a:lnSpc>
                        <a:defRPr/>
                      </a:pPr>
                      <a:r>
                        <a:rPr lang="en-US" b="true" sz="1500">
                          <a:solidFill>
                            <a:srgbClr val="000000"/>
                          </a:solidFill>
                          <a:latin typeface="Canva Sans Bold"/>
                          <a:ea typeface="Canva Sans Bold"/>
                          <a:cs typeface="Canva Sans Bold"/>
                          <a:sym typeface="Canva Sans Bold"/>
                        </a:rPr>
                        <a:t>METHOD</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solidFill>
                      <a:srgbClr val="F2F2F2"/>
                    </a:solidFill>
                  </a:tcPr>
                </a:tc>
                <a:tc>
                  <a:txBody>
                    <a:bodyPr anchor="t" rtlCol="false"/>
                    <a:lstStyle/>
                    <a:p>
                      <a:pPr algn="ctr">
                        <a:lnSpc>
                          <a:spcPts val="2100"/>
                        </a:lnSpc>
                        <a:defRPr/>
                      </a:pPr>
                      <a:r>
                        <a:rPr lang="en-US" b="true" sz="1500">
                          <a:solidFill>
                            <a:srgbClr val="000000"/>
                          </a:solidFill>
                          <a:latin typeface="Canva Sans Bold"/>
                          <a:ea typeface="Canva Sans Bold"/>
                          <a:cs typeface="Canva Sans Bold"/>
                          <a:sym typeface="Canva Sans Bold"/>
                        </a:rPr>
                        <a:t>PURPOSE</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solidFill>
                      <a:srgbClr val="F2F2F2"/>
                    </a:solidFill>
                  </a:tcPr>
                </a:tc>
              </a:tr>
              <a:tr h="954742">
                <a:tc>
                  <a:txBody>
                    <a:bodyPr anchor="t" rtlCol="false"/>
                    <a:lstStyle/>
                    <a:p>
                      <a:pPr algn="l">
                        <a:lnSpc>
                          <a:spcPts val="2100"/>
                        </a:lnSpc>
                        <a:defRPr/>
                      </a:pPr>
                      <a:r>
                        <a:rPr lang="en-US" sz="1500">
                          <a:solidFill>
                            <a:srgbClr val="FFFFFF"/>
                          </a:solidFill>
                          <a:latin typeface="Canva Sans"/>
                          <a:ea typeface="Canva Sans"/>
                          <a:cs typeface="Canva Sans"/>
                          <a:sym typeface="Canva Sans"/>
                        </a:rPr>
                        <a:t>1. Candidate Search</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ZNCC + Pyramidal Search</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Find likely (X, Y) locations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781154">
                <a:tc>
                  <a:txBody>
                    <a:bodyPr anchor="t" rtlCol="false"/>
                    <a:lstStyle/>
                    <a:p>
                      <a:pPr algn="l">
                        <a:lnSpc>
                          <a:spcPts val="2100"/>
                        </a:lnSpc>
                        <a:defRPr/>
                      </a:pPr>
                      <a:r>
                        <a:rPr lang="en-US" sz="1500">
                          <a:solidFill>
                            <a:srgbClr val="FFFFFF"/>
                          </a:solidFill>
                          <a:latin typeface="Canva Sans"/>
                          <a:ea typeface="Canva Sans"/>
                          <a:cs typeface="Canva Sans"/>
                          <a:sym typeface="Canva Sans"/>
                        </a:rPr>
                        <a:t>2. Pose Search</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Rotation θ + Scale α sampling</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Handle unknown wafer pose</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1002038">
                <a:tc>
                  <a:txBody>
                    <a:bodyPr anchor="t" rtlCol="false"/>
                    <a:lstStyle/>
                    <a:p>
                      <a:pPr algn="l">
                        <a:lnSpc>
                          <a:spcPts val="2100"/>
                        </a:lnSpc>
                        <a:defRPr/>
                      </a:pPr>
                      <a:r>
                        <a:rPr lang="en-US" sz="1500">
                          <a:solidFill>
                            <a:srgbClr val="FFFFFF"/>
                          </a:solidFill>
                          <a:latin typeface="Canva Sans"/>
                          <a:ea typeface="Canva Sans"/>
                          <a:cs typeface="Canva Sans"/>
                          <a:sym typeface="Canva Sans"/>
                        </a:rPr>
                        <a:t>3. Refinement</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Parabolic peak fitting + Fourier phase correlation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Achieve sub-pixel localization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915703">
                <a:tc>
                  <a:txBody>
                    <a:bodyPr anchor="t" rtlCol="false"/>
                    <a:lstStyle/>
                    <a:p>
                      <a:pPr algn="l">
                        <a:lnSpc>
                          <a:spcPts val="2100"/>
                        </a:lnSpc>
                        <a:defRPr/>
                      </a:pPr>
                      <a:r>
                        <a:rPr lang="en-US" sz="1500">
                          <a:solidFill>
                            <a:srgbClr val="FFFFFF"/>
                          </a:solidFill>
                          <a:latin typeface="Canva Sans"/>
                          <a:ea typeface="Canva Sans"/>
                          <a:cs typeface="Canva Sans"/>
                          <a:sym typeface="Canva Sans"/>
                        </a:rPr>
                        <a:t>4. Verification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64-D Siamese embedding</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Resolve periodic-pattern ambiguity</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866777">
                <a:tc>
                  <a:txBody>
                    <a:bodyPr anchor="t" rtlCol="false"/>
                    <a:lstStyle/>
                    <a:p>
                      <a:pPr algn="l">
                        <a:lnSpc>
                          <a:spcPts val="2100"/>
                        </a:lnSpc>
                        <a:defRPr/>
                      </a:pPr>
                      <a:r>
                        <a:rPr lang="en-US" sz="1500">
                          <a:solidFill>
                            <a:srgbClr val="FFFFFF"/>
                          </a:solidFill>
                          <a:latin typeface="Canva Sans"/>
                          <a:ea typeface="Canva Sans"/>
                          <a:cs typeface="Canva Sans"/>
                          <a:sym typeface="Canva Sans"/>
                        </a:rPr>
                        <a:t>5. Decision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Platt logistic calibration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Target Present / Absent</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bl>
          </a:graphicData>
        </a:graphic>
      </p:graphicFrame>
      <p:sp>
        <p:nvSpPr>
          <p:cNvPr name="TextBox 36" id="36"/>
          <p:cNvSpPr txBox="true"/>
          <p:nvPr/>
        </p:nvSpPr>
        <p:spPr>
          <a:xfrm rot="0">
            <a:off x="748235" y="7878225"/>
            <a:ext cx="7633653" cy="1885950"/>
          </a:xfrm>
          <a:prstGeom prst="rect">
            <a:avLst/>
          </a:prstGeom>
        </p:spPr>
        <p:txBody>
          <a:bodyPr anchor="t" rtlCol="false" tIns="0" lIns="0" bIns="0" rIns="0">
            <a:spAutoFit/>
          </a:bodyPr>
          <a:lstStyle/>
          <a:p>
            <a:pPr algn="l">
              <a:lnSpc>
                <a:spcPts val="2160"/>
              </a:lnSpc>
              <a:spcBef>
                <a:spcPct val="0"/>
              </a:spcBef>
            </a:pPr>
            <a:r>
              <a:rPr lang="en-US" b="true" sz="1800">
                <a:solidFill>
                  <a:srgbClr val="FFFFFF"/>
                </a:solidFill>
                <a:latin typeface="Poppins Bold"/>
                <a:ea typeface="Poppins Bold"/>
                <a:cs typeface="Poppins Bold"/>
                <a:sym typeface="Poppins Bold"/>
              </a:rPr>
              <a:t>D</a:t>
            </a:r>
            <a:r>
              <a:rPr lang="en-US" b="true" sz="1800">
                <a:solidFill>
                  <a:srgbClr val="FFFFFF"/>
                </a:solidFill>
                <a:latin typeface="Poppins Bold"/>
                <a:ea typeface="Poppins Bold"/>
                <a:cs typeface="Poppins Bold"/>
                <a:sym typeface="Poppins Bold"/>
              </a:rPr>
              <a:t>ECISION RULE</a:t>
            </a:r>
          </a:p>
          <a:p>
            <a:pPr algn="l">
              <a:lnSpc>
                <a:spcPts val="2160"/>
              </a:lnSpc>
              <a:spcBef>
                <a:spcPct val="0"/>
              </a:spcBef>
            </a:pPr>
          </a:p>
          <a:p>
            <a:pPr algn="l">
              <a:lnSpc>
                <a:spcPts val="2160"/>
              </a:lnSpc>
              <a:spcBef>
                <a:spcPct val="0"/>
              </a:spcBef>
            </a:pPr>
            <a:r>
              <a:rPr lang="en-US" b="true" sz="1800">
                <a:solidFill>
                  <a:srgbClr val="FFFFFF"/>
                </a:solidFill>
                <a:latin typeface="Poppins Bold"/>
                <a:ea typeface="Poppins Bold"/>
                <a:cs typeface="Poppins Bold"/>
                <a:sym typeface="Poppins Bold"/>
              </a:rPr>
              <a:t>Best candidate → Sub-pixel refinement → Confidence calibration</a:t>
            </a:r>
          </a:p>
          <a:p>
            <a:pPr algn="l">
              <a:lnSpc>
                <a:spcPts val="2160"/>
              </a:lnSpc>
              <a:spcBef>
                <a:spcPct val="0"/>
              </a:spcBef>
            </a:pPr>
          </a:p>
          <a:p>
            <a:pPr algn="l">
              <a:lnSpc>
                <a:spcPts val="2160"/>
              </a:lnSpc>
              <a:spcBef>
                <a:spcPct val="0"/>
              </a:spcBef>
            </a:pPr>
            <a:r>
              <a:rPr lang="en-US" sz="1800">
                <a:solidFill>
                  <a:srgbClr val="FFFFFF"/>
                </a:solidFill>
                <a:latin typeface="Poppins"/>
                <a:ea typeface="Poppins"/>
                <a:cs typeface="Poppins"/>
                <a:sym typeface="Poppins"/>
              </a:rPr>
              <a:t>High-confidence candidate → Accept localization</a:t>
            </a:r>
          </a:p>
          <a:p>
            <a:pPr algn="l">
              <a:lnSpc>
                <a:spcPts val="2160"/>
              </a:lnSpc>
              <a:spcBef>
                <a:spcPct val="0"/>
              </a:spcBef>
            </a:pPr>
            <a:r>
              <a:rPr lang="en-US" sz="1800">
                <a:solidFill>
                  <a:srgbClr val="FFFFFF"/>
                </a:solidFill>
                <a:latin typeface="Poppins"/>
                <a:ea typeface="Poppins"/>
                <a:cs typeface="Poppins"/>
                <a:sym typeface="Poppins"/>
              </a:rPr>
              <a:t>Ambiguous candidate → Siamese re-ranking</a:t>
            </a:r>
          </a:p>
          <a:p>
            <a:pPr algn="l">
              <a:lnSpc>
                <a:spcPts val="2160"/>
              </a:lnSpc>
              <a:spcBef>
                <a:spcPct val="0"/>
              </a:spcBef>
            </a:pPr>
            <a:r>
              <a:rPr lang="en-US" sz="1800">
                <a:solidFill>
                  <a:srgbClr val="FFFFFF"/>
                </a:solidFill>
                <a:latin typeface="Poppins"/>
                <a:ea typeface="Poppins"/>
                <a:cs typeface="Poppins"/>
                <a:sym typeface="Poppins"/>
              </a:rPr>
              <a:t>Insufficient evidence → Target Absent</a:t>
            </a:r>
          </a:p>
        </p:txBody>
      </p:sp>
      <p:grpSp>
        <p:nvGrpSpPr>
          <p:cNvPr name="Group 37" id="37"/>
          <p:cNvGrpSpPr/>
          <p:nvPr/>
        </p:nvGrpSpPr>
        <p:grpSpPr>
          <a:xfrm rot="0">
            <a:off x="8986260" y="8170309"/>
            <a:ext cx="8923335" cy="1832986"/>
            <a:chOff x="0" y="0"/>
            <a:chExt cx="11897780" cy="2443981"/>
          </a:xfrm>
        </p:grpSpPr>
        <p:sp>
          <p:nvSpPr>
            <p:cNvPr name="Freeform 38" id="38"/>
            <p:cNvSpPr/>
            <p:nvPr/>
          </p:nvSpPr>
          <p:spPr>
            <a:xfrm flipH="false" flipV="false" rot="0">
              <a:off x="0" y="0"/>
              <a:ext cx="11897882" cy="2443981"/>
            </a:xfrm>
            <a:custGeom>
              <a:avLst/>
              <a:gdLst/>
              <a:ahLst/>
              <a:cxnLst/>
              <a:rect r="r" b="b" t="t" l="l"/>
              <a:pathLst>
                <a:path h="2443981" w="11897882">
                  <a:moveTo>
                    <a:pt x="0" y="15459"/>
                  </a:moveTo>
                  <a:cubicBezTo>
                    <a:pt x="0" y="6922"/>
                    <a:pt x="14343" y="0"/>
                    <a:pt x="32033" y="0"/>
                  </a:cubicBezTo>
                  <a:lnTo>
                    <a:pt x="11865802" y="0"/>
                  </a:lnTo>
                  <a:cubicBezTo>
                    <a:pt x="11883492" y="0"/>
                    <a:pt x="11897882" y="6922"/>
                    <a:pt x="11897882" y="15459"/>
                  </a:cubicBezTo>
                  <a:lnTo>
                    <a:pt x="11897882" y="2428522"/>
                  </a:lnTo>
                  <a:cubicBezTo>
                    <a:pt x="11897882" y="2437059"/>
                    <a:pt x="11883492" y="2443981"/>
                    <a:pt x="11865802" y="2443981"/>
                  </a:cubicBezTo>
                  <a:lnTo>
                    <a:pt x="32033" y="2443981"/>
                  </a:lnTo>
                  <a:cubicBezTo>
                    <a:pt x="14343" y="2443981"/>
                    <a:pt x="0" y="2437059"/>
                    <a:pt x="0" y="2428522"/>
                  </a:cubicBezTo>
                  <a:close/>
                </a:path>
              </a:pathLst>
            </a:custGeom>
            <a:solidFill>
              <a:srgbClr val="FFFFFF">
                <a:alpha val="0"/>
              </a:srgbClr>
            </a:solidFill>
            <a:ln w="19050" cap="sq">
              <a:solidFill>
                <a:srgbClr val="88E555"/>
              </a:solidFill>
              <a:prstDash val="solid"/>
              <a:miter/>
            </a:ln>
          </p:spPr>
        </p:sp>
      </p:grpSp>
      <p:sp>
        <p:nvSpPr>
          <p:cNvPr name="TextBox 39" id="39"/>
          <p:cNvSpPr txBox="true"/>
          <p:nvPr/>
        </p:nvSpPr>
        <p:spPr>
          <a:xfrm rot="0">
            <a:off x="9140898" y="8185517"/>
            <a:ext cx="9044671" cy="1619250"/>
          </a:xfrm>
          <a:prstGeom prst="rect">
            <a:avLst/>
          </a:prstGeom>
        </p:spPr>
        <p:txBody>
          <a:bodyPr anchor="t" rtlCol="false" tIns="0" lIns="0" bIns="0" rIns="0">
            <a:spAutoFit/>
          </a:bodyPr>
          <a:lstStyle/>
          <a:p>
            <a:pPr algn="l">
              <a:lnSpc>
                <a:spcPts val="2160"/>
              </a:lnSpc>
            </a:pPr>
            <a:r>
              <a:rPr lang="en-US" sz="1800" b="true">
                <a:solidFill>
                  <a:srgbClr val="FFFFFF"/>
                </a:solidFill>
                <a:latin typeface="Poppins Bold"/>
                <a:ea typeface="Poppins Bold"/>
                <a:cs typeface="Poppins Bold"/>
                <a:sym typeface="Poppins Bold"/>
              </a:rPr>
              <a:t>FINAL OUTPUT</a:t>
            </a:r>
          </a:p>
          <a:p>
            <a:pPr algn="l">
              <a:lnSpc>
                <a:spcPts val="2160"/>
              </a:lnSpc>
            </a:pPr>
          </a:p>
          <a:p>
            <a:pPr algn="l">
              <a:lnSpc>
                <a:spcPts val="2160"/>
              </a:lnSpc>
            </a:pPr>
            <a:r>
              <a:rPr lang="en-US" sz="1800">
                <a:solidFill>
                  <a:srgbClr val="FFFFFF"/>
                </a:solidFill>
                <a:latin typeface="Poppins"/>
                <a:ea typeface="Poppins"/>
                <a:cs typeface="Poppins"/>
                <a:sym typeface="Poppins"/>
              </a:rPr>
              <a:t>X, Y, θ, Scale (α), Confidence, Present/Absent</a:t>
            </a:r>
          </a:p>
          <a:p>
            <a:pPr algn="l">
              <a:lnSpc>
                <a:spcPts val="2160"/>
              </a:lnSpc>
            </a:pPr>
          </a:p>
          <a:p>
            <a:pPr algn="l">
              <a:lnSpc>
                <a:spcPts val="2160"/>
              </a:lnSpc>
              <a:spcBef>
                <a:spcPct val="0"/>
              </a:spcBef>
            </a:pPr>
            <a:r>
              <a:rPr lang="en-US" sz="1800">
                <a:solidFill>
                  <a:srgbClr val="FFFFFF"/>
                </a:solidFill>
                <a:latin typeface="Poppins"/>
                <a:ea typeface="Poppins"/>
                <a:cs typeface="Poppins"/>
                <a:sym typeface="Poppins"/>
              </a:rPr>
              <a:t>Coarse search → Precise refinement → Selective verification → Calibrated decision</a:t>
            </a:r>
          </a:p>
        </p:txBody>
      </p:sp>
      <p:sp>
        <p:nvSpPr>
          <p:cNvPr name="TextBox 40" id="40"/>
          <p:cNvSpPr txBox="true"/>
          <p:nvPr/>
        </p:nvSpPr>
        <p:spPr>
          <a:xfrm rot="0">
            <a:off x="9144000" y="2893281"/>
            <a:ext cx="8849756" cy="4019550"/>
          </a:xfrm>
          <a:prstGeom prst="rect">
            <a:avLst/>
          </a:prstGeom>
        </p:spPr>
        <p:txBody>
          <a:bodyPr anchor="t" rtlCol="false" tIns="0" lIns="0" bIns="0" rIns="0">
            <a:spAutoFit/>
          </a:bodyPr>
          <a:lstStyle/>
          <a:p>
            <a:pPr algn="l">
              <a:lnSpc>
                <a:spcPts val="2160"/>
              </a:lnSpc>
              <a:spcBef>
                <a:spcPct val="0"/>
              </a:spcBef>
            </a:pPr>
            <a:r>
              <a:rPr lang="en-US" b="true" sz="1800">
                <a:solidFill>
                  <a:srgbClr val="FFFFFF"/>
                </a:solidFill>
                <a:latin typeface="Poppins Bold"/>
                <a:ea typeface="Poppins Bold"/>
                <a:cs typeface="Poppins Bold"/>
                <a:sym typeface="Poppins Bold"/>
              </a:rPr>
              <a:t>KEY LOCALIZATION PRINCIPLE</a:t>
            </a:r>
          </a:p>
          <a:p>
            <a:pPr algn="l">
              <a:lnSpc>
                <a:spcPts val="2160"/>
              </a:lnSpc>
              <a:spcBef>
                <a:spcPct val="0"/>
              </a:spcBef>
            </a:pPr>
          </a:p>
          <a:p>
            <a:pPr algn="l">
              <a:lnSpc>
                <a:spcPts val="2160"/>
              </a:lnSpc>
              <a:spcBef>
                <a:spcPct val="0"/>
              </a:spcBef>
            </a:pPr>
            <a:r>
              <a:rPr lang="en-US" sz="1800">
                <a:solidFill>
                  <a:srgbClr val="FFFFFF"/>
                </a:solidFill>
                <a:latin typeface="Poppins"/>
                <a:ea typeface="Poppins"/>
                <a:cs typeface="Poppins"/>
                <a:sym typeface="Poppins"/>
              </a:rPr>
              <a:t>Coarse-to-fine search: rapidly narrow the search region, then refine the best candidate to sub-pixel accuracy.</a:t>
            </a:r>
          </a:p>
          <a:p>
            <a:pPr algn="l">
              <a:lnSpc>
                <a:spcPts val="2160"/>
              </a:lnSpc>
              <a:spcBef>
                <a:spcPct val="0"/>
              </a:spcBef>
            </a:pPr>
          </a:p>
          <a:p>
            <a:pPr algn="l">
              <a:lnSpc>
                <a:spcPts val="2160"/>
              </a:lnSpc>
              <a:spcBef>
                <a:spcPct val="0"/>
              </a:spcBef>
            </a:pPr>
            <a:r>
              <a:rPr lang="en-US" b="true" sz="1800">
                <a:solidFill>
                  <a:srgbClr val="FFFFFF"/>
                </a:solidFill>
                <a:latin typeface="Poppins Bold"/>
                <a:ea typeface="Poppins Bold"/>
                <a:cs typeface="Poppins Bold"/>
                <a:sym typeface="Poppins Bold"/>
              </a:rPr>
              <a:t>HANDLING PERIODIC STRUCTURES</a:t>
            </a:r>
          </a:p>
          <a:p>
            <a:pPr algn="l">
              <a:lnSpc>
                <a:spcPts val="2160"/>
              </a:lnSpc>
              <a:spcBef>
                <a:spcPct val="0"/>
              </a:spcBef>
            </a:pPr>
          </a:p>
          <a:p>
            <a:pPr algn="l">
              <a:lnSpc>
                <a:spcPts val="2160"/>
              </a:lnSpc>
              <a:spcBef>
                <a:spcPct val="0"/>
              </a:spcBef>
            </a:pPr>
            <a:r>
              <a:rPr lang="en-US" sz="1800">
                <a:solidFill>
                  <a:srgbClr val="FFFFFF"/>
                </a:solidFill>
                <a:latin typeface="Poppins"/>
                <a:ea typeface="Poppins"/>
                <a:cs typeface="Poppins"/>
                <a:sym typeface="Poppins"/>
              </a:rPr>
              <a:t>Repeating wafer patterns can produce multiple similar correlation peaks. Selective Siamese re-ranking is used only when classical matching is ambiguous.</a:t>
            </a:r>
          </a:p>
          <a:p>
            <a:pPr algn="l">
              <a:lnSpc>
                <a:spcPts val="2160"/>
              </a:lnSpc>
              <a:spcBef>
                <a:spcPct val="0"/>
              </a:spcBef>
            </a:pPr>
          </a:p>
          <a:p>
            <a:pPr algn="l">
              <a:lnSpc>
                <a:spcPts val="2160"/>
              </a:lnSpc>
              <a:spcBef>
                <a:spcPct val="0"/>
              </a:spcBef>
            </a:pPr>
            <a:r>
              <a:rPr lang="en-US" b="true" sz="1800">
                <a:solidFill>
                  <a:srgbClr val="FFFFFF"/>
                </a:solidFill>
                <a:latin typeface="Poppins Bold"/>
                <a:ea typeface="Poppins Bold"/>
                <a:cs typeface="Poppins Bold"/>
                <a:sym typeface="Poppins Bold"/>
              </a:rPr>
              <a:t>TARGET REJECTION</a:t>
            </a:r>
          </a:p>
          <a:p>
            <a:pPr algn="l">
              <a:lnSpc>
                <a:spcPts val="2160"/>
              </a:lnSpc>
              <a:spcBef>
                <a:spcPct val="0"/>
              </a:spcBef>
            </a:pPr>
          </a:p>
          <a:p>
            <a:pPr algn="l">
              <a:lnSpc>
                <a:spcPts val="2160"/>
              </a:lnSpc>
              <a:spcBef>
                <a:spcPct val="0"/>
              </a:spcBef>
            </a:pPr>
            <a:r>
              <a:rPr lang="en-US" sz="1800">
                <a:solidFill>
                  <a:srgbClr val="FFFFFF"/>
                </a:solidFill>
                <a:latin typeface="Poppins"/>
                <a:ea typeface="Poppins"/>
                <a:cs typeface="Poppins"/>
                <a:sym typeface="Poppins"/>
              </a:rPr>
              <a:t>The system does not force a match. Platt-calibrated confidence enables a Target Present / Target Absent decision.</a:t>
            </a:r>
          </a:p>
        </p:txBody>
      </p:sp>
      <p:grpSp>
        <p:nvGrpSpPr>
          <p:cNvPr name="Group 41" id="41"/>
          <p:cNvGrpSpPr/>
          <p:nvPr/>
        </p:nvGrpSpPr>
        <p:grpSpPr>
          <a:xfrm rot="0">
            <a:off x="8986260" y="2383566"/>
            <a:ext cx="8954107" cy="5096131"/>
            <a:chOff x="0" y="0"/>
            <a:chExt cx="11938809" cy="6794841"/>
          </a:xfrm>
        </p:grpSpPr>
        <p:sp>
          <p:nvSpPr>
            <p:cNvPr name="Freeform 42" id="42"/>
            <p:cNvSpPr/>
            <p:nvPr/>
          </p:nvSpPr>
          <p:spPr>
            <a:xfrm flipH="false" flipV="false" rot="0">
              <a:off x="0" y="0"/>
              <a:ext cx="11938910" cy="6794841"/>
            </a:xfrm>
            <a:custGeom>
              <a:avLst/>
              <a:gdLst/>
              <a:ahLst/>
              <a:cxnLst/>
              <a:rect r="r" b="b" t="t" l="l"/>
              <a:pathLst>
                <a:path h="6794841" w="11938910">
                  <a:moveTo>
                    <a:pt x="0" y="42981"/>
                  </a:moveTo>
                  <a:cubicBezTo>
                    <a:pt x="0" y="19245"/>
                    <a:pt x="14393" y="0"/>
                    <a:pt x="32144" y="0"/>
                  </a:cubicBezTo>
                  <a:lnTo>
                    <a:pt x="11906721" y="0"/>
                  </a:lnTo>
                  <a:cubicBezTo>
                    <a:pt x="11924471" y="0"/>
                    <a:pt x="11938910" y="19245"/>
                    <a:pt x="11938910" y="42981"/>
                  </a:cubicBezTo>
                  <a:lnTo>
                    <a:pt x="11938910" y="6751860"/>
                  </a:lnTo>
                  <a:cubicBezTo>
                    <a:pt x="11938910" y="6775596"/>
                    <a:pt x="11924471" y="6794841"/>
                    <a:pt x="11906721" y="6794841"/>
                  </a:cubicBezTo>
                  <a:lnTo>
                    <a:pt x="32144" y="6794841"/>
                  </a:lnTo>
                  <a:cubicBezTo>
                    <a:pt x="14393" y="6794841"/>
                    <a:pt x="0" y="6775596"/>
                    <a:pt x="0" y="6751860"/>
                  </a:cubicBezTo>
                  <a:close/>
                </a:path>
              </a:pathLst>
            </a:custGeom>
            <a:solidFill>
              <a:srgbClr val="FFFFFF">
                <a:alpha val="0"/>
              </a:srgbClr>
            </a:solidFill>
            <a:ln w="19050" cap="sq">
              <a:solidFill>
                <a:srgbClr val="88E555"/>
              </a:solidFill>
              <a:prstDash val="solid"/>
              <a:miter/>
            </a:ln>
          </p:spPr>
        </p:sp>
      </p:grpSp>
      <p:sp>
        <p:nvSpPr>
          <p:cNvPr name="TextBox 43" id="43"/>
          <p:cNvSpPr txBox="true"/>
          <p:nvPr/>
        </p:nvSpPr>
        <p:spPr>
          <a:xfrm rot="0">
            <a:off x="2443286" y="2148525"/>
            <a:ext cx="4791710" cy="285750"/>
          </a:xfrm>
          <a:prstGeom prst="rect">
            <a:avLst/>
          </a:prstGeom>
        </p:spPr>
        <p:txBody>
          <a:bodyPr anchor="t" rtlCol="false" tIns="0" lIns="0" bIns="0" rIns="0">
            <a:spAutoFit/>
          </a:bodyPr>
          <a:lstStyle/>
          <a:p>
            <a:pPr algn="ctr">
              <a:lnSpc>
                <a:spcPts val="2160"/>
              </a:lnSpc>
              <a:spcBef>
                <a:spcPct val="0"/>
              </a:spcBef>
            </a:pPr>
            <a:r>
              <a:rPr lang="en-US" b="true" sz="1800">
                <a:solidFill>
                  <a:srgbClr val="FFFFFF"/>
                </a:solidFill>
                <a:latin typeface="Poppins Bold"/>
                <a:ea typeface="Poppins Bold"/>
                <a:cs typeface="Poppins Bold"/>
                <a:sym typeface="Poppins Bold"/>
              </a:rPr>
              <a:t>LOCALISATION PIPELINE &amp; DECISION LOGIC</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543" cy="10287000"/>
            <a:chOff x="0" y="0"/>
            <a:chExt cx="24383390" cy="13716000"/>
          </a:xfrm>
        </p:grpSpPr>
        <p:sp>
          <p:nvSpPr>
            <p:cNvPr name="Freeform 3" id="3"/>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close/>
                </a:path>
              </a:pathLst>
            </a:custGeom>
            <a:solidFill>
              <a:srgbClr val="000036"/>
            </a:solidFill>
          </p:spPr>
        </p:sp>
      </p:grpSp>
      <p:grpSp>
        <p:nvGrpSpPr>
          <p:cNvPr name="Group 4" id="4"/>
          <p:cNvGrpSpPr/>
          <p:nvPr/>
        </p:nvGrpSpPr>
        <p:grpSpPr>
          <a:xfrm rot="0">
            <a:off x="0" y="0"/>
            <a:ext cx="18287543" cy="10287000"/>
            <a:chOff x="0" y="0"/>
            <a:chExt cx="24383390" cy="13716000"/>
          </a:xfrm>
        </p:grpSpPr>
        <p:sp>
          <p:nvSpPr>
            <p:cNvPr name="Freeform 5" id="5" descr="preencoded.png"/>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lnTo>
                    <a:pt x="0" y="0"/>
                  </a:lnTo>
                  <a:close/>
                </a:path>
              </a:pathLst>
            </a:custGeom>
            <a:blipFill>
              <a:blip r:embed="rId2">
                <a:alphaModFix amt="15000"/>
              </a:blip>
              <a:stretch>
                <a:fillRect l="-16360" t="0" r="-16361" b="0"/>
              </a:stretch>
            </a:blipFill>
          </p:spPr>
        </p:sp>
      </p:grpSp>
      <p:grpSp>
        <p:nvGrpSpPr>
          <p:cNvPr name="Group 6" id="6"/>
          <p:cNvGrpSpPr/>
          <p:nvPr/>
        </p:nvGrpSpPr>
        <p:grpSpPr>
          <a:xfrm rot="0">
            <a:off x="857250" y="429311"/>
            <a:ext cx="16573043" cy="999896"/>
            <a:chOff x="0" y="0"/>
            <a:chExt cx="22097390" cy="1333195"/>
          </a:xfrm>
        </p:grpSpPr>
        <p:sp>
          <p:nvSpPr>
            <p:cNvPr name="Freeform 7" id="7"/>
            <p:cNvSpPr/>
            <p:nvPr/>
          </p:nvSpPr>
          <p:spPr>
            <a:xfrm flipH="false" flipV="false" rot="0">
              <a:off x="0" y="0"/>
              <a:ext cx="22097364" cy="1333246"/>
            </a:xfrm>
            <a:custGeom>
              <a:avLst/>
              <a:gdLst/>
              <a:ahLst/>
              <a:cxnLst/>
              <a:rect r="r" b="b" t="t" l="l"/>
              <a:pathLst>
                <a:path h="1333246" w="22097364">
                  <a:moveTo>
                    <a:pt x="0" y="209042"/>
                  </a:moveTo>
                  <a:cubicBezTo>
                    <a:pt x="0" y="93599"/>
                    <a:pt x="93599" y="0"/>
                    <a:pt x="209042" y="0"/>
                  </a:cubicBezTo>
                  <a:lnTo>
                    <a:pt x="21888323" y="0"/>
                  </a:lnTo>
                  <a:cubicBezTo>
                    <a:pt x="22003765" y="0"/>
                    <a:pt x="22097364" y="93599"/>
                    <a:pt x="22097364" y="209042"/>
                  </a:cubicBezTo>
                  <a:lnTo>
                    <a:pt x="22097364" y="1124204"/>
                  </a:lnTo>
                  <a:cubicBezTo>
                    <a:pt x="22097364" y="1239647"/>
                    <a:pt x="22003765" y="1333246"/>
                    <a:pt x="21888323" y="1333246"/>
                  </a:cubicBezTo>
                  <a:lnTo>
                    <a:pt x="209042" y="1333246"/>
                  </a:lnTo>
                  <a:cubicBezTo>
                    <a:pt x="93599" y="1333246"/>
                    <a:pt x="0" y="1239647"/>
                    <a:pt x="0" y="1124204"/>
                  </a:cubicBezTo>
                  <a:close/>
                </a:path>
              </a:pathLst>
            </a:custGeom>
            <a:solidFill>
              <a:srgbClr val="FFFFFF">
                <a:alpha val="90196"/>
              </a:srgbClr>
            </a:solidFill>
          </p:spPr>
        </p:sp>
      </p:grpSp>
      <p:grpSp>
        <p:nvGrpSpPr>
          <p:cNvPr name="Group 8" id="8"/>
          <p:cNvGrpSpPr/>
          <p:nvPr/>
        </p:nvGrpSpPr>
        <p:grpSpPr>
          <a:xfrm rot="0">
            <a:off x="16287750" y="571957"/>
            <a:ext cx="714604" cy="714604"/>
            <a:chOff x="0" y="0"/>
            <a:chExt cx="952805" cy="952805"/>
          </a:xfrm>
        </p:grpSpPr>
        <p:sp>
          <p:nvSpPr>
            <p:cNvPr name="Freeform 9" id="9" descr="preencoded.png"/>
            <p:cNvSpPr/>
            <p:nvPr/>
          </p:nvSpPr>
          <p:spPr>
            <a:xfrm flipH="false" flipV="false" rot="0">
              <a:off x="0" y="0"/>
              <a:ext cx="952754" cy="952754"/>
            </a:xfrm>
            <a:custGeom>
              <a:avLst/>
              <a:gdLst/>
              <a:ahLst/>
              <a:cxnLst/>
              <a:rect r="r" b="b" t="t" l="l"/>
              <a:pathLst>
                <a:path h="952754" w="952754">
                  <a:moveTo>
                    <a:pt x="0" y="0"/>
                  </a:moveTo>
                  <a:lnTo>
                    <a:pt x="952754" y="0"/>
                  </a:lnTo>
                  <a:lnTo>
                    <a:pt x="952754" y="952754"/>
                  </a:lnTo>
                  <a:lnTo>
                    <a:pt x="0" y="952754"/>
                  </a:lnTo>
                  <a:lnTo>
                    <a:pt x="0" y="0"/>
                  </a:lnTo>
                  <a:close/>
                </a:path>
              </a:pathLst>
            </a:custGeom>
            <a:blipFill>
              <a:blip r:embed="rId3"/>
              <a:stretch>
                <a:fillRect l="0" t="0" r="-5" b="-5"/>
              </a:stretch>
            </a:blipFill>
          </p:spPr>
        </p:sp>
      </p:grpSp>
      <p:grpSp>
        <p:nvGrpSpPr>
          <p:cNvPr name="Group 10" id="10"/>
          <p:cNvGrpSpPr/>
          <p:nvPr/>
        </p:nvGrpSpPr>
        <p:grpSpPr>
          <a:xfrm rot="0">
            <a:off x="1137533" y="571957"/>
            <a:ext cx="8618220" cy="701040"/>
            <a:chOff x="0" y="0"/>
            <a:chExt cx="11490960" cy="934720"/>
          </a:xfrm>
        </p:grpSpPr>
        <p:sp>
          <p:nvSpPr>
            <p:cNvPr name="Freeform 11" id="11"/>
            <p:cNvSpPr/>
            <p:nvPr/>
          </p:nvSpPr>
          <p:spPr>
            <a:xfrm flipH="false" flipV="false" rot="0">
              <a:off x="0" y="0"/>
              <a:ext cx="11490960" cy="934720"/>
            </a:xfrm>
            <a:custGeom>
              <a:avLst/>
              <a:gdLst/>
              <a:ahLst/>
              <a:cxnLst/>
              <a:rect r="r" b="b" t="t" l="l"/>
              <a:pathLst>
                <a:path h="934720" w="11490960">
                  <a:moveTo>
                    <a:pt x="0" y="0"/>
                  </a:moveTo>
                  <a:lnTo>
                    <a:pt x="11490960" y="0"/>
                  </a:lnTo>
                  <a:lnTo>
                    <a:pt x="11490960" y="934720"/>
                  </a:lnTo>
                  <a:lnTo>
                    <a:pt x="0" y="934720"/>
                  </a:lnTo>
                  <a:lnTo>
                    <a:pt x="0" y="0"/>
                  </a:lnTo>
                  <a:close/>
                </a:path>
              </a:pathLst>
            </a:custGeom>
            <a:blipFill>
              <a:blip r:embed="rId4"/>
              <a:stretch>
                <a:fillRect l="-11" t="0" r="-11" b="0"/>
              </a:stretch>
            </a:blipFill>
          </p:spPr>
        </p:sp>
      </p:grpSp>
      <p:grpSp>
        <p:nvGrpSpPr>
          <p:cNvPr name="Group 12" id="12"/>
          <p:cNvGrpSpPr/>
          <p:nvPr/>
        </p:nvGrpSpPr>
        <p:grpSpPr>
          <a:xfrm rot="0">
            <a:off x="0" y="0"/>
            <a:ext cx="18287543" cy="10287000"/>
            <a:chOff x="0" y="0"/>
            <a:chExt cx="24383390" cy="13716000"/>
          </a:xfrm>
        </p:grpSpPr>
        <p:sp>
          <p:nvSpPr>
            <p:cNvPr name="Freeform 13" id="13"/>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close/>
                </a:path>
              </a:pathLst>
            </a:custGeom>
            <a:solidFill>
              <a:srgbClr val="000036"/>
            </a:solidFill>
          </p:spPr>
        </p:sp>
      </p:grpSp>
      <p:grpSp>
        <p:nvGrpSpPr>
          <p:cNvPr name="Group 14" id="14"/>
          <p:cNvGrpSpPr/>
          <p:nvPr/>
        </p:nvGrpSpPr>
        <p:grpSpPr>
          <a:xfrm rot="0">
            <a:off x="0" y="0"/>
            <a:ext cx="18287543" cy="10287000"/>
            <a:chOff x="0" y="0"/>
            <a:chExt cx="24383390" cy="13716000"/>
          </a:xfrm>
        </p:grpSpPr>
        <p:sp>
          <p:nvSpPr>
            <p:cNvPr name="Freeform 15" id="15" descr="preencoded.png"/>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lnTo>
                    <a:pt x="0" y="0"/>
                  </a:lnTo>
                  <a:close/>
                </a:path>
              </a:pathLst>
            </a:custGeom>
            <a:blipFill>
              <a:blip r:embed="rId2">
                <a:alphaModFix amt="9999"/>
              </a:blip>
              <a:stretch>
                <a:fillRect l="-16360" t="0" r="-16361" b="0"/>
              </a:stretch>
            </a:blipFill>
          </p:spPr>
        </p:sp>
      </p:grpSp>
      <p:grpSp>
        <p:nvGrpSpPr>
          <p:cNvPr name="Group 16" id="16"/>
          <p:cNvGrpSpPr/>
          <p:nvPr/>
        </p:nvGrpSpPr>
        <p:grpSpPr>
          <a:xfrm rot="0">
            <a:off x="857250" y="429311"/>
            <a:ext cx="16573043" cy="999896"/>
            <a:chOff x="0" y="0"/>
            <a:chExt cx="22097390" cy="1333195"/>
          </a:xfrm>
        </p:grpSpPr>
        <p:sp>
          <p:nvSpPr>
            <p:cNvPr name="Freeform 17" id="17"/>
            <p:cNvSpPr/>
            <p:nvPr/>
          </p:nvSpPr>
          <p:spPr>
            <a:xfrm flipH="false" flipV="false" rot="0">
              <a:off x="0" y="0"/>
              <a:ext cx="22097364" cy="1333246"/>
            </a:xfrm>
            <a:custGeom>
              <a:avLst/>
              <a:gdLst/>
              <a:ahLst/>
              <a:cxnLst/>
              <a:rect r="r" b="b" t="t" l="l"/>
              <a:pathLst>
                <a:path h="1333246" w="22097364">
                  <a:moveTo>
                    <a:pt x="0" y="209042"/>
                  </a:moveTo>
                  <a:cubicBezTo>
                    <a:pt x="0" y="93599"/>
                    <a:pt x="93599" y="0"/>
                    <a:pt x="209042" y="0"/>
                  </a:cubicBezTo>
                  <a:lnTo>
                    <a:pt x="21888323" y="0"/>
                  </a:lnTo>
                  <a:cubicBezTo>
                    <a:pt x="22003765" y="0"/>
                    <a:pt x="22097364" y="93599"/>
                    <a:pt x="22097364" y="209042"/>
                  </a:cubicBezTo>
                  <a:lnTo>
                    <a:pt x="22097364" y="1124204"/>
                  </a:lnTo>
                  <a:cubicBezTo>
                    <a:pt x="22097364" y="1239647"/>
                    <a:pt x="22003765" y="1333246"/>
                    <a:pt x="21888323" y="1333246"/>
                  </a:cubicBezTo>
                  <a:lnTo>
                    <a:pt x="209042" y="1333246"/>
                  </a:lnTo>
                  <a:cubicBezTo>
                    <a:pt x="93599" y="1333246"/>
                    <a:pt x="0" y="1239647"/>
                    <a:pt x="0" y="1124204"/>
                  </a:cubicBezTo>
                  <a:close/>
                </a:path>
              </a:pathLst>
            </a:custGeom>
            <a:solidFill>
              <a:srgbClr val="FFFFFF">
                <a:alpha val="90196"/>
              </a:srgbClr>
            </a:solidFill>
          </p:spPr>
        </p:sp>
      </p:grpSp>
      <p:grpSp>
        <p:nvGrpSpPr>
          <p:cNvPr name="Group 18" id="18"/>
          <p:cNvGrpSpPr/>
          <p:nvPr/>
        </p:nvGrpSpPr>
        <p:grpSpPr>
          <a:xfrm rot="0">
            <a:off x="1286561" y="571957"/>
            <a:ext cx="1899666" cy="714604"/>
            <a:chOff x="0" y="0"/>
            <a:chExt cx="2532888" cy="952805"/>
          </a:xfrm>
        </p:grpSpPr>
        <p:sp>
          <p:nvSpPr>
            <p:cNvPr name="Freeform 19" id="19" descr="preencoded.png"/>
            <p:cNvSpPr/>
            <p:nvPr/>
          </p:nvSpPr>
          <p:spPr>
            <a:xfrm flipH="false" flipV="false" rot="0">
              <a:off x="0" y="0"/>
              <a:ext cx="2532888" cy="952754"/>
            </a:xfrm>
            <a:custGeom>
              <a:avLst/>
              <a:gdLst/>
              <a:ahLst/>
              <a:cxnLst/>
              <a:rect r="r" b="b" t="t" l="l"/>
              <a:pathLst>
                <a:path h="952754" w="2532888">
                  <a:moveTo>
                    <a:pt x="0" y="0"/>
                  </a:moveTo>
                  <a:lnTo>
                    <a:pt x="2532888" y="0"/>
                  </a:lnTo>
                  <a:lnTo>
                    <a:pt x="2532888" y="952754"/>
                  </a:lnTo>
                  <a:lnTo>
                    <a:pt x="0" y="952754"/>
                  </a:lnTo>
                  <a:lnTo>
                    <a:pt x="0" y="0"/>
                  </a:lnTo>
                  <a:close/>
                </a:path>
              </a:pathLst>
            </a:custGeom>
            <a:blipFill>
              <a:blip r:embed="rId5"/>
              <a:stretch>
                <a:fillRect l="0" t="-10" r="0" b="-14"/>
              </a:stretch>
            </a:blipFill>
          </p:spPr>
        </p:sp>
      </p:grpSp>
      <p:grpSp>
        <p:nvGrpSpPr>
          <p:cNvPr name="Group 20" id="20"/>
          <p:cNvGrpSpPr/>
          <p:nvPr/>
        </p:nvGrpSpPr>
        <p:grpSpPr>
          <a:xfrm rot="0">
            <a:off x="16287750" y="571957"/>
            <a:ext cx="714604" cy="714604"/>
            <a:chOff x="0" y="0"/>
            <a:chExt cx="952805" cy="952805"/>
          </a:xfrm>
        </p:grpSpPr>
        <p:sp>
          <p:nvSpPr>
            <p:cNvPr name="Freeform 21" id="21" descr="preencoded.png"/>
            <p:cNvSpPr/>
            <p:nvPr/>
          </p:nvSpPr>
          <p:spPr>
            <a:xfrm flipH="false" flipV="false" rot="0">
              <a:off x="0" y="0"/>
              <a:ext cx="952754" cy="952754"/>
            </a:xfrm>
            <a:custGeom>
              <a:avLst/>
              <a:gdLst/>
              <a:ahLst/>
              <a:cxnLst/>
              <a:rect r="r" b="b" t="t" l="l"/>
              <a:pathLst>
                <a:path h="952754" w="952754">
                  <a:moveTo>
                    <a:pt x="0" y="0"/>
                  </a:moveTo>
                  <a:lnTo>
                    <a:pt x="952754" y="0"/>
                  </a:lnTo>
                  <a:lnTo>
                    <a:pt x="952754" y="952754"/>
                  </a:lnTo>
                  <a:lnTo>
                    <a:pt x="0" y="952754"/>
                  </a:lnTo>
                  <a:lnTo>
                    <a:pt x="0" y="0"/>
                  </a:lnTo>
                  <a:close/>
                </a:path>
              </a:pathLst>
            </a:custGeom>
            <a:blipFill>
              <a:blip r:embed="rId3"/>
              <a:stretch>
                <a:fillRect l="0" t="0" r="-5" b="-5"/>
              </a:stretch>
            </a:blipFill>
          </p:spPr>
        </p:sp>
      </p:grpSp>
      <p:grpSp>
        <p:nvGrpSpPr>
          <p:cNvPr name="Group 22" id="22"/>
          <p:cNvGrpSpPr/>
          <p:nvPr/>
        </p:nvGrpSpPr>
        <p:grpSpPr>
          <a:xfrm rot="0">
            <a:off x="857250" y="1857146"/>
            <a:ext cx="113843" cy="614477"/>
            <a:chOff x="0" y="0"/>
            <a:chExt cx="151790" cy="819302"/>
          </a:xfrm>
        </p:grpSpPr>
        <p:sp>
          <p:nvSpPr>
            <p:cNvPr name="Freeform 23" id="23"/>
            <p:cNvSpPr/>
            <p:nvPr/>
          </p:nvSpPr>
          <p:spPr>
            <a:xfrm flipH="false" flipV="false" rot="0">
              <a:off x="0" y="0"/>
              <a:ext cx="151765" cy="819277"/>
            </a:xfrm>
            <a:custGeom>
              <a:avLst/>
              <a:gdLst/>
              <a:ahLst/>
              <a:cxnLst/>
              <a:rect r="r" b="b" t="t" l="l"/>
              <a:pathLst>
                <a:path h="819277" w="151765">
                  <a:moveTo>
                    <a:pt x="0" y="0"/>
                  </a:moveTo>
                  <a:lnTo>
                    <a:pt x="151765" y="0"/>
                  </a:lnTo>
                  <a:lnTo>
                    <a:pt x="151765" y="819277"/>
                  </a:lnTo>
                  <a:lnTo>
                    <a:pt x="0" y="819277"/>
                  </a:lnTo>
                  <a:close/>
                </a:path>
              </a:pathLst>
            </a:custGeom>
            <a:solidFill>
              <a:srgbClr val="88E555"/>
            </a:solidFill>
          </p:spPr>
        </p:sp>
      </p:grpSp>
      <p:grpSp>
        <p:nvGrpSpPr>
          <p:cNvPr name="Group 24" id="24"/>
          <p:cNvGrpSpPr/>
          <p:nvPr/>
        </p:nvGrpSpPr>
        <p:grpSpPr>
          <a:xfrm rot="0">
            <a:off x="1257757" y="1712415"/>
            <a:ext cx="11736781" cy="967969"/>
            <a:chOff x="0" y="0"/>
            <a:chExt cx="15649042" cy="1290625"/>
          </a:xfrm>
        </p:grpSpPr>
        <p:sp>
          <p:nvSpPr>
            <p:cNvPr name="Freeform 25" id="25"/>
            <p:cNvSpPr/>
            <p:nvPr/>
          </p:nvSpPr>
          <p:spPr>
            <a:xfrm flipH="false" flipV="false" rot="0">
              <a:off x="0" y="0"/>
              <a:ext cx="15649042" cy="1290624"/>
            </a:xfrm>
            <a:custGeom>
              <a:avLst/>
              <a:gdLst/>
              <a:ahLst/>
              <a:cxnLst/>
              <a:rect r="r" b="b" t="t" l="l"/>
              <a:pathLst>
                <a:path h="1290624" w="15649042">
                  <a:moveTo>
                    <a:pt x="0" y="0"/>
                  </a:moveTo>
                  <a:lnTo>
                    <a:pt x="15649042" y="0"/>
                  </a:lnTo>
                  <a:lnTo>
                    <a:pt x="15649042" y="1290624"/>
                  </a:lnTo>
                  <a:lnTo>
                    <a:pt x="0" y="1290624"/>
                  </a:lnTo>
                  <a:close/>
                </a:path>
              </a:pathLst>
            </a:custGeom>
            <a:blipFill>
              <a:blip r:embed="rId6">
                <a:alphaModFix amt="0"/>
              </a:blip>
              <a:stretch>
                <a:fillRect l="0" t="-200055" r="0" b="-172463"/>
              </a:stretch>
            </a:blipFill>
          </p:spPr>
        </p:sp>
        <p:sp>
          <p:nvSpPr>
            <p:cNvPr name="TextBox 26" id="26"/>
            <p:cNvSpPr txBox="true"/>
            <p:nvPr/>
          </p:nvSpPr>
          <p:spPr>
            <a:xfrm>
              <a:off x="0" y="-38100"/>
              <a:ext cx="15649042" cy="1328725"/>
            </a:xfrm>
            <a:prstGeom prst="rect">
              <a:avLst/>
            </a:prstGeom>
          </p:spPr>
          <p:txBody>
            <a:bodyPr anchor="ctr" rtlCol="false" tIns="0" lIns="0" bIns="0" rIns="0"/>
            <a:lstStyle/>
            <a:p>
              <a:pPr algn="l">
                <a:lnSpc>
                  <a:spcPts val="4680"/>
                </a:lnSpc>
              </a:pPr>
              <a:r>
                <a:rPr lang="en-US" sz="3900" b="true">
                  <a:solidFill>
                    <a:srgbClr val="FFFFFF"/>
                  </a:solidFill>
                  <a:latin typeface="Poppins Bold"/>
                  <a:ea typeface="Poppins Bold"/>
                  <a:cs typeface="Poppins Bold"/>
                  <a:sym typeface="Poppins Bold"/>
                </a:rPr>
                <a:t>IMPLEMENTATION &amp; EXECUTION COMMANDS</a:t>
              </a:r>
            </a:p>
          </p:txBody>
        </p:sp>
      </p:grpSp>
      <p:grpSp>
        <p:nvGrpSpPr>
          <p:cNvPr name="Group 27" id="27"/>
          <p:cNvGrpSpPr/>
          <p:nvPr/>
        </p:nvGrpSpPr>
        <p:grpSpPr>
          <a:xfrm rot="0">
            <a:off x="254059" y="2680384"/>
            <a:ext cx="17602793" cy="7508453"/>
            <a:chOff x="0" y="0"/>
            <a:chExt cx="23234894" cy="9910819"/>
          </a:xfrm>
        </p:grpSpPr>
        <p:sp>
          <p:nvSpPr>
            <p:cNvPr name="Freeform 28" id="28"/>
            <p:cNvSpPr/>
            <p:nvPr/>
          </p:nvSpPr>
          <p:spPr>
            <a:xfrm flipH="false" flipV="false" rot="0">
              <a:off x="0" y="0"/>
              <a:ext cx="23234994" cy="9910819"/>
            </a:xfrm>
            <a:custGeom>
              <a:avLst/>
              <a:gdLst/>
              <a:ahLst/>
              <a:cxnLst/>
              <a:rect r="r" b="b" t="t" l="l"/>
              <a:pathLst>
                <a:path h="9910819" w="23234994">
                  <a:moveTo>
                    <a:pt x="0" y="62691"/>
                  </a:moveTo>
                  <a:cubicBezTo>
                    <a:pt x="0" y="28071"/>
                    <a:pt x="28011" y="0"/>
                    <a:pt x="62557" y="0"/>
                  </a:cubicBezTo>
                  <a:lnTo>
                    <a:pt x="23172443" y="0"/>
                  </a:lnTo>
                  <a:cubicBezTo>
                    <a:pt x="23206990" y="0"/>
                    <a:pt x="23234994" y="28071"/>
                    <a:pt x="23234994" y="62691"/>
                  </a:cubicBezTo>
                  <a:lnTo>
                    <a:pt x="23234994" y="9848128"/>
                  </a:lnTo>
                  <a:cubicBezTo>
                    <a:pt x="23234994" y="9882749"/>
                    <a:pt x="23206990" y="9910819"/>
                    <a:pt x="23172443" y="9910819"/>
                  </a:cubicBezTo>
                  <a:lnTo>
                    <a:pt x="62557" y="9910819"/>
                  </a:lnTo>
                  <a:cubicBezTo>
                    <a:pt x="28011" y="9910819"/>
                    <a:pt x="0" y="9882749"/>
                    <a:pt x="0" y="9848128"/>
                  </a:cubicBezTo>
                  <a:close/>
                </a:path>
              </a:pathLst>
            </a:custGeom>
            <a:solidFill>
              <a:srgbClr val="FFFFFF">
                <a:alpha val="0"/>
              </a:srgbClr>
            </a:solidFill>
            <a:ln w="19050" cap="sq">
              <a:solidFill>
                <a:srgbClr val="88E555"/>
              </a:solidFill>
              <a:prstDash val="solid"/>
              <a:miter/>
            </a:ln>
          </p:spPr>
        </p:sp>
      </p:grpSp>
      <p:grpSp>
        <p:nvGrpSpPr>
          <p:cNvPr name="Group 29" id="29"/>
          <p:cNvGrpSpPr/>
          <p:nvPr/>
        </p:nvGrpSpPr>
        <p:grpSpPr>
          <a:xfrm rot="0">
            <a:off x="430682" y="2790063"/>
            <a:ext cx="342443" cy="342443"/>
            <a:chOff x="0" y="0"/>
            <a:chExt cx="456590" cy="456590"/>
          </a:xfrm>
        </p:grpSpPr>
        <p:sp>
          <p:nvSpPr>
            <p:cNvPr name="Freeform 30" id="30"/>
            <p:cNvSpPr/>
            <p:nvPr/>
          </p:nvSpPr>
          <p:spPr>
            <a:xfrm flipH="false" flipV="false" rot="0">
              <a:off x="0" y="0"/>
              <a:ext cx="456565" cy="456565"/>
            </a:xfrm>
            <a:custGeom>
              <a:avLst/>
              <a:gdLst/>
              <a:ahLst/>
              <a:cxnLst/>
              <a:rect r="r" b="b" t="t" l="l"/>
              <a:pathLst>
                <a:path h="456565" w="456565">
                  <a:moveTo>
                    <a:pt x="0" y="228346"/>
                  </a:moveTo>
                  <a:cubicBezTo>
                    <a:pt x="0" y="102235"/>
                    <a:pt x="102235" y="0"/>
                    <a:pt x="228346" y="0"/>
                  </a:cubicBezTo>
                  <a:cubicBezTo>
                    <a:pt x="354457" y="0"/>
                    <a:pt x="456565" y="102235"/>
                    <a:pt x="456565" y="228346"/>
                  </a:cubicBezTo>
                  <a:cubicBezTo>
                    <a:pt x="456565" y="354457"/>
                    <a:pt x="354330" y="456565"/>
                    <a:pt x="228346" y="456565"/>
                  </a:cubicBezTo>
                  <a:cubicBezTo>
                    <a:pt x="102362" y="456565"/>
                    <a:pt x="0" y="354330"/>
                    <a:pt x="0" y="228346"/>
                  </a:cubicBezTo>
                  <a:close/>
                </a:path>
              </a:pathLst>
            </a:custGeom>
            <a:blipFill>
              <a:blip r:embed="rId6">
                <a:alphaModFix amt="0"/>
              </a:blip>
              <a:stretch>
                <a:fillRect l="-78307" t="0" r="-78313" b="-5"/>
              </a:stretch>
            </a:blipFill>
            <a:ln w="57150" cap="sq">
              <a:solidFill>
                <a:srgbClr val="88E555"/>
              </a:solidFill>
              <a:prstDash val="solid"/>
              <a:miter/>
            </a:ln>
          </p:spPr>
        </p:sp>
      </p:grpSp>
      <p:grpSp>
        <p:nvGrpSpPr>
          <p:cNvPr name="Group 31" id="31"/>
          <p:cNvGrpSpPr/>
          <p:nvPr/>
        </p:nvGrpSpPr>
        <p:grpSpPr>
          <a:xfrm rot="0">
            <a:off x="17514409" y="2790063"/>
            <a:ext cx="342443" cy="342443"/>
            <a:chOff x="0" y="0"/>
            <a:chExt cx="456590" cy="456590"/>
          </a:xfrm>
        </p:grpSpPr>
        <p:sp>
          <p:nvSpPr>
            <p:cNvPr name="Freeform 32" id="32"/>
            <p:cNvSpPr/>
            <p:nvPr/>
          </p:nvSpPr>
          <p:spPr>
            <a:xfrm flipH="false" flipV="false" rot="0">
              <a:off x="0" y="0"/>
              <a:ext cx="456565" cy="456565"/>
            </a:xfrm>
            <a:custGeom>
              <a:avLst/>
              <a:gdLst/>
              <a:ahLst/>
              <a:cxnLst/>
              <a:rect r="r" b="b" t="t" l="l"/>
              <a:pathLst>
                <a:path h="456565" w="456565">
                  <a:moveTo>
                    <a:pt x="0" y="0"/>
                  </a:moveTo>
                  <a:lnTo>
                    <a:pt x="456565" y="0"/>
                  </a:lnTo>
                  <a:lnTo>
                    <a:pt x="456565" y="456565"/>
                  </a:lnTo>
                  <a:lnTo>
                    <a:pt x="0" y="456565"/>
                  </a:lnTo>
                  <a:close/>
                </a:path>
              </a:pathLst>
            </a:custGeom>
            <a:blipFill>
              <a:blip r:embed="rId6">
                <a:alphaModFix amt="0"/>
              </a:blip>
              <a:stretch>
                <a:fillRect l="-78307" t="0" r="-78313" b="-5"/>
              </a:stretch>
            </a:blipFill>
            <a:ln w="57150" cap="sq">
              <a:solidFill>
                <a:srgbClr val="88E555"/>
              </a:solidFill>
              <a:prstDash val="solid"/>
              <a:miter/>
            </a:ln>
          </p:spPr>
        </p:sp>
      </p:grpSp>
      <p:grpSp>
        <p:nvGrpSpPr>
          <p:cNvPr name="Group 33" id="33"/>
          <p:cNvGrpSpPr/>
          <p:nvPr/>
        </p:nvGrpSpPr>
        <p:grpSpPr>
          <a:xfrm rot="0">
            <a:off x="256759" y="9685777"/>
            <a:ext cx="347844" cy="342443"/>
            <a:chOff x="0" y="0"/>
            <a:chExt cx="463793" cy="456590"/>
          </a:xfrm>
        </p:grpSpPr>
        <p:sp>
          <p:nvSpPr>
            <p:cNvPr name="Freeform 34" id="34"/>
            <p:cNvSpPr/>
            <p:nvPr/>
          </p:nvSpPr>
          <p:spPr>
            <a:xfrm flipH="false" flipV="false" rot="0">
              <a:off x="0" y="0"/>
              <a:ext cx="463767" cy="456565"/>
            </a:xfrm>
            <a:custGeom>
              <a:avLst/>
              <a:gdLst/>
              <a:ahLst/>
              <a:cxnLst/>
              <a:rect r="r" b="b" t="t" l="l"/>
              <a:pathLst>
                <a:path h="456565" w="463767">
                  <a:moveTo>
                    <a:pt x="0" y="0"/>
                  </a:moveTo>
                  <a:lnTo>
                    <a:pt x="463767" y="0"/>
                  </a:lnTo>
                  <a:lnTo>
                    <a:pt x="463767" y="456565"/>
                  </a:lnTo>
                  <a:lnTo>
                    <a:pt x="0" y="456565"/>
                  </a:lnTo>
                  <a:close/>
                </a:path>
              </a:pathLst>
            </a:custGeom>
            <a:blipFill>
              <a:blip r:embed="rId6">
                <a:alphaModFix amt="0"/>
              </a:blip>
              <a:stretch>
                <a:fillRect l="-77091" t="0" r="-75544" b="-5"/>
              </a:stretch>
            </a:blipFill>
            <a:ln w="57150" cap="sq">
              <a:solidFill>
                <a:srgbClr val="88E555"/>
              </a:solidFill>
              <a:prstDash val="solid"/>
              <a:miter/>
            </a:ln>
          </p:spPr>
        </p:sp>
      </p:grpSp>
      <p:grpSp>
        <p:nvGrpSpPr>
          <p:cNvPr name="Group 35" id="35"/>
          <p:cNvGrpSpPr/>
          <p:nvPr/>
        </p:nvGrpSpPr>
        <p:grpSpPr>
          <a:xfrm rot="0">
            <a:off x="17526147" y="9714697"/>
            <a:ext cx="342443" cy="342443"/>
            <a:chOff x="0" y="0"/>
            <a:chExt cx="456590" cy="456590"/>
          </a:xfrm>
        </p:grpSpPr>
        <p:sp>
          <p:nvSpPr>
            <p:cNvPr name="Freeform 36" id="36"/>
            <p:cNvSpPr/>
            <p:nvPr/>
          </p:nvSpPr>
          <p:spPr>
            <a:xfrm flipH="false" flipV="false" rot="0">
              <a:off x="0" y="0"/>
              <a:ext cx="456565" cy="456565"/>
            </a:xfrm>
            <a:custGeom>
              <a:avLst/>
              <a:gdLst/>
              <a:ahLst/>
              <a:cxnLst/>
              <a:rect r="r" b="b" t="t" l="l"/>
              <a:pathLst>
                <a:path h="456565" w="456565">
                  <a:moveTo>
                    <a:pt x="0" y="0"/>
                  </a:moveTo>
                  <a:lnTo>
                    <a:pt x="456565" y="0"/>
                  </a:lnTo>
                  <a:lnTo>
                    <a:pt x="456565" y="456565"/>
                  </a:lnTo>
                  <a:lnTo>
                    <a:pt x="0" y="456565"/>
                  </a:lnTo>
                  <a:close/>
                </a:path>
              </a:pathLst>
            </a:custGeom>
            <a:blipFill>
              <a:blip r:embed="rId6">
                <a:alphaModFix amt="0"/>
              </a:blip>
              <a:stretch>
                <a:fillRect l="-78307" t="0" r="-78313" b="-5"/>
              </a:stretch>
            </a:blipFill>
            <a:ln w="57150" cap="sq">
              <a:solidFill>
                <a:srgbClr val="88E555"/>
              </a:solidFill>
              <a:prstDash val="solid"/>
              <a:miter/>
            </a:ln>
          </p:spPr>
        </p:sp>
      </p:grpSp>
      <p:grpSp>
        <p:nvGrpSpPr>
          <p:cNvPr name="Group 37" id="37"/>
          <p:cNvGrpSpPr/>
          <p:nvPr/>
        </p:nvGrpSpPr>
        <p:grpSpPr>
          <a:xfrm rot="0">
            <a:off x="8017116" y="342900"/>
            <a:ext cx="2411054" cy="1175385"/>
            <a:chOff x="0" y="0"/>
            <a:chExt cx="3214738" cy="1567180"/>
          </a:xfrm>
        </p:grpSpPr>
        <p:sp>
          <p:nvSpPr>
            <p:cNvPr name="Freeform 38" id="38"/>
            <p:cNvSpPr/>
            <p:nvPr/>
          </p:nvSpPr>
          <p:spPr>
            <a:xfrm flipH="false" flipV="false" rot="0">
              <a:off x="0" y="0"/>
              <a:ext cx="3214751" cy="1567180"/>
            </a:xfrm>
            <a:custGeom>
              <a:avLst/>
              <a:gdLst/>
              <a:ahLst/>
              <a:cxnLst/>
              <a:rect r="r" b="b" t="t" l="l"/>
              <a:pathLst>
                <a:path h="1567180" w="3214751">
                  <a:moveTo>
                    <a:pt x="0" y="0"/>
                  </a:moveTo>
                  <a:lnTo>
                    <a:pt x="3214751" y="0"/>
                  </a:lnTo>
                  <a:lnTo>
                    <a:pt x="3214751" y="1567180"/>
                  </a:lnTo>
                  <a:lnTo>
                    <a:pt x="0" y="1567180"/>
                  </a:lnTo>
                  <a:lnTo>
                    <a:pt x="0" y="0"/>
                  </a:lnTo>
                  <a:close/>
                </a:path>
              </a:pathLst>
            </a:custGeom>
            <a:blipFill>
              <a:blip r:embed="rId7"/>
              <a:stretch>
                <a:fillRect l="0" t="0" r="0" b="0"/>
              </a:stretch>
            </a:blipFill>
          </p:spPr>
        </p:sp>
      </p:grpSp>
      <p:grpSp>
        <p:nvGrpSpPr>
          <p:cNvPr name="Group 39" id="39"/>
          <p:cNvGrpSpPr/>
          <p:nvPr/>
        </p:nvGrpSpPr>
        <p:grpSpPr>
          <a:xfrm rot="0">
            <a:off x="857250" y="361188"/>
            <a:ext cx="16573043" cy="1286561"/>
            <a:chOff x="0" y="0"/>
            <a:chExt cx="22097390" cy="1715414"/>
          </a:xfrm>
        </p:grpSpPr>
        <p:sp>
          <p:nvSpPr>
            <p:cNvPr name="Freeform 40" id="40"/>
            <p:cNvSpPr/>
            <p:nvPr/>
          </p:nvSpPr>
          <p:spPr>
            <a:xfrm flipH="false" flipV="false" rot="0">
              <a:off x="0" y="0"/>
              <a:ext cx="22097366" cy="1715389"/>
            </a:xfrm>
            <a:custGeom>
              <a:avLst/>
              <a:gdLst/>
              <a:ahLst/>
              <a:cxnLst/>
              <a:rect r="r" b="b" t="t" l="l"/>
              <a:pathLst>
                <a:path h="1715389" w="22097366">
                  <a:moveTo>
                    <a:pt x="0" y="162560"/>
                  </a:moveTo>
                  <a:cubicBezTo>
                    <a:pt x="0" y="72771"/>
                    <a:pt x="72771" y="0"/>
                    <a:pt x="162560" y="0"/>
                  </a:cubicBezTo>
                  <a:lnTo>
                    <a:pt x="21934805" y="0"/>
                  </a:lnTo>
                  <a:cubicBezTo>
                    <a:pt x="22024594" y="0"/>
                    <a:pt x="22097366" y="72771"/>
                    <a:pt x="22097366" y="162560"/>
                  </a:cubicBezTo>
                  <a:lnTo>
                    <a:pt x="22097366" y="1552829"/>
                  </a:lnTo>
                  <a:cubicBezTo>
                    <a:pt x="22097366" y="1642618"/>
                    <a:pt x="22024594" y="1715389"/>
                    <a:pt x="21934805" y="1715389"/>
                  </a:cubicBezTo>
                  <a:lnTo>
                    <a:pt x="162560" y="1715389"/>
                  </a:lnTo>
                  <a:cubicBezTo>
                    <a:pt x="72771" y="1715389"/>
                    <a:pt x="0" y="1642618"/>
                    <a:pt x="0" y="1552829"/>
                  </a:cubicBezTo>
                  <a:close/>
                </a:path>
              </a:pathLst>
            </a:custGeom>
            <a:solidFill>
              <a:srgbClr val="FFFFFF">
                <a:alpha val="90196"/>
              </a:srgbClr>
            </a:solidFill>
          </p:spPr>
        </p:sp>
      </p:grpSp>
      <p:grpSp>
        <p:nvGrpSpPr>
          <p:cNvPr name="Group 41" id="41"/>
          <p:cNvGrpSpPr/>
          <p:nvPr/>
        </p:nvGrpSpPr>
        <p:grpSpPr>
          <a:xfrm rot="0">
            <a:off x="2271151" y="567309"/>
            <a:ext cx="13745232" cy="879653"/>
            <a:chOff x="0" y="0"/>
            <a:chExt cx="18326976" cy="1172870"/>
          </a:xfrm>
        </p:grpSpPr>
        <p:sp>
          <p:nvSpPr>
            <p:cNvPr name="Freeform 42" id="42"/>
            <p:cNvSpPr/>
            <p:nvPr/>
          </p:nvSpPr>
          <p:spPr>
            <a:xfrm flipH="false" flipV="false" rot="0">
              <a:off x="0" y="0"/>
              <a:ext cx="18326988" cy="1172845"/>
            </a:xfrm>
            <a:custGeom>
              <a:avLst/>
              <a:gdLst/>
              <a:ahLst/>
              <a:cxnLst/>
              <a:rect r="r" b="b" t="t" l="l"/>
              <a:pathLst>
                <a:path h="1172845" w="18326988">
                  <a:moveTo>
                    <a:pt x="0" y="0"/>
                  </a:moveTo>
                  <a:lnTo>
                    <a:pt x="18326988" y="0"/>
                  </a:lnTo>
                  <a:lnTo>
                    <a:pt x="18326988" y="1172845"/>
                  </a:lnTo>
                  <a:lnTo>
                    <a:pt x="0" y="1172845"/>
                  </a:lnTo>
                  <a:lnTo>
                    <a:pt x="0" y="0"/>
                  </a:lnTo>
                  <a:close/>
                </a:path>
              </a:pathLst>
            </a:custGeom>
            <a:blipFill>
              <a:blip r:embed="rId8"/>
              <a:stretch>
                <a:fillRect l="0" t="-2" r="0" b="-4"/>
              </a:stretch>
            </a:blipFill>
          </p:spPr>
        </p:sp>
      </p:grpSp>
      <p:grpSp>
        <p:nvGrpSpPr>
          <p:cNvPr name="Group 43" id="43"/>
          <p:cNvGrpSpPr/>
          <p:nvPr/>
        </p:nvGrpSpPr>
        <p:grpSpPr>
          <a:xfrm rot="0">
            <a:off x="5593431" y="3798254"/>
            <a:ext cx="4834739" cy="2898267"/>
            <a:chOff x="0" y="0"/>
            <a:chExt cx="6446319" cy="3864357"/>
          </a:xfrm>
        </p:grpSpPr>
        <p:sp>
          <p:nvSpPr>
            <p:cNvPr name="Freeform 44" id="44"/>
            <p:cNvSpPr/>
            <p:nvPr/>
          </p:nvSpPr>
          <p:spPr>
            <a:xfrm flipH="false" flipV="false" rot="0">
              <a:off x="0" y="0"/>
              <a:ext cx="6446293" cy="3864280"/>
            </a:xfrm>
            <a:custGeom>
              <a:avLst/>
              <a:gdLst/>
              <a:ahLst/>
              <a:cxnLst/>
              <a:rect r="r" b="b" t="t" l="l"/>
              <a:pathLst>
                <a:path h="3864280" w="6446293">
                  <a:moveTo>
                    <a:pt x="0" y="165215"/>
                  </a:moveTo>
                  <a:cubicBezTo>
                    <a:pt x="0" y="74042"/>
                    <a:pt x="16796" y="0"/>
                    <a:pt x="37478" y="0"/>
                  </a:cubicBezTo>
                  <a:lnTo>
                    <a:pt x="6408815" y="0"/>
                  </a:lnTo>
                  <a:cubicBezTo>
                    <a:pt x="6429540" y="0"/>
                    <a:pt x="6446293" y="74042"/>
                    <a:pt x="6446293" y="165215"/>
                  </a:cubicBezTo>
                  <a:lnTo>
                    <a:pt x="6446293" y="3699065"/>
                  </a:lnTo>
                  <a:cubicBezTo>
                    <a:pt x="6446293" y="3790429"/>
                    <a:pt x="6429497" y="3864280"/>
                    <a:pt x="6408815" y="3864280"/>
                  </a:cubicBezTo>
                  <a:lnTo>
                    <a:pt x="37478" y="3864280"/>
                  </a:lnTo>
                  <a:cubicBezTo>
                    <a:pt x="16753" y="3864280"/>
                    <a:pt x="0" y="3790238"/>
                    <a:pt x="0" y="3699065"/>
                  </a:cubicBezTo>
                  <a:close/>
                </a:path>
              </a:pathLst>
            </a:custGeom>
            <a:solidFill>
              <a:srgbClr val="1E3A8A">
                <a:alpha val="15686"/>
              </a:srgbClr>
            </a:solidFill>
            <a:ln w="19050" cap="sq">
              <a:solidFill>
                <a:srgbClr val="1D4ED8"/>
              </a:solidFill>
              <a:prstDash val="solid"/>
              <a:miter/>
            </a:ln>
          </p:spPr>
        </p:sp>
      </p:grpSp>
      <p:grpSp>
        <p:nvGrpSpPr>
          <p:cNvPr name="Group 45" id="45"/>
          <p:cNvGrpSpPr/>
          <p:nvPr/>
        </p:nvGrpSpPr>
        <p:grpSpPr>
          <a:xfrm rot="0">
            <a:off x="9308008" y="7185652"/>
            <a:ext cx="7138933" cy="2036255"/>
            <a:chOff x="0" y="0"/>
            <a:chExt cx="9518578" cy="2715007"/>
          </a:xfrm>
        </p:grpSpPr>
        <p:sp>
          <p:nvSpPr>
            <p:cNvPr name="Freeform 46" id="46"/>
            <p:cNvSpPr/>
            <p:nvPr/>
          </p:nvSpPr>
          <p:spPr>
            <a:xfrm flipH="false" flipV="false" rot="0">
              <a:off x="0" y="0"/>
              <a:ext cx="9518577" cy="2715006"/>
            </a:xfrm>
            <a:custGeom>
              <a:avLst/>
              <a:gdLst/>
              <a:ahLst/>
              <a:cxnLst/>
              <a:rect r="r" b="b" t="t" l="l"/>
              <a:pathLst>
                <a:path h="2715006" w="9518577">
                  <a:moveTo>
                    <a:pt x="0" y="0"/>
                  </a:moveTo>
                  <a:lnTo>
                    <a:pt x="9518577" y="0"/>
                  </a:lnTo>
                  <a:lnTo>
                    <a:pt x="9518577" y="2715006"/>
                  </a:lnTo>
                  <a:lnTo>
                    <a:pt x="0" y="2715006"/>
                  </a:lnTo>
                  <a:close/>
                </a:path>
              </a:pathLst>
            </a:custGeom>
            <a:blipFill>
              <a:blip r:embed="rId6">
                <a:alphaModFix amt="0"/>
              </a:blip>
              <a:stretch>
                <a:fillRect l="0" t="-106954" r="-83829" b="-44204"/>
              </a:stretch>
            </a:blipFill>
          </p:spPr>
        </p:sp>
        <p:sp>
          <p:nvSpPr>
            <p:cNvPr name="TextBox 47" id="47"/>
            <p:cNvSpPr txBox="true"/>
            <p:nvPr/>
          </p:nvSpPr>
          <p:spPr>
            <a:xfrm>
              <a:off x="0" y="-19050"/>
              <a:ext cx="9518578" cy="2734057"/>
            </a:xfrm>
            <a:prstGeom prst="rect">
              <a:avLst/>
            </a:prstGeom>
          </p:spPr>
          <p:txBody>
            <a:bodyPr anchor="ctr" rtlCol="false" tIns="0" lIns="0" bIns="0" rIns="0"/>
            <a:lstStyle/>
            <a:p>
              <a:pPr algn="l">
                <a:lnSpc>
                  <a:spcPts val="2100"/>
                </a:lnSpc>
              </a:pPr>
            </a:p>
          </p:txBody>
        </p:sp>
      </p:grpSp>
      <p:graphicFrame>
        <p:nvGraphicFramePr>
          <p:cNvPr name="Table 48" id="48"/>
          <p:cNvGraphicFramePr>
            <a:graphicFrameLocks noGrp="true"/>
          </p:cNvGraphicFramePr>
          <p:nvPr/>
        </p:nvGraphicFramePr>
        <p:xfrm>
          <a:off x="857250" y="3480484"/>
          <a:ext cx="4470136" cy="5959438"/>
        </p:xfrm>
        <a:graphic>
          <a:graphicData uri="http://schemas.openxmlformats.org/drawingml/2006/table">
            <a:tbl>
              <a:tblPr/>
              <a:tblGrid>
                <a:gridCol w="2057021"/>
                <a:gridCol w="2413115"/>
              </a:tblGrid>
              <a:tr h="823603">
                <a:tc>
                  <a:txBody>
                    <a:bodyPr anchor="t" rtlCol="false"/>
                    <a:lstStyle/>
                    <a:p>
                      <a:pPr algn="ctr">
                        <a:lnSpc>
                          <a:spcPts val="2100"/>
                        </a:lnSpc>
                        <a:defRPr/>
                      </a:pPr>
                      <a:r>
                        <a:rPr lang="en-US" b="true" sz="1500">
                          <a:solidFill>
                            <a:srgbClr val="000000"/>
                          </a:solidFill>
                          <a:latin typeface="Canva Sans Bold"/>
                          <a:ea typeface="Canva Sans Bold"/>
                          <a:cs typeface="Canva Sans Bold"/>
                          <a:sym typeface="Canva Sans Bold"/>
                        </a:rPr>
                        <a:t>COMPONENT</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solidFill>
                      <a:srgbClr val="F2F2F2"/>
                    </a:solidFill>
                  </a:tcPr>
                </a:tc>
                <a:tc>
                  <a:txBody>
                    <a:bodyPr anchor="t" rtlCol="false"/>
                    <a:lstStyle/>
                    <a:p>
                      <a:pPr algn="ctr">
                        <a:lnSpc>
                          <a:spcPts val="2100"/>
                        </a:lnSpc>
                        <a:defRPr/>
                      </a:pPr>
                      <a:r>
                        <a:rPr lang="en-US" b="true" sz="1500">
                          <a:solidFill>
                            <a:srgbClr val="000000"/>
                          </a:solidFill>
                          <a:latin typeface="Canva Sans Bold"/>
                          <a:ea typeface="Canva Sans Bold"/>
                          <a:cs typeface="Canva Sans Bold"/>
                          <a:sym typeface="Canva Sans Bold"/>
                        </a:rPr>
                        <a:t>IMPLEMENTATION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solidFill>
                      <a:srgbClr val="F2F2F2"/>
                    </a:solidFill>
                  </a:tcPr>
                </a:tc>
              </a:tr>
              <a:tr h="640825">
                <a:tc>
                  <a:txBody>
                    <a:bodyPr anchor="t" rtlCol="false"/>
                    <a:lstStyle/>
                    <a:p>
                      <a:pPr algn="l">
                        <a:lnSpc>
                          <a:spcPts val="2100"/>
                        </a:lnSpc>
                        <a:defRPr/>
                      </a:pPr>
                      <a:r>
                        <a:rPr lang="en-US" sz="1500">
                          <a:solidFill>
                            <a:srgbClr val="FFFFFF"/>
                          </a:solidFill>
                          <a:latin typeface="Canva Sans"/>
                          <a:ea typeface="Canva Sans"/>
                          <a:cs typeface="Canva Sans"/>
                          <a:sym typeface="Canva Sans"/>
                        </a:rPr>
                        <a:t>Language</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Python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704041">
                <a:tc>
                  <a:txBody>
                    <a:bodyPr anchor="t" rtlCol="false"/>
                    <a:lstStyle/>
                    <a:p>
                      <a:pPr algn="l">
                        <a:lnSpc>
                          <a:spcPts val="2100"/>
                        </a:lnSpc>
                        <a:defRPr/>
                      </a:pPr>
                      <a:r>
                        <a:rPr lang="en-US" sz="1500">
                          <a:solidFill>
                            <a:srgbClr val="FFFFFF"/>
                          </a:solidFill>
                          <a:latin typeface="Canva Sans"/>
                          <a:ea typeface="Canva Sans"/>
                          <a:cs typeface="Canva Sans"/>
                          <a:sym typeface="Canva Sans"/>
                        </a:rPr>
                        <a:t>Registration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register.py</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1047947">
                <a:tc>
                  <a:txBody>
                    <a:bodyPr anchor="t" rtlCol="false"/>
                    <a:lstStyle/>
                    <a:p>
                      <a:pPr algn="l">
                        <a:lnSpc>
                          <a:spcPts val="2100"/>
                        </a:lnSpc>
                        <a:defRPr/>
                      </a:pPr>
                      <a:r>
                        <a:rPr lang="en-US" sz="1500">
                          <a:solidFill>
                            <a:srgbClr val="FFFFFF"/>
                          </a:solidFill>
                          <a:latin typeface="Canva Sans"/>
                          <a:ea typeface="Canva Sans"/>
                          <a:cs typeface="Canva Sans"/>
                          <a:sym typeface="Canva Sans"/>
                        </a:rPr>
                        <a:t>Dataset Generation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generate_dataset.py</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712164">
                <a:tc>
                  <a:txBody>
                    <a:bodyPr anchor="t" rtlCol="false"/>
                    <a:lstStyle/>
                    <a:p>
                      <a:pPr algn="l">
                        <a:lnSpc>
                          <a:spcPts val="2100"/>
                        </a:lnSpc>
                        <a:defRPr/>
                      </a:pPr>
                      <a:r>
                        <a:rPr lang="en-US" sz="1500">
                          <a:solidFill>
                            <a:srgbClr val="FFFFFF"/>
                          </a:solidFill>
                          <a:latin typeface="Canva Sans"/>
                          <a:ea typeface="Canva Sans"/>
                          <a:cs typeface="Canva Sans"/>
                          <a:sym typeface="Canva Sans"/>
                        </a:rPr>
                        <a:t>Evaluation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score.py</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797507">
                <a:tc>
                  <a:txBody>
                    <a:bodyPr anchor="t" rtlCol="false"/>
                    <a:lstStyle/>
                    <a:p>
                      <a:pPr algn="l">
                        <a:lnSpc>
                          <a:spcPts val="2100"/>
                        </a:lnSpc>
                        <a:defRPr/>
                      </a:pPr>
                      <a:r>
                        <a:rPr lang="en-US" sz="1500">
                          <a:solidFill>
                            <a:srgbClr val="FFFFFF"/>
                          </a:solidFill>
                          <a:latin typeface="Canva Sans"/>
                          <a:ea typeface="Canva Sans"/>
                          <a:cs typeface="Canva Sans"/>
                          <a:sym typeface="Canva Sans"/>
                        </a:rPr>
                        <a:t>Deep Model</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PyTorch Siamese reranker</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765878">
                <a:tc>
                  <a:txBody>
                    <a:bodyPr anchor="t" rtlCol="false"/>
                    <a:lstStyle/>
                    <a:p>
                      <a:pPr algn="l">
                        <a:lnSpc>
                          <a:spcPts val="2100"/>
                        </a:lnSpc>
                        <a:defRPr/>
                      </a:pPr>
                      <a:r>
                        <a:rPr lang="en-US" sz="1500">
                          <a:solidFill>
                            <a:srgbClr val="FFFFFF"/>
                          </a:solidFill>
                          <a:latin typeface="Canva Sans"/>
                          <a:ea typeface="Canva Sans"/>
                          <a:cs typeface="Canva Sans"/>
                          <a:sym typeface="Canva Sans"/>
                        </a:rPr>
                        <a:t>Interface</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app.py</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467472">
                <a:tc>
                  <a:txBody>
                    <a:bodyPr anchor="t" rtlCol="false"/>
                    <a:lstStyle/>
                    <a:p>
                      <a:pPr algn="l">
                        <a:lnSpc>
                          <a:spcPts val="2100"/>
                        </a:lnSpc>
                        <a:defRPr/>
                      </a:pPr>
                      <a:r>
                        <a:rPr lang="en-US" sz="1500">
                          <a:solidFill>
                            <a:srgbClr val="FFFFFF"/>
                          </a:solidFill>
                          <a:latin typeface="Canva Sans"/>
                          <a:ea typeface="Canva Sans"/>
                          <a:cs typeface="Canva Sans"/>
                          <a:sym typeface="Canva Sans"/>
                        </a:rPr>
                        <a:t>Execution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CPU-based</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bl>
          </a:graphicData>
        </a:graphic>
      </p:graphicFrame>
      <p:grpSp>
        <p:nvGrpSpPr>
          <p:cNvPr name="Group 49" id="49"/>
          <p:cNvGrpSpPr/>
          <p:nvPr/>
        </p:nvGrpSpPr>
        <p:grpSpPr>
          <a:xfrm rot="0">
            <a:off x="6222100" y="7185652"/>
            <a:ext cx="10422952" cy="2562686"/>
            <a:chOff x="0" y="0"/>
            <a:chExt cx="13897269" cy="3416915"/>
          </a:xfrm>
        </p:grpSpPr>
        <p:sp>
          <p:nvSpPr>
            <p:cNvPr name="Freeform 50" id="50"/>
            <p:cNvSpPr/>
            <p:nvPr/>
          </p:nvSpPr>
          <p:spPr>
            <a:xfrm flipH="false" flipV="false" rot="0">
              <a:off x="0" y="0"/>
              <a:ext cx="13897214" cy="3416848"/>
            </a:xfrm>
            <a:custGeom>
              <a:avLst/>
              <a:gdLst/>
              <a:ahLst/>
              <a:cxnLst/>
              <a:rect r="r" b="b" t="t" l="l"/>
              <a:pathLst>
                <a:path h="3416848" w="13897214">
                  <a:moveTo>
                    <a:pt x="0" y="146085"/>
                  </a:moveTo>
                  <a:cubicBezTo>
                    <a:pt x="0" y="65469"/>
                    <a:pt x="36210" y="0"/>
                    <a:pt x="80797" y="0"/>
                  </a:cubicBezTo>
                  <a:lnTo>
                    <a:pt x="13816416" y="0"/>
                  </a:lnTo>
                  <a:cubicBezTo>
                    <a:pt x="13861097" y="0"/>
                    <a:pt x="13897214" y="65469"/>
                    <a:pt x="13897214" y="146085"/>
                  </a:cubicBezTo>
                  <a:lnTo>
                    <a:pt x="13897214" y="3270762"/>
                  </a:lnTo>
                  <a:cubicBezTo>
                    <a:pt x="13897214" y="3351547"/>
                    <a:pt x="13861004" y="3416848"/>
                    <a:pt x="13816416" y="3416848"/>
                  </a:cubicBezTo>
                  <a:lnTo>
                    <a:pt x="80797" y="3416848"/>
                  </a:lnTo>
                  <a:cubicBezTo>
                    <a:pt x="36117" y="3416848"/>
                    <a:pt x="0" y="3351378"/>
                    <a:pt x="0" y="3270762"/>
                  </a:cubicBezTo>
                  <a:close/>
                </a:path>
              </a:pathLst>
            </a:custGeom>
            <a:solidFill>
              <a:srgbClr val="1E3A8A">
                <a:alpha val="15686"/>
              </a:srgbClr>
            </a:solidFill>
            <a:ln w="19050" cap="sq">
              <a:solidFill>
                <a:srgbClr val="1D4ED8"/>
              </a:solidFill>
              <a:prstDash val="solid"/>
              <a:miter/>
            </a:ln>
          </p:spPr>
        </p:sp>
      </p:grpSp>
      <p:sp>
        <p:nvSpPr>
          <p:cNvPr name="TextBox 51" id="51"/>
          <p:cNvSpPr txBox="true"/>
          <p:nvPr/>
        </p:nvSpPr>
        <p:spPr>
          <a:xfrm rot="0">
            <a:off x="6268337" y="3461434"/>
            <a:ext cx="3244532" cy="2952750"/>
          </a:xfrm>
          <a:prstGeom prst="rect">
            <a:avLst/>
          </a:prstGeom>
        </p:spPr>
        <p:txBody>
          <a:bodyPr anchor="t" rtlCol="false" tIns="0" lIns="0" bIns="0" rIns="0">
            <a:spAutoFit/>
          </a:bodyPr>
          <a:lstStyle/>
          <a:p>
            <a:pPr algn="ctr">
              <a:lnSpc>
                <a:spcPts val="2160"/>
              </a:lnSpc>
              <a:spcBef>
                <a:spcPct val="0"/>
              </a:spcBef>
            </a:pPr>
            <a:r>
              <a:rPr lang="en-US" b="true" sz="1800">
                <a:solidFill>
                  <a:srgbClr val="FFFFFF"/>
                </a:solidFill>
                <a:latin typeface="Poppins Bold"/>
                <a:ea typeface="Poppins Bold"/>
                <a:cs typeface="Poppins Bold"/>
                <a:sym typeface="Poppins Bold"/>
              </a:rPr>
              <a:t>EXECUTION FLOW</a:t>
            </a:r>
          </a:p>
          <a:p>
            <a:pPr algn="ctr">
              <a:lnSpc>
                <a:spcPts val="2160"/>
              </a:lnSpc>
              <a:spcBef>
                <a:spcPct val="0"/>
              </a:spcBef>
            </a:pPr>
          </a:p>
          <a:p>
            <a:pPr algn="ctr">
              <a:lnSpc>
                <a:spcPts val="2160"/>
              </a:lnSpc>
              <a:spcBef>
                <a:spcPct val="0"/>
              </a:spcBef>
            </a:pPr>
            <a:r>
              <a:rPr lang="en-US" b="true" sz="1800">
                <a:solidFill>
                  <a:srgbClr val="FFFFFF"/>
                </a:solidFill>
                <a:latin typeface="Poppins Bold"/>
                <a:ea typeface="Poppins Bold"/>
                <a:cs typeface="Poppins Bold"/>
                <a:sym typeface="Poppins Bold"/>
              </a:rPr>
              <a:t>Generate Dataset</a:t>
            </a:r>
          </a:p>
          <a:p>
            <a:pPr algn="ctr">
              <a:lnSpc>
                <a:spcPts val="2160"/>
              </a:lnSpc>
              <a:spcBef>
                <a:spcPct val="0"/>
              </a:spcBef>
            </a:pPr>
            <a:r>
              <a:rPr lang="en-US" b="true" sz="1800">
                <a:solidFill>
                  <a:srgbClr val="FFFFFF"/>
                </a:solidFill>
                <a:latin typeface="Poppins Bold"/>
                <a:ea typeface="Poppins Bold"/>
                <a:cs typeface="Poppins Bold"/>
                <a:sym typeface="Poppins Bold"/>
              </a:rPr>
              <a:t>      ↓</a:t>
            </a:r>
          </a:p>
          <a:p>
            <a:pPr algn="ctr">
              <a:lnSpc>
                <a:spcPts val="2160"/>
              </a:lnSpc>
              <a:spcBef>
                <a:spcPct val="0"/>
              </a:spcBef>
            </a:pPr>
            <a:r>
              <a:rPr lang="en-US" b="true" sz="1800">
                <a:solidFill>
                  <a:srgbClr val="FFFFFF"/>
                </a:solidFill>
                <a:latin typeface="Poppins Bold"/>
                <a:ea typeface="Poppins Bold"/>
                <a:cs typeface="Poppins Bold"/>
                <a:sym typeface="Poppins Bold"/>
              </a:rPr>
              <a:t>Register Image Pairs</a:t>
            </a:r>
          </a:p>
          <a:p>
            <a:pPr algn="ctr">
              <a:lnSpc>
                <a:spcPts val="2160"/>
              </a:lnSpc>
              <a:spcBef>
                <a:spcPct val="0"/>
              </a:spcBef>
            </a:pPr>
            <a:r>
              <a:rPr lang="en-US" b="true" sz="1800">
                <a:solidFill>
                  <a:srgbClr val="FFFFFF"/>
                </a:solidFill>
                <a:latin typeface="Poppins Bold"/>
                <a:ea typeface="Poppins Bold"/>
                <a:cs typeface="Poppins Bold"/>
                <a:sym typeface="Poppins Bold"/>
              </a:rPr>
              <a:t>      ↓</a:t>
            </a:r>
          </a:p>
          <a:p>
            <a:pPr algn="ctr">
              <a:lnSpc>
                <a:spcPts val="2160"/>
              </a:lnSpc>
              <a:spcBef>
                <a:spcPct val="0"/>
              </a:spcBef>
            </a:pPr>
            <a:r>
              <a:rPr lang="en-US" b="true" sz="1800">
                <a:solidFill>
                  <a:srgbClr val="FFFFFF"/>
                </a:solidFill>
                <a:latin typeface="Poppins Bold"/>
                <a:ea typeface="Poppins Bold"/>
                <a:cs typeface="Poppins Bold"/>
                <a:sym typeface="Poppins Bold"/>
              </a:rPr>
              <a:t>Generate predictions.csv</a:t>
            </a:r>
          </a:p>
          <a:p>
            <a:pPr algn="ctr">
              <a:lnSpc>
                <a:spcPts val="2160"/>
              </a:lnSpc>
              <a:spcBef>
                <a:spcPct val="0"/>
              </a:spcBef>
            </a:pPr>
            <a:r>
              <a:rPr lang="en-US" b="true" sz="1800">
                <a:solidFill>
                  <a:srgbClr val="FFFFFF"/>
                </a:solidFill>
                <a:latin typeface="Poppins Bold"/>
                <a:ea typeface="Poppins Bold"/>
                <a:cs typeface="Poppins Bold"/>
                <a:sym typeface="Poppins Bold"/>
              </a:rPr>
              <a:t>      ↓</a:t>
            </a:r>
          </a:p>
          <a:p>
            <a:pPr algn="ctr">
              <a:lnSpc>
                <a:spcPts val="2160"/>
              </a:lnSpc>
              <a:spcBef>
                <a:spcPct val="0"/>
              </a:spcBef>
            </a:pPr>
            <a:r>
              <a:rPr lang="en-US" b="true" sz="1800">
                <a:solidFill>
                  <a:srgbClr val="FFFFFF"/>
                </a:solidFill>
                <a:latin typeface="Poppins Bold"/>
                <a:ea typeface="Poppins Bold"/>
                <a:cs typeface="Poppins Bold"/>
                <a:sym typeface="Poppins Bold"/>
              </a:rPr>
              <a:t>Score Against Ground Truth</a:t>
            </a:r>
          </a:p>
          <a:p>
            <a:pPr algn="ctr">
              <a:lnSpc>
                <a:spcPts val="2160"/>
              </a:lnSpc>
              <a:spcBef>
                <a:spcPct val="0"/>
              </a:spcBef>
            </a:pPr>
            <a:r>
              <a:rPr lang="en-US" b="true" sz="1800">
                <a:solidFill>
                  <a:srgbClr val="FFFFFF"/>
                </a:solidFill>
                <a:latin typeface="Poppins Bold"/>
                <a:ea typeface="Poppins Bold"/>
                <a:cs typeface="Poppins Bold"/>
                <a:sym typeface="Poppins Bold"/>
              </a:rPr>
              <a:t>      ↓</a:t>
            </a:r>
          </a:p>
          <a:p>
            <a:pPr algn="ctr">
              <a:lnSpc>
                <a:spcPts val="2160"/>
              </a:lnSpc>
              <a:spcBef>
                <a:spcPct val="0"/>
              </a:spcBef>
            </a:pPr>
            <a:r>
              <a:rPr lang="en-US" b="true" sz="1800">
                <a:solidFill>
                  <a:srgbClr val="FFFFFF"/>
                </a:solidFill>
                <a:latin typeface="Poppins Bold"/>
                <a:ea typeface="Poppins Bold"/>
                <a:cs typeface="Poppins Bold"/>
                <a:sym typeface="Poppins Bold"/>
              </a:rPr>
              <a:t>View Results / App</a:t>
            </a:r>
          </a:p>
        </p:txBody>
      </p:sp>
      <p:sp>
        <p:nvSpPr>
          <p:cNvPr name="TextBox 52" id="52"/>
          <p:cNvSpPr txBox="true"/>
          <p:nvPr/>
        </p:nvSpPr>
        <p:spPr>
          <a:xfrm rot="0">
            <a:off x="6707239" y="7490452"/>
            <a:ext cx="9452673" cy="1852803"/>
          </a:xfrm>
          <a:prstGeom prst="rect">
            <a:avLst/>
          </a:prstGeom>
        </p:spPr>
        <p:txBody>
          <a:bodyPr anchor="t" rtlCol="false" tIns="0" lIns="0" bIns="0" rIns="0">
            <a:spAutoFit/>
          </a:bodyPr>
          <a:lstStyle/>
          <a:p>
            <a:pPr algn="ctr">
              <a:lnSpc>
                <a:spcPts val="2160"/>
              </a:lnSpc>
              <a:spcBef>
                <a:spcPct val="0"/>
              </a:spcBef>
            </a:pPr>
            <a:r>
              <a:rPr lang="en-US" b="true" sz="1800">
                <a:solidFill>
                  <a:srgbClr val="FFFFFF"/>
                </a:solidFill>
                <a:latin typeface="Poppins Bold"/>
                <a:ea typeface="Poppins Bold"/>
                <a:cs typeface="Poppins Bold"/>
                <a:sym typeface="Poppins Bold"/>
              </a:rPr>
              <a:t>KEY COMMANDS</a:t>
            </a:r>
          </a:p>
          <a:p>
            <a:pPr algn="ctr">
              <a:lnSpc>
                <a:spcPts val="2160"/>
              </a:lnSpc>
              <a:spcBef>
                <a:spcPct val="0"/>
              </a:spcBef>
            </a:pPr>
          </a:p>
          <a:p>
            <a:pPr algn="l">
              <a:lnSpc>
                <a:spcPts val="2682"/>
              </a:lnSpc>
            </a:pPr>
            <a:r>
              <a:rPr lang="en-US" b="true" sz="1800">
                <a:solidFill>
                  <a:srgbClr val="FFFFFF"/>
                </a:solidFill>
                <a:latin typeface="Poppins Bold"/>
                <a:ea typeface="Poppins Bold"/>
                <a:cs typeface="Poppins Bold"/>
                <a:sym typeface="Poppins Bold"/>
              </a:rPr>
              <a:t>python generate_dataset.py --mode reference ...</a:t>
            </a:r>
          </a:p>
          <a:p>
            <a:pPr algn="l">
              <a:lnSpc>
                <a:spcPts val="2682"/>
              </a:lnSpc>
            </a:pPr>
            <a:r>
              <a:rPr lang="en-US" b="true" sz="1800">
                <a:solidFill>
                  <a:srgbClr val="FFFFFF"/>
                </a:solidFill>
                <a:latin typeface="Poppins Bold"/>
                <a:ea typeface="Poppins Bold"/>
                <a:cs typeface="Poppins Bold"/>
                <a:sym typeface="Poppins Bold"/>
              </a:rPr>
              <a:t>python register.py --input pairs.csv --output predictions.csv</a:t>
            </a:r>
          </a:p>
          <a:p>
            <a:pPr algn="l">
              <a:lnSpc>
                <a:spcPts val="2682"/>
              </a:lnSpc>
            </a:pPr>
            <a:r>
              <a:rPr lang="en-US" b="true" sz="1800">
                <a:solidFill>
                  <a:srgbClr val="FFFFFF"/>
                </a:solidFill>
                <a:latin typeface="Poppins Bold"/>
                <a:ea typeface="Poppins Bold"/>
                <a:cs typeface="Poppins Bold"/>
                <a:sym typeface="Poppins Bold"/>
              </a:rPr>
              <a:t>python score.py --predictions predictions.csv --metadata ground_truth.csv</a:t>
            </a:r>
          </a:p>
          <a:p>
            <a:pPr algn="l">
              <a:lnSpc>
                <a:spcPts val="2682"/>
              </a:lnSpc>
            </a:pPr>
            <a:r>
              <a:rPr lang="en-US" b="true" sz="1800">
                <a:solidFill>
                  <a:srgbClr val="FFFFFF"/>
                </a:solidFill>
                <a:latin typeface="Poppins Bold"/>
                <a:ea typeface="Poppins Bold"/>
                <a:cs typeface="Poppins Bold"/>
                <a:sym typeface="Poppins Bold"/>
              </a:rPr>
              <a:t>python app.py</a:t>
            </a:r>
          </a:p>
        </p:txBody>
      </p:sp>
      <p:grpSp>
        <p:nvGrpSpPr>
          <p:cNvPr name="Group 53" id="53"/>
          <p:cNvGrpSpPr/>
          <p:nvPr/>
        </p:nvGrpSpPr>
        <p:grpSpPr>
          <a:xfrm rot="0">
            <a:off x="11086853" y="3935741"/>
            <a:ext cx="5698082" cy="2623294"/>
            <a:chOff x="0" y="0"/>
            <a:chExt cx="7597443" cy="3497726"/>
          </a:xfrm>
        </p:grpSpPr>
        <p:sp>
          <p:nvSpPr>
            <p:cNvPr name="Freeform 54" id="54"/>
            <p:cNvSpPr/>
            <p:nvPr/>
          </p:nvSpPr>
          <p:spPr>
            <a:xfrm flipH="false" flipV="false" rot="0">
              <a:off x="0" y="0"/>
              <a:ext cx="7597413" cy="3497657"/>
            </a:xfrm>
            <a:custGeom>
              <a:avLst/>
              <a:gdLst/>
              <a:ahLst/>
              <a:cxnLst/>
              <a:rect r="r" b="b" t="t" l="l"/>
              <a:pathLst>
                <a:path h="3497657" w="7597413">
                  <a:moveTo>
                    <a:pt x="0" y="149540"/>
                  </a:moveTo>
                  <a:cubicBezTo>
                    <a:pt x="0" y="67017"/>
                    <a:pt x="19795" y="0"/>
                    <a:pt x="44171" y="0"/>
                  </a:cubicBezTo>
                  <a:lnTo>
                    <a:pt x="7553242" y="0"/>
                  </a:lnTo>
                  <a:cubicBezTo>
                    <a:pt x="7577668" y="0"/>
                    <a:pt x="7597413" y="67017"/>
                    <a:pt x="7597413" y="149540"/>
                  </a:cubicBezTo>
                  <a:lnTo>
                    <a:pt x="7597413" y="3348117"/>
                  </a:lnTo>
                  <a:cubicBezTo>
                    <a:pt x="7597413" y="3430812"/>
                    <a:pt x="7577617" y="3497657"/>
                    <a:pt x="7553242" y="3497657"/>
                  </a:cubicBezTo>
                  <a:lnTo>
                    <a:pt x="44171" y="3497657"/>
                  </a:lnTo>
                  <a:cubicBezTo>
                    <a:pt x="19745" y="3497657"/>
                    <a:pt x="0" y="3430639"/>
                    <a:pt x="0" y="3348117"/>
                  </a:cubicBezTo>
                  <a:close/>
                </a:path>
              </a:pathLst>
            </a:custGeom>
            <a:solidFill>
              <a:srgbClr val="1E3A8A">
                <a:alpha val="15686"/>
              </a:srgbClr>
            </a:solidFill>
            <a:ln w="19050" cap="sq">
              <a:solidFill>
                <a:srgbClr val="1D4ED8"/>
              </a:solidFill>
              <a:prstDash val="solid"/>
              <a:miter/>
            </a:ln>
          </p:spPr>
        </p:sp>
      </p:grpSp>
      <p:sp>
        <p:nvSpPr>
          <p:cNvPr name="TextBox 55" id="55"/>
          <p:cNvSpPr txBox="true"/>
          <p:nvPr/>
        </p:nvSpPr>
        <p:spPr>
          <a:xfrm rot="0">
            <a:off x="11385454" y="3969088"/>
            <a:ext cx="5259598" cy="2232660"/>
          </a:xfrm>
          <a:prstGeom prst="rect">
            <a:avLst/>
          </a:prstGeom>
        </p:spPr>
        <p:txBody>
          <a:bodyPr anchor="t" rtlCol="false" tIns="0" lIns="0" bIns="0" rIns="0">
            <a:spAutoFit/>
          </a:bodyPr>
          <a:lstStyle/>
          <a:p>
            <a:pPr algn="ctr">
              <a:lnSpc>
                <a:spcPts val="2160"/>
              </a:lnSpc>
            </a:pPr>
          </a:p>
          <a:p>
            <a:pPr algn="ctr">
              <a:lnSpc>
                <a:spcPts val="2160"/>
              </a:lnSpc>
            </a:pPr>
          </a:p>
          <a:p>
            <a:pPr algn="l" marL="388620" indent="-194310" lvl="1">
              <a:lnSpc>
                <a:spcPts val="2700"/>
              </a:lnSpc>
              <a:buFont typeface="Arial"/>
              <a:buChar char="•"/>
            </a:pPr>
            <a:r>
              <a:rPr lang="en-US" sz="1800">
                <a:solidFill>
                  <a:srgbClr val="FFFFFF"/>
                </a:solidFill>
                <a:latin typeface="Poppins"/>
                <a:ea typeface="Poppins"/>
                <a:cs typeface="Poppins"/>
                <a:sym typeface="Poppins"/>
              </a:rPr>
              <a:t>0.97 </a:t>
            </a:r>
            <a:r>
              <a:rPr lang="en-US" sz="1800">
                <a:solidFill>
                  <a:srgbClr val="FFFFFF"/>
                </a:solidFill>
                <a:latin typeface="Poppins"/>
                <a:ea typeface="Poppins"/>
                <a:cs typeface="Poppins"/>
                <a:sym typeface="Poppins"/>
              </a:rPr>
              <a:t>MB lightweight reranker</a:t>
            </a:r>
          </a:p>
          <a:p>
            <a:pPr algn="l" marL="388620" indent="-194310" lvl="1">
              <a:lnSpc>
                <a:spcPts val="2700"/>
              </a:lnSpc>
              <a:buFont typeface="Arial"/>
              <a:buChar char="•"/>
            </a:pPr>
            <a:r>
              <a:rPr lang="en-US" sz="1800">
                <a:solidFill>
                  <a:srgbClr val="FFFFFF"/>
                </a:solidFill>
                <a:latin typeface="Poppins"/>
                <a:ea typeface="Poppins"/>
                <a:cs typeface="Poppins"/>
                <a:sym typeface="Poppins"/>
              </a:rPr>
              <a:t>64-D normalized embedding</a:t>
            </a:r>
          </a:p>
          <a:p>
            <a:pPr algn="l" marL="388620" indent="-194310" lvl="1">
              <a:lnSpc>
                <a:spcPts val="2700"/>
              </a:lnSpc>
              <a:buFont typeface="Arial"/>
              <a:buChar char="•"/>
            </a:pPr>
            <a:r>
              <a:rPr lang="en-US" sz="1800">
                <a:solidFill>
                  <a:srgbClr val="FFFFFF"/>
                </a:solidFill>
                <a:latin typeface="Poppins"/>
                <a:ea typeface="Poppins"/>
                <a:cs typeface="Poppins"/>
                <a:sym typeface="Poppins"/>
              </a:rPr>
              <a:t>CPU-compatible inference</a:t>
            </a:r>
          </a:p>
          <a:p>
            <a:pPr algn="l" marL="388620" indent="-194310" lvl="1">
              <a:lnSpc>
                <a:spcPts val="2700"/>
              </a:lnSpc>
              <a:buFont typeface="Arial"/>
              <a:buChar char="•"/>
            </a:pPr>
            <a:r>
              <a:rPr lang="en-US" sz="1800">
                <a:solidFill>
                  <a:srgbClr val="FFFFFF"/>
                </a:solidFill>
                <a:latin typeface="Poppins"/>
                <a:ea typeface="Poppins"/>
                <a:cs typeface="Poppins"/>
                <a:sym typeface="Poppins"/>
              </a:rPr>
              <a:t>Modular pipeline: Generate → Register → Score → Visualize</a:t>
            </a:r>
          </a:p>
        </p:txBody>
      </p:sp>
      <p:sp>
        <p:nvSpPr>
          <p:cNvPr name="TextBox 56" id="56"/>
          <p:cNvSpPr txBox="true"/>
          <p:nvPr/>
        </p:nvSpPr>
        <p:spPr>
          <a:xfrm rot="0">
            <a:off x="12218933" y="3512504"/>
            <a:ext cx="3433921" cy="285750"/>
          </a:xfrm>
          <a:prstGeom prst="rect">
            <a:avLst/>
          </a:prstGeom>
        </p:spPr>
        <p:txBody>
          <a:bodyPr anchor="t" rtlCol="false" tIns="0" lIns="0" bIns="0" rIns="0">
            <a:spAutoFit/>
          </a:bodyPr>
          <a:lstStyle/>
          <a:p>
            <a:pPr algn="ctr">
              <a:lnSpc>
                <a:spcPts val="2160"/>
              </a:lnSpc>
              <a:spcBef>
                <a:spcPct val="0"/>
              </a:spcBef>
            </a:pPr>
            <a:r>
              <a:rPr lang="en-US" b="true" sz="1800">
                <a:solidFill>
                  <a:srgbClr val="FFFFFF"/>
                </a:solidFill>
                <a:latin typeface="Poppins Bold"/>
                <a:ea typeface="Poppins Bold"/>
                <a:cs typeface="Poppins Bold"/>
                <a:sym typeface="Poppins Bold"/>
              </a:rPr>
              <a:t>IMPLEMENTATION HIGHLIGHTS</a:t>
            </a:r>
          </a:p>
        </p:txBody>
      </p:sp>
      <p:sp>
        <p:nvSpPr>
          <p:cNvPr name="TextBox 57" id="57"/>
          <p:cNvSpPr txBox="true"/>
          <p:nvPr/>
        </p:nvSpPr>
        <p:spPr>
          <a:xfrm rot="0">
            <a:off x="1765176" y="2980106"/>
            <a:ext cx="2842101" cy="285750"/>
          </a:xfrm>
          <a:prstGeom prst="rect">
            <a:avLst/>
          </a:prstGeom>
        </p:spPr>
        <p:txBody>
          <a:bodyPr anchor="t" rtlCol="false" tIns="0" lIns="0" bIns="0" rIns="0">
            <a:spAutoFit/>
          </a:bodyPr>
          <a:lstStyle/>
          <a:p>
            <a:pPr algn="ctr">
              <a:lnSpc>
                <a:spcPts val="2160"/>
              </a:lnSpc>
              <a:spcBef>
                <a:spcPct val="0"/>
              </a:spcBef>
            </a:pPr>
            <a:r>
              <a:rPr lang="en-US" b="true" sz="1800">
                <a:solidFill>
                  <a:srgbClr val="FFFFFF"/>
                </a:solidFill>
                <a:latin typeface="Poppins Bold"/>
                <a:ea typeface="Poppins Bold"/>
                <a:cs typeface="Poppins Bold"/>
                <a:sym typeface="Poppins Bold"/>
              </a:rPr>
              <a:t>IMPLEMENTATION STACK</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543" cy="10287000"/>
            <a:chOff x="0" y="0"/>
            <a:chExt cx="24383390" cy="13716000"/>
          </a:xfrm>
        </p:grpSpPr>
        <p:sp>
          <p:nvSpPr>
            <p:cNvPr name="Freeform 3" id="3"/>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close/>
                </a:path>
              </a:pathLst>
            </a:custGeom>
            <a:solidFill>
              <a:srgbClr val="000036"/>
            </a:solidFill>
          </p:spPr>
        </p:sp>
      </p:grpSp>
      <p:grpSp>
        <p:nvGrpSpPr>
          <p:cNvPr name="Group 4" id="4"/>
          <p:cNvGrpSpPr/>
          <p:nvPr/>
        </p:nvGrpSpPr>
        <p:grpSpPr>
          <a:xfrm rot="0">
            <a:off x="0" y="0"/>
            <a:ext cx="18287543" cy="10287000"/>
            <a:chOff x="0" y="0"/>
            <a:chExt cx="24383390" cy="13716000"/>
          </a:xfrm>
        </p:grpSpPr>
        <p:sp>
          <p:nvSpPr>
            <p:cNvPr name="Freeform 5" id="5" descr="preencoded.png"/>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lnTo>
                    <a:pt x="0" y="0"/>
                  </a:lnTo>
                  <a:close/>
                </a:path>
              </a:pathLst>
            </a:custGeom>
            <a:blipFill>
              <a:blip r:embed="rId2">
                <a:alphaModFix amt="15000"/>
              </a:blip>
              <a:stretch>
                <a:fillRect l="-16360" t="0" r="-16361" b="0"/>
              </a:stretch>
            </a:blipFill>
          </p:spPr>
        </p:sp>
      </p:grpSp>
      <p:grpSp>
        <p:nvGrpSpPr>
          <p:cNvPr name="Group 6" id="6"/>
          <p:cNvGrpSpPr/>
          <p:nvPr/>
        </p:nvGrpSpPr>
        <p:grpSpPr>
          <a:xfrm rot="0">
            <a:off x="857250" y="429311"/>
            <a:ext cx="16573043" cy="999896"/>
            <a:chOff x="0" y="0"/>
            <a:chExt cx="22097390" cy="1333195"/>
          </a:xfrm>
        </p:grpSpPr>
        <p:sp>
          <p:nvSpPr>
            <p:cNvPr name="Freeform 7" id="7"/>
            <p:cNvSpPr/>
            <p:nvPr/>
          </p:nvSpPr>
          <p:spPr>
            <a:xfrm flipH="false" flipV="false" rot="0">
              <a:off x="0" y="0"/>
              <a:ext cx="22097364" cy="1333246"/>
            </a:xfrm>
            <a:custGeom>
              <a:avLst/>
              <a:gdLst/>
              <a:ahLst/>
              <a:cxnLst/>
              <a:rect r="r" b="b" t="t" l="l"/>
              <a:pathLst>
                <a:path h="1333246" w="22097364">
                  <a:moveTo>
                    <a:pt x="0" y="209042"/>
                  </a:moveTo>
                  <a:cubicBezTo>
                    <a:pt x="0" y="93599"/>
                    <a:pt x="93599" y="0"/>
                    <a:pt x="209042" y="0"/>
                  </a:cubicBezTo>
                  <a:lnTo>
                    <a:pt x="21888323" y="0"/>
                  </a:lnTo>
                  <a:cubicBezTo>
                    <a:pt x="22003765" y="0"/>
                    <a:pt x="22097364" y="93599"/>
                    <a:pt x="22097364" y="209042"/>
                  </a:cubicBezTo>
                  <a:lnTo>
                    <a:pt x="22097364" y="1124204"/>
                  </a:lnTo>
                  <a:cubicBezTo>
                    <a:pt x="22097364" y="1239647"/>
                    <a:pt x="22003765" y="1333246"/>
                    <a:pt x="21888323" y="1333246"/>
                  </a:cubicBezTo>
                  <a:lnTo>
                    <a:pt x="209042" y="1333246"/>
                  </a:lnTo>
                  <a:cubicBezTo>
                    <a:pt x="93599" y="1333246"/>
                    <a:pt x="0" y="1239647"/>
                    <a:pt x="0" y="1124204"/>
                  </a:cubicBezTo>
                  <a:close/>
                </a:path>
              </a:pathLst>
            </a:custGeom>
            <a:solidFill>
              <a:srgbClr val="FFFFFF">
                <a:alpha val="90196"/>
              </a:srgbClr>
            </a:solidFill>
          </p:spPr>
        </p:sp>
      </p:grpSp>
      <p:grpSp>
        <p:nvGrpSpPr>
          <p:cNvPr name="Group 8" id="8"/>
          <p:cNvGrpSpPr/>
          <p:nvPr/>
        </p:nvGrpSpPr>
        <p:grpSpPr>
          <a:xfrm rot="0">
            <a:off x="16287750" y="571957"/>
            <a:ext cx="714604" cy="714604"/>
            <a:chOff x="0" y="0"/>
            <a:chExt cx="952805" cy="952805"/>
          </a:xfrm>
        </p:grpSpPr>
        <p:sp>
          <p:nvSpPr>
            <p:cNvPr name="Freeform 9" id="9" descr="preencoded.png"/>
            <p:cNvSpPr/>
            <p:nvPr/>
          </p:nvSpPr>
          <p:spPr>
            <a:xfrm flipH="false" flipV="false" rot="0">
              <a:off x="0" y="0"/>
              <a:ext cx="952754" cy="952754"/>
            </a:xfrm>
            <a:custGeom>
              <a:avLst/>
              <a:gdLst/>
              <a:ahLst/>
              <a:cxnLst/>
              <a:rect r="r" b="b" t="t" l="l"/>
              <a:pathLst>
                <a:path h="952754" w="952754">
                  <a:moveTo>
                    <a:pt x="0" y="0"/>
                  </a:moveTo>
                  <a:lnTo>
                    <a:pt x="952754" y="0"/>
                  </a:lnTo>
                  <a:lnTo>
                    <a:pt x="952754" y="952754"/>
                  </a:lnTo>
                  <a:lnTo>
                    <a:pt x="0" y="952754"/>
                  </a:lnTo>
                  <a:lnTo>
                    <a:pt x="0" y="0"/>
                  </a:lnTo>
                  <a:close/>
                </a:path>
              </a:pathLst>
            </a:custGeom>
            <a:blipFill>
              <a:blip r:embed="rId3"/>
              <a:stretch>
                <a:fillRect l="0" t="0" r="-5" b="-5"/>
              </a:stretch>
            </a:blipFill>
          </p:spPr>
        </p:sp>
      </p:grpSp>
      <p:grpSp>
        <p:nvGrpSpPr>
          <p:cNvPr name="Group 10" id="10"/>
          <p:cNvGrpSpPr/>
          <p:nvPr/>
        </p:nvGrpSpPr>
        <p:grpSpPr>
          <a:xfrm rot="0">
            <a:off x="1137533" y="571957"/>
            <a:ext cx="8618220" cy="701040"/>
            <a:chOff x="0" y="0"/>
            <a:chExt cx="11490960" cy="934720"/>
          </a:xfrm>
        </p:grpSpPr>
        <p:sp>
          <p:nvSpPr>
            <p:cNvPr name="Freeform 11" id="11"/>
            <p:cNvSpPr/>
            <p:nvPr/>
          </p:nvSpPr>
          <p:spPr>
            <a:xfrm flipH="false" flipV="false" rot="0">
              <a:off x="0" y="0"/>
              <a:ext cx="11490960" cy="934720"/>
            </a:xfrm>
            <a:custGeom>
              <a:avLst/>
              <a:gdLst/>
              <a:ahLst/>
              <a:cxnLst/>
              <a:rect r="r" b="b" t="t" l="l"/>
              <a:pathLst>
                <a:path h="934720" w="11490960">
                  <a:moveTo>
                    <a:pt x="0" y="0"/>
                  </a:moveTo>
                  <a:lnTo>
                    <a:pt x="11490960" y="0"/>
                  </a:lnTo>
                  <a:lnTo>
                    <a:pt x="11490960" y="934720"/>
                  </a:lnTo>
                  <a:lnTo>
                    <a:pt x="0" y="934720"/>
                  </a:lnTo>
                  <a:lnTo>
                    <a:pt x="0" y="0"/>
                  </a:lnTo>
                  <a:close/>
                </a:path>
              </a:pathLst>
            </a:custGeom>
            <a:blipFill>
              <a:blip r:embed="rId4"/>
              <a:stretch>
                <a:fillRect l="-11" t="0" r="-11" b="0"/>
              </a:stretch>
            </a:blipFill>
          </p:spPr>
        </p:sp>
      </p:grpSp>
      <p:grpSp>
        <p:nvGrpSpPr>
          <p:cNvPr name="Group 12" id="12"/>
          <p:cNvGrpSpPr/>
          <p:nvPr/>
        </p:nvGrpSpPr>
        <p:grpSpPr>
          <a:xfrm rot="0">
            <a:off x="0" y="0"/>
            <a:ext cx="18287543" cy="10287000"/>
            <a:chOff x="0" y="0"/>
            <a:chExt cx="24383390" cy="13716000"/>
          </a:xfrm>
        </p:grpSpPr>
        <p:sp>
          <p:nvSpPr>
            <p:cNvPr name="Freeform 13" id="13"/>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close/>
                </a:path>
              </a:pathLst>
            </a:custGeom>
            <a:solidFill>
              <a:srgbClr val="000036"/>
            </a:solidFill>
          </p:spPr>
        </p:sp>
      </p:grpSp>
      <p:grpSp>
        <p:nvGrpSpPr>
          <p:cNvPr name="Group 14" id="14"/>
          <p:cNvGrpSpPr/>
          <p:nvPr/>
        </p:nvGrpSpPr>
        <p:grpSpPr>
          <a:xfrm rot="0">
            <a:off x="146329" y="73165"/>
            <a:ext cx="18287543" cy="10287000"/>
            <a:chOff x="0" y="0"/>
            <a:chExt cx="24383390" cy="13716000"/>
          </a:xfrm>
        </p:grpSpPr>
        <p:sp>
          <p:nvSpPr>
            <p:cNvPr name="Freeform 15" id="15" descr="preencoded.png"/>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lnTo>
                    <a:pt x="0" y="0"/>
                  </a:lnTo>
                  <a:close/>
                </a:path>
              </a:pathLst>
            </a:custGeom>
            <a:blipFill>
              <a:blip r:embed="rId2">
                <a:alphaModFix amt="9999"/>
              </a:blip>
              <a:stretch>
                <a:fillRect l="-16360" t="0" r="-16361" b="0"/>
              </a:stretch>
            </a:blipFill>
          </p:spPr>
        </p:sp>
      </p:grpSp>
      <p:grpSp>
        <p:nvGrpSpPr>
          <p:cNvPr name="Group 16" id="16"/>
          <p:cNvGrpSpPr/>
          <p:nvPr/>
        </p:nvGrpSpPr>
        <p:grpSpPr>
          <a:xfrm rot="0">
            <a:off x="857250" y="429311"/>
            <a:ext cx="16573043" cy="999896"/>
            <a:chOff x="0" y="0"/>
            <a:chExt cx="22097390" cy="1333195"/>
          </a:xfrm>
        </p:grpSpPr>
        <p:sp>
          <p:nvSpPr>
            <p:cNvPr name="Freeform 17" id="17"/>
            <p:cNvSpPr/>
            <p:nvPr/>
          </p:nvSpPr>
          <p:spPr>
            <a:xfrm flipH="false" flipV="false" rot="0">
              <a:off x="0" y="0"/>
              <a:ext cx="22097364" cy="1333246"/>
            </a:xfrm>
            <a:custGeom>
              <a:avLst/>
              <a:gdLst/>
              <a:ahLst/>
              <a:cxnLst/>
              <a:rect r="r" b="b" t="t" l="l"/>
              <a:pathLst>
                <a:path h="1333246" w="22097364">
                  <a:moveTo>
                    <a:pt x="0" y="209042"/>
                  </a:moveTo>
                  <a:cubicBezTo>
                    <a:pt x="0" y="93599"/>
                    <a:pt x="93599" y="0"/>
                    <a:pt x="209042" y="0"/>
                  </a:cubicBezTo>
                  <a:lnTo>
                    <a:pt x="21888323" y="0"/>
                  </a:lnTo>
                  <a:cubicBezTo>
                    <a:pt x="22003765" y="0"/>
                    <a:pt x="22097364" y="93599"/>
                    <a:pt x="22097364" y="209042"/>
                  </a:cubicBezTo>
                  <a:lnTo>
                    <a:pt x="22097364" y="1124204"/>
                  </a:lnTo>
                  <a:cubicBezTo>
                    <a:pt x="22097364" y="1239647"/>
                    <a:pt x="22003765" y="1333246"/>
                    <a:pt x="21888323" y="1333246"/>
                  </a:cubicBezTo>
                  <a:lnTo>
                    <a:pt x="209042" y="1333246"/>
                  </a:lnTo>
                  <a:cubicBezTo>
                    <a:pt x="93599" y="1333246"/>
                    <a:pt x="0" y="1239647"/>
                    <a:pt x="0" y="1124204"/>
                  </a:cubicBezTo>
                  <a:close/>
                </a:path>
              </a:pathLst>
            </a:custGeom>
            <a:solidFill>
              <a:srgbClr val="FFFFFF">
                <a:alpha val="90196"/>
              </a:srgbClr>
            </a:solidFill>
          </p:spPr>
        </p:sp>
      </p:grpSp>
      <p:grpSp>
        <p:nvGrpSpPr>
          <p:cNvPr name="Group 18" id="18"/>
          <p:cNvGrpSpPr/>
          <p:nvPr/>
        </p:nvGrpSpPr>
        <p:grpSpPr>
          <a:xfrm rot="0">
            <a:off x="1286561" y="571957"/>
            <a:ext cx="1899666" cy="714604"/>
            <a:chOff x="0" y="0"/>
            <a:chExt cx="2532888" cy="952805"/>
          </a:xfrm>
        </p:grpSpPr>
        <p:sp>
          <p:nvSpPr>
            <p:cNvPr name="Freeform 19" id="19" descr="preencoded.png"/>
            <p:cNvSpPr/>
            <p:nvPr/>
          </p:nvSpPr>
          <p:spPr>
            <a:xfrm flipH="false" flipV="false" rot="0">
              <a:off x="0" y="0"/>
              <a:ext cx="2532888" cy="952754"/>
            </a:xfrm>
            <a:custGeom>
              <a:avLst/>
              <a:gdLst/>
              <a:ahLst/>
              <a:cxnLst/>
              <a:rect r="r" b="b" t="t" l="l"/>
              <a:pathLst>
                <a:path h="952754" w="2532888">
                  <a:moveTo>
                    <a:pt x="0" y="0"/>
                  </a:moveTo>
                  <a:lnTo>
                    <a:pt x="2532888" y="0"/>
                  </a:lnTo>
                  <a:lnTo>
                    <a:pt x="2532888" y="952754"/>
                  </a:lnTo>
                  <a:lnTo>
                    <a:pt x="0" y="952754"/>
                  </a:lnTo>
                  <a:lnTo>
                    <a:pt x="0" y="0"/>
                  </a:lnTo>
                  <a:close/>
                </a:path>
              </a:pathLst>
            </a:custGeom>
            <a:blipFill>
              <a:blip r:embed="rId5"/>
              <a:stretch>
                <a:fillRect l="0" t="-10" r="0" b="-14"/>
              </a:stretch>
            </a:blipFill>
          </p:spPr>
        </p:sp>
      </p:grpSp>
      <p:grpSp>
        <p:nvGrpSpPr>
          <p:cNvPr name="Group 20" id="20"/>
          <p:cNvGrpSpPr/>
          <p:nvPr/>
        </p:nvGrpSpPr>
        <p:grpSpPr>
          <a:xfrm rot="0">
            <a:off x="16287750" y="571957"/>
            <a:ext cx="714604" cy="714604"/>
            <a:chOff x="0" y="0"/>
            <a:chExt cx="952805" cy="952805"/>
          </a:xfrm>
        </p:grpSpPr>
        <p:sp>
          <p:nvSpPr>
            <p:cNvPr name="Freeform 21" id="21" descr="preencoded.png"/>
            <p:cNvSpPr/>
            <p:nvPr/>
          </p:nvSpPr>
          <p:spPr>
            <a:xfrm flipH="false" flipV="false" rot="0">
              <a:off x="0" y="0"/>
              <a:ext cx="952754" cy="952754"/>
            </a:xfrm>
            <a:custGeom>
              <a:avLst/>
              <a:gdLst/>
              <a:ahLst/>
              <a:cxnLst/>
              <a:rect r="r" b="b" t="t" l="l"/>
              <a:pathLst>
                <a:path h="952754" w="952754">
                  <a:moveTo>
                    <a:pt x="0" y="0"/>
                  </a:moveTo>
                  <a:lnTo>
                    <a:pt x="952754" y="0"/>
                  </a:lnTo>
                  <a:lnTo>
                    <a:pt x="952754" y="952754"/>
                  </a:lnTo>
                  <a:lnTo>
                    <a:pt x="0" y="952754"/>
                  </a:lnTo>
                  <a:lnTo>
                    <a:pt x="0" y="0"/>
                  </a:lnTo>
                  <a:close/>
                </a:path>
              </a:pathLst>
            </a:custGeom>
            <a:blipFill>
              <a:blip r:embed="rId3"/>
              <a:stretch>
                <a:fillRect l="0" t="0" r="-5" b="-5"/>
              </a:stretch>
            </a:blipFill>
          </p:spPr>
        </p:sp>
      </p:grpSp>
      <p:grpSp>
        <p:nvGrpSpPr>
          <p:cNvPr name="Group 22" id="22"/>
          <p:cNvGrpSpPr/>
          <p:nvPr/>
        </p:nvGrpSpPr>
        <p:grpSpPr>
          <a:xfrm rot="0">
            <a:off x="962025" y="1549622"/>
            <a:ext cx="113843" cy="614477"/>
            <a:chOff x="0" y="0"/>
            <a:chExt cx="151790" cy="819302"/>
          </a:xfrm>
        </p:grpSpPr>
        <p:sp>
          <p:nvSpPr>
            <p:cNvPr name="Freeform 23" id="23"/>
            <p:cNvSpPr/>
            <p:nvPr/>
          </p:nvSpPr>
          <p:spPr>
            <a:xfrm flipH="false" flipV="false" rot="0">
              <a:off x="0" y="0"/>
              <a:ext cx="151765" cy="819277"/>
            </a:xfrm>
            <a:custGeom>
              <a:avLst/>
              <a:gdLst/>
              <a:ahLst/>
              <a:cxnLst/>
              <a:rect r="r" b="b" t="t" l="l"/>
              <a:pathLst>
                <a:path h="819277" w="151765">
                  <a:moveTo>
                    <a:pt x="0" y="0"/>
                  </a:moveTo>
                  <a:lnTo>
                    <a:pt x="151765" y="0"/>
                  </a:lnTo>
                  <a:lnTo>
                    <a:pt x="151765" y="819277"/>
                  </a:lnTo>
                  <a:lnTo>
                    <a:pt x="0" y="819277"/>
                  </a:lnTo>
                  <a:close/>
                </a:path>
              </a:pathLst>
            </a:custGeom>
            <a:solidFill>
              <a:srgbClr val="88E555"/>
            </a:solidFill>
          </p:spPr>
        </p:sp>
      </p:grpSp>
      <p:grpSp>
        <p:nvGrpSpPr>
          <p:cNvPr name="Group 24" id="24"/>
          <p:cNvGrpSpPr/>
          <p:nvPr/>
        </p:nvGrpSpPr>
        <p:grpSpPr>
          <a:xfrm rot="0">
            <a:off x="1180492" y="1387450"/>
            <a:ext cx="9555477" cy="967969"/>
            <a:chOff x="0" y="0"/>
            <a:chExt cx="12740636" cy="1290625"/>
          </a:xfrm>
        </p:grpSpPr>
        <p:sp>
          <p:nvSpPr>
            <p:cNvPr name="Freeform 25" id="25"/>
            <p:cNvSpPr/>
            <p:nvPr/>
          </p:nvSpPr>
          <p:spPr>
            <a:xfrm flipH="false" flipV="false" rot="0">
              <a:off x="0" y="0"/>
              <a:ext cx="12740636" cy="1290624"/>
            </a:xfrm>
            <a:custGeom>
              <a:avLst/>
              <a:gdLst/>
              <a:ahLst/>
              <a:cxnLst/>
              <a:rect r="r" b="b" t="t" l="l"/>
              <a:pathLst>
                <a:path h="1290624" w="12740636">
                  <a:moveTo>
                    <a:pt x="0" y="0"/>
                  </a:moveTo>
                  <a:lnTo>
                    <a:pt x="12740636" y="0"/>
                  </a:lnTo>
                  <a:lnTo>
                    <a:pt x="12740636" y="1290624"/>
                  </a:lnTo>
                  <a:lnTo>
                    <a:pt x="0" y="1290624"/>
                  </a:lnTo>
                  <a:close/>
                </a:path>
              </a:pathLst>
            </a:custGeom>
            <a:blipFill>
              <a:blip r:embed="rId6">
                <a:alphaModFix amt="0"/>
              </a:blip>
              <a:stretch>
                <a:fillRect l="0" t="-103420" r="27411" b="-75828"/>
              </a:stretch>
            </a:blipFill>
          </p:spPr>
        </p:sp>
        <p:sp>
          <p:nvSpPr>
            <p:cNvPr name="TextBox 26" id="26"/>
            <p:cNvSpPr txBox="true"/>
            <p:nvPr/>
          </p:nvSpPr>
          <p:spPr>
            <a:xfrm>
              <a:off x="0" y="-38100"/>
              <a:ext cx="12740636" cy="1328725"/>
            </a:xfrm>
            <a:prstGeom prst="rect">
              <a:avLst/>
            </a:prstGeom>
          </p:spPr>
          <p:txBody>
            <a:bodyPr anchor="ctr" rtlCol="false" tIns="0" lIns="0" bIns="0" rIns="0"/>
            <a:lstStyle/>
            <a:p>
              <a:pPr algn="l">
                <a:lnSpc>
                  <a:spcPts val="4680"/>
                </a:lnSpc>
              </a:pPr>
              <a:r>
                <a:rPr lang="en-US" sz="3900" b="true">
                  <a:solidFill>
                    <a:srgbClr val="FFFFFF"/>
                  </a:solidFill>
                  <a:latin typeface="Poppins Bold"/>
                  <a:ea typeface="Poppins Bold"/>
                  <a:cs typeface="Poppins Bold"/>
                  <a:sym typeface="Poppins Bold"/>
                </a:rPr>
                <a:t>EXPERIMENT SETUP &amp; TEST DIVERSITY</a:t>
              </a:r>
            </a:p>
          </p:txBody>
        </p:sp>
      </p:grpSp>
      <p:grpSp>
        <p:nvGrpSpPr>
          <p:cNvPr name="Group 27" id="27"/>
          <p:cNvGrpSpPr/>
          <p:nvPr/>
        </p:nvGrpSpPr>
        <p:grpSpPr>
          <a:xfrm rot="0">
            <a:off x="847725" y="2164099"/>
            <a:ext cx="16592093" cy="7985256"/>
            <a:chOff x="0" y="0"/>
            <a:chExt cx="22122790" cy="10647008"/>
          </a:xfrm>
        </p:grpSpPr>
        <p:sp>
          <p:nvSpPr>
            <p:cNvPr name="Freeform 28" id="28"/>
            <p:cNvSpPr/>
            <p:nvPr/>
          </p:nvSpPr>
          <p:spPr>
            <a:xfrm flipH="false" flipV="false" rot="0">
              <a:off x="0" y="0"/>
              <a:ext cx="22122892" cy="10647110"/>
            </a:xfrm>
            <a:custGeom>
              <a:avLst/>
              <a:gdLst/>
              <a:ahLst/>
              <a:cxnLst/>
              <a:rect r="r" b="b" t="t" l="l"/>
              <a:pathLst>
                <a:path h="10647110" w="22122892">
                  <a:moveTo>
                    <a:pt x="0" y="65951"/>
                  </a:moveTo>
                  <a:cubicBezTo>
                    <a:pt x="0" y="29564"/>
                    <a:pt x="26416" y="0"/>
                    <a:pt x="58928" y="0"/>
                  </a:cubicBezTo>
                  <a:lnTo>
                    <a:pt x="22063963" y="0"/>
                  </a:lnTo>
                  <a:cubicBezTo>
                    <a:pt x="22096476" y="0"/>
                    <a:pt x="22122892" y="29564"/>
                    <a:pt x="22122892" y="65951"/>
                  </a:cubicBezTo>
                  <a:lnTo>
                    <a:pt x="22122892" y="10581170"/>
                  </a:lnTo>
                  <a:cubicBezTo>
                    <a:pt x="22122892" y="10617557"/>
                    <a:pt x="22096476" y="10647110"/>
                    <a:pt x="22063963" y="10647110"/>
                  </a:cubicBezTo>
                  <a:lnTo>
                    <a:pt x="58928" y="10647110"/>
                  </a:lnTo>
                  <a:cubicBezTo>
                    <a:pt x="26416" y="10646980"/>
                    <a:pt x="0" y="10617557"/>
                    <a:pt x="0" y="10581170"/>
                  </a:cubicBezTo>
                  <a:close/>
                </a:path>
              </a:pathLst>
            </a:custGeom>
            <a:solidFill>
              <a:srgbClr val="FFFFFF">
                <a:alpha val="0"/>
              </a:srgbClr>
            </a:solidFill>
            <a:ln w="19050" cap="sq">
              <a:solidFill>
                <a:srgbClr val="88E555"/>
              </a:solidFill>
              <a:prstDash val="solid"/>
              <a:miter/>
            </a:ln>
          </p:spPr>
        </p:sp>
      </p:grpSp>
      <p:grpSp>
        <p:nvGrpSpPr>
          <p:cNvPr name="Group 29" id="29"/>
          <p:cNvGrpSpPr/>
          <p:nvPr/>
        </p:nvGrpSpPr>
        <p:grpSpPr>
          <a:xfrm rot="0">
            <a:off x="828675" y="2440324"/>
            <a:ext cx="342443" cy="342443"/>
            <a:chOff x="0" y="0"/>
            <a:chExt cx="456590" cy="456590"/>
          </a:xfrm>
        </p:grpSpPr>
        <p:sp>
          <p:nvSpPr>
            <p:cNvPr name="Freeform 30" id="30"/>
            <p:cNvSpPr/>
            <p:nvPr/>
          </p:nvSpPr>
          <p:spPr>
            <a:xfrm flipH="false" flipV="false" rot="0">
              <a:off x="0" y="0"/>
              <a:ext cx="456565" cy="456565"/>
            </a:xfrm>
            <a:custGeom>
              <a:avLst/>
              <a:gdLst/>
              <a:ahLst/>
              <a:cxnLst/>
              <a:rect r="r" b="b" t="t" l="l"/>
              <a:pathLst>
                <a:path h="456565" w="456565">
                  <a:moveTo>
                    <a:pt x="0" y="228346"/>
                  </a:moveTo>
                  <a:cubicBezTo>
                    <a:pt x="0" y="102235"/>
                    <a:pt x="102235" y="0"/>
                    <a:pt x="228346" y="0"/>
                  </a:cubicBezTo>
                  <a:cubicBezTo>
                    <a:pt x="354457" y="0"/>
                    <a:pt x="456565" y="102235"/>
                    <a:pt x="456565" y="228346"/>
                  </a:cubicBezTo>
                  <a:cubicBezTo>
                    <a:pt x="456565" y="354457"/>
                    <a:pt x="354330" y="456565"/>
                    <a:pt x="228346" y="456565"/>
                  </a:cubicBezTo>
                  <a:cubicBezTo>
                    <a:pt x="102362" y="456565"/>
                    <a:pt x="0" y="354330"/>
                    <a:pt x="0" y="228346"/>
                  </a:cubicBezTo>
                  <a:close/>
                </a:path>
              </a:pathLst>
            </a:custGeom>
            <a:blipFill>
              <a:blip r:embed="rId6">
                <a:alphaModFix amt="0"/>
              </a:blip>
              <a:stretch>
                <a:fillRect l="-78307" t="0" r="-78313" b="-5"/>
              </a:stretch>
            </a:blipFill>
            <a:ln w="57150" cap="sq">
              <a:solidFill>
                <a:srgbClr val="88E555"/>
              </a:solidFill>
              <a:prstDash val="solid"/>
              <a:miter/>
            </a:ln>
          </p:spPr>
        </p:sp>
      </p:grpSp>
      <p:grpSp>
        <p:nvGrpSpPr>
          <p:cNvPr name="Group 31" id="31"/>
          <p:cNvGrpSpPr/>
          <p:nvPr/>
        </p:nvGrpSpPr>
        <p:grpSpPr>
          <a:xfrm rot="0">
            <a:off x="17116425" y="2364943"/>
            <a:ext cx="342443" cy="342443"/>
            <a:chOff x="0" y="0"/>
            <a:chExt cx="456590" cy="456590"/>
          </a:xfrm>
        </p:grpSpPr>
        <p:sp>
          <p:nvSpPr>
            <p:cNvPr name="Freeform 32" id="32"/>
            <p:cNvSpPr/>
            <p:nvPr/>
          </p:nvSpPr>
          <p:spPr>
            <a:xfrm flipH="false" flipV="false" rot="0">
              <a:off x="0" y="0"/>
              <a:ext cx="456565" cy="456565"/>
            </a:xfrm>
            <a:custGeom>
              <a:avLst/>
              <a:gdLst/>
              <a:ahLst/>
              <a:cxnLst/>
              <a:rect r="r" b="b" t="t" l="l"/>
              <a:pathLst>
                <a:path h="456565" w="456565">
                  <a:moveTo>
                    <a:pt x="0" y="0"/>
                  </a:moveTo>
                  <a:lnTo>
                    <a:pt x="456565" y="0"/>
                  </a:lnTo>
                  <a:lnTo>
                    <a:pt x="456565" y="456565"/>
                  </a:lnTo>
                  <a:lnTo>
                    <a:pt x="0" y="456565"/>
                  </a:lnTo>
                  <a:close/>
                </a:path>
              </a:pathLst>
            </a:custGeom>
            <a:blipFill>
              <a:blip r:embed="rId6">
                <a:alphaModFix amt="0"/>
              </a:blip>
              <a:stretch>
                <a:fillRect l="-78307" t="0" r="-78313" b="-5"/>
              </a:stretch>
            </a:blipFill>
            <a:ln w="57150" cap="sq">
              <a:solidFill>
                <a:srgbClr val="88E555"/>
              </a:solidFill>
              <a:prstDash val="solid"/>
              <a:miter/>
            </a:ln>
          </p:spPr>
        </p:sp>
      </p:grpSp>
      <p:grpSp>
        <p:nvGrpSpPr>
          <p:cNvPr name="Group 33" id="33"/>
          <p:cNvGrpSpPr/>
          <p:nvPr/>
        </p:nvGrpSpPr>
        <p:grpSpPr>
          <a:xfrm rot="0">
            <a:off x="857479" y="9806912"/>
            <a:ext cx="342443" cy="342443"/>
            <a:chOff x="0" y="0"/>
            <a:chExt cx="456590" cy="456590"/>
          </a:xfrm>
        </p:grpSpPr>
        <p:sp>
          <p:nvSpPr>
            <p:cNvPr name="Freeform 34" id="34"/>
            <p:cNvSpPr/>
            <p:nvPr/>
          </p:nvSpPr>
          <p:spPr>
            <a:xfrm flipH="false" flipV="false" rot="0">
              <a:off x="0" y="0"/>
              <a:ext cx="456565" cy="456565"/>
            </a:xfrm>
            <a:custGeom>
              <a:avLst/>
              <a:gdLst/>
              <a:ahLst/>
              <a:cxnLst/>
              <a:rect r="r" b="b" t="t" l="l"/>
              <a:pathLst>
                <a:path h="456565" w="456565">
                  <a:moveTo>
                    <a:pt x="0" y="0"/>
                  </a:moveTo>
                  <a:lnTo>
                    <a:pt x="456565" y="0"/>
                  </a:lnTo>
                  <a:lnTo>
                    <a:pt x="456565" y="456565"/>
                  </a:lnTo>
                  <a:lnTo>
                    <a:pt x="0" y="456565"/>
                  </a:lnTo>
                  <a:close/>
                </a:path>
              </a:pathLst>
            </a:custGeom>
            <a:blipFill>
              <a:blip r:embed="rId6">
                <a:alphaModFix amt="0"/>
              </a:blip>
              <a:stretch>
                <a:fillRect l="-78307" t="0" r="-78313" b="-5"/>
              </a:stretch>
            </a:blipFill>
            <a:ln w="57150" cap="sq">
              <a:solidFill>
                <a:srgbClr val="88E555"/>
              </a:solidFill>
              <a:prstDash val="solid"/>
              <a:miter/>
            </a:ln>
          </p:spPr>
        </p:sp>
      </p:grpSp>
      <p:grpSp>
        <p:nvGrpSpPr>
          <p:cNvPr name="Group 35" id="35"/>
          <p:cNvGrpSpPr/>
          <p:nvPr/>
        </p:nvGrpSpPr>
        <p:grpSpPr>
          <a:xfrm rot="0">
            <a:off x="17116425" y="9543821"/>
            <a:ext cx="342443" cy="342443"/>
            <a:chOff x="0" y="0"/>
            <a:chExt cx="456590" cy="456590"/>
          </a:xfrm>
        </p:grpSpPr>
        <p:sp>
          <p:nvSpPr>
            <p:cNvPr name="Freeform 36" id="36"/>
            <p:cNvSpPr/>
            <p:nvPr/>
          </p:nvSpPr>
          <p:spPr>
            <a:xfrm flipH="false" flipV="false" rot="0">
              <a:off x="0" y="0"/>
              <a:ext cx="456565" cy="456565"/>
            </a:xfrm>
            <a:custGeom>
              <a:avLst/>
              <a:gdLst/>
              <a:ahLst/>
              <a:cxnLst/>
              <a:rect r="r" b="b" t="t" l="l"/>
              <a:pathLst>
                <a:path h="456565" w="456565">
                  <a:moveTo>
                    <a:pt x="0" y="0"/>
                  </a:moveTo>
                  <a:lnTo>
                    <a:pt x="456565" y="0"/>
                  </a:lnTo>
                  <a:lnTo>
                    <a:pt x="456565" y="456565"/>
                  </a:lnTo>
                  <a:lnTo>
                    <a:pt x="0" y="456565"/>
                  </a:lnTo>
                  <a:close/>
                </a:path>
              </a:pathLst>
            </a:custGeom>
            <a:blipFill>
              <a:blip r:embed="rId6">
                <a:alphaModFix amt="0"/>
              </a:blip>
              <a:stretch>
                <a:fillRect l="-78307" t="0" r="-78313" b="-5"/>
              </a:stretch>
            </a:blipFill>
            <a:ln w="57150" cap="sq">
              <a:solidFill>
                <a:srgbClr val="88E555"/>
              </a:solidFill>
              <a:prstDash val="solid"/>
              <a:miter/>
            </a:ln>
          </p:spPr>
        </p:sp>
      </p:grpSp>
      <p:grpSp>
        <p:nvGrpSpPr>
          <p:cNvPr name="Group 37" id="37"/>
          <p:cNvGrpSpPr/>
          <p:nvPr/>
        </p:nvGrpSpPr>
        <p:grpSpPr>
          <a:xfrm rot="0">
            <a:off x="2442820" y="3260293"/>
            <a:ext cx="5715457" cy="560641"/>
            <a:chOff x="0" y="0"/>
            <a:chExt cx="7620610" cy="747522"/>
          </a:xfrm>
        </p:grpSpPr>
        <p:sp>
          <p:nvSpPr>
            <p:cNvPr name="Freeform 38" id="38"/>
            <p:cNvSpPr/>
            <p:nvPr/>
          </p:nvSpPr>
          <p:spPr>
            <a:xfrm flipH="false" flipV="false" rot="0">
              <a:off x="0" y="0"/>
              <a:ext cx="7620610" cy="747522"/>
            </a:xfrm>
            <a:custGeom>
              <a:avLst/>
              <a:gdLst/>
              <a:ahLst/>
              <a:cxnLst/>
              <a:rect r="r" b="b" t="t" l="l"/>
              <a:pathLst>
                <a:path h="747522" w="7620610">
                  <a:moveTo>
                    <a:pt x="0" y="0"/>
                  </a:moveTo>
                  <a:lnTo>
                    <a:pt x="7620610" y="0"/>
                  </a:lnTo>
                  <a:lnTo>
                    <a:pt x="7620610" y="747522"/>
                  </a:lnTo>
                  <a:lnTo>
                    <a:pt x="0" y="747522"/>
                  </a:lnTo>
                  <a:close/>
                </a:path>
              </a:pathLst>
            </a:custGeom>
            <a:blipFill>
              <a:blip r:embed="rId6">
                <a:alphaModFix amt="0"/>
              </a:blip>
              <a:stretch>
                <a:fillRect l="0" t="-162921" r="0" b="-134358"/>
              </a:stretch>
            </a:blipFill>
          </p:spPr>
        </p:sp>
        <p:sp>
          <p:nvSpPr>
            <p:cNvPr name="TextBox 39" id="39"/>
            <p:cNvSpPr txBox="true"/>
            <p:nvPr/>
          </p:nvSpPr>
          <p:spPr>
            <a:xfrm>
              <a:off x="0" y="-28575"/>
              <a:ext cx="7620610" cy="776097"/>
            </a:xfrm>
            <a:prstGeom prst="rect">
              <a:avLst/>
            </a:prstGeom>
          </p:spPr>
          <p:txBody>
            <a:bodyPr anchor="ctr" rtlCol="false" tIns="0" lIns="0" bIns="0" rIns="0"/>
            <a:lstStyle/>
            <a:p>
              <a:pPr algn="l">
                <a:lnSpc>
                  <a:spcPts val="2700"/>
                </a:lnSpc>
              </a:pPr>
            </a:p>
          </p:txBody>
        </p:sp>
      </p:grpSp>
      <p:grpSp>
        <p:nvGrpSpPr>
          <p:cNvPr name="Group 40" id="40"/>
          <p:cNvGrpSpPr/>
          <p:nvPr/>
        </p:nvGrpSpPr>
        <p:grpSpPr>
          <a:xfrm rot="0">
            <a:off x="2442820" y="3774643"/>
            <a:ext cx="8551926" cy="373761"/>
            <a:chOff x="0" y="0"/>
            <a:chExt cx="11402568" cy="498348"/>
          </a:xfrm>
        </p:grpSpPr>
        <p:sp>
          <p:nvSpPr>
            <p:cNvPr name="Freeform 41" id="41"/>
            <p:cNvSpPr/>
            <p:nvPr/>
          </p:nvSpPr>
          <p:spPr>
            <a:xfrm flipH="false" flipV="false" rot="0">
              <a:off x="0" y="0"/>
              <a:ext cx="11402568" cy="498349"/>
            </a:xfrm>
            <a:custGeom>
              <a:avLst/>
              <a:gdLst/>
              <a:ahLst/>
              <a:cxnLst/>
              <a:rect r="r" b="b" t="t" l="l"/>
              <a:pathLst>
                <a:path h="498349" w="11402568">
                  <a:moveTo>
                    <a:pt x="0" y="0"/>
                  </a:moveTo>
                  <a:lnTo>
                    <a:pt x="11402568" y="0"/>
                  </a:lnTo>
                  <a:lnTo>
                    <a:pt x="11402568" y="498349"/>
                  </a:lnTo>
                  <a:lnTo>
                    <a:pt x="0" y="498349"/>
                  </a:lnTo>
                  <a:close/>
                </a:path>
              </a:pathLst>
            </a:custGeom>
            <a:blipFill>
              <a:blip r:embed="rId6">
                <a:alphaModFix amt="0"/>
              </a:blip>
              <a:stretch>
                <a:fillRect l="0" t="-407482" r="0" b="-384179"/>
              </a:stretch>
            </a:blipFill>
          </p:spPr>
        </p:sp>
        <p:sp>
          <p:nvSpPr>
            <p:cNvPr name="TextBox 42" id="42"/>
            <p:cNvSpPr txBox="true"/>
            <p:nvPr/>
          </p:nvSpPr>
          <p:spPr>
            <a:xfrm>
              <a:off x="0" y="-19050"/>
              <a:ext cx="11402568" cy="517398"/>
            </a:xfrm>
            <a:prstGeom prst="rect">
              <a:avLst/>
            </a:prstGeom>
          </p:spPr>
          <p:txBody>
            <a:bodyPr anchor="ctr" rtlCol="false" tIns="0" lIns="0" bIns="0" rIns="0"/>
            <a:lstStyle/>
            <a:p>
              <a:pPr algn="l">
                <a:lnSpc>
                  <a:spcPts val="1800"/>
                </a:lnSpc>
              </a:pPr>
            </a:p>
          </p:txBody>
        </p:sp>
      </p:grpSp>
      <p:grpSp>
        <p:nvGrpSpPr>
          <p:cNvPr name="Group 43" id="43"/>
          <p:cNvGrpSpPr/>
          <p:nvPr/>
        </p:nvGrpSpPr>
        <p:grpSpPr>
          <a:xfrm rot="0">
            <a:off x="2685593" y="7848295"/>
            <a:ext cx="13916254" cy="13716"/>
            <a:chOff x="0" y="0"/>
            <a:chExt cx="18555005" cy="18288"/>
          </a:xfrm>
        </p:grpSpPr>
        <p:sp>
          <p:nvSpPr>
            <p:cNvPr name="Freeform 44" id="44"/>
            <p:cNvSpPr/>
            <p:nvPr/>
          </p:nvSpPr>
          <p:spPr>
            <a:xfrm flipH="false" flipV="false" rot="0">
              <a:off x="0" y="0"/>
              <a:ext cx="18554954" cy="18288"/>
            </a:xfrm>
            <a:custGeom>
              <a:avLst/>
              <a:gdLst/>
              <a:ahLst/>
              <a:cxnLst/>
              <a:rect r="r" b="b" t="t" l="l"/>
              <a:pathLst>
                <a:path h="18288" w="18554954">
                  <a:moveTo>
                    <a:pt x="0" y="0"/>
                  </a:moveTo>
                  <a:lnTo>
                    <a:pt x="18554954" y="0"/>
                  </a:lnTo>
                  <a:lnTo>
                    <a:pt x="18554954" y="18288"/>
                  </a:lnTo>
                  <a:lnTo>
                    <a:pt x="0" y="18288"/>
                  </a:lnTo>
                  <a:close/>
                </a:path>
              </a:pathLst>
            </a:custGeom>
            <a:solidFill>
              <a:srgbClr val="1E40AF">
                <a:alpha val="8627"/>
              </a:srgbClr>
            </a:solidFill>
          </p:spPr>
        </p:sp>
      </p:grpSp>
      <p:grpSp>
        <p:nvGrpSpPr>
          <p:cNvPr name="Group 45" id="45"/>
          <p:cNvGrpSpPr/>
          <p:nvPr/>
        </p:nvGrpSpPr>
        <p:grpSpPr>
          <a:xfrm rot="0">
            <a:off x="2685593" y="8491576"/>
            <a:ext cx="13916254" cy="13716"/>
            <a:chOff x="0" y="0"/>
            <a:chExt cx="18555005" cy="18288"/>
          </a:xfrm>
        </p:grpSpPr>
        <p:sp>
          <p:nvSpPr>
            <p:cNvPr name="Freeform 46" id="46"/>
            <p:cNvSpPr/>
            <p:nvPr/>
          </p:nvSpPr>
          <p:spPr>
            <a:xfrm flipH="false" flipV="false" rot="0">
              <a:off x="0" y="0"/>
              <a:ext cx="18554954" cy="18288"/>
            </a:xfrm>
            <a:custGeom>
              <a:avLst/>
              <a:gdLst/>
              <a:ahLst/>
              <a:cxnLst/>
              <a:rect r="r" b="b" t="t" l="l"/>
              <a:pathLst>
                <a:path h="18288" w="18554954">
                  <a:moveTo>
                    <a:pt x="0" y="0"/>
                  </a:moveTo>
                  <a:lnTo>
                    <a:pt x="18554954" y="0"/>
                  </a:lnTo>
                  <a:lnTo>
                    <a:pt x="18554954" y="18288"/>
                  </a:lnTo>
                  <a:lnTo>
                    <a:pt x="0" y="18288"/>
                  </a:lnTo>
                  <a:close/>
                </a:path>
              </a:pathLst>
            </a:custGeom>
            <a:solidFill>
              <a:srgbClr val="1E40AF">
                <a:alpha val="8627"/>
              </a:srgbClr>
            </a:solidFill>
          </p:spPr>
        </p:sp>
      </p:grpSp>
      <p:grpSp>
        <p:nvGrpSpPr>
          <p:cNvPr name="Group 47" id="47"/>
          <p:cNvGrpSpPr/>
          <p:nvPr/>
        </p:nvGrpSpPr>
        <p:grpSpPr>
          <a:xfrm rot="0">
            <a:off x="7938249" y="341566"/>
            <a:ext cx="2411054" cy="1175385"/>
            <a:chOff x="0" y="0"/>
            <a:chExt cx="3214738" cy="1567180"/>
          </a:xfrm>
        </p:grpSpPr>
        <p:sp>
          <p:nvSpPr>
            <p:cNvPr name="Freeform 48" id="48"/>
            <p:cNvSpPr/>
            <p:nvPr/>
          </p:nvSpPr>
          <p:spPr>
            <a:xfrm flipH="false" flipV="false" rot="0">
              <a:off x="0" y="0"/>
              <a:ext cx="3214751" cy="1567180"/>
            </a:xfrm>
            <a:custGeom>
              <a:avLst/>
              <a:gdLst/>
              <a:ahLst/>
              <a:cxnLst/>
              <a:rect r="r" b="b" t="t" l="l"/>
              <a:pathLst>
                <a:path h="1567180" w="3214751">
                  <a:moveTo>
                    <a:pt x="0" y="0"/>
                  </a:moveTo>
                  <a:lnTo>
                    <a:pt x="3214751" y="0"/>
                  </a:lnTo>
                  <a:lnTo>
                    <a:pt x="3214751" y="1567180"/>
                  </a:lnTo>
                  <a:lnTo>
                    <a:pt x="0" y="1567180"/>
                  </a:lnTo>
                  <a:lnTo>
                    <a:pt x="0" y="0"/>
                  </a:lnTo>
                  <a:close/>
                </a:path>
              </a:pathLst>
            </a:custGeom>
            <a:blipFill>
              <a:blip r:embed="rId7"/>
              <a:stretch>
                <a:fillRect l="0" t="0" r="0" b="0"/>
              </a:stretch>
            </a:blipFill>
          </p:spPr>
        </p:sp>
      </p:grpSp>
      <p:grpSp>
        <p:nvGrpSpPr>
          <p:cNvPr name="Group 49" id="49"/>
          <p:cNvGrpSpPr/>
          <p:nvPr/>
        </p:nvGrpSpPr>
        <p:grpSpPr>
          <a:xfrm rot="0">
            <a:off x="857250" y="156115"/>
            <a:ext cx="16573043" cy="1286561"/>
            <a:chOff x="0" y="0"/>
            <a:chExt cx="22097390" cy="1715414"/>
          </a:xfrm>
        </p:grpSpPr>
        <p:sp>
          <p:nvSpPr>
            <p:cNvPr name="Freeform 50" id="50"/>
            <p:cNvSpPr/>
            <p:nvPr/>
          </p:nvSpPr>
          <p:spPr>
            <a:xfrm flipH="false" flipV="false" rot="0">
              <a:off x="0" y="0"/>
              <a:ext cx="22097366" cy="1715389"/>
            </a:xfrm>
            <a:custGeom>
              <a:avLst/>
              <a:gdLst/>
              <a:ahLst/>
              <a:cxnLst/>
              <a:rect r="r" b="b" t="t" l="l"/>
              <a:pathLst>
                <a:path h="1715389" w="22097366">
                  <a:moveTo>
                    <a:pt x="0" y="162560"/>
                  </a:moveTo>
                  <a:cubicBezTo>
                    <a:pt x="0" y="72771"/>
                    <a:pt x="72771" y="0"/>
                    <a:pt x="162560" y="0"/>
                  </a:cubicBezTo>
                  <a:lnTo>
                    <a:pt x="21934805" y="0"/>
                  </a:lnTo>
                  <a:cubicBezTo>
                    <a:pt x="22024594" y="0"/>
                    <a:pt x="22097366" y="72771"/>
                    <a:pt x="22097366" y="162560"/>
                  </a:cubicBezTo>
                  <a:lnTo>
                    <a:pt x="22097366" y="1552829"/>
                  </a:lnTo>
                  <a:cubicBezTo>
                    <a:pt x="22097366" y="1642618"/>
                    <a:pt x="22024594" y="1715389"/>
                    <a:pt x="21934805" y="1715389"/>
                  </a:cubicBezTo>
                  <a:lnTo>
                    <a:pt x="162560" y="1715389"/>
                  </a:lnTo>
                  <a:cubicBezTo>
                    <a:pt x="72771" y="1715389"/>
                    <a:pt x="0" y="1642618"/>
                    <a:pt x="0" y="1552829"/>
                  </a:cubicBezTo>
                  <a:close/>
                </a:path>
              </a:pathLst>
            </a:custGeom>
            <a:solidFill>
              <a:srgbClr val="FFFFFF">
                <a:alpha val="90196"/>
              </a:srgbClr>
            </a:solidFill>
          </p:spPr>
        </p:sp>
      </p:grpSp>
      <p:grpSp>
        <p:nvGrpSpPr>
          <p:cNvPr name="Group 51" id="51"/>
          <p:cNvGrpSpPr/>
          <p:nvPr/>
        </p:nvGrpSpPr>
        <p:grpSpPr>
          <a:xfrm rot="0">
            <a:off x="2271151" y="351568"/>
            <a:ext cx="13745232" cy="879653"/>
            <a:chOff x="0" y="0"/>
            <a:chExt cx="18326976" cy="1172870"/>
          </a:xfrm>
        </p:grpSpPr>
        <p:sp>
          <p:nvSpPr>
            <p:cNvPr name="Freeform 52" id="52"/>
            <p:cNvSpPr/>
            <p:nvPr/>
          </p:nvSpPr>
          <p:spPr>
            <a:xfrm flipH="false" flipV="false" rot="0">
              <a:off x="0" y="0"/>
              <a:ext cx="18326988" cy="1172845"/>
            </a:xfrm>
            <a:custGeom>
              <a:avLst/>
              <a:gdLst/>
              <a:ahLst/>
              <a:cxnLst/>
              <a:rect r="r" b="b" t="t" l="l"/>
              <a:pathLst>
                <a:path h="1172845" w="18326988">
                  <a:moveTo>
                    <a:pt x="0" y="0"/>
                  </a:moveTo>
                  <a:lnTo>
                    <a:pt x="18326988" y="0"/>
                  </a:lnTo>
                  <a:lnTo>
                    <a:pt x="18326988" y="1172845"/>
                  </a:lnTo>
                  <a:lnTo>
                    <a:pt x="0" y="1172845"/>
                  </a:lnTo>
                  <a:lnTo>
                    <a:pt x="0" y="0"/>
                  </a:lnTo>
                  <a:close/>
                </a:path>
              </a:pathLst>
            </a:custGeom>
            <a:blipFill>
              <a:blip r:embed="rId8"/>
              <a:stretch>
                <a:fillRect l="0" t="-2" r="0" b="-4"/>
              </a:stretch>
            </a:blipFill>
          </p:spPr>
        </p:sp>
      </p:grpSp>
      <p:grpSp>
        <p:nvGrpSpPr>
          <p:cNvPr name="Group 53" id="53"/>
          <p:cNvGrpSpPr/>
          <p:nvPr/>
        </p:nvGrpSpPr>
        <p:grpSpPr>
          <a:xfrm rot="0">
            <a:off x="1369619" y="2865422"/>
            <a:ext cx="7671717" cy="2648258"/>
            <a:chOff x="0" y="0"/>
            <a:chExt cx="10228956" cy="3531010"/>
          </a:xfrm>
        </p:grpSpPr>
        <p:sp>
          <p:nvSpPr>
            <p:cNvPr name="Freeform 54" id="54"/>
            <p:cNvSpPr/>
            <p:nvPr/>
          </p:nvSpPr>
          <p:spPr>
            <a:xfrm flipH="false" flipV="false" rot="0">
              <a:off x="0" y="0"/>
              <a:ext cx="10228916" cy="3530941"/>
            </a:xfrm>
            <a:custGeom>
              <a:avLst/>
              <a:gdLst/>
              <a:ahLst/>
              <a:cxnLst/>
              <a:rect r="r" b="b" t="t" l="l"/>
              <a:pathLst>
                <a:path h="3530941" w="10228916">
                  <a:moveTo>
                    <a:pt x="0" y="150963"/>
                  </a:moveTo>
                  <a:cubicBezTo>
                    <a:pt x="0" y="67655"/>
                    <a:pt x="26652" y="0"/>
                    <a:pt x="59470" y="0"/>
                  </a:cubicBezTo>
                  <a:lnTo>
                    <a:pt x="10169446" y="0"/>
                  </a:lnTo>
                  <a:cubicBezTo>
                    <a:pt x="10202332" y="0"/>
                    <a:pt x="10228916" y="67655"/>
                    <a:pt x="10228916" y="150963"/>
                  </a:cubicBezTo>
                  <a:lnTo>
                    <a:pt x="10228916" y="3379977"/>
                  </a:lnTo>
                  <a:cubicBezTo>
                    <a:pt x="10228916" y="3463460"/>
                    <a:pt x="10202264" y="3530941"/>
                    <a:pt x="10169446" y="3530941"/>
                  </a:cubicBezTo>
                  <a:lnTo>
                    <a:pt x="59470" y="3530941"/>
                  </a:lnTo>
                  <a:cubicBezTo>
                    <a:pt x="26583" y="3530941"/>
                    <a:pt x="0" y="3463286"/>
                    <a:pt x="0" y="3379977"/>
                  </a:cubicBezTo>
                  <a:close/>
                </a:path>
              </a:pathLst>
            </a:custGeom>
            <a:solidFill>
              <a:srgbClr val="1E3A8A">
                <a:alpha val="15686"/>
              </a:srgbClr>
            </a:solidFill>
            <a:ln w="19050" cap="sq">
              <a:solidFill>
                <a:srgbClr val="1D4ED8"/>
              </a:solidFill>
              <a:prstDash val="solid"/>
              <a:miter/>
            </a:ln>
          </p:spPr>
        </p:sp>
      </p:grpSp>
      <p:grpSp>
        <p:nvGrpSpPr>
          <p:cNvPr name="Group 55" id="55"/>
          <p:cNvGrpSpPr/>
          <p:nvPr/>
        </p:nvGrpSpPr>
        <p:grpSpPr>
          <a:xfrm rot="0">
            <a:off x="1797141" y="2184221"/>
            <a:ext cx="6816673" cy="3034246"/>
            <a:chOff x="0" y="0"/>
            <a:chExt cx="9088898" cy="4045662"/>
          </a:xfrm>
        </p:grpSpPr>
        <p:sp>
          <p:nvSpPr>
            <p:cNvPr name="Freeform 56" id="56"/>
            <p:cNvSpPr/>
            <p:nvPr/>
          </p:nvSpPr>
          <p:spPr>
            <a:xfrm flipH="false" flipV="false" rot="0">
              <a:off x="0" y="0"/>
              <a:ext cx="9088897" cy="4045660"/>
            </a:xfrm>
            <a:custGeom>
              <a:avLst/>
              <a:gdLst/>
              <a:ahLst/>
              <a:cxnLst/>
              <a:rect r="r" b="b" t="t" l="l"/>
              <a:pathLst>
                <a:path h="4045660" w="9088897">
                  <a:moveTo>
                    <a:pt x="0" y="0"/>
                  </a:moveTo>
                  <a:lnTo>
                    <a:pt x="9088897" y="0"/>
                  </a:lnTo>
                  <a:lnTo>
                    <a:pt x="9088897" y="4045660"/>
                  </a:lnTo>
                  <a:lnTo>
                    <a:pt x="0" y="4045660"/>
                  </a:lnTo>
                  <a:close/>
                </a:path>
              </a:pathLst>
            </a:custGeom>
            <a:blipFill>
              <a:blip r:embed="rId6">
                <a:alphaModFix amt="0"/>
              </a:blip>
              <a:stretch>
                <a:fillRect l="0" t="-71776" r="-92520" b="3225"/>
              </a:stretch>
            </a:blipFill>
          </p:spPr>
        </p:sp>
        <p:sp>
          <p:nvSpPr>
            <p:cNvPr name="TextBox 57" id="57"/>
            <p:cNvSpPr txBox="true"/>
            <p:nvPr/>
          </p:nvSpPr>
          <p:spPr>
            <a:xfrm>
              <a:off x="0" y="-19050"/>
              <a:ext cx="9088898" cy="4064712"/>
            </a:xfrm>
            <a:prstGeom prst="rect">
              <a:avLst/>
            </a:prstGeom>
          </p:spPr>
          <p:txBody>
            <a:bodyPr anchor="ctr" rtlCol="false" tIns="0" lIns="0" bIns="0" rIns="0"/>
            <a:lstStyle/>
            <a:p>
              <a:pPr algn="ctr">
                <a:lnSpc>
                  <a:spcPts val="2100"/>
                </a:lnSpc>
              </a:pPr>
              <a:r>
                <a:rPr lang="en-US" sz="1750">
                  <a:solidFill>
                    <a:srgbClr val="FFFFFF"/>
                  </a:solidFill>
                  <a:latin typeface="Poppins"/>
                  <a:ea typeface="Poppins"/>
                  <a:cs typeface="Poppins"/>
                  <a:sym typeface="Poppins"/>
                </a:rPr>
                <a:t>TEST DIVERSITY</a:t>
              </a:r>
            </a:p>
            <a:p>
              <a:pPr algn="ctr">
                <a:lnSpc>
                  <a:spcPts val="2100"/>
                </a:lnSpc>
              </a:pPr>
            </a:p>
            <a:p>
              <a:pPr algn="ctr">
                <a:lnSpc>
                  <a:spcPts val="2100"/>
                </a:lnSpc>
              </a:pPr>
            </a:p>
            <a:p>
              <a:pPr algn="l" marL="377826" indent="-188913" lvl="1">
                <a:lnSpc>
                  <a:spcPts val="2100"/>
                </a:lnSpc>
                <a:buFont typeface="Arial"/>
                <a:buChar char="•"/>
              </a:pPr>
              <a:r>
                <a:rPr lang="en-US" sz="1750">
                  <a:solidFill>
                    <a:srgbClr val="FFFFFF"/>
                  </a:solidFill>
                  <a:latin typeface="Poppins"/>
                  <a:ea typeface="Poppins"/>
                  <a:cs typeface="Poppins"/>
                  <a:sym typeface="Poppins"/>
                </a:rPr>
                <a:t>Reference Suite — controlled localization benchmark</a:t>
              </a:r>
            </a:p>
            <a:p>
              <a:pPr algn="l" marL="377826" indent="-188913" lvl="1">
                <a:lnSpc>
                  <a:spcPts val="2100"/>
                </a:lnSpc>
                <a:buFont typeface="Arial"/>
                <a:buChar char="•"/>
              </a:pPr>
              <a:r>
                <a:rPr lang="en-US" sz="1750">
                  <a:solidFill>
                    <a:srgbClr val="FFFFFF"/>
                  </a:solidFill>
                  <a:latin typeface="Poppins"/>
                  <a:ea typeface="Poppins"/>
                  <a:cs typeface="Poppins"/>
                  <a:sym typeface="Poppins"/>
                </a:rPr>
                <a:t>Stress Suite — robustness and ambiguity testing</a:t>
              </a:r>
            </a:p>
            <a:p>
              <a:pPr algn="l" marL="377826" indent="-188913" lvl="1">
                <a:lnSpc>
                  <a:spcPts val="2100"/>
                </a:lnSpc>
                <a:buFont typeface="Arial"/>
                <a:buChar char="•"/>
              </a:pPr>
              <a:r>
                <a:rPr lang="en-US" sz="1750">
                  <a:solidFill>
                    <a:srgbClr val="FFFFFF"/>
                  </a:solidFill>
                  <a:latin typeface="Poppins"/>
                  <a:ea typeface="Poppins"/>
                  <a:cs typeface="Poppins"/>
                  <a:sym typeface="Poppins"/>
                </a:rPr>
                <a:t>Geometric variation — translation, rotation, scale</a:t>
              </a:r>
            </a:p>
            <a:p>
              <a:pPr algn="l" marL="377826" indent="-188913" lvl="1">
                <a:lnSpc>
                  <a:spcPts val="2100"/>
                </a:lnSpc>
                <a:buFont typeface="Arial"/>
                <a:buChar char="•"/>
              </a:pPr>
              <a:r>
                <a:rPr lang="en-US" sz="1750">
                  <a:solidFill>
                    <a:srgbClr val="FFFFFF"/>
                  </a:solidFill>
                  <a:latin typeface="Poppins"/>
                  <a:ea typeface="Poppins"/>
                  <a:cs typeface="Poppins"/>
                  <a:sym typeface="Poppins"/>
                </a:rPr>
                <a:t>Imaging variation — noise, blur and SEM/optical effects</a:t>
              </a:r>
            </a:p>
            <a:p>
              <a:pPr algn="l" marL="377826" indent="-188913" lvl="1">
                <a:lnSpc>
                  <a:spcPts val="2100"/>
                </a:lnSpc>
                <a:buFont typeface="Arial"/>
                <a:buChar char="•"/>
              </a:pPr>
              <a:r>
                <a:rPr lang="en-US" sz="1750">
                  <a:solidFill>
                    <a:srgbClr val="FFFFFF"/>
                  </a:solidFill>
                  <a:latin typeface="Poppins"/>
                  <a:ea typeface="Poppins"/>
                  <a:cs typeface="Poppins"/>
                  <a:sym typeface="Poppins"/>
                </a:rPr>
                <a:t>Periodic structures — challenging repeated-pattern candidates</a:t>
              </a:r>
            </a:p>
            <a:p>
              <a:pPr algn="l" marL="377826" indent="-188913" lvl="1">
                <a:lnSpc>
                  <a:spcPts val="2100"/>
                </a:lnSpc>
                <a:buFont typeface="Arial"/>
                <a:buChar char="•"/>
              </a:pPr>
              <a:r>
                <a:rPr lang="en-US" sz="1750">
                  <a:solidFill>
                    <a:srgbClr val="FFFFFF"/>
                  </a:solidFill>
                  <a:latin typeface="Poppins"/>
                  <a:ea typeface="Poppins"/>
                  <a:cs typeface="Poppins"/>
                  <a:sym typeface="Poppins"/>
                </a:rPr>
                <a:t>Absent targets — evaluates false-positive rejection</a:t>
              </a:r>
            </a:p>
          </p:txBody>
        </p:sp>
      </p:grpSp>
      <p:grpSp>
        <p:nvGrpSpPr>
          <p:cNvPr name="Group 58" id="58"/>
          <p:cNvGrpSpPr/>
          <p:nvPr/>
        </p:nvGrpSpPr>
        <p:grpSpPr>
          <a:xfrm rot="0">
            <a:off x="1369619" y="6180949"/>
            <a:ext cx="7943067" cy="3968406"/>
            <a:chOff x="0" y="0"/>
            <a:chExt cx="10590756" cy="5291208"/>
          </a:xfrm>
        </p:grpSpPr>
        <p:sp>
          <p:nvSpPr>
            <p:cNvPr name="Freeform 59" id="59"/>
            <p:cNvSpPr/>
            <p:nvPr/>
          </p:nvSpPr>
          <p:spPr>
            <a:xfrm flipH="false" flipV="false" rot="0">
              <a:off x="0" y="0"/>
              <a:ext cx="10590714" cy="5291104"/>
            </a:xfrm>
            <a:custGeom>
              <a:avLst/>
              <a:gdLst/>
              <a:ahLst/>
              <a:cxnLst/>
              <a:rect r="r" b="b" t="t" l="l"/>
              <a:pathLst>
                <a:path h="5291104" w="10590714">
                  <a:moveTo>
                    <a:pt x="0" y="226218"/>
                  </a:moveTo>
                  <a:cubicBezTo>
                    <a:pt x="0" y="101381"/>
                    <a:pt x="27595" y="0"/>
                    <a:pt x="61574" y="0"/>
                  </a:cubicBezTo>
                  <a:lnTo>
                    <a:pt x="10529139" y="0"/>
                  </a:lnTo>
                  <a:cubicBezTo>
                    <a:pt x="10563190" y="0"/>
                    <a:pt x="10590714" y="101381"/>
                    <a:pt x="10590714" y="226218"/>
                  </a:cubicBezTo>
                  <a:lnTo>
                    <a:pt x="10590714" y="5064885"/>
                  </a:lnTo>
                  <a:cubicBezTo>
                    <a:pt x="10590714" y="5189983"/>
                    <a:pt x="10563119" y="5291104"/>
                    <a:pt x="10529139" y="5291104"/>
                  </a:cubicBezTo>
                  <a:lnTo>
                    <a:pt x="61574" y="5291104"/>
                  </a:lnTo>
                  <a:cubicBezTo>
                    <a:pt x="27524" y="5291104"/>
                    <a:pt x="0" y="5189722"/>
                    <a:pt x="0" y="5064885"/>
                  </a:cubicBezTo>
                  <a:close/>
                </a:path>
              </a:pathLst>
            </a:custGeom>
            <a:solidFill>
              <a:srgbClr val="1E3A8A">
                <a:alpha val="15686"/>
              </a:srgbClr>
            </a:solidFill>
            <a:ln w="19050" cap="sq">
              <a:solidFill>
                <a:srgbClr val="1D4ED8"/>
              </a:solidFill>
              <a:prstDash val="solid"/>
              <a:miter/>
            </a:ln>
          </p:spPr>
        </p:sp>
      </p:grpSp>
      <p:grpSp>
        <p:nvGrpSpPr>
          <p:cNvPr name="Group 60" id="60"/>
          <p:cNvGrpSpPr/>
          <p:nvPr/>
        </p:nvGrpSpPr>
        <p:grpSpPr>
          <a:xfrm rot="0">
            <a:off x="1541319" y="5666080"/>
            <a:ext cx="7518458" cy="4703255"/>
            <a:chOff x="0" y="0"/>
            <a:chExt cx="10024611" cy="6271007"/>
          </a:xfrm>
        </p:grpSpPr>
        <p:sp>
          <p:nvSpPr>
            <p:cNvPr name="Freeform 61" id="61"/>
            <p:cNvSpPr/>
            <p:nvPr/>
          </p:nvSpPr>
          <p:spPr>
            <a:xfrm flipH="false" flipV="false" rot="0">
              <a:off x="0" y="0"/>
              <a:ext cx="10024611" cy="6271004"/>
            </a:xfrm>
            <a:custGeom>
              <a:avLst/>
              <a:gdLst/>
              <a:ahLst/>
              <a:cxnLst/>
              <a:rect r="r" b="b" t="t" l="l"/>
              <a:pathLst>
                <a:path h="6271004" w="10024611">
                  <a:moveTo>
                    <a:pt x="0" y="0"/>
                  </a:moveTo>
                  <a:lnTo>
                    <a:pt x="10024611" y="0"/>
                  </a:lnTo>
                  <a:lnTo>
                    <a:pt x="10024611" y="6271004"/>
                  </a:lnTo>
                  <a:lnTo>
                    <a:pt x="0" y="6271004"/>
                  </a:lnTo>
                  <a:close/>
                </a:path>
              </a:pathLst>
            </a:custGeom>
            <a:blipFill>
              <a:blip r:embed="rId6">
                <a:alphaModFix amt="0"/>
              </a:blip>
              <a:stretch>
                <a:fillRect l="0" t="-46305" r="-74550" b="37567"/>
              </a:stretch>
            </a:blipFill>
          </p:spPr>
        </p:sp>
        <p:sp>
          <p:nvSpPr>
            <p:cNvPr name="TextBox 62" id="62"/>
            <p:cNvSpPr txBox="true"/>
            <p:nvPr/>
          </p:nvSpPr>
          <p:spPr>
            <a:xfrm>
              <a:off x="0" y="-19050"/>
              <a:ext cx="10024611" cy="6290057"/>
            </a:xfrm>
            <a:prstGeom prst="rect">
              <a:avLst/>
            </a:prstGeom>
          </p:spPr>
          <p:txBody>
            <a:bodyPr anchor="ctr" rtlCol="false" tIns="0" lIns="0" bIns="0" rIns="0"/>
            <a:lstStyle/>
            <a:p>
              <a:pPr algn="ctr">
                <a:lnSpc>
                  <a:spcPts val="2100"/>
                </a:lnSpc>
              </a:pPr>
              <a:r>
                <a:rPr lang="en-US" sz="1750">
                  <a:solidFill>
                    <a:srgbClr val="FFFFFF"/>
                  </a:solidFill>
                  <a:latin typeface="Poppins"/>
                  <a:ea typeface="Poppins"/>
                  <a:cs typeface="Poppins"/>
                  <a:sym typeface="Poppins"/>
                </a:rPr>
                <a:t>EVALUATION STRATEGY</a:t>
              </a:r>
            </a:p>
            <a:p>
              <a:pPr algn="l">
                <a:lnSpc>
                  <a:spcPts val="2100"/>
                </a:lnSpc>
              </a:pPr>
            </a:p>
            <a:p>
              <a:pPr algn="l" marL="377826" indent="-188913" lvl="1">
                <a:lnSpc>
                  <a:spcPts val="2100"/>
                </a:lnSpc>
                <a:buFont typeface="Arial"/>
                <a:buChar char="•"/>
              </a:pPr>
              <a:r>
                <a:rPr lang="en-US" sz="1750">
                  <a:solidFill>
                    <a:srgbClr val="FFFFFF"/>
                  </a:solidFill>
                  <a:latin typeface="Poppins"/>
                  <a:ea typeface="Poppins"/>
                  <a:cs typeface="Poppins"/>
                  <a:sym typeface="Poppins"/>
                </a:rPr>
                <a:t>Held-out benchmark: Evaluation performed on a dedicated 220-pair benchmark.</a:t>
              </a:r>
            </a:p>
            <a:p>
              <a:pPr algn="l" marL="377826" indent="-188913" lvl="1">
                <a:lnSpc>
                  <a:spcPts val="2100"/>
                </a:lnSpc>
                <a:buFont typeface="Arial"/>
                <a:buChar char="•"/>
              </a:pPr>
              <a:r>
                <a:rPr lang="en-US" sz="1750">
                  <a:solidFill>
                    <a:srgbClr val="FFFFFF"/>
                  </a:solidFill>
                  <a:latin typeface="Poppins"/>
                  <a:ea typeface="Poppins"/>
                  <a:cs typeface="Poppins"/>
                  <a:sym typeface="Poppins"/>
                </a:rPr>
                <a:t>Balanced challenge: Includes both target-present and target-absent cases.</a:t>
              </a:r>
            </a:p>
            <a:p>
              <a:pPr algn="l" marL="377826" indent="-188913" lvl="1">
                <a:lnSpc>
                  <a:spcPts val="2100"/>
                </a:lnSpc>
                <a:buFont typeface="Arial"/>
                <a:buChar char="•"/>
              </a:pPr>
              <a:r>
                <a:rPr lang="en-US" sz="1750">
                  <a:solidFill>
                    <a:srgbClr val="FFFFFF"/>
                  </a:solidFill>
                  <a:latin typeface="Poppins"/>
                  <a:ea typeface="Poppins"/>
                  <a:cs typeface="Poppins"/>
                  <a:sym typeface="Poppins"/>
                </a:rPr>
                <a:t>Cross-pattern testing: Covers diverse DRAM, FinFET and semiconductor layout structures.</a:t>
              </a:r>
            </a:p>
            <a:p>
              <a:pPr algn="l" marL="377826" indent="-188913" lvl="1">
                <a:lnSpc>
                  <a:spcPts val="2100"/>
                </a:lnSpc>
                <a:buFont typeface="Arial"/>
                <a:buChar char="•"/>
              </a:pPr>
              <a:r>
                <a:rPr lang="en-US" sz="1750">
                  <a:solidFill>
                    <a:srgbClr val="FFFFFF"/>
                  </a:solidFill>
                  <a:latin typeface="Poppins"/>
                  <a:ea typeface="Poppins"/>
                  <a:cs typeface="Poppins"/>
                  <a:sym typeface="Poppins"/>
                </a:rPr>
                <a:t>Pose robustness: Tests recovery under unknown position, rotation and scale.</a:t>
              </a:r>
            </a:p>
            <a:p>
              <a:pPr algn="l" marL="377826" indent="-188913" lvl="1">
                <a:lnSpc>
                  <a:spcPts val="2100"/>
                </a:lnSpc>
                <a:buFont typeface="Arial"/>
                <a:buChar char="•"/>
              </a:pPr>
              <a:r>
                <a:rPr lang="en-US" sz="1750">
                  <a:solidFill>
                    <a:srgbClr val="FFFFFF"/>
                  </a:solidFill>
                  <a:latin typeface="Poppins"/>
                  <a:ea typeface="Poppins"/>
                  <a:cs typeface="Poppins"/>
                  <a:sym typeface="Poppins"/>
                </a:rPr>
                <a:t>Appearance robustness: Tests resistance to noise, blur and imaging variation.</a:t>
              </a:r>
            </a:p>
            <a:p>
              <a:pPr algn="l" marL="377826" indent="-188913" lvl="1">
                <a:lnSpc>
                  <a:spcPts val="2100"/>
                </a:lnSpc>
                <a:buFont typeface="Arial"/>
                <a:buChar char="•"/>
              </a:pPr>
              <a:r>
                <a:rPr lang="en-US" sz="1750">
                  <a:solidFill>
                    <a:srgbClr val="FFFFFF"/>
                  </a:solidFill>
                  <a:latin typeface="Poppins"/>
                  <a:ea typeface="Poppins"/>
                  <a:cs typeface="Poppins"/>
                  <a:sym typeface="Poppins"/>
                </a:rPr>
                <a:t>Rejection testing: Measures the ability to reject false candidate matches.</a:t>
              </a:r>
            </a:p>
            <a:p>
              <a:pPr algn="l" marL="377826" indent="-188913" lvl="1">
                <a:lnSpc>
                  <a:spcPts val="2100"/>
                </a:lnSpc>
                <a:buFont typeface="Arial"/>
                <a:buChar char="•"/>
              </a:pPr>
              <a:r>
                <a:rPr lang="en-US" sz="1750">
                  <a:solidFill>
                    <a:srgbClr val="FFFFFF"/>
                  </a:solidFill>
                  <a:latin typeface="Poppins"/>
                  <a:ea typeface="Poppins"/>
                  <a:cs typeface="Poppins"/>
                  <a:sym typeface="Poppins"/>
                </a:rPr>
                <a:t>Ground-truth comparison: Every prediction is compared against known coordinates and target status.</a:t>
              </a:r>
            </a:p>
            <a:p>
              <a:pPr algn="l">
                <a:lnSpc>
                  <a:spcPts val="2100"/>
                </a:lnSpc>
              </a:pPr>
            </a:p>
          </p:txBody>
        </p:sp>
      </p:grpSp>
      <p:graphicFrame>
        <p:nvGraphicFramePr>
          <p:cNvPr name="Table 63" id="63"/>
          <p:cNvGraphicFramePr>
            <a:graphicFrameLocks noGrp="true"/>
          </p:cNvGraphicFramePr>
          <p:nvPr/>
        </p:nvGraphicFramePr>
        <p:xfrm>
          <a:off x="10148580" y="2782767"/>
          <a:ext cx="6347297" cy="4411926"/>
        </p:xfrm>
        <a:graphic>
          <a:graphicData uri="http://schemas.openxmlformats.org/drawingml/2006/table">
            <a:tbl>
              <a:tblPr/>
              <a:tblGrid>
                <a:gridCol w="2587451"/>
                <a:gridCol w="3759846"/>
              </a:tblGrid>
              <a:tr h="628646">
                <a:tc>
                  <a:txBody>
                    <a:bodyPr anchor="t" rtlCol="false"/>
                    <a:lstStyle/>
                    <a:p>
                      <a:pPr algn="ctr">
                        <a:lnSpc>
                          <a:spcPts val="2100"/>
                        </a:lnSpc>
                        <a:defRPr/>
                      </a:pPr>
                      <a:r>
                        <a:rPr lang="en-US" b="true" sz="1500">
                          <a:solidFill>
                            <a:srgbClr val="000000"/>
                          </a:solidFill>
                          <a:latin typeface="Canva Sans Bold"/>
                          <a:ea typeface="Canva Sans Bold"/>
                          <a:cs typeface="Canva Sans Bold"/>
                          <a:sym typeface="Canva Sans Bold"/>
                        </a:rPr>
                        <a:t>PARAMETER</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solidFill>
                      <a:srgbClr val="F2F2F2"/>
                    </a:solidFill>
                  </a:tcPr>
                </a:tc>
                <a:tc>
                  <a:txBody>
                    <a:bodyPr anchor="t" rtlCol="false"/>
                    <a:lstStyle/>
                    <a:p>
                      <a:pPr algn="ctr">
                        <a:lnSpc>
                          <a:spcPts val="2100"/>
                        </a:lnSpc>
                        <a:defRPr/>
                      </a:pPr>
                      <a:r>
                        <a:rPr lang="en-US" b="true" sz="1500">
                          <a:solidFill>
                            <a:srgbClr val="000000"/>
                          </a:solidFill>
                          <a:latin typeface="Canva Sans Bold"/>
                          <a:ea typeface="Canva Sans Bold"/>
                          <a:cs typeface="Canva Sans Bold"/>
                          <a:sym typeface="Canva Sans Bold"/>
                        </a:rPr>
                        <a:t>PHASE 2 SETUP</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solidFill>
                      <a:srgbClr val="F2F2F2"/>
                    </a:solidFill>
                  </a:tcPr>
                </a:tc>
              </a:tr>
              <a:tr h="594522">
                <a:tc>
                  <a:txBody>
                    <a:bodyPr anchor="t" rtlCol="false"/>
                    <a:lstStyle/>
                    <a:p>
                      <a:pPr algn="l">
                        <a:lnSpc>
                          <a:spcPts val="2100"/>
                        </a:lnSpc>
                        <a:defRPr/>
                      </a:pPr>
                      <a:r>
                        <a:rPr lang="en-US" sz="1500">
                          <a:solidFill>
                            <a:srgbClr val="FFFFFF"/>
                          </a:solidFill>
                          <a:latin typeface="Canva Sans"/>
                          <a:ea typeface="Canva Sans"/>
                          <a:cs typeface="Canva Sans"/>
                          <a:sym typeface="Canva Sans"/>
                        </a:rPr>
                        <a:t>Benchmark Size</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220 image pairs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574784">
                <a:tc>
                  <a:txBody>
                    <a:bodyPr anchor="t" rtlCol="false"/>
                    <a:lstStyle/>
                    <a:p>
                      <a:pPr algn="l">
                        <a:lnSpc>
                          <a:spcPts val="2100"/>
                        </a:lnSpc>
                        <a:defRPr/>
                      </a:pPr>
                      <a:r>
                        <a:rPr lang="en-US" sz="1500">
                          <a:solidFill>
                            <a:srgbClr val="FFFFFF"/>
                          </a:solidFill>
                          <a:latin typeface="Canva Sans"/>
                          <a:ea typeface="Canva Sans"/>
                          <a:cs typeface="Canva Sans"/>
                          <a:sym typeface="Canva Sans"/>
                        </a:rPr>
                        <a:t>Target Status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160 Present + 60 Absent</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588141">
                <a:tc>
                  <a:txBody>
                    <a:bodyPr anchor="t" rtlCol="false"/>
                    <a:lstStyle/>
                    <a:p>
                      <a:pPr algn="l">
                        <a:lnSpc>
                          <a:spcPts val="2100"/>
                        </a:lnSpc>
                        <a:defRPr/>
                      </a:pPr>
                      <a:r>
                        <a:rPr lang="en-US" sz="1500">
                          <a:solidFill>
                            <a:srgbClr val="FFFFFF"/>
                          </a:solidFill>
                          <a:latin typeface="Canva Sans"/>
                          <a:ea typeface="Canva Sans"/>
                          <a:cs typeface="Canva Sans"/>
                          <a:sym typeface="Canva Sans"/>
                        </a:rPr>
                        <a:t>Pattern Families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9 semiconductor families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662491">
                <a:tc>
                  <a:txBody>
                    <a:bodyPr anchor="t" rtlCol="false"/>
                    <a:lstStyle/>
                    <a:p>
                      <a:pPr algn="l">
                        <a:lnSpc>
                          <a:spcPts val="2100"/>
                        </a:lnSpc>
                        <a:defRPr/>
                      </a:pPr>
                      <a:r>
                        <a:rPr lang="en-US" sz="1500">
                          <a:solidFill>
                            <a:srgbClr val="FFFFFF"/>
                          </a:solidFill>
                          <a:latin typeface="Canva Sans"/>
                          <a:ea typeface="Canva Sans"/>
                          <a:cs typeface="Canva Sans"/>
                          <a:sym typeface="Canva Sans"/>
                        </a:rPr>
                        <a:t>Technology Variants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DRAM + FinFET nodes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613036">
                <a:tc>
                  <a:txBody>
                    <a:bodyPr anchor="t" rtlCol="false"/>
                    <a:lstStyle/>
                    <a:p>
                      <a:pPr algn="l">
                        <a:lnSpc>
                          <a:spcPts val="2100"/>
                        </a:lnSpc>
                        <a:defRPr/>
                      </a:pPr>
                      <a:r>
                        <a:rPr lang="en-US" sz="1500">
                          <a:solidFill>
                            <a:srgbClr val="FFFFFF"/>
                          </a:solidFill>
                          <a:latin typeface="Canva Sans"/>
                          <a:ea typeface="Canva Sans"/>
                          <a:cs typeface="Canva Sans"/>
                          <a:sym typeface="Canva Sans"/>
                        </a:rPr>
                        <a:t>Execution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Single-core CPU</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750305">
                <a:tc>
                  <a:txBody>
                    <a:bodyPr anchor="t" rtlCol="false"/>
                    <a:lstStyle/>
                    <a:p>
                      <a:pPr algn="l">
                        <a:lnSpc>
                          <a:spcPts val="2100"/>
                        </a:lnSpc>
                        <a:defRPr/>
                      </a:pPr>
                      <a:r>
                        <a:rPr lang="en-US" sz="1500">
                          <a:solidFill>
                            <a:srgbClr val="FFFFFF"/>
                          </a:solidFill>
                          <a:latin typeface="Canva Sans"/>
                          <a:ea typeface="Canva Sans"/>
                          <a:cs typeface="Canva Sans"/>
                          <a:sym typeface="Canva Sans"/>
                        </a:rPr>
                        <a:t>Ground Truth</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Known localization coordinates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bl>
          </a:graphicData>
        </a:graphic>
      </p:graphicFrame>
      <p:grpSp>
        <p:nvGrpSpPr>
          <p:cNvPr name="Group 64" id="64"/>
          <p:cNvGrpSpPr/>
          <p:nvPr/>
        </p:nvGrpSpPr>
        <p:grpSpPr>
          <a:xfrm rot="0">
            <a:off x="10558302" y="7704576"/>
            <a:ext cx="5729448" cy="2444778"/>
            <a:chOff x="0" y="0"/>
            <a:chExt cx="7639264" cy="3259705"/>
          </a:xfrm>
        </p:grpSpPr>
        <p:sp>
          <p:nvSpPr>
            <p:cNvPr name="Freeform 65" id="65"/>
            <p:cNvSpPr/>
            <p:nvPr/>
          </p:nvSpPr>
          <p:spPr>
            <a:xfrm flipH="false" flipV="false" rot="0">
              <a:off x="0" y="0"/>
              <a:ext cx="7639234" cy="3259641"/>
            </a:xfrm>
            <a:custGeom>
              <a:avLst/>
              <a:gdLst/>
              <a:ahLst/>
              <a:cxnLst/>
              <a:rect r="r" b="b" t="t" l="l"/>
              <a:pathLst>
                <a:path h="3259641" w="7639234">
                  <a:moveTo>
                    <a:pt x="0" y="139364"/>
                  </a:moveTo>
                  <a:cubicBezTo>
                    <a:pt x="0" y="62457"/>
                    <a:pt x="19904" y="0"/>
                    <a:pt x="44414" y="0"/>
                  </a:cubicBezTo>
                  <a:lnTo>
                    <a:pt x="7594820" y="0"/>
                  </a:lnTo>
                  <a:cubicBezTo>
                    <a:pt x="7619381" y="0"/>
                    <a:pt x="7639234" y="62457"/>
                    <a:pt x="7639234" y="139364"/>
                  </a:cubicBezTo>
                  <a:lnTo>
                    <a:pt x="7639234" y="3120276"/>
                  </a:lnTo>
                  <a:cubicBezTo>
                    <a:pt x="7639234" y="3197344"/>
                    <a:pt x="7619329" y="3259641"/>
                    <a:pt x="7594820" y="3259641"/>
                  </a:cubicBezTo>
                  <a:lnTo>
                    <a:pt x="44414" y="3259641"/>
                  </a:lnTo>
                  <a:cubicBezTo>
                    <a:pt x="19853" y="3259641"/>
                    <a:pt x="0" y="3197183"/>
                    <a:pt x="0" y="3120276"/>
                  </a:cubicBezTo>
                  <a:close/>
                </a:path>
              </a:pathLst>
            </a:custGeom>
            <a:solidFill>
              <a:srgbClr val="1E3A8A">
                <a:alpha val="15686"/>
              </a:srgbClr>
            </a:solidFill>
            <a:ln w="19050" cap="sq">
              <a:solidFill>
                <a:srgbClr val="1D4ED8"/>
              </a:solidFill>
              <a:prstDash val="solid"/>
              <a:miter/>
            </a:ln>
          </p:spPr>
        </p:sp>
      </p:grpSp>
      <p:grpSp>
        <p:nvGrpSpPr>
          <p:cNvPr name="Group 66" id="66"/>
          <p:cNvGrpSpPr/>
          <p:nvPr/>
        </p:nvGrpSpPr>
        <p:grpSpPr>
          <a:xfrm rot="0">
            <a:off x="10014689" y="6691579"/>
            <a:ext cx="6816673" cy="3295909"/>
            <a:chOff x="0" y="0"/>
            <a:chExt cx="9088898" cy="4394545"/>
          </a:xfrm>
        </p:grpSpPr>
        <p:sp>
          <p:nvSpPr>
            <p:cNvPr name="Freeform 67" id="67"/>
            <p:cNvSpPr/>
            <p:nvPr/>
          </p:nvSpPr>
          <p:spPr>
            <a:xfrm flipH="false" flipV="false" rot="0">
              <a:off x="0" y="0"/>
              <a:ext cx="9088897" cy="4394544"/>
            </a:xfrm>
            <a:custGeom>
              <a:avLst/>
              <a:gdLst/>
              <a:ahLst/>
              <a:cxnLst/>
              <a:rect r="r" b="b" t="t" l="l"/>
              <a:pathLst>
                <a:path h="4394544" w="9088897">
                  <a:moveTo>
                    <a:pt x="0" y="0"/>
                  </a:moveTo>
                  <a:lnTo>
                    <a:pt x="9088897" y="0"/>
                  </a:lnTo>
                  <a:lnTo>
                    <a:pt x="9088897" y="4394544"/>
                  </a:lnTo>
                  <a:lnTo>
                    <a:pt x="0" y="4394544"/>
                  </a:lnTo>
                  <a:close/>
                </a:path>
              </a:pathLst>
            </a:custGeom>
            <a:blipFill>
              <a:blip r:embed="rId6">
                <a:alphaModFix amt="0"/>
              </a:blip>
              <a:stretch>
                <a:fillRect l="0" t="-66077" r="-92520" b="10908"/>
              </a:stretch>
            </a:blipFill>
          </p:spPr>
        </p:sp>
        <p:sp>
          <p:nvSpPr>
            <p:cNvPr name="TextBox 68" id="68"/>
            <p:cNvSpPr txBox="true"/>
            <p:nvPr/>
          </p:nvSpPr>
          <p:spPr>
            <a:xfrm>
              <a:off x="0" y="-19050"/>
              <a:ext cx="9088898" cy="4413595"/>
            </a:xfrm>
            <a:prstGeom prst="rect">
              <a:avLst/>
            </a:prstGeom>
          </p:spPr>
          <p:txBody>
            <a:bodyPr anchor="ctr" rtlCol="false" tIns="0" lIns="0" bIns="0" rIns="0"/>
            <a:lstStyle/>
            <a:p>
              <a:pPr algn="ctr">
                <a:lnSpc>
                  <a:spcPts val="2100"/>
                </a:lnSpc>
              </a:pPr>
            </a:p>
            <a:p>
              <a:pPr algn="ctr">
                <a:lnSpc>
                  <a:spcPts val="2100"/>
                </a:lnSpc>
              </a:pPr>
            </a:p>
            <a:p>
              <a:pPr algn="ctr">
                <a:lnSpc>
                  <a:spcPts val="2100"/>
                </a:lnSpc>
              </a:pPr>
              <a:r>
                <a:rPr lang="en-US" b="true" sz="1750">
                  <a:solidFill>
                    <a:srgbClr val="FFFFFF"/>
                  </a:solidFill>
                  <a:latin typeface="Poppins Bold"/>
                  <a:ea typeface="Poppins Bold"/>
                  <a:cs typeface="Poppins Bold"/>
                  <a:sym typeface="Poppins Bold"/>
                </a:rPr>
                <a:t>WHAT IS MEASURED?</a:t>
              </a:r>
            </a:p>
            <a:p>
              <a:pPr algn="ctr">
                <a:lnSpc>
                  <a:spcPts val="2100"/>
                </a:lnSpc>
              </a:pPr>
            </a:p>
            <a:p>
              <a:pPr algn="ctr">
                <a:lnSpc>
                  <a:spcPts val="1750"/>
                </a:lnSpc>
              </a:pPr>
              <a:r>
                <a:rPr lang="en-US" sz="1750">
                  <a:solidFill>
                    <a:srgbClr val="FFFFFF"/>
                  </a:solidFill>
                  <a:latin typeface="Poppins"/>
                  <a:ea typeface="Poppins"/>
                  <a:cs typeface="Poppins"/>
                  <a:sym typeface="Poppins"/>
                </a:rPr>
                <a:t>LOCALIZATION:  &lt;1 PX | &lt;2 PX | &lt;3 PX | &lt;4 PX | &lt;5 PX</a:t>
              </a:r>
            </a:p>
            <a:p>
              <a:pPr algn="ctr">
                <a:lnSpc>
                  <a:spcPts val="1750"/>
                </a:lnSpc>
              </a:pPr>
            </a:p>
            <a:p>
              <a:pPr algn="ctr">
                <a:lnSpc>
                  <a:spcPts val="1750"/>
                </a:lnSpc>
              </a:pPr>
              <a:r>
                <a:rPr lang="en-US" sz="1750">
                  <a:solidFill>
                    <a:srgbClr val="FFFFFF"/>
                  </a:solidFill>
                  <a:latin typeface="Poppins"/>
                  <a:ea typeface="Poppins"/>
                  <a:cs typeface="Poppins"/>
                  <a:sym typeface="Poppins"/>
                </a:rPr>
                <a:t>ACCURACY :MEDIAN LOCALIZATION ERROR</a:t>
              </a:r>
            </a:p>
            <a:p>
              <a:pPr algn="ctr">
                <a:lnSpc>
                  <a:spcPts val="1750"/>
                </a:lnSpc>
              </a:pPr>
            </a:p>
            <a:p>
              <a:pPr algn="ctr">
                <a:lnSpc>
                  <a:spcPts val="1750"/>
                </a:lnSpc>
              </a:pPr>
              <a:r>
                <a:rPr lang="en-US" sz="1750">
                  <a:solidFill>
                    <a:srgbClr val="FFFFFF"/>
                  </a:solidFill>
                  <a:latin typeface="Poppins"/>
                  <a:ea typeface="Poppins"/>
                  <a:cs typeface="Poppins"/>
                  <a:sym typeface="Poppins"/>
                </a:rPr>
                <a:t>REJECTION : PRECISION | RECALL | F1 | SPECIFICITY</a:t>
              </a:r>
            </a:p>
            <a:p>
              <a:pPr algn="ctr">
                <a:lnSpc>
                  <a:spcPts val="1750"/>
                </a:lnSpc>
              </a:pPr>
            </a:p>
            <a:p>
              <a:pPr algn="ctr">
                <a:lnSpc>
                  <a:spcPts val="1750"/>
                </a:lnSpc>
              </a:pPr>
              <a:r>
                <a:rPr lang="en-US" sz="1750">
                  <a:solidFill>
                    <a:srgbClr val="FFFFFF"/>
                  </a:solidFill>
                  <a:latin typeface="Poppins"/>
                  <a:ea typeface="Poppins"/>
                  <a:cs typeface="Poppins"/>
                  <a:sym typeface="Poppins"/>
                </a:rPr>
                <a:t>RECOVERY : SCALE + ANGLE</a:t>
              </a:r>
            </a:p>
            <a:p>
              <a:pPr algn="ctr">
                <a:lnSpc>
                  <a:spcPts val="1750"/>
                </a:lnSpc>
              </a:pPr>
            </a:p>
            <a:p>
              <a:pPr algn="ctr">
                <a:lnSpc>
                  <a:spcPts val="1750"/>
                </a:lnSpc>
              </a:pPr>
              <a:r>
                <a:rPr lang="en-US" sz="1750">
                  <a:solidFill>
                    <a:srgbClr val="FFFFFF"/>
                  </a:solidFill>
                  <a:latin typeface="Poppins"/>
                  <a:ea typeface="Poppins"/>
                  <a:cs typeface="Poppins"/>
                  <a:sym typeface="Poppins"/>
                </a:rPr>
                <a:t>RUNTIME: LATENCY PER PAIR</a:t>
              </a:r>
            </a:p>
          </p:txBody>
        </p:sp>
      </p:grpSp>
      <p:sp>
        <p:nvSpPr>
          <p:cNvPr name="TextBox 69" id="69"/>
          <p:cNvSpPr txBox="true"/>
          <p:nvPr/>
        </p:nvSpPr>
        <p:spPr>
          <a:xfrm rot="0">
            <a:off x="12241061" y="2345893"/>
            <a:ext cx="2162334" cy="285750"/>
          </a:xfrm>
          <a:prstGeom prst="rect">
            <a:avLst/>
          </a:prstGeom>
        </p:spPr>
        <p:txBody>
          <a:bodyPr anchor="t" rtlCol="false" tIns="0" lIns="0" bIns="0" rIns="0">
            <a:spAutoFit/>
          </a:bodyPr>
          <a:lstStyle/>
          <a:p>
            <a:pPr algn="ctr">
              <a:lnSpc>
                <a:spcPts val="2160"/>
              </a:lnSpc>
              <a:spcBef>
                <a:spcPct val="0"/>
              </a:spcBef>
            </a:pPr>
            <a:r>
              <a:rPr lang="en-US" b="true" sz="1800">
                <a:solidFill>
                  <a:srgbClr val="FFFFFF"/>
                </a:solidFill>
                <a:latin typeface="Poppins Bold"/>
                <a:ea typeface="Poppins Bold"/>
                <a:cs typeface="Poppins Bold"/>
                <a:sym typeface="Poppins Bold"/>
              </a:rPr>
              <a:t>EXPERIMENT SETUP</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543" cy="10287000"/>
            <a:chOff x="0" y="0"/>
            <a:chExt cx="24383390" cy="13716000"/>
          </a:xfrm>
        </p:grpSpPr>
        <p:sp>
          <p:nvSpPr>
            <p:cNvPr name="Freeform 3" id="3"/>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close/>
                </a:path>
              </a:pathLst>
            </a:custGeom>
            <a:solidFill>
              <a:srgbClr val="000036"/>
            </a:solidFill>
          </p:spPr>
        </p:sp>
      </p:grpSp>
      <p:grpSp>
        <p:nvGrpSpPr>
          <p:cNvPr name="Group 4" id="4"/>
          <p:cNvGrpSpPr/>
          <p:nvPr/>
        </p:nvGrpSpPr>
        <p:grpSpPr>
          <a:xfrm rot="0">
            <a:off x="0" y="0"/>
            <a:ext cx="18287543" cy="10287000"/>
            <a:chOff x="0" y="0"/>
            <a:chExt cx="24383390" cy="13716000"/>
          </a:xfrm>
        </p:grpSpPr>
        <p:sp>
          <p:nvSpPr>
            <p:cNvPr name="Freeform 5" id="5" descr="preencoded.png"/>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lnTo>
                    <a:pt x="0" y="0"/>
                  </a:lnTo>
                  <a:close/>
                </a:path>
              </a:pathLst>
            </a:custGeom>
            <a:blipFill>
              <a:blip r:embed="rId2">
                <a:alphaModFix amt="15000"/>
              </a:blip>
              <a:stretch>
                <a:fillRect l="-16360" t="0" r="-16361" b="0"/>
              </a:stretch>
            </a:blipFill>
          </p:spPr>
        </p:sp>
      </p:grpSp>
      <p:grpSp>
        <p:nvGrpSpPr>
          <p:cNvPr name="Group 6" id="6"/>
          <p:cNvGrpSpPr/>
          <p:nvPr/>
        </p:nvGrpSpPr>
        <p:grpSpPr>
          <a:xfrm rot="0">
            <a:off x="857250" y="429311"/>
            <a:ext cx="16573043" cy="999896"/>
            <a:chOff x="0" y="0"/>
            <a:chExt cx="22097390" cy="1333195"/>
          </a:xfrm>
        </p:grpSpPr>
        <p:sp>
          <p:nvSpPr>
            <p:cNvPr name="Freeform 7" id="7"/>
            <p:cNvSpPr/>
            <p:nvPr/>
          </p:nvSpPr>
          <p:spPr>
            <a:xfrm flipH="false" flipV="false" rot="0">
              <a:off x="0" y="0"/>
              <a:ext cx="22097364" cy="1333246"/>
            </a:xfrm>
            <a:custGeom>
              <a:avLst/>
              <a:gdLst/>
              <a:ahLst/>
              <a:cxnLst/>
              <a:rect r="r" b="b" t="t" l="l"/>
              <a:pathLst>
                <a:path h="1333246" w="22097364">
                  <a:moveTo>
                    <a:pt x="0" y="209042"/>
                  </a:moveTo>
                  <a:cubicBezTo>
                    <a:pt x="0" y="93599"/>
                    <a:pt x="93599" y="0"/>
                    <a:pt x="209042" y="0"/>
                  </a:cubicBezTo>
                  <a:lnTo>
                    <a:pt x="21888323" y="0"/>
                  </a:lnTo>
                  <a:cubicBezTo>
                    <a:pt x="22003765" y="0"/>
                    <a:pt x="22097364" y="93599"/>
                    <a:pt x="22097364" y="209042"/>
                  </a:cubicBezTo>
                  <a:lnTo>
                    <a:pt x="22097364" y="1124204"/>
                  </a:lnTo>
                  <a:cubicBezTo>
                    <a:pt x="22097364" y="1239647"/>
                    <a:pt x="22003765" y="1333246"/>
                    <a:pt x="21888323" y="1333246"/>
                  </a:cubicBezTo>
                  <a:lnTo>
                    <a:pt x="209042" y="1333246"/>
                  </a:lnTo>
                  <a:cubicBezTo>
                    <a:pt x="93599" y="1333246"/>
                    <a:pt x="0" y="1239647"/>
                    <a:pt x="0" y="1124204"/>
                  </a:cubicBezTo>
                  <a:close/>
                </a:path>
              </a:pathLst>
            </a:custGeom>
            <a:solidFill>
              <a:srgbClr val="FFFFFF">
                <a:alpha val="90196"/>
              </a:srgbClr>
            </a:solidFill>
          </p:spPr>
        </p:sp>
      </p:grpSp>
      <p:grpSp>
        <p:nvGrpSpPr>
          <p:cNvPr name="Group 8" id="8"/>
          <p:cNvGrpSpPr/>
          <p:nvPr/>
        </p:nvGrpSpPr>
        <p:grpSpPr>
          <a:xfrm rot="0">
            <a:off x="16287750" y="571957"/>
            <a:ext cx="714604" cy="714604"/>
            <a:chOff x="0" y="0"/>
            <a:chExt cx="952805" cy="952805"/>
          </a:xfrm>
        </p:grpSpPr>
        <p:sp>
          <p:nvSpPr>
            <p:cNvPr name="Freeform 9" id="9" descr="preencoded.png"/>
            <p:cNvSpPr/>
            <p:nvPr/>
          </p:nvSpPr>
          <p:spPr>
            <a:xfrm flipH="false" flipV="false" rot="0">
              <a:off x="0" y="0"/>
              <a:ext cx="952754" cy="952754"/>
            </a:xfrm>
            <a:custGeom>
              <a:avLst/>
              <a:gdLst/>
              <a:ahLst/>
              <a:cxnLst/>
              <a:rect r="r" b="b" t="t" l="l"/>
              <a:pathLst>
                <a:path h="952754" w="952754">
                  <a:moveTo>
                    <a:pt x="0" y="0"/>
                  </a:moveTo>
                  <a:lnTo>
                    <a:pt x="952754" y="0"/>
                  </a:lnTo>
                  <a:lnTo>
                    <a:pt x="952754" y="952754"/>
                  </a:lnTo>
                  <a:lnTo>
                    <a:pt x="0" y="952754"/>
                  </a:lnTo>
                  <a:lnTo>
                    <a:pt x="0" y="0"/>
                  </a:lnTo>
                  <a:close/>
                </a:path>
              </a:pathLst>
            </a:custGeom>
            <a:blipFill>
              <a:blip r:embed="rId3"/>
              <a:stretch>
                <a:fillRect l="0" t="0" r="-5" b="-5"/>
              </a:stretch>
            </a:blipFill>
          </p:spPr>
        </p:sp>
      </p:grpSp>
      <p:grpSp>
        <p:nvGrpSpPr>
          <p:cNvPr name="Group 10" id="10"/>
          <p:cNvGrpSpPr/>
          <p:nvPr/>
        </p:nvGrpSpPr>
        <p:grpSpPr>
          <a:xfrm rot="0">
            <a:off x="1137533" y="571957"/>
            <a:ext cx="8618220" cy="701040"/>
            <a:chOff x="0" y="0"/>
            <a:chExt cx="11490960" cy="934720"/>
          </a:xfrm>
        </p:grpSpPr>
        <p:sp>
          <p:nvSpPr>
            <p:cNvPr name="Freeform 11" id="11"/>
            <p:cNvSpPr/>
            <p:nvPr/>
          </p:nvSpPr>
          <p:spPr>
            <a:xfrm flipH="false" flipV="false" rot="0">
              <a:off x="0" y="0"/>
              <a:ext cx="11490960" cy="934720"/>
            </a:xfrm>
            <a:custGeom>
              <a:avLst/>
              <a:gdLst/>
              <a:ahLst/>
              <a:cxnLst/>
              <a:rect r="r" b="b" t="t" l="l"/>
              <a:pathLst>
                <a:path h="934720" w="11490960">
                  <a:moveTo>
                    <a:pt x="0" y="0"/>
                  </a:moveTo>
                  <a:lnTo>
                    <a:pt x="11490960" y="0"/>
                  </a:lnTo>
                  <a:lnTo>
                    <a:pt x="11490960" y="934720"/>
                  </a:lnTo>
                  <a:lnTo>
                    <a:pt x="0" y="934720"/>
                  </a:lnTo>
                  <a:lnTo>
                    <a:pt x="0" y="0"/>
                  </a:lnTo>
                  <a:close/>
                </a:path>
              </a:pathLst>
            </a:custGeom>
            <a:blipFill>
              <a:blip r:embed="rId4"/>
              <a:stretch>
                <a:fillRect l="-11" t="0" r="-11" b="0"/>
              </a:stretch>
            </a:blipFill>
          </p:spPr>
        </p:sp>
      </p:grpSp>
      <p:grpSp>
        <p:nvGrpSpPr>
          <p:cNvPr name="Group 12" id="12"/>
          <p:cNvGrpSpPr/>
          <p:nvPr/>
        </p:nvGrpSpPr>
        <p:grpSpPr>
          <a:xfrm rot="0">
            <a:off x="0" y="0"/>
            <a:ext cx="18287543" cy="10287000"/>
            <a:chOff x="0" y="0"/>
            <a:chExt cx="24383390" cy="13716000"/>
          </a:xfrm>
        </p:grpSpPr>
        <p:sp>
          <p:nvSpPr>
            <p:cNvPr name="Freeform 13" id="13"/>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close/>
                </a:path>
              </a:pathLst>
            </a:custGeom>
            <a:solidFill>
              <a:srgbClr val="000036"/>
            </a:solidFill>
          </p:spPr>
        </p:sp>
      </p:grpSp>
      <p:grpSp>
        <p:nvGrpSpPr>
          <p:cNvPr name="Group 14" id="14"/>
          <p:cNvGrpSpPr/>
          <p:nvPr/>
        </p:nvGrpSpPr>
        <p:grpSpPr>
          <a:xfrm rot="0">
            <a:off x="19050" y="0"/>
            <a:ext cx="18287543" cy="10287000"/>
            <a:chOff x="0" y="0"/>
            <a:chExt cx="24383390" cy="13716000"/>
          </a:xfrm>
        </p:grpSpPr>
        <p:sp>
          <p:nvSpPr>
            <p:cNvPr name="Freeform 15" id="15" descr="preencoded.png"/>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lnTo>
                    <a:pt x="0" y="0"/>
                  </a:lnTo>
                  <a:close/>
                </a:path>
              </a:pathLst>
            </a:custGeom>
            <a:blipFill>
              <a:blip r:embed="rId2">
                <a:alphaModFix amt="9999"/>
              </a:blip>
              <a:stretch>
                <a:fillRect l="-16360" t="0" r="-16361" b="0"/>
              </a:stretch>
            </a:blipFill>
          </p:spPr>
        </p:sp>
      </p:grpSp>
      <p:grpSp>
        <p:nvGrpSpPr>
          <p:cNvPr name="Group 16" id="16"/>
          <p:cNvGrpSpPr/>
          <p:nvPr/>
        </p:nvGrpSpPr>
        <p:grpSpPr>
          <a:xfrm rot="0">
            <a:off x="857250" y="429311"/>
            <a:ext cx="16573043" cy="921982"/>
            <a:chOff x="0" y="0"/>
            <a:chExt cx="22097390" cy="1229309"/>
          </a:xfrm>
        </p:grpSpPr>
        <p:sp>
          <p:nvSpPr>
            <p:cNvPr name="Freeform 17" id="17"/>
            <p:cNvSpPr/>
            <p:nvPr/>
          </p:nvSpPr>
          <p:spPr>
            <a:xfrm flipH="false" flipV="false" rot="0">
              <a:off x="0" y="0"/>
              <a:ext cx="22097364" cy="1229360"/>
            </a:xfrm>
            <a:custGeom>
              <a:avLst/>
              <a:gdLst/>
              <a:ahLst/>
              <a:cxnLst/>
              <a:rect r="r" b="b" t="t" l="l"/>
              <a:pathLst>
                <a:path h="1229360" w="22097364">
                  <a:moveTo>
                    <a:pt x="0" y="192753"/>
                  </a:moveTo>
                  <a:cubicBezTo>
                    <a:pt x="0" y="86306"/>
                    <a:pt x="93599" y="0"/>
                    <a:pt x="209042" y="0"/>
                  </a:cubicBezTo>
                  <a:lnTo>
                    <a:pt x="21888323" y="0"/>
                  </a:lnTo>
                  <a:cubicBezTo>
                    <a:pt x="22003765" y="0"/>
                    <a:pt x="22097364" y="86306"/>
                    <a:pt x="22097364" y="192753"/>
                  </a:cubicBezTo>
                  <a:lnTo>
                    <a:pt x="22097364" y="1036603"/>
                  </a:lnTo>
                  <a:cubicBezTo>
                    <a:pt x="22097364" y="1143050"/>
                    <a:pt x="22003765" y="1229360"/>
                    <a:pt x="21888323" y="1229360"/>
                  </a:cubicBezTo>
                  <a:lnTo>
                    <a:pt x="209042" y="1229360"/>
                  </a:lnTo>
                  <a:cubicBezTo>
                    <a:pt x="93599" y="1229360"/>
                    <a:pt x="0" y="1143050"/>
                    <a:pt x="0" y="1036603"/>
                  </a:cubicBezTo>
                  <a:close/>
                </a:path>
              </a:pathLst>
            </a:custGeom>
            <a:solidFill>
              <a:srgbClr val="FFFFFF">
                <a:alpha val="90196"/>
              </a:srgbClr>
            </a:solidFill>
          </p:spPr>
        </p:sp>
      </p:grpSp>
      <p:grpSp>
        <p:nvGrpSpPr>
          <p:cNvPr name="Group 18" id="18"/>
          <p:cNvGrpSpPr/>
          <p:nvPr/>
        </p:nvGrpSpPr>
        <p:grpSpPr>
          <a:xfrm rot="0">
            <a:off x="1286561" y="571957"/>
            <a:ext cx="1899666" cy="714604"/>
            <a:chOff x="0" y="0"/>
            <a:chExt cx="2532888" cy="952805"/>
          </a:xfrm>
        </p:grpSpPr>
        <p:sp>
          <p:nvSpPr>
            <p:cNvPr name="Freeform 19" id="19" descr="preencoded.png"/>
            <p:cNvSpPr/>
            <p:nvPr/>
          </p:nvSpPr>
          <p:spPr>
            <a:xfrm flipH="false" flipV="false" rot="0">
              <a:off x="0" y="0"/>
              <a:ext cx="2532888" cy="952754"/>
            </a:xfrm>
            <a:custGeom>
              <a:avLst/>
              <a:gdLst/>
              <a:ahLst/>
              <a:cxnLst/>
              <a:rect r="r" b="b" t="t" l="l"/>
              <a:pathLst>
                <a:path h="952754" w="2532888">
                  <a:moveTo>
                    <a:pt x="0" y="0"/>
                  </a:moveTo>
                  <a:lnTo>
                    <a:pt x="2532888" y="0"/>
                  </a:lnTo>
                  <a:lnTo>
                    <a:pt x="2532888" y="952754"/>
                  </a:lnTo>
                  <a:lnTo>
                    <a:pt x="0" y="952754"/>
                  </a:lnTo>
                  <a:lnTo>
                    <a:pt x="0" y="0"/>
                  </a:lnTo>
                  <a:close/>
                </a:path>
              </a:pathLst>
            </a:custGeom>
            <a:blipFill>
              <a:blip r:embed="rId5"/>
              <a:stretch>
                <a:fillRect l="0" t="-10" r="0" b="-14"/>
              </a:stretch>
            </a:blipFill>
          </p:spPr>
        </p:sp>
      </p:grpSp>
      <p:grpSp>
        <p:nvGrpSpPr>
          <p:cNvPr name="Group 20" id="20"/>
          <p:cNvGrpSpPr/>
          <p:nvPr/>
        </p:nvGrpSpPr>
        <p:grpSpPr>
          <a:xfrm rot="0">
            <a:off x="16287750" y="571957"/>
            <a:ext cx="714604" cy="714604"/>
            <a:chOff x="0" y="0"/>
            <a:chExt cx="952805" cy="952805"/>
          </a:xfrm>
        </p:grpSpPr>
        <p:sp>
          <p:nvSpPr>
            <p:cNvPr name="Freeform 21" id="21" descr="preencoded.png"/>
            <p:cNvSpPr/>
            <p:nvPr/>
          </p:nvSpPr>
          <p:spPr>
            <a:xfrm flipH="false" flipV="false" rot="0">
              <a:off x="0" y="0"/>
              <a:ext cx="952754" cy="952754"/>
            </a:xfrm>
            <a:custGeom>
              <a:avLst/>
              <a:gdLst/>
              <a:ahLst/>
              <a:cxnLst/>
              <a:rect r="r" b="b" t="t" l="l"/>
              <a:pathLst>
                <a:path h="952754" w="952754">
                  <a:moveTo>
                    <a:pt x="0" y="0"/>
                  </a:moveTo>
                  <a:lnTo>
                    <a:pt x="952754" y="0"/>
                  </a:lnTo>
                  <a:lnTo>
                    <a:pt x="952754" y="952754"/>
                  </a:lnTo>
                  <a:lnTo>
                    <a:pt x="0" y="952754"/>
                  </a:lnTo>
                  <a:lnTo>
                    <a:pt x="0" y="0"/>
                  </a:lnTo>
                  <a:close/>
                </a:path>
              </a:pathLst>
            </a:custGeom>
            <a:blipFill>
              <a:blip r:embed="rId3"/>
              <a:stretch>
                <a:fillRect l="0" t="0" r="-5" b="-5"/>
              </a:stretch>
            </a:blipFill>
          </p:spPr>
        </p:sp>
      </p:grpSp>
      <p:grpSp>
        <p:nvGrpSpPr>
          <p:cNvPr name="Group 22" id="22"/>
          <p:cNvGrpSpPr/>
          <p:nvPr/>
        </p:nvGrpSpPr>
        <p:grpSpPr>
          <a:xfrm rot="0">
            <a:off x="962025" y="1419682"/>
            <a:ext cx="113843" cy="614477"/>
            <a:chOff x="0" y="0"/>
            <a:chExt cx="151790" cy="819302"/>
          </a:xfrm>
        </p:grpSpPr>
        <p:sp>
          <p:nvSpPr>
            <p:cNvPr name="Freeform 23" id="23"/>
            <p:cNvSpPr/>
            <p:nvPr/>
          </p:nvSpPr>
          <p:spPr>
            <a:xfrm flipH="false" flipV="false" rot="0">
              <a:off x="0" y="0"/>
              <a:ext cx="151765" cy="819277"/>
            </a:xfrm>
            <a:custGeom>
              <a:avLst/>
              <a:gdLst/>
              <a:ahLst/>
              <a:cxnLst/>
              <a:rect r="r" b="b" t="t" l="l"/>
              <a:pathLst>
                <a:path h="819277" w="151765">
                  <a:moveTo>
                    <a:pt x="0" y="0"/>
                  </a:moveTo>
                  <a:lnTo>
                    <a:pt x="151765" y="0"/>
                  </a:lnTo>
                  <a:lnTo>
                    <a:pt x="151765" y="819277"/>
                  </a:lnTo>
                  <a:lnTo>
                    <a:pt x="0" y="819277"/>
                  </a:lnTo>
                  <a:close/>
                </a:path>
              </a:pathLst>
            </a:custGeom>
            <a:solidFill>
              <a:srgbClr val="88E555"/>
            </a:solidFill>
          </p:spPr>
        </p:sp>
      </p:grpSp>
      <p:grpSp>
        <p:nvGrpSpPr>
          <p:cNvPr name="Group 24" id="24"/>
          <p:cNvGrpSpPr/>
          <p:nvPr/>
        </p:nvGrpSpPr>
        <p:grpSpPr>
          <a:xfrm rot="0">
            <a:off x="1137533" y="1225525"/>
            <a:ext cx="15803741" cy="967969"/>
            <a:chOff x="0" y="0"/>
            <a:chExt cx="21071654" cy="1290625"/>
          </a:xfrm>
        </p:grpSpPr>
        <p:sp>
          <p:nvSpPr>
            <p:cNvPr name="Freeform 25" id="25"/>
            <p:cNvSpPr/>
            <p:nvPr/>
          </p:nvSpPr>
          <p:spPr>
            <a:xfrm flipH="false" flipV="false" rot="0">
              <a:off x="0" y="0"/>
              <a:ext cx="21071655" cy="1290624"/>
            </a:xfrm>
            <a:custGeom>
              <a:avLst/>
              <a:gdLst/>
              <a:ahLst/>
              <a:cxnLst/>
              <a:rect r="r" b="b" t="t" l="l"/>
              <a:pathLst>
                <a:path h="1290624" w="21071655">
                  <a:moveTo>
                    <a:pt x="0" y="0"/>
                  </a:moveTo>
                  <a:lnTo>
                    <a:pt x="21071655" y="0"/>
                  </a:lnTo>
                  <a:lnTo>
                    <a:pt x="21071655" y="1290624"/>
                  </a:lnTo>
                  <a:lnTo>
                    <a:pt x="0" y="1290624"/>
                  </a:lnTo>
                  <a:close/>
                </a:path>
              </a:pathLst>
            </a:custGeom>
            <a:blipFill>
              <a:blip r:embed="rId6">
                <a:alphaModFix amt="0"/>
              </a:blip>
              <a:stretch>
                <a:fillRect l="0" t="-103420" r="56110" b="-75828"/>
              </a:stretch>
            </a:blipFill>
          </p:spPr>
        </p:sp>
        <p:sp>
          <p:nvSpPr>
            <p:cNvPr name="TextBox 26" id="26"/>
            <p:cNvSpPr txBox="true"/>
            <p:nvPr/>
          </p:nvSpPr>
          <p:spPr>
            <a:xfrm>
              <a:off x="0" y="-38100"/>
              <a:ext cx="21071654" cy="1328725"/>
            </a:xfrm>
            <a:prstGeom prst="rect">
              <a:avLst/>
            </a:prstGeom>
          </p:spPr>
          <p:txBody>
            <a:bodyPr anchor="ctr" rtlCol="false" tIns="0" lIns="0" bIns="0" rIns="0"/>
            <a:lstStyle/>
            <a:p>
              <a:pPr algn="l">
                <a:lnSpc>
                  <a:spcPts val="4680"/>
                </a:lnSpc>
              </a:pPr>
              <a:r>
                <a:rPr lang="en-US" sz="3900" b="true">
                  <a:solidFill>
                    <a:srgbClr val="FFFFFF"/>
                  </a:solidFill>
                  <a:latin typeface="Poppins Bold"/>
                  <a:ea typeface="Poppins Bold"/>
                  <a:cs typeface="Poppins Bold"/>
                  <a:sym typeface="Poppins Bold"/>
                </a:rPr>
                <a:t>FINAL PERFORMANCE &amp; ROBUSTNESS RESULTS</a:t>
              </a:r>
            </a:p>
          </p:txBody>
        </p:sp>
      </p:grpSp>
      <p:grpSp>
        <p:nvGrpSpPr>
          <p:cNvPr name="Group 27" id="27"/>
          <p:cNvGrpSpPr/>
          <p:nvPr/>
        </p:nvGrpSpPr>
        <p:grpSpPr>
          <a:xfrm rot="0">
            <a:off x="237559" y="2034159"/>
            <a:ext cx="17221309" cy="8124721"/>
            <a:chOff x="0" y="0"/>
            <a:chExt cx="22961745" cy="10832961"/>
          </a:xfrm>
        </p:grpSpPr>
        <p:sp>
          <p:nvSpPr>
            <p:cNvPr name="Freeform 28" id="28"/>
            <p:cNvSpPr/>
            <p:nvPr/>
          </p:nvSpPr>
          <p:spPr>
            <a:xfrm flipH="false" flipV="false" rot="0">
              <a:off x="0" y="0"/>
              <a:ext cx="22961846" cy="10833063"/>
            </a:xfrm>
            <a:custGeom>
              <a:avLst/>
              <a:gdLst/>
              <a:ahLst/>
              <a:cxnLst/>
              <a:rect r="r" b="b" t="t" l="l"/>
              <a:pathLst>
                <a:path h="10833063" w="22961846">
                  <a:moveTo>
                    <a:pt x="0" y="67103"/>
                  </a:moveTo>
                  <a:cubicBezTo>
                    <a:pt x="0" y="30081"/>
                    <a:pt x="27418" y="0"/>
                    <a:pt x="61163" y="0"/>
                  </a:cubicBezTo>
                  <a:lnTo>
                    <a:pt x="22900687" y="0"/>
                  </a:lnTo>
                  <a:cubicBezTo>
                    <a:pt x="22934433" y="0"/>
                    <a:pt x="22961846" y="30081"/>
                    <a:pt x="22961846" y="67103"/>
                  </a:cubicBezTo>
                  <a:lnTo>
                    <a:pt x="22961846" y="10765974"/>
                  </a:lnTo>
                  <a:cubicBezTo>
                    <a:pt x="22961846" y="10802996"/>
                    <a:pt x="22934433" y="10833063"/>
                    <a:pt x="22900687" y="10833063"/>
                  </a:cubicBezTo>
                  <a:lnTo>
                    <a:pt x="61163" y="10833063"/>
                  </a:lnTo>
                  <a:cubicBezTo>
                    <a:pt x="27418" y="10832933"/>
                    <a:pt x="0" y="10802996"/>
                    <a:pt x="0" y="10765974"/>
                  </a:cubicBezTo>
                  <a:close/>
                </a:path>
              </a:pathLst>
            </a:custGeom>
            <a:solidFill>
              <a:srgbClr val="FFFFFF">
                <a:alpha val="0"/>
              </a:srgbClr>
            </a:solidFill>
            <a:ln w="19050" cap="sq">
              <a:solidFill>
                <a:srgbClr val="88E555"/>
              </a:solidFill>
              <a:prstDash val="solid"/>
              <a:miter/>
            </a:ln>
          </p:spPr>
        </p:sp>
      </p:grpSp>
      <p:grpSp>
        <p:nvGrpSpPr>
          <p:cNvPr name="Group 29" id="29"/>
          <p:cNvGrpSpPr/>
          <p:nvPr/>
        </p:nvGrpSpPr>
        <p:grpSpPr>
          <a:xfrm rot="0">
            <a:off x="847725" y="2326843"/>
            <a:ext cx="342443" cy="342443"/>
            <a:chOff x="0" y="0"/>
            <a:chExt cx="456590" cy="456590"/>
          </a:xfrm>
        </p:grpSpPr>
        <p:sp>
          <p:nvSpPr>
            <p:cNvPr name="Freeform 30" id="30"/>
            <p:cNvSpPr/>
            <p:nvPr/>
          </p:nvSpPr>
          <p:spPr>
            <a:xfrm flipH="false" flipV="false" rot="0">
              <a:off x="0" y="0"/>
              <a:ext cx="456565" cy="456565"/>
            </a:xfrm>
            <a:custGeom>
              <a:avLst/>
              <a:gdLst/>
              <a:ahLst/>
              <a:cxnLst/>
              <a:rect r="r" b="b" t="t" l="l"/>
              <a:pathLst>
                <a:path h="456565" w="456565">
                  <a:moveTo>
                    <a:pt x="0" y="228346"/>
                  </a:moveTo>
                  <a:cubicBezTo>
                    <a:pt x="0" y="102235"/>
                    <a:pt x="102235" y="0"/>
                    <a:pt x="228346" y="0"/>
                  </a:cubicBezTo>
                  <a:cubicBezTo>
                    <a:pt x="354457" y="0"/>
                    <a:pt x="456565" y="102235"/>
                    <a:pt x="456565" y="228346"/>
                  </a:cubicBezTo>
                  <a:cubicBezTo>
                    <a:pt x="456565" y="354457"/>
                    <a:pt x="354330" y="456565"/>
                    <a:pt x="228346" y="456565"/>
                  </a:cubicBezTo>
                  <a:cubicBezTo>
                    <a:pt x="102362" y="456565"/>
                    <a:pt x="0" y="354330"/>
                    <a:pt x="0" y="228346"/>
                  </a:cubicBezTo>
                  <a:close/>
                </a:path>
              </a:pathLst>
            </a:custGeom>
            <a:blipFill>
              <a:blip r:embed="rId6">
                <a:alphaModFix amt="0"/>
              </a:blip>
              <a:stretch>
                <a:fillRect l="-78307" t="0" r="-78313" b="-5"/>
              </a:stretch>
            </a:blipFill>
            <a:ln w="57150" cap="sq">
              <a:solidFill>
                <a:srgbClr val="88E555"/>
              </a:solidFill>
              <a:prstDash val="solid"/>
              <a:miter/>
            </a:ln>
          </p:spPr>
        </p:sp>
      </p:grpSp>
      <p:grpSp>
        <p:nvGrpSpPr>
          <p:cNvPr name="Group 31" id="31"/>
          <p:cNvGrpSpPr/>
          <p:nvPr/>
        </p:nvGrpSpPr>
        <p:grpSpPr>
          <a:xfrm rot="0">
            <a:off x="17116425" y="2364943"/>
            <a:ext cx="342443" cy="342443"/>
            <a:chOff x="0" y="0"/>
            <a:chExt cx="456590" cy="456590"/>
          </a:xfrm>
        </p:grpSpPr>
        <p:sp>
          <p:nvSpPr>
            <p:cNvPr name="Freeform 32" id="32"/>
            <p:cNvSpPr/>
            <p:nvPr/>
          </p:nvSpPr>
          <p:spPr>
            <a:xfrm flipH="false" flipV="false" rot="0">
              <a:off x="0" y="0"/>
              <a:ext cx="456565" cy="456565"/>
            </a:xfrm>
            <a:custGeom>
              <a:avLst/>
              <a:gdLst/>
              <a:ahLst/>
              <a:cxnLst/>
              <a:rect r="r" b="b" t="t" l="l"/>
              <a:pathLst>
                <a:path h="456565" w="456565">
                  <a:moveTo>
                    <a:pt x="0" y="0"/>
                  </a:moveTo>
                  <a:lnTo>
                    <a:pt x="456565" y="0"/>
                  </a:lnTo>
                  <a:lnTo>
                    <a:pt x="456565" y="456565"/>
                  </a:lnTo>
                  <a:lnTo>
                    <a:pt x="0" y="456565"/>
                  </a:lnTo>
                  <a:close/>
                </a:path>
              </a:pathLst>
            </a:custGeom>
            <a:blipFill>
              <a:blip r:embed="rId6">
                <a:alphaModFix amt="0"/>
              </a:blip>
              <a:stretch>
                <a:fillRect l="-78307" t="0" r="-78313" b="-5"/>
              </a:stretch>
            </a:blipFill>
            <a:ln w="57150" cap="sq">
              <a:solidFill>
                <a:srgbClr val="88E555"/>
              </a:solidFill>
              <a:prstDash val="solid"/>
              <a:miter/>
            </a:ln>
          </p:spPr>
        </p:sp>
      </p:grpSp>
      <p:grpSp>
        <p:nvGrpSpPr>
          <p:cNvPr name="Group 33" id="33"/>
          <p:cNvGrpSpPr/>
          <p:nvPr/>
        </p:nvGrpSpPr>
        <p:grpSpPr>
          <a:xfrm rot="0">
            <a:off x="857479" y="9806912"/>
            <a:ext cx="342443" cy="342443"/>
            <a:chOff x="0" y="0"/>
            <a:chExt cx="456590" cy="456590"/>
          </a:xfrm>
        </p:grpSpPr>
        <p:sp>
          <p:nvSpPr>
            <p:cNvPr name="Freeform 34" id="34"/>
            <p:cNvSpPr/>
            <p:nvPr/>
          </p:nvSpPr>
          <p:spPr>
            <a:xfrm flipH="false" flipV="false" rot="0">
              <a:off x="0" y="0"/>
              <a:ext cx="456565" cy="456565"/>
            </a:xfrm>
            <a:custGeom>
              <a:avLst/>
              <a:gdLst/>
              <a:ahLst/>
              <a:cxnLst/>
              <a:rect r="r" b="b" t="t" l="l"/>
              <a:pathLst>
                <a:path h="456565" w="456565">
                  <a:moveTo>
                    <a:pt x="0" y="0"/>
                  </a:moveTo>
                  <a:lnTo>
                    <a:pt x="456565" y="0"/>
                  </a:lnTo>
                  <a:lnTo>
                    <a:pt x="456565" y="456565"/>
                  </a:lnTo>
                  <a:lnTo>
                    <a:pt x="0" y="456565"/>
                  </a:lnTo>
                  <a:close/>
                </a:path>
              </a:pathLst>
            </a:custGeom>
            <a:blipFill>
              <a:blip r:embed="rId6">
                <a:alphaModFix amt="0"/>
              </a:blip>
              <a:stretch>
                <a:fillRect l="-78307" t="0" r="-78313" b="-5"/>
              </a:stretch>
            </a:blipFill>
            <a:ln w="57150" cap="sq">
              <a:solidFill>
                <a:srgbClr val="88E555"/>
              </a:solidFill>
              <a:prstDash val="solid"/>
              <a:miter/>
            </a:ln>
          </p:spPr>
        </p:sp>
      </p:grpSp>
      <p:grpSp>
        <p:nvGrpSpPr>
          <p:cNvPr name="Group 35" id="35"/>
          <p:cNvGrpSpPr/>
          <p:nvPr/>
        </p:nvGrpSpPr>
        <p:grpSpPr>
          <a:xfrm rot="0">
            <a:off x="17116425" y="9543821"/>
            <a:ext cx="342443" cy="342443"/>
            <a:chOff x="0" y="0"/>
            <a:chExt cx="456590" cy="456590"/>
          </a:xfrm>
        </p:grpSpPr>
        <p:sp>
          <p:nvSpPr>
            <p:cNvPr name="Freeform 36" id="36"/>
            <p:cNvSpPr/>
            <p:nvPr/>
          </p:nvSpPr>
          <p:spPr>
            <a:xfrm flipH="false" flipV="false" rot="0">
              <a:off x="0" y="0"/>
              <a:ext cx="456565" cy="456565"/>
            </a:xfrm>
            <a:custGeom>
              <a:avLst/>
              <a:gdLst/>
              <a:ahLst/>
              <a:cxnLst/>
              <a:rect r="r" b="b" t="t" l="l"/>
              <a:pathLst>
                <a:path h="456565" w="456565">
                  <a:moveTo>
                    <a:pt x="0" y="0"/>
                  </a:moveTo>
                  <a:lnTo>
                    <a:pt x="456565" y="0"/>
                  </a:lnTo>
                  <a:lnTo>
                    <a:pt x="456565" y="456565"/>
                  </a:lnTo>
                  <a:lnTo>
                    <a:pt x="0" y="456565"/>
                  </a:lnTo>
                  <a:close/>
                </a:path>
              </a:pathLst>
            </a:custGeom>
            <a:blipFill>
              <a:blip r:embed="rId6">
                <a:alphaModFix amt="0"/>
              </a:blip>
              <a:stretch>
                <a:fillRect l="-78307" t="0" r="-78313" b="-5"/>
              </a:stretch>
            </a:blipFill>
            <a:ln w="57150" cap="sq">
              <a:solidFill>
                <a:srgbClr val="88E555"/>
              </a:solidFill>
              <a:prstDash val="solid"/>
              <a:miter/>
            </a:ln>
          </p:spPr>
        </p:sp>
      </p:grpSp>
      <p:grpSp>
        <p:nvGrpSpPr>
          <p:cNvPr name="Group 37" id="37"/>
          <p:cNvGrpSpPr/>
          <p:nvPr/>
        </p:nvGrpSpPr>
        <p:grpSpPr>
          <a:xfrm rot="0">
            <a:off x="2442820" y="3260293"/>
            <a:ext cx="5715457" cy="560641"/>
            <a:chOff x="0" y="0"/>
            <a:chExt cx="7620610" cy="747522"/>
          </a:xfrm>
        </p:grpSpPr>
        <p:sp>
          <p:nvSpPr>
            <p:cNvPr name="Freeform 38" id="38"/>
            <p:cNvSpPr/>
            <p:nvPr/>
          </p:nvSpPr>
          <p:spPr>
            <a:xfrm flipH="false" flipV="false" rot="0">
              <a:off x="0" y="0"/>
              <a:ext cx="7620610" cy="747522"/>
            </a:xfrm>
            <a:custGeom>
              <a:avLst/>
              <a:gdLst/>
              <a:ahLst/>
              <a:cxnLst/>
              <a:rect r="r" b="b" t="t" l="l"/>
              <a:pathLst>
                <a:path h="747522" w="7620610">
                  <a:moveTo>
                    <a:pt x="0" y="0"/>
                  </a:moveTo>
                  <a:lnTo>
                    <a:pt x="7620610" y="0"/>
                  </a:lnTo>
                  <a:lnTo>
                    <a:pt x="7620610" y="747522"/>
                  </a:lnTo>
                  <a:lnTo>
                    <a:pt x="0" y="747522"/>
                  </a:lnTo>
                  <a:close/>
                </a:path>
              </a:pathLst>
            </a:custGeom>
            <a:blipFill>
              <a:blip r:embed="rId6">
                <a:alphaModFix amt="0"/>
              </a:blip>
              <a:stretch>
                <a:fillRect l="0" t="-162921" r="0" b="-134358"/>
              </a:stretch>
            </a:blipFill>
          </p:spPr>
        </p:sp>
        <p:sp>
          <p:nvSpPr>
            <p:cNvPr name="TextBox 39" id="39"/>
            <p:cNvSpPr txBox="true"/>
            <p:nvPr/>
          </p:nvSpPr>
          <p:spPr>
            <a:xfrm>
              <a:off x="0" y="-28575"/>
              <a:ext cx="7620610" cy="776097"/>
            </a:xfrm>
            <a:prstGeom prst="rect">
              <a:avLst/>
            </a:prstGeom>
          </p:spPr>
          <p:txBody>
            <a:bodyPr anchor="ctr" rtlCol="false" tIns="0" lIns="0" bIns="0" rIns="0"/>
            <a:lstStyle/>
            <a:p>
              <a:pPr algn="l">
                <a:lnSpc>
                  <a:spcPts val="2700"/>
                </a:lnSpc>
              </a:pPr>
            </a:p>
          </p:txBody>
        </p:sp>
      </p:grpSp>
      <p:grpSp>
        <p:nvGrpSpPr>
          <p:cNvPr name="Group 40" id="40"/>
          <p:cNvGrpSpPr/>
          <p:nvPr/>
        </p:nvGrpSpPr>
        <p:grpSpPr>
          <a:xfrm rot="0">
            <a:off x="2442820" y="3774643"/>
            <a:ext cx="8551926" cy="373761"/>
            <a:chOff x="0" y="0"/>
            <a:chExt cx="11402568" cy="498348"/>
          </a:xfrm>
        </p:grpSpPr>
        <p:sp>
          <p:nvSpPr>
            <p:cNvPr name="Freeform 41" id="41"/>
            <p:cNvSpPr/>
            <p:nvPr/>
          </p:nvSpPr>
          <p:spPr>
            <a:xfrm flipH="false" flipV="false" rot="0">
              <a:off x="0" y="0"/>
              <a:ext cx="11402568" cy="498349"/>
            </a:xfrm>
            <a:custGeom>
              <a:avLst/>
              <a:gdLst/>
              <a:ahLst/>
              <a:cxnLst/>
              <a:rect r="r" b="b" t="t" l="l"/>
              <a:pathLst>
                <a:path h="498349" w="11402568">
                  <a:moveTo>
                    <a:pt x="0" y="0"/>
                  </a:moveTo>
                  <a:lnTo>
                    <a:pt x="11402568" y="0"/>
                  </a:lnTo>
                  <a:lnTo>
                    <a:pt x="11402568" y="498349"/>
                  </a:lnTo>
                  <a:lnTo>
                    <a:pt x="0" y="498349"/>
                  </a:lnTo>
                  <a:close/>
                </a:path>
              </a:pathLst>
            </a:custGeom>
            <a:blipFill>
              <a:blip r:embed="rId6">
                <a:alphaModFix amt="0"/>
              </a:blip>
              <a:stretch>
                <a:fillRect l="0" t="-407482" r="0" b="-384179"/>
              </a:stretch>
            </a:blipFill>
          </p:spPr>
        </p:sp>
        <p:sp>
          <p:nvSpPr>
            <p:cNvPr name="TextBox 42" id="42"/>
            <p:cNvSpPr txBox="true"/>
            <p:nvPr/>
          </p:nvSpPr>
          <p:spPr>
            <a:xfrm>
              <a:off x="0" y="-19050"/>
              <a:ext cx="11402568" cy="517398"/>
            </a:xfrm>
            <a:prstGeom prst="rect">
              <a:avLst/>
            </a:prstGeom>
          </p:spPr>
          <p:txBody>
            <a:bodyPr anchor="ctr" rtlCol="false" tIns="0" lIns="0" bIns="0" rIns="0"/>
            <a:lstStyle/>
            <a:p>
              <a:pPr algn="l">
                <a:lnSpc>
                  <a:spcPts val="1800"/>
                </a:lnSpc>
              </a:pPr>
            </a:p>
          </p:txBody>
        </p:sp>
      </p:grpSp>
      <p:grpSp>
        <p:nvGrpSpPr>
          <p:cNvPr name="Group 43" id="43"/>
          <p:cNvGrpSpPr/>
          <p:nvPr/>
        </p:nvGrpSpPr>
        <p:grpSpPr>
          <a:xfrm rot="0">
            <a:off x="2685593" y="7848295"/>
            <a:ext cx="13916254" cy="13716"/>
            <a:chOff x="0" y="0"/>
            <a:chExt cx="18555005" cy="18288"/>
          </a:xfrm>
        </p:grpSpPr>
        <p:sp>
          <p:nvSpPr>
            <p:cNvPr name="Freeform 44" id="44"/>
            <p:cNvSpPr/>
            <p:nvPr/>
          </p:nvSpPr>
          <p:spPr>
            <a:xfrm flipH="false" flipV="false" rot="0">
              <a:off x="0" y="0"/>
              <a:ext cx="18554954" cy="18288"/>
            </a:xfrm>
            <a:custGeom>
              <a:avLst/>
              <a:gdLst/>
              <a:ahLst/>
              <a:cxnLst/>
              <a:rect r="r" b="b" t="t" l="l"/>
              <a:pathLst>
                <a:path h="18288" w="18554954">
                  <a:moveTo>
                    <a:pt x="0" y="0"/>
                  </a:moveTo>
                  <a:lnTo>
                    <a:pt x="18554954" y="0"/>
                  </a:lnTo>
                  <a:lnTo>
                    <a:pt x="18554954" y="18288"/>
                  </a:lnTo>
                  <a:lnTo>
                    <a:pt x="0" y="18288"/>
                  </a:lnTo>
                  <a:close/>
                </a:path>
              </a:pathLst>
            </a:custGeom>
            <a:solidFill>
              <a:srgbClr val="1E40AF">
                <a:alpha val="8627"/>
              </a:srgbClr>
            </a:solidFill>
          </p:spPr>
        </p:sp>
      </p:grpSp>
      <p:grpSp>
        <p:nvGrpSpPr>
          <p:cNvPr name="Group 45" id="45"/>
          <p:cNvGrpSpPr/>
          <p:nvPr/>
        </p:nvGrpSpPr>
        <p:grpSpPr>
          <a:xfrm rot="0">
            <a:off x="2685593" y="8491576"/>
            <a:ext cx="13916254" cy="13716"/>
            <a:chOff x="0" y="0"/>
            <a:chExt cx="18555005" cy="18288"/>
          </a:xfrm>
        </p:grpSpPr>
        <p:sp>
          <p:nvSpPr>
            <p:cNvPr name="Freeform 46" id="46"/>
            <p:cNvSpPr/>
            <p:nvPr/>
          </p:nvSpPr>
          <p:spPr>
            <a:xfrm flipH="false" flipV="false" rot="0">
              <a:off x="0" y="0"/>
              <a:ext cx="18554954" cy="18288"/>
            </a:xfrm>
            <a:custGeom>
              <a:avLst/>
              <a:gdLst/>
              <a:ahLst/>
              <a:cxnLst/>
              <a:rect r="r" b="b" t="t" l="l"/>
              <a:pathLst>
                <a:path h="18288" w="18554954">
                  <a:moveTo>
                    <a:pt x="0" y="0"/>
                  </a:moveTo>
                  <a:lnTo>
                    <a:pt x="18554954" y="0"/>
                  </a:lnTo>
                  <a:lnTo>
                    <a:pt x="18554954" y="18288"/>
                  </a:lnTo>
                  <a:lnTo>
                    <a:pt x="0" y="18288"/>
                  </a:lnTo>
                  <a:close/>
                </a:path>
              </a:pathLst>
            </a:custGeom>
            <a:solidFill>
              <a:srgbClr val="1E40AF">
                <a:alpha val="8627"/>
              </a:srgbClr>
            </a:solidFill>
          </p:spPr>
        </p:sp>
      </p:grpSp>
      <p:grpSp>
        <p:nvGrpSpPr>
          <p:cNvPr name="Group 47" id="47"/>
          <p:cNvGrpSpPr/>
          <p:nvPr/>
        </p:nvGrpSpPr>
        <p:grpSpPr>
          <a:xfrm rot="0">
            <a:off x="7938249" y="341566"/>
            <a:ext cx="2411054" cy="1175385"/>
            <a:chOff x="0" y="0"/>
            <a:chExt cx="3214738" cy="1567180"/>
          </a:xfrm>
        </p:grpSpPr>
        <p:sp>
          <p:nvSpPr>
            <p:cNvPr name="Freeform 48" id="48"/>
            <p:cNvSpPr/>
            <p:nvPr/>
          </p:nvSpPr>
          <p:spPr>
            <a:xfrm flipH="false" flipV="false" rot="0">
              <a:off x="0" y="0"/>
              <a:ext cx="3214751" cy="1567180"/>
            </a:xfrm>
            <a:custGeom>
              <a:avLst/>
              <a:gdLst/>
              <a:ahLst/>
              <a:cxnLst/>
              <a:rect r="r" b="b" t="t" l="l"/>
              <a:pathLst>
                <a:path h="1567180" w="3214751">
                  <a:moveTo>
                    <a:pt x="0" y="0"/>
                  </a:moveTo>
                  <a:lnTo>
                    <a:pt x="3214751" y="0"/>
                  </a:lnTo>
                  <a:lnTo>
                    <a:pt x="3214751" y="1567180"/>
                  </a:lnTo>
                  <a:lnTo>
                    <a:pt x="0" y="1567180"/>
                  </a:lnTo>
                  <a:lnTo>
                    <a:pt x="0" y="0"/>
                  </a:lnTo>
                  <a:close/>
                </a:path>
              </a:pathLst>
            </a:custGeom>
            <a:blipFill>
              <a:blip r:embed="rId7"/>
              <a:stretch>
                <a:fillRect l="0" t="0" r="0" b="0"/>
              </a:stretch>
            </a:blipFill>
          </p:spPr>
        </p:sp>
      </p:grpSp>
      <p:grpSp>
        <p:nvGrpSpPr>
          <p:cNvPr name="Group 49" id="49"/>
          <p:cNvGrpSpPr/>
          <p:nvPr/>
        </p:nvGrpSpPr>
        <p:grpSpPr>
          <a:xfrm rot="0">
            <a:off x="857250" y="64732"/>
            <a:ext cx="16573043" cy="1286561"/>
            <a:chOff x="0" y="0"/>
            <a:chExt cx="22097390" cy="1715414"/>
          </a:xfrm>
        </p:grpSpPr>
        <p:sp>
          <p:nvSpPr>
            <p:cNvPr name="Freeform 50" id="50"/>
            <p:cNvSpPr/>
            <p:nvPr/>
          </p:nvSpPr>
          <p:spPr>
            <a:xfrm flipH="false" flipV="false" rot="0">
              <a:off x="0" y="0"/>
              <a:ext cx="22097366" cy="1715389"/>
            </a:xfrm>
            <a:custGeom>
              <a:avLst/>
              <a:gdLst/>
              <a:ahLst/>
              <a:cxnLst/>
              <a:rect r="r" b="b" t="t" l="l"/>
              <a:pathLst>
                <a:path h="1715389" w="22097366">
                  <a:moveTo>
                    <a:pt x="0" y="162560"/>
                  </a:moveTo>
                  <a:cubicBezTo>
                    <a:pt x="0" y="72771"/>
                    <a:pt x="72771" y="0"/>
                    <a:pt x="162560" y="0"/>
                  </a:cubicBezTo>
                  <a:lnTo>
                    <a:pt x="21934805" y="0"/>
                  </a:lnTo>
                  <a:cubicBezTo>
                    <a:pt x="22024594" y="0"/>
                    <a:pt x="22097366" y="72771"/>
                    <a:pt x="22097366" y="162560"/>
                  </a:cubicBezTo>
                  <a:lnTo>
                    <a:pt x="22097366" y="1552829"/>
                  </a:lnTo>
                  <a:cubicBezTo>
                    <a:pt x="22097366" y="1642618"/>
                    <a:pt x="22024594" y="1715389"/>
                    <a:pt x="21934805" y="1715389"/>
                  </a:cubicBezTo>
                  <a:lnTo>
                    <a:pt x="162560" y="1715389"/>
                  </a:lnTo>
                  <a:cubicBezTo>
                    <a:pt x="72771" y="1715389"/>
                    <a:pt x="0" y="1642618"/>
                    <a:pt x="0" y="1552829"/>
                  </a:cubicBezTo>
                  <a:close/>
                </a:path>
              </a:pathLst>
            </a:custGeom>
            <a:solidFill>
              <a:srgbClr val="FFFFFF">
                <a:alpha val="90196"/>
              </a:srgbClr>
            </a:solidFill>
          </p:spPr>
        </p:sp>
      </p:grpSp>
      <p:grpSp>
        <p:nvGrpSpPr>
          <p:cNvPr name="Group 51" id="51"/>
          <p:cNvGrpSpPr/>
          <p:nvPr/>
        </p:nvGrpSpPr>
        <p:grpSpPr>
          <a:xfrm rot="0">
            <a:off x="2271151" y="260185"/>
            <a:ext cx="13745232" cy="879653"/>
            <a:chOff x="0" y="0"/>
            <a:chExt cx="18326976" cy="1172870"/>
          </a:xfrm>
        </p:grpSpPr>
        <p:sp>
          <p:nvSpPr>
            <p:cNvPr name="Freeform 52" id="52"/>
            <p:cNvSpPr/>
            <p:nvPr/>
          </p:nvSpPr>
          <p:spPr>
            <a:xfrm flipH="false" flipV="false" rot="0">
              <a:off x="0" y="0"/>
              <a:ext cx="18326988" cy="1172845"/>
            </a:xfrm>
            <a:custGeom>
              <a:avLst/>
              <a:gdLst/>
              <a:ahLst/>
              <a:cxnLst/>
              <a:rect r="r" b="b" t="t" l="l"/>
              <a:pathLst>
                <a:path h="1172845" w="18326988">
                  <a:moveTo>
                    <a:pt x="0" y="0"/>
                  </a:moveTo>
                  <a:lnTo>
                    <a:pt x="18326988" y="0"/>
                  </a:lnTo>
                  <a:lnTo>
                    <a:pt x="18326988" y="1172845"/>
                  </a:lnTo>
                  <a:lnTo>
                    <a:pt x="0" y="1172845"/>
                  </a:lnTo>
                  <a:lnTo>
                    <a:pt x="0" y="0"/>
                  </a:lnTo>
                  <a:close/>
                </a:path>
              </a:pathLst>
            </a:custGeom>
            <a:blipFill>
              <a:blip r:embed="rId8"/>
              <a:stretch>
                <a:fillRect l="0" t="-2" r="0" b="-4"/>
              </a:stretch>
            </a:blipFill>
          </p:spPr>
        </p:sp>
      </p:grpSp>
      <p:grpSp>
        <p:nvGrpSpPr>
          <p:cNvPr name="Group 53" id="53"/>
          <p:cNvGrpSpPr/>
          <p:nvPr/>
        </p:nvGrpSpPr>
        <p:grpSpPr>
          <a:xfrm rot="0">
            <a:off x="1942606" y="2279218"/>
            <a:ext cx="6215671" cy="2169171"/>
            <a:chOff x="0" y="0"/>
            <a:chExt cx="8287561" cy="2892228"/>
          </a:xfrm>
        </p:grpSpPr>
        <p:sp>
          <p:nvSpPr>
            <p:cNvPr name="Freeform 54" id="54"/>
            <p:cNvSpPr/>
            <p:nvPr/>
          </p:nvSpPr>
          <p:spPr>
            <a:xfrm flipH="false" flipV="false" rot="0">
              <a:off x="0" y="0"/>
              <a:ext cx="8287528" cy="2892171"/>
            </a:xfrm>
            <a:custGeom>
              <a:avLst/>
              <a:gdLst/>
              <a:ahLst/>
              <a:cxnLst/>
              <a:rect r="r" b="b" t="t" l="l"/>
              <a:pathLst>
                <a:path h="2892171" w="8287528">
                  <a:moveTo>
                    <a:pt x="0" y="123653"/>
                  </a:moveTo>
                  <a:cubicBezTo>
                    <a:pt x="0" y="55416"/>
                    <a:pt x="21594" y="0"/>
                    <a:pt x="48183" y="0"/>
                  </a:cubicBezTo>
                  <a:lnTo>
                    <a:pt x="8239345" y="0"/>
                  </a:lnTo>
                  <a:cubicBezTo>
                    <a:pt x="8265990" y="0"/>
                    <a:pt x="8287528" y="55416"/>
                    <a:pt x="8287528" y="123653"/>
                  </a:cubicBezTo>
                  <a:lnTo>
                    <a:pt x="8287528" y="2768518"/>
                  </a:lnTo>
                  <a:cubicBezTo>
                    <a:pt x="8287528" y="2836898"/>
                    <a:pt x="8265935" y="2892171"/>
                    <a:pt x="8239345" y="2892171"/>
                  </a:cubicBezTo>
                  <a:lnTo>
                    <a:pt x="48183" y="2892171"/>
                  </a:lnTo>
                  <a:cubicBezTo>
                    <a:pt x="21538" y="2892171"/>
                    <a:pt x="0" y="2836755"/>
                    <a:pt x="0" y="2768518"/>
                  </a:cubicBezTo>
                  <a:close/>
                </a:path>
              </a:pathLst>
            </a:custGeom>
            <a:solidFill>
              <a:srgbClr val="1E3A8A">
                <a:alpha val="15686"/>
              </a:srgbClr>
            </a:solidFill>
            <a:ln w="19050" cap="sq">
              <a:solidFill>
                <a:srgbClr val="1D4ED8"/>
              </a:solidFill>
              <a:prstDash val="solid"/>
              <a:miter/>
            </a:ln>
          </p:spPr>
        </p:sp>
      </p:grpSp>
      <p:grpSp>
        <p:nvGrpSpPr>
          <p:cNvPr name="Group 55" id="55"/>
          <p:cNvGrpSpPr/>
          <p:nvPr/>
        </p:nvGrpSpPr>
        <p:grpSpPr>
          <a:xfrm rot="0">
            <a:off x="2014719" y="2218614"/>
            <a:ext cx="5250949" cy="5846255"/>
            <a:chOff x="0" y="0"/>
            <a:chExt cx="7001265" cy="7795007"/>
          </a:xfrm>
        </p:grpSpPr>
        <p:sp>
          <p:nvSpPr>
            <p:cNvPr name="Freeform 56" id="56"/>
            <p:cNvSpPr/>
            <p:nvPr/>
          </p:nvSpPr>
          <p:spPr>
            <a:xfrm flipH="false" flipV="false" rot="0">
              <a:off x="0" y="0"/>
              <a:ext cx="7001265" cy="7795004"/>
            </a:xfrm>
            <a:custGeom>
              <a:avLst/>
              <a:gdLst/>
              <a:ahLst/>
              <a:cxnLst/>
              <a:rect r="r" b="b" t="t" l="l"/>
              <a:pathLst>
                <a:path h="7795004" w="7001265">
                  <a:moveTo>
                    <a:pt x="0" y="0"/>
                  </a:moveTo>
                  <a:lnTo>
                    <a:pt x="7001265" y="0"/>
                  </a:lnTo>
                  <a:lnTo>
                    <a:pt x="7001265" y="7795004"/>
                  </a:lnTo>
                  <a:lnTo>
                    <a:pt x="0" y="7795004"/>
                  </a:lnTo>
                  <a:close/>
                </a:path>
              </a:pathLst>
            </a:custGeom>
            <a:blipFill>
              <a:blip r:embed="rId9">
                <a:alphaModFix amt="0"/>
              </a:blip>
              <a:stretch>
                <a:fillRect l="-58225" t="0" r="-58225" b="0"/>
              </a:stretch>
            </a:blipFill>
          </p:spPr>
        </p:sp>
        <p:sp>
          <p:nvSpPr>
            <p:cNvPr name="TextBox 57" id="57"/>
            <p:cNvSpPr txBox="true"/>
            <p:nvPr/>
          </p:nvSpPr>
          <p:spPr>
            <a:xfrm>
              <a:off x="0" y="-19050"/>
              <a:ext cx="7001265" cy="7814057"/>
            </a:xfrm>
            <a:prstGeom prst="rect">
              <a:avLst/>
            </a:prstGeom>
          </p:spPr>
          <p:txBody>
            <a:bodyPr anchor="ctr" rtlCol="false" tIns="0" lIns="0" bIns="0" rIns="0"/>
            <a:lstStyle/>
            <a:p>
              <a:pPr algn="ctr">
                <a:lnSpc>
                  <a:spcPts val="2100"/>
                </a:lnSpc>
              </a:pPr>
            </a:p>
          </p:txBody>
        </p:sp>
      </p:grpSp>
      <p:graphicFrame>
        <p:nvGraphicFramePr>
          <p:cNvPr name="Table 58" id="58"/>
          <p:cNvGraphicFramePr>
            <a:graphicFrameLocks noGrp="true"/>
          </p:cNvGraphicFramePr>
          <p:nvPr/>
        </p:nvGraphicFramePr>
        <p:xfrm>
          <a:off x="10349303" y="2637631"/>
          <a:ext cx="6792854" cy="7649369"/>
        </p:xfrm>
        <a:graphic>
          <a:graphicData uri="http://schemas.openxmlformats.org/drawingml/2006/table">
            <a:tbl>
              <a:tblPr/>
              <a:tblGrid>
                <a:gridCol w="2611719"/>
                <a:gridCol w="1753537"/>
                <a:gridCol w="2427598"/>
              </a:tblGrid>
              <a:tr h="734339">
                <a:tc>
                  <a:txBody>
                    <a:bodyPr anchor="t" rtlCol="false"/>
                    <a:lstStyle/>
                    <a:p>
                      <a:pPr algn="ctr">
                        <a:lnSpc>
                          <a:spcPts val="2100"/>
                        </a:lnSpc>
                        <a:defRPr/>
                      </a:pPr>
                      <a:r>
                        <a:rPr lang="en-US" b="true" sz="1500">
                          <a:solidFill>
                            <a:srgbClr val="000000"/>
                          </a:solidFill>
                          <a:latin typeface="Canva Sans Bold"/>
                          <a:ea typeface="Canva Sans Bold"/>
                          <a:cs typeface="Canva Sans Bold"/>
                          <a:sym typeface="Canva Sans Bold"/>
                        </a:rPr>
                        <a:t>METRIC</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solidFill>
                      <a:srgbClr val="F2F2F2"/>
                    </a:solidFill>
                  </a:tcPr>
                </a:tc>
                <a:tc>
                  <a:txBody>
                    <a:bodyPr anchor="t" rtlCol="false"/>
                    <a:lstStyle/>
                    <a:p>
                      <a:pPr algn="ctr">
                        <a:lnSpc>
                          <a:spcPts val="2100"/>
                        </a:lnSpc>
                        <a:defRPr/>
                      </a:pPr>
                      <a:r>
                        <a:rPr lang="en-US" b="true" sz="1500">
                          <a:solidFill>
                            <a:srgbClr val="000000"/>
                          </a:solidFill>
                          <a:latin typeface="Canva Sans Bold"/>
                          <a:ea typeface="Canva Sans Bold"/>
                          <a:cs typeface="Canva Sans Bold"/>
                          <a:sym typeface="Canva Sans Bold"/>
                        </a:rPr>
                        <a:t>REFERENCE — 220 PAIRS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solidFill>
                      <a:srgbClr val="F2F2F2"/>
                    </a:solidFill>
                  </a:tcPr>
                </a:tc>
                <a:tc>
                  <a:txBody>
                    <a:bodyPr anchor="t" rtlCol="false"/>
                    <a:lstStyle/>
                    <a:p>
                      <a:pPr algn="ctr">
                        <a:lnSpc>
                          <a:spcPts val="2100"/>
                        </a:lnSpc>
                        <a:defRPr/>
                      </a:pPr>
                      <a:r>
                        <a:rPr lang="en-US" b="true" sz="1500">
                          <a:solidFill>
                            <a:srgbClr val="000000"/>
                          </a:solidFill>
                          <a:latin typeface="Canva Sans Bold"/>
                          <a:ea typeface="Canva Sans Bold"/>
                          <a:cs typeface="Canva Sans Bold"/>
                          <a:sym typeface="Canva Sans Bold"/>
                        </a:rPr>
                        <a:t>HEAVY STRESS — 220 PAIRS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solidFill>
                      <a:srgbClr val="F2F2F2"/>
                    </a:solidFill>
                  </a:tcPr>
                </a:tc>
              </a:tr>
              <a:tr h="628639">
                <a:tc>
                  <a:txBody>
                    <a:bodyPr anchor="t" rtlCol="false"/>
                    <a:lstStyle/>
                    <a:p>
                      <a:pPr algn="just">
                        <a:lnSpc>
                          <a:spcPts val="2100"/>
                        </a:lnSpc>
                        <a:defRPr/>
                      </a:pPr>
                      <a:r>
                        <a:rPr lang="en-US" sz="1500">
                          <a:solidFill>
                            <a:srgbClr val="FFFFFF"/>
                          </a:solidFill>
                          <a:latin typeface="Canva Sans"/>
                          <a:ea typeface="Canva Sans"/>
                          <a:cs typeface="Canva Sans"/>
                          <a:sym typeface="Canva Sans"/>
                        </a:rPr>
                        <a:t>Sub-1.0 px Precision (R₁)</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just">
                        <a:lnSpc>
                          <a:spcPts val="2100"/>
                        </a:lnSpc>
                        <a:defRPr/>
                      </a:pPr>
                      <a:r>
                        <a:rPr lang="en-US" sz="1500">
                          <a:solidFill>
                            <a:srgbClr val="FFFFFF"/>
                          </a:solidFill>
                          <a:latin typeface="Canva Sans"/>
                          <a:ea typeface="Canva Sans"/>
                          <a:cs typeface="Canva Sans"/>
                          <a:sym typeface="Canva Sans"/>
                        </a:rPr>
                        <a:t>90.60%</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just">
                        <a:lnSpc>
                          <a:spcPts val="2100"/>
                        </a:lnSpc>
                        <a:defRPr/>
                      </a:pPr>
                      <a:r>
                        <a:rPr lang="en-US" sz="1500">
                          <a:solidFill>
                            <a:srgbClr val="FFFFFF"/>
                          </a:solidFill>
                          <a:latin typeface="Canva Sans"/>
                          <a:ea typeface="Canva Sans"/>
                          <a:cs typeface="Canva Sans"/>
                          <a:sym typeface="Canva Sans"/>
                        </a:rPr>
                        <a:t>86.20%</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628639">
                <a:tc>
                  <a:txBody>
                    <a:bodyPr anchor="t" rtlCol="false"/>
                    <a:lstStyle/>
                    <a:p>
                      <a:pPr algn="just">
                        <a:lnSpc>
                          <a:spcPts val="2100"/>
                        </a:lnSpc>
                        <a:defRPr/>
                      </a:pPr>
                      <a:r>
                        <a:rPr lang="en-US" sz="1500">
                          <a:solidFill>
                            <a:srgbClr val="FFFFFF"/>
                          </a:solidFill>
                          <a:latin typeface="Canva Sans"/>
                          <a:ea typeface="Canva Sans"/>
                          <a:cs typeface="Canva Sans"/>
                          <a:sym typeface="Canva Sans"/>
                        </a:rPr>
                        <a:t>Sub-2.0 px Review (R₂)</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just">
                        <a:lnSpc>
                          <a:spcPts val="2100"/>
                        </a:lnSpc>
                        <a:defRPr/>
                      </a:pPr>
                      <a:r>
                        <a:rPr lang="en-US" sz="1500">
                          <a:solidFill>
                            <a:srgbClr val="FFFFFF"/>
                          </a:solidFill>
                          <a:latin typeface="Canva Sans"/>
                          <a:ea typeface="Canva Sans"/>
                          <a:cs typeface="Canva Sans"/>
                          <a:sym typeface="Canva Sans"/>
                        </a:rPr>
                        <a:t>98.10%</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just">
                        <a:lnSpc>
                          <a:spcPts val="2100"/>
                        </a:lnSpc>
                        <a:defRPr/>
                      </a:pPr>
                      <a:r>
                        <a:rPr lang="en-US" sz="1500">
                          <a:solidFill>
                            <a:srgbClr val="FFFFFF"/>
                          </a:solidFill>
                          <a:latin typeface="Canva Sans"/>
                          <a:ea typeface="Canva Sans"/>
                          <a:cs typeface="Canva Sans"/>
                          <a:sym typeface="Canva Sans"/>
                        </a:rPr>
                        <a:t>86.90%</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628639">
                <a:tc>
                  <a:txBody>
                    <a:bodyPr anchor="t" rtlCol="false"/>
                    <a:lstStyle/>
                    <a:p>
                      <a:pPr algn="just">
                        <a:lnSpc>
                          <a:spcPts val="2100"/>
                        </a:lnSpc>
                        <a:defRPr/>
                      </a:pPr>
                      <a:r>
                        <a:rPr lang="en-US" sz="1500">
                          <a:solidFill>
                            <a:srgbClr val="FFFFFF"/>
                          </a:solidFill>
                          <a:latin typeface="Canva Sans"/>
                          <a:ea typeface="Canva Sans"/>
                          <a:cs typeface="Canva Sans"/>
                          <a:sym typeface="Canva Sans"/>
                        </a:rPr>
                        <a:t>Sub-5.0 px Capture (R₅)</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just">
                        <a:lnSpc>
                          <a:spcPts val="2100"/>
                        </a:lnSpc>
                        <a:defRPr/>
                      </a:pPr>
                      <a:r>
                        <a:rPr lang="en-US" sz="1500">
                          <a:solidFill>
                            <a:srgbClr val="FFFFFF"/>
                          </a:solidFill>
                          <a:latin typeface="Canva Sans"/>
                          <a:ea typeface="Canva Sans"/>
                          <a:cs typeface="Canva Sans"/>
                          <a:sym typeface="Canva Sans"/>
                        </a:rPr>
                        <a:t>98.10%</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just">
                        <a:lnSpc>
                          <a:spcPts val="2100"/>
                        </a:lnSpc>
                        <a:defRPr/>
                      </a:pPr>
                      <a:r>
                        <a:rPr lang="en-US" sz="1500">
                          <a:solidFill>
                            <a:srgbClr val="FFFFFF"/>
                          </a:solidFill>
                          <a:latin typeface="Canva Sans"/>
                          <a:ea typeface="Canva Sans"/>
                          <a:cs typeface="Canva Sans"/>
                          <a:sym typeface="Canva Sans"/>
                        </a:rPr>
                        <a:t>86.90%</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628639">
                <a:tc>
                  <a:txBody>
                    <a:bodyPr anchor="t" rtlCol="false"/>
                    <a:lstStyle/>
                    <a:p>
                      <a:pPr algn="just">
                        <a:lnSpc>
                          <a:spcPts val="2100"/>
                        </a:lnSpc>
                        <a:defRPr/>
                      </a:pPr>
                      <a:r>
                        <a:rPr lang="en-US" sz="1500">
                          <a:solidFill>
                            <a:srgbClr val="FFFFFF"/>
                          </a:solidFill>
                          <a:latin typeface="Canva Sans"/>
                          <a:ea typeface="Canva Sans"/>
                          <a:cs typeface="Canva Sans"/>
                          <a:sym typeface="Canva Sans"/>
                        </a:rPr>
                        <a:t>Median Localization Error</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just">
                        <a:lnSpc>
                          <a:spcPts val="2100"/>
                        </a:lnSpc>
                        <a:defRPr/>
                      </a:pPr>
                      <a:r>
                        <a:rPr lang="en-US" sz="1500">
                          <a:solidFill>
                            <a:srgbClr val="FFFFFF"/>
                          </a:solidFill>
                          <a:latin typeface="Canva Sans"/>
                          <a:ea typeface="Canva Sans"/>
                          <a:cs typeface="Canva Sans"/>
                          <a:sym typeface="Canva Sans"/>
                        </a:rPr>
                        <a:t>0.3764 px</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just">
                        <a:lnSpc>
                          <a:spcPts val="2100"/>
                        </a:lnSpc>
                        <a:defRPr/>
                      </a:pPr>
                      <a:r>
                        <a:rPr lang="en-US" sz="1500">
                          <a:solidFill>
                            <a:srgbClr val="FFFFFF"/>
                          </a:solidFill>
                          <a:latin typeface="Canva Sans"/>
                          <a:ea typeface="Canva Sans"/>
                          <a:cs typeface="Canva Sans"/>
                          <a:sym typeface="Canva Sans"/>
                        </a:rPr>
                        <a:t>0.2265 px</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628639">
                <a:tc>
                  <a:txBody>
                    <a:bodyPr anchor="t" rtlCol="false"/>
                    <a:lstStyle/>
                    <a:p>
                      <a:pPr algn="just">
                        <a:lnSpc>
                          <a:spcPts val="2100"/>
                        </a:lnSpc>
                        <a:defRPr/>
                      </a:pPr>
                      <a:r>
                        <a:rPr lang="en-US" sz="1500">
                          <a:solidFill>
                            <a:srgbClr val="FFFFFF"/>
                          </a:solidFill>
                          <a:latin typeface="Canva Sans"/>
                          <a:ea typeface="Canva Sans"/>
                          <a:cs typeface="Canva Sans"/>
                          <a:sym typeface="Canva Sans"/>
                        </a:rPr>
                        <a:t>Target Recall</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just">
                        <a:lnSpc>
                          <a:spcPts val="2100"/>
                        </a:lnSpc>
                        <a:defRPr/>
                      </a:pPr>
                      <a:r>
                        <a:rPr lang="en-US" sz="1500">
                          <a:solidFill>
                            <a:srgbClr val="FFFFFF"/>
                          </a:solidFill>
                          <a:latin typeface="Canva Sans"/>
                          <a:ea typeface="Canva Sans"/>
                          <a:cs typeface="Canva Sans"/>
                          <a:sym typeface="Canva Sans"/>
                        </a:rPr>
                        <a:t>98.80%</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just">
                        <a:lnSpc>
                          <a:spcPts val="2100"/>
                        </a:lnSpc>
                        <a:defRPr/>
                      </a:pPr>
                      <a:r>
                        <a:rPr lang="en-US" sz="1500">
                          <a:solidFill>
                            <a:srgbClr val="FFFFFF"/>
                          </a:solidFill>
                          <a:latin typeface="Canva Sans"/>
                          <a:ea typeface="Canva Sans"/>
                          <a:cs typeface="Canva Sans"/>
                          <a:sym typeface="Canva Sans"/>
                        </a:rPr>
                        <a:t>100.00%</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628639">
                <a:tc>
                  <a:txBody>
                    <a:bodyPr anchor="t" rtlCol="false"/>
                    <a:lstStyle/>
                    <a:p>
                      <a:pPr algn="just">
                        <a:lnSpc>
                          <a:spcPts val="2100"/>
                        </a:lnSpc>
                        <a:defRPr/>
                      </a:pPr>
                      <a:r>
                        <a:rPr lang="en-US" sz="1500">
                          <a:solidFill>
                            <a:srgbClr val="FFFFFF"/>
                          </a:solidFill>
                          <a:latin typeface="Canva Sans"/>
                          <a:ea typeface="Canva Sans"/>
                          <a:cs typeface="Canva Sans"/>
                          <a:sym typeface="Canva Sans"/>
                        </a:rPr>
                        <a:t>Decoy Specificity</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just">
                        <a:lnSpc>
                          <a:spcPts val="2100"/>
                        </a:lnSpc>
                        <a:defRPr/>
                      </a:pPr>
                      <a:r>
                        <a:rPr lang="en-US" sz="1500">
                          <a:solidFill>
                            <a:srgbClr val="FFFFFF"/>
                          </a:solidFill>
                          <a:latin typeface="Canva Sans"/>
                          <a:ea typeface="Canva Sans"/>
                          <a:cs typeface="Canva Sans"/>
                          <a:sym typeface="Canva Sans"/>
                        </a:rPr>
                        <a:t>81.70%</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just">
                        <a:lnSpc>
                          <a:spcPts val="2100"/>
                        </a:lnSpc>
                        <a:defRPr/>
                      </a:pPr>
                      <a:r>
                        <a:rPr lang="en-US" sz="1500">
                          <a:solidFill>
                            <a:srgbClr val="FFFFFF"/>
                          </a:solidFill>
                          <a:latin typeface="Canva Sans"/>
                          <a:ea typeface="Canva Sans"/>
                          <a:cs typeface="Canva Sans"/>
                          <a:sym typeface="Canva Sans"/>
                        </a:rPr>
                        <a:t>80.00%</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628639">
                <a:tc>
                  <a:txBody>
                    <a:bodyPr anchor="t" rtlCol="false"/>
                    <a:lstStyle/>
                    <a:p>
                      <a:pPr algn="just">
                        <a:lnSpc>
                          <a:spcPts val="2100"/>
                        </a:lnSpc>
                        <a:defRPr/>
                      </a:pPr>
                      <a:r>
                        <a:rPr lang="en-US" sz="1500">
                          <a:solidFill>
                            <a:srgbClr val="FFFFFF"/>
                          </a:solidFill>
                          <a:latin typeface="Canva Sans"/>
                          <a:ea typeface="Canva Sans"/>
                          <a:cs typeface="Canva Sans"/>
                          <a:sym typeface="Canva Sans"/>
                        </a:rPr>
                        <a:t>Decoy Rejection F1</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just">
                        <a:lnSpc>
                          <a:spcPts val="2100"/>
                        </a:lnSpc>
                        <a:defRPr/>
                      </a:pPr>
                      <a:r>
                        <a:rPr lang="en-US" sz="1500">
                          <a:solidFill>
                            <a:srgbClr val="FFFFFF"/>
                          </a:solidFill>
                          <a:latin typeface="Canva Sans"/>
                          <a:ea typeface="Canva Sans"/>
                          <a:cs typeface="Canva Sans"/>
                          <a:sym typeface="Canva Sans"/>
                        </a:rPr>
                        <a:t>0.9605</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just">
                        <a:lnSpc>
                          <a:spcPts val="2100"/>
                        </a:lnSpc>
                        <a:defRPr/>
                      </a:pPr>
                      <a:r>
                        <a:rPr lang="en-US" sz="1500">
                          <a:solidFill>
                            <a:srgbClr val="FFFFFF"/>
                          </a:solidFill>
                          <a:latin typeface="Canva Sans"/>
                          <a:ea typeface="Canva Sans"/>
                          <a:cs typeface="Canva Sans"/>
                          <a:sym typeface="Canva Sans"/>
                        </a:rPr>
                        <a:t>0.9639</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628639">
                <a:tc>
                  <a:txBody>
                    <a:bodyPr anchor="t" rtlCol="false"/>
                    <a:lstStyle/>
                    <a:p>
                      <a:pPr algn="just">
                        <a:lnSpc>
                          <a:spcPts val="2100"/>
                        </a:lnSpc>
                        <a:defRPr/>
                      </a:pPr>
                      <a:r>
                        <a:rPr lang="en-US" sz="1500">
                          <a:solidFill>
                            <a:srgbClr val="FFFFFF"/>
                          </a:solidFill>
                          <a:latin typeface="Canva Sans"/>
                          <a:ea typeface="Canva Sans"/>
                          <a:cs typeface="Canva Sans"/>
                          <a:sym typeface="Canva Sans"/>
                        </a:rPr>
                        <a:t>Scale Recovery Credit</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just">
                        <a:lnSpc>
                          <a:spcPts val="2100"/>
                        </a:lnSpc>
                        <a:defRPr/>
                      </a:pPr>
                      <a:r>
                        <a:rPr lang="en-US" sz="1500">
                          <a:solidFill>
                            <a:srgbClr val="FFFFFF"/>
                          </a:solidFill>
                          <a:latin typeface="Canva Sans"/>
                          <a:ea typeface="Canva Sans"/>
                          <a:cs typeface="Canva Sans"/>
                          <a:sym typeface="Canva Sans"/>
                        </a:rPr>
                        <a:t>0.8951</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just">
                        <a:lnSpc>
                          <a:spcPts val="2100"/>
                        </a:lnSpc>
                        <a:defRPr/>
                      </a:pPr>
                      <a:r>
                        <a:rPr lang="en-US" sz="1500">
                          <a:solidFill>
                            <a:srgbClr val="FFFFFF"/>
                          </a:solidFill>
                          <a:latin typeface="Canva Sans"/>
                          <a:ea typeface="Canva Sans"/>
                          <a:cs typeface="Canva Sans"/>
                          <a:sym typeface="Canva Sans"/>
                        </a:rPr>
                        <a:t>0.8974</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628639">
                <a:tc>
                  <a:txBody>
                    <a:bodyPr anchor="t" rtlCol="false"/>
                    <a:lstStyle/>
                    <a:p>
                      <a:pPr algn="just">
                        <a:lnSpc>
                          <a:spcPts val="2100"/>
                        </a:lnSpc>
                        <a:defRPr/>
                      </a:pPr>
                      <a:r>
                        <a:rPr lang="en-US" sz="1500">
                          <a:solidFill>
                            <a:srgbClr val="FFFFFF"/>
                          </a:solidFill>
                          <a:latin typeface="Canva Sans"/>
                          <a:ea typeface="Canva Sans"/>
                          <a:cs typeface="Canva Sans"/>
                          <a:sym typeface="Canva Sans"/>
                        </a:rPr>
                        <a:t>Angle Recovery Credit</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just">
                        <a:lnSpc>
                          <a:spcPts val="2100"/>
                        </a:lnSpc>
                        <a:defRPr/>
                      </a:pPr>
                      <a:r>
                        <a:rPr lang="en-US" sz="1500">
                          <a:solidFill>
                            <a:srgbClr val="FFFFFF"/>
                          </a:solidFill>
                          <a:latin typeface="Canva Sans"/>
                          <a:ea typeface="Canva Sans"/>
                          <a:cs typeface="Canva Sans"/>
                          <a:sym typeface="Canva Sans"/>
                        </a:rPr>
                        <a:t>0.9712</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just">
                        <a:lnSpc>
                          <a:spcPts val="2100"/>
                        </a:lnSpc>
                        <a:defRPr/>
                      </a:pPr>
                      <a:r>
                        <a:rPr lang="en-US" sz="1500">
                          <a:solidFill>
                            <a:srgbClr val="FFFFFF"/>
                          </a:solidFill>
                          <a:latin typeface="Canva Sans"/>
                          <a:ea typeface="Canva Sans"/>
                          <a:cs typeface="Canva Sans"/>
                          <a:sym typeface="Canva Sans"/>
                        </a:rPr>
                        <a:t>0.9826</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628639">
                <a:tc>
                  <a:txBody>
                    <a:bodyPr anchor="t" rtlCol="false"/>
                    <a:lstStyle/>
                    <a:p>
                      <a:pPr algn="just">
                        <a:lnSpc>
                          <a:spcPts val="2100"/>
                        </a:lnSpc>
                        <a:defRPr/>
                      </a:pPr>
                      <a:r>
                        <a:rPr lang="en-US" sz="1500">
                          <a:solidFill>
                            <a:srgbClr val="FFFFFF"/>
                          </a:solidFill>
                          <a:latin typeface="Canva Sans"/>
                          <a:ea typeface="Canva Sans"/>
                          <a:cs typeface="Canva Sans"/>
                          <a:sym typeface="Canva Sans"/>
                        </a:rPr>
                        <a:t>CPU Latency / Pair</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just">
                        <a:lnSpc>
                          <a:spcPts val="2100"/>
                        </a:lnSpc>
                        <a:defRPr/>
                      </a:pPr>
                      <a:r>
                        <a:rPr lang="en-US" sz="1500">
                          <a:solidFill>
                            <a:srgbClr val="FFFFFF"/>
                          </a:solidFill>
                          <a:latin typeface="Canva Sans"/>
                          <a:ea typeface="Canva Sans"/>
                          <a:cs typeface="Canva Sans"/>
                          <a:sym typeface="Canva Sans"/>
                        </a:rPr>
                        <a:t>0.964 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just">
                        <a:lnSpc>
                          <a:spcPts val="2100"/>
                        </a:lnSpc>
                        <a:defRPr/>
                      </a:pPr>
                      <a:r>
                        <a:rPr lang="en-US" sz="1500">
                          <a:solidFill>
                            <a:srgbClr val="FFFFFF"/>
                          </a:solidFill>
                          <a:latin typeface="Canva Sans"/>
                          <a:ea typeface="Canva Sans"/>
                          <a:cs typeface="Canva Sans"/>
                          <a:sym typeface="Canva Sans"/>
                        </a:rPr>
                        <a:t>0.985 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628639">
                <a:tc>
                  <a:txBody>
                    <a:bodyPr anchor="t" rtlCol="false"/>
                    <a:lstStyle/>
                    <a:p>
                      <a:pPr algn="just">
                        <a:lnSpc>
                          <a:spcPts val="2100"/>
                        </a:lnSpc>
                        <a:defRPr/>
                      </a:pPr>
                      <a:r>
                        <a:rPr lang="en-US" sz="1500">
                          <a:solidFill>
                            <a:srgbClr val="FFFFFF"/>
                          </a:solidFill>
                          <a:latin typeface="Canva Sans"/>
                          <a:ea typeface="Canva Sans"/>
                          <a:cs typeface="Canva Sans"/>
                          <a:sym typeface="Canva Sans"/>
                        </a:rPr>
                        <a:t>Overall Competition Score</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just">
                        <a:lnSpc>
                          <a:spcPts val="2100"/>
                        </a:lnSpc>
                        <a:defRPr/>
                      </a:pPr>
                      <a:r>
                        <a:rPr lang="en-US" sz="1500">
                          <a:solidFill>
                            <a:srgbClr val="FFFFFF"/>
                          </a:solidFill>
                          <a:latin typeface="Canva Sans"/>
                          <a:ea typeface="Canva Sans"/>
                          <a:cs typeface="Canva Sans"/>
                          <a:sym typeface="Canva Sans"/>
                        </a:rPr>
                        <a:t>98.91 / 100</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just">
                        <a:lnSpc>
                          <a:spcPts val="2100"/>
                        </a:lnSpc>
                        <a:defRPr/>
                      </a:pPr>
                      <a:r>
                        <a:rPr lang="en-US" sz="1500">
                          <a:solidFill>
                            <a:srgbClr val="FFFFFF"/>
                          </a:solidFill>
                          <a:latin typeface="Canva Sans"/>
                          <a:ea typeface="Canva Sans"/>
                          <a:cs typeface="Canva Sans"/>
                          <a:sym typeface="Canva Sans"/>
                        </a:rPr>
                        <a:t>97.85 / 100</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bl>
          </a:graphicData>
        </a:graphic>
      </p:graphicFrame>
      <p:sp>
        <p:nvSpPr>
          <p:cNvPr name="Freeform 59" id="59"/>
          <p:cNvSpPr/>
          <p:nvPr/>
        </p:nvSpPr>
        <p:spPr>
          <a:xfrm flipH="false" flipV="false" rot="0">
            <a:off x="347309" y="4717680"/>
            <a:ext cx="9675450" cy="4976810"/>
          </a:xfrm>
          <a:custGeom>
            <a:avLst/>
            <a:gdLst/>
            <a:ahLst/>
            <a:cxnLst/>
            <a:rect r="r" b="b" t="t" l="l"/>
            <a:pathLst>
              <a:path h="4976810" w="9675450">
                <a:moveTo>
                  <a:pt x="0" y="0"/>
                </a:moveTo>
                <a:lnTo>
                  <a:pt x="9675450" y="0"/>
                </a:lnTo>
                <a:lnTo>
                  <a:pt x="9675450" y="4976810"/>
                </a:lnTo>
                <a:lnTo>
                  <a:pt x="0" y="4976810"/>
                </a:lnTo>
                <a:lnTo>
                  <a:pt x="0" y="0"/>
                </a:lnTo>
                <a:close/>
              </a:path>
            </a:pathLst>
          </a:custGeom>
          <a:blipFill>
            <a:blip r:embed="rId10"/>
            <a:stretch>
              <a:fillRect l="0" t="0" r="0" b="0"/>
            </a:stretch>
          </a:blipFill>
        </p:spPr>
      </p:sp>
      <p:sp>
        <p:nvSpPr>
          <p:cNvPr name="TextBox 60" id="60"/>
          <p:cNvSpPr txBox="true"/>
          <p:nvPr/>
        </p:nvSpPr>
        <p:spPr>
          <a:xfrm rot="0">
            <a:off x="2538850" y="2562377"/>
            <a:ext cx="5479256" cy="1758696"/>
          </a:xfrm>
          <a:prstGeom prst="rect">
            <a:avLst/>
          </a:prstGeom>
        </p:spPr>
        <p:txBody>
          <a:bodyPr anchor="t" rtlCol="false" tIns="0" lIns="0" bIns="0" rIns="0">
            <a:spAutoFit/>
          </a:bodyPr>
          <a:lstStyle/>
          <a:p>
            <a:pPr algn="ctr">
              <a:lnSpc>
                <a:spcPts val="1512"/>
              </a:lnSpc>
            </a:pPr>
            <a:r>
              <a:rPr lang="en-US" b="true" sz="1800">
                <a:solidFill>
                  <a:srgbClr val="FFFFFF"/>
                </a:solidFill>
                <a:latin typeface="Poppins Bold"/>
                <a:ea typeface="Poppins Bold"/>
                <a:cs typeface="Poppins Bold"/>
                <a:sym typeface="Poppins Bold"/>
              </a:rPr>
              <a:t>KEY TAKEAWAYS</a:t>
            </a:r>
          </a:p>
          <a:p>
            <a:pPr algn="ctr">
              <a:lnSpc>
                <a:spcPts val="1512"/>
              </a:lnSpc>
            </a:pPr>
          </a:p>
          <a:p>
            <a:pPr algn="l" marL="388620" indent="-194310" lvl="1">
              <a:lnSpc>
                <a:spcPts val="1512"/>
              </a:lnSpc>
              <a:buFont typeface="Arial"/>
              <a:buChar char="•"/>
            </a:pPr>
            <a:r>
              <a:rPr lang="en-US" b="true" sz="1800">
                <a:solidFill>
                  <a:srgbClr val="FFFFFF"/>
                </a:solidFill>
                <a:latin typeface="Poppins Bold"/>
                <a:ea typeface="Poppins Bold"/>
                <a:cs typeface="Poppins Bold"/>
                <a:sym typeface="Poppins Bold"/>
              </a:rPr>
              <a:t>90.6%   SUB-1 PX PRECISION — REFERENCE</a:t>
            </a:r>
          </a:p>
          <a:p>
            <a:pPr algn="l">
              <a:lnSpc>
                <a:spcPts val="1512"/>
              </a:lnSpc>
            </a:pPr>
          </a:p>
          <a:p>
            <a:pPr algn="l" marL="388620" indent="-194310" lvl="1">
              <a:lnSpc>
                <a:spcPts val="1512"/>
              </a:lnSpc>
              <a:buFont typeface="Arial"/>
              <a:buChar char="•"/>
            </a:pPr>
            <a:r>
              <a:rPr lang="en-US" b="true" sz="1800">
                <a:solidFill>
                  <a:srgbClr val="FFFFFF"/>
                </a:solidFill>
                <a:latin typeface="Poppins Bold"/>
                <a:ea typeface="Poppins Bold"/>
                <a:cs typeface="Poppins Bold"/>
                <a:sym typeface="Poppins Bold"/>
              </a:rPr>
              <a:t>86.2%   SUB-1 PX PRECISION — HEAVY STRESS</a:t>
            </a:r>
          </a:p>
          <a:p>
            <a:pPr algn="l">
              <a:lnSpc>
                <a:spcPts val="1512"/>
              </a:lnSpc>
            </a:pPr>
          </a:p>
          <a:p>
            <a:pPr algn="l" marL="388620" indent="-194310" lvl="1">
              <a:lnSpc>
                <a:spcPts val="1512"/>
              </a:lnSpc>
              <a:buFont typeface="Arial"/>
              <a:buChar char="•"/>
            </a:pPr>
            <a:r>
              <a:rPr lang="en-US" b="true" sz="1800">
                <a:solidFill>
                  <a:srgbClr val="FFFFFF"/>
                </a:solidFill>
                <a:latin typeface="Poppins Bold"/>
                <a:ea typeface="Poppins Bold"/>
                <a:cs typeface="Poppins Bold"/>
                <a:sym typeface="Poppins Bold"/>
              </a:rPr>
              <a:t>0.3764 PX   MEDIAN ERROR — REFERENCE</a:t>
            </a:r>
          </a:p>
          <a:p>
            <a:pPr algn="l">
              <a:lnSpc>
                <a:spcPts val="1512"/>
              </a:lnSpc>
            </a:pPr>
          </a:p>
          <a:p>
            <a:pPr algn="l" marL="388620" indent="-194310" lvl="1">
              <a:lnSpc>
                <a:spcPts val="1512"/>
              </a:lnSpc>
              <a:buFont typeface="Arial"/>
              <a:buChar char="•"/>
            </a:pPr>
            <a:r>
              <a:rPr lang="en-US" b="true" sz="1800">
                <a:solidFill>
                  <a:srgbClr val="FFFFFF"/>
                </a:solidFill>
                <a:latin typeface="Poppins Bold"/>
                <a:ea typeface="Poppins Bold"/>
                <a:cs typeface="Poppins Bold"/>
                <a:sym typeface="Poppins Bold"/>
              </a:rPr>
              <a:t>97.85 / 100   HEAVY STRESS SCORE</a:t>
            </a:r>
          </a:p>
        </p:txBody>
      </p:sp>
      <p:sp>
        <p:nvSpPr>
          <p:cNvPr name="TextBox 61" id="61"/>
          <p:cNvSpPr txBox="true"/>
          <p:nvPr/>
        </p:nvSpPr>
        <p:spPr>
          <a:xfrm rot="0">
            <a:off x="12415905" y="2199564"/>
            <a:ext cx="3172460" cy="285750"/>
          </a:xfrm>
          <a:prstGeom prst="rect">
            <a:avLst/>
          </a:prstGeom>
        </p:spPr>
        <p:txBody>
          <a:bodyPr anchor="t" rtlCol="false" tIns="0" lIns="0" bIns="0" rIns="0">
            <a:spAutoFit/>
          </a:bodyPr>
          <a:lstStyle/>
          <a:p>
            <a:pPr algn="ctr">
              <a:lnSpc>
                <a:spcPts val="2160"/>
              </a:lnSpc>
              <a:spcBef>
                <a:spcPct val="0"/>
              </a:spcBef>
            </a:pPr>
            <a:r>
              <a:rPr lang="en-US" b="true" sz="1800">
                <a:solidFill>
                  <a:srgbClr val="FFFFFF"/>
                </a:solidFill>
                <a:latin typeface="Poppins Bold"/>
                <a:ea typeface="Poppins Bold"/>
                <a:cs typeface="Poppins Bold"/>
                <a:sym typeface="Poppins Bold"/>
              </a:rPr>
              <a:t>FINAL BENCHMARK RESULTS</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543" cy="10287000"/>
            <a:chOff x="0" y="0"/>
            <a:chExt cx="24383390" cy="13716000"/>
          </a:xfrm>
        </p:grpSpPr>
        <p:sp>
          <p:nvSpPr>
            <p:cNvPr name="Freeform 3" id="3"/>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close/>
                </a:path>
              </a:pathLst>
            </a:custGeom>
            <a:solidFill>
              <a:srgbClr val="000036"/>
            </a:solidFill>
          </p:spPr>
        </p:sp>
      </p:grpSp>
      <p:grpSp>
        <p:nvGrpSpPr>
          <p:cNvPr name="Group 4" id="4"/>
          <p:cNvGrpSpPr/>
          <p:nvPr/>
        </p:nvGrpSpPr>
        <p:grpSpPr>
          <a:xfrm rot="0">
            <a:off x="0" y="0"/>
            <a:ext cx="18287543" cy="10287000"/>
            <a:chOff x="0" y="0"/>
            <a:chExt cx="24383390" cy="13716000"/>
          </a:xfrm>
        </p:grpSpPr>
        <p:sp>
          <p:nvSpPr>
            <p:cNvPr name="Freeform 5" id="5" descr="preencoded.png"/>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lnTo>
                    <a:pt x="0" y="0"/>
                  </a:lnTo>
                  <a:close/>
                </a:path>
              </a:pathLst>
            </a:custGeom>
            <a:blipFill>
              <a:blip r:embed="rId2">
                <a:alphaModFix amt="15000"/>
              </a:blip>
              <a:stretch>
                <a:fillRect l="-16360" t="0" r="-16361" b="0"/>
              </a:stretch>
            </a:blipFill>
          </p:spPr>
        </p:sp>
      </p:grpSp>
      <p:grpSp>
        <p:nvGrpSpPr>
          <p:cNvPr name="Group 6" id="6"/>
          <p:cNvGrpSpPr/>
          <p:nvPr/>
        </p:nvGrpSpPr>
        <p:grpSpPr>
          <a:xfrm rot="0">
            <a:off x="857250" y="429311"/>
            <a:ext cx="16573043" cy="999896"/>
            <a:chOff x="0" y="0"/>
            <a:chExt cx="22097390" cy="1333195"/>
          </a:xfrm>
        </p:grpSpPr>
        <p:sp>
          <p:nvSpPr>
            <p:cNvPr name="Freeform 7" id="7"/>
            <p:cNvSpPr/>
            <p:nvPr/>
          </p:nvSpPr>
          <p:spPr>
            <a:xfrm flipH="false" flipV="false" rot="0">
              <a:off x="0" y="0"/>
              <a:ext cx="22097364" cy="1333246"/>
            </a:xfrm>
            <a:custGeom>
              <a:avLst/>
              <a:gdLst/>
              <a:ahLst/>
              <a:cxnLst/>
              <a:rect r="r" b="b" t="t" l="l"/>
              <a:pathLst>
                <a:path h="1333246" w="22097364">
                  <a:moveTo>
                    <a:pt x="0" y="209042"/>
                  </a:moveTo>
                  <a:cubicBezTo>
                    <a:pt x="0" y="93599"/>
                    <a:pt x="93599" y="0"/>
                    <a:pt x="209042" y="0"/>
                  </a:cubicBezTo>
                  <a:lnTo>
                    <a:pt x="21888323" y="0"/>
                  </a:lnTo>
                  <a:cubicBezTo>
                    <a:pt x="22003765" y="0"/>
                    <a:pt x="22097364" y="93599"/>
                    <a:pt x="22097364" y="209042"/>
                  </a:cubicBezTo>
                  <a:lnTo>
                    <a:pt x="22097364" y="1124204"/>
                  </a:lnTo>
                  <a:cubicBezTo>
                    <a:pt x="22097364" y="1239647"/>
                    <a:pt x="22003765" y="1333246"/>
                    <a:pt x="21888323" y="1333246"/>
                  </a:cubicBezTo>
                  <a:lnTo>
                    <a:pt x="209042" y="1333246"/>
                  </a:lnTo>
                  <a:cubicBezTo>
                    <a:pt x="93599" y="1333246"/>
                    <a:pt x="0" y="1239647"/>
                    <a:pt x="0" y="1124204"/>
                  </a:cubicBezTo>
                  <a:close/>
                </a:path>
              </a:pathLst>
            </a:custGeom>
            <a:solidFill>
              <a:srgbClr val="FFFFFF">
                <a:alpha val="90196"/>
              </a:srgbClr>
            </a:solidFill>
          </p:spPr>
        </p:sp>
      </p:grpSp>
      <p:grpSp>
        <p:nvGrpSpPr>
          <p:cNvPr name="Group 8" id="8"/>
          <p:cNvGrpSpPr/>
          <p:nvPr/>
        </p:nvGrpSpPr>
        <p:grpSpPr>
          <a:xfrm rot="0">
            <a:off x="16287750" y="571957"/>
            <a:ext cx="714604" cy="714604"/>
            <a:chOff x="0" y="0"/>
            <a:chExt cx="952805" cy="952805"/>
          </a:xfrm>
        </p:grpSpPr>
        <p:sp>
          <p:nvSpPr>
            <p:cNvPr name="Freeform 9" id="9" descr="preencoded.png"/>
            <p:cNvSpPr/>
            <p:nvPr/>
          </p:nvSpPr>
          <p:spPr>
            <a:xfrm flipH="false" flipV="false" rot="0">
              <a:off x="0" y="0"/>
              <a:ext cx="952754" cy="952754"/>
            </a:xfrm>
            <a:custGeom>
              <a:avLst/>
              <a:gdLst/>
              <a:ahLst/>
              <a:cxnLst/>
              <a:rect r="r" b="b" t="t" l="l"/>
              <a:pathLst>
                <a:path h="952754" w="952754">
                  <a:moveTo>
                    <a:pt x="0" y="0"/>
                  </a:moveTo>
                  <a:lnTo>
                    <a:pt x="952754" y="0"/>
                  </a:lnTo>
                  <a:lnTo>
                    <a:pt x="952754" y="952754"/>
                  </a:lnTo>
                  <a:lnTo>
                    <a:pt x="0" y="952754"/>
                  </a:lnTo>
                  <a:lnTo>
                    <a:pt x="0" y="0"/>
                  </a:lnTo>
                  <a:close/>
                </a:path>
              </a:pathLst>
            </a:custGeom>
            <a:blipFill>
              <a:blip r:embed="rId3"/>
              <a:stretch>
                <a:fillRect l="0" t="0" r="-5" b="-5"/>
              </a:stretch>
            </a:blipFill>
          </p:spPr>
        </p:sp>
      </p:grpSp>
      <p:grpSp>
        <p:nvGrpSpPr>
          <p:cNvPr name="Group 10" id="10"/>
          <p:cNvGrpSpPr/>
          <p:nvPr/>
        </p:nvGrpSpPr>
        <p:grpSpPr>
          <a:xfrm rot="0">
            <a:off x="1137533" y="571957"/>
            <a:ext cx="8618220" cy="701040"/>
            <a:chOff x="0" y="0"/>
            <a:chExt cx="11490960" cy="934720"/>
          </a:xfrm>
        </p:grpSpPr>
        <p:sp>
          <p:nvSpPr>
            <p:cNvPr name="Freeform 11" id="11"/>
            <p:cNvSpPr/>
            <p:nvPr/>
          </p:nvSpPr>
          <p:spPr>
            <a:xfrm flipH="false" flipV="false" rot="0">
              <a:off x="0" y="0"/>
              <a:ext cx="11490960" cy="934720"/>
            </a:xfrm>
            <a:custGeom>
              <a:avLst/>
              <a:gdLst/>
              <a:ahLst/>
              <a:cxnLst/>
              <a:rect r="r" b="b" t="t" l="l"/>
              <a:pathLst>
                <a:path h="934720" w="11490960">
                  <a:moveTo>
                    <a:pt x="0" y="0"/>
                  </a:moveTo>
                  <a:lnTo>
                    <a:pt x="11490960" y="0"/>
                  </a:lnTo>
                  <a:lnTo>
                    <a:pt x="11490960" y="934720"/>
                  </a:lnTo>
                  <a:lnTo>
                    <a:pt x="0" y="934720"/>
                  </a:lnTo>
                  <a:lnTo>
                    <a:pt x="0" y="0"/>
                  </a:lnTo>
                  <a:close/>
                </a:path>
              </a:pathLst>
            </a:custGeom>
            <a:blipFill>
              <a:blip r:embed="rId4"/>
              <a:stretch>
                <a:fillRect l="-11" t="0" r="-11" b="0"/>
              </a:stretch>
            </a:blipFill>
          </p:spPr>
        </p:sp>
      </p:grpSp>
      <p:grpSp>
        <p:nvGrpSpPr>
          <p:cNvPr name="Group 12" id="12"/>
          <p:cNvGrpSpPr/>
          <p:nvPr/>
        </p:nvGrpSpPr>
        <p:grpSpPr>
          <a:xfrm rot="0">
            <a:off x="0" y="0"/>
            <a:ext cx="18287543" cy="10287000"/>
            <a:chOff x="0" y="0"/>
            <a:chExt cx="24383390" cy="13716000"/>
          </a:xfrm>
        </p:grpSpPr>
        <p:sp>
          <p:nvSpPr>
            <p:cNvPr name="Freeform 13" id="13"/>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close/>
                </a:path>
              </a:pathLst>
            </a:custGeom>
            <a:solidFill>
              <a:srgbClr val="000036"/>
            </a:solidFill>
          </p:spPr>
        </p:sp>
      </p:grpSp>
      <p:grpSp>
        <p:nvGrpSpPr>
          <p:cNvPr name="Group 14" id="14"/>
          <p:cNvGrpSpPr/>
          <p:nvPr/>
        </p:nvGrpSpPr>
        <p:grpSpPr>
          <a:xfrm rot="0">
            <a:off x="19050" y="0"/>
            <a:ext cx="18287543" cy="10287000"/>
            <a:chOff x="0" y="0"/>
            <a:chExt cx="24383390" cy="13716000"/>
          </a:xfrm>
        </p:grpSpPr>
        <p:sp>
          <p:nvSpPr>
            <p:cNvPr name="Freeform 15" id="15" descr="preencoded.png"/>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lnTo>
                    <a:pt x="0" y="0"/>
                  </a:lnTo>
                  <a:close/>
                </a:path>
              </a:pathLst>
            </a:custGeom>
            <a:blipFill>
              <a:blip r:embed="rId2">
                <a:alphaModFix amt="9999"/>
              </a:blip>
              <a:stretch>
                <a:fillRect l="-16360" t="0" r="-16361" b="0"/>
              </a:stretch>
            </a:blipFill>
          </p:spPr>
        </p:sp>
      </p:grpSp>
      <p:grpSp>
        <p:nvGrpSpPr>
          <p:cNvPr name="Group 16" id="16"/>
          <p:cNvGrpSpPr/>
          <p:nvPr/>
        </p:nvGrpSpPr>
        <p:grpSpPr>
          <a:xfrm rot="0">
            <a:off x="857250" y="429311"/>
            <a:ext cx="16573043" cy="921982"/>
            <a:chOff x="0" y="0"/>
            <a:chExt cx="22097390" cy="1229309"/>
          </a:xfrm>
        </p:grpSpPr>
        <p:sp>
          <p:nvSpPr>
            <p:cNvPr name="Freeform 17" id="17"/>
            <p:cNvSpPr/>
            <p:nvPr/>
          </p:nvSpPr>
          <p:spPr>
            <a:xfrm flipH="false" flipV="false" rot="0">
              <a:off x="0" y="0"/>
              <a:ext cx="22097364" cy="1229360"/>
            </a:xfrm>
            <a:custGeom>
              <a:avLst/>
              <a:gdLst/>
              <a:ahLst/>
              <a:cxnLst/>
              <a:rect r="r" b="b" t="t" l="l"/>
              <a:pathLst>
                <a:path h="1229360" w="22097364">
                  <a:moveTo>
                    <a:pt x="0" y="192753"/>
                  </a:moveTo>
                  <a:cubicBezTo>
                    <a:pt x="0" y="86306"/>
                    <a:pt x="93599" y="0"/>
                    <a:pt x="209042" y="0"/>
                  </a:cubicBezTo>
                  <a:lnTo>
                    <a:pt x="21888323" y="0"/>
                  </a:lnTo>
                  <a:cubicBezTo>
                    <a:pt x="22003765" y="0"/>
                    <a:pt x="22097364" y="86306"/>
                    <a:pt x="22097364" y="192753"/>
                  </a:cubicBezTo>
                  <a:lnTo>
                    <a:pt x="22097364" y="1036603"/>
                  </a:lnTo>
                  <a:cubicBezTo>
                    <a:pt x="22097364" y="1143050"/>
                    <a:pt x="22003765" y="1229360"/>
                    <a:pt x="21888323" y="1229360"/>
                  </a:cubicBezTo>
                  <a:lnTo>
                    <a:pt x="209042" y="1229360"/>
                  </a:lnTo>
                  <a:cubicBezTo>
                    <a:pt x="93599" y="1229360"/>
                    <a:pt x="0" y="1143050"/>
                    <a:pt x="0" y="1036603"/>
                  </a:cubicBezTo>
                  <a:close/>
                </a:path>
              </a:pathLst>
            </a:custGeom>
            <a:solidFill>
              <a:srgbClr val="FFFFFF">
                <a:alpha val="90196"/>
              </a:srgbClr>
            </a:solidFill>
          </p:spPr>
        </p:sp>
      </p:grpSp>
      <p:grpSp>
        <p:nvGrpSpPr>
          <p:cNvPr name="Group 18" id="18"/>
          <p:cNvGrpSpPr/>
          <p:nvPr/>
        </p:nvGrpSpPr>
        <p:grpSpPr>
          <a:xfrm rot="0">
            <a:off x="1286561" y="571957"/>
            <a:ext cx="1899666" cy="714604"/>
            <a:chOff x="0" y="0"/>
            <a:chExt cx="2532888" cy="952805"/>
          </a:xfrm>
        </p:grpSpPr>
        <p:sp>
          <p:nvSpPr>
            <p:cNvPr name="Freeform 19" id="19" descr="preencoded.png"/>
            <p:cNvSpPr/>
            <p:nvPr/>
          </p:nvSpPr>
          <p:spPr>
            <a:xfrm flipH="false" flipV="false" rot="0">
              <a:off x="0" y="0"/>
              <a:ext cx="2532888" cy="952754"/>
            </a:xfrm>
            <a:custGeom>
              <a:avLst/>
              <a:gdLst/>
              <a:ahLst/>
              <a:cxnLst/>
              <a:rect r="r" b="b" t="t" l="l"/>
              <a:pathLst>
                <a:path h="952754" w="2532888">
                  <a:moveTo>
                    <a:pt x="0" y="0"/>
                  </a:moveTo>
                  <a:lnTo>
                    <a:pt x="2532888" y="0"/>
                  </a:lnTo>
                  <a:lnTo>
                    <a:pt x="2532888" y="952754"/>
                  </a:lnTo>
                  <a:lnTo>
                    <a:pt x="0" y="952754"/>
                  </a:lnTo>
                  <a:lnTo>
                    <a:pt x="0" y="0"/>
                  </a:lnTo>
                  <a:close/>
                </a:path>
              </a:pathLst>
            </a:custGeom>
            <a:blipFill>
              <a:blip r:embed="rId5"/>
              <a:stretch>
                <a:fillRect l="0" t="-10" r="0" b="-14"/>
              </a:stretch>
            </a:blipFill>
          </p:spPr>
        </p:sp>
      </p:grpSp>
      <p:grpSp>
        <p:nvGrpSpPr>
          <p:cNvPr name="Group 20" id="20"/>
          <p:cNvGrpSpPr/>
          <p:nvPr/>
        </p:nvGrpSpPr>
        <p:grpSpPr>
          <a:xfrm rot="0">
            <a:off x="16287750" y="571957"/>
            <a:ext cx="714604" cy="714604"/>
            <a:chOff x="0" y="0"/>
            <a:chExt cx="952805" cy="952805"/>
          </a:xfrm>
        </p:grpSpPr>
        <p:sp>
          <p:nvSpPr>
            <p:cNvPr name="Freeform 21" id="21" descr="preencoded.png"/>
            <p:cNvSpPr/>
            <p:nvPr/>
          </p:nvSpPr>
          <p:spPr>
            <a:xfrm flipH="false" flipV="false" rot="0">
              <a:off x="0" y="0"/>
              <a:ext cx="952754" cy="952754"/>
            </a:xfrm>
            <a:custGeom>
              <a:avLst/>
              <a:gdLst/>
              <a:ahLst/>
              <a:cxnLst/>
              <a:rect r="r" b="b" t="t" l="l"/>
              <a:pathLst>
                <a:path h="952754" w="952754">
                  <a:moveTo>
                    <a:pt x="0" y="0"/>
                  </a:moveTo>
                  <a:lnTo>
                    <a:pt x="952754" y="0"/>
                  </a:lnTo>
                  <a:lnTo>
                    <a:pt x="952754" y="952754"/>
                  </a:lnTo>
                  <a:lnTo>
                    <a:pt x="0" y="952754"/>
                  </a:lnTo>
                  <a:lnTo>
                    <a:pt x="0" y="0"/>
                  </a:lnTo>
                  <a:close/>
                </a:path>
              </a:pathLst>
            </a:custGeom>
            <a:blipFill>
              <a:blip r:embed="rId3"/>
              <a:stretch>
                <a:fillRect l="0" t="0" r="-5" b="-5"/>
              </a:stretch>
            </a:blipFill>
          </p:spPr>
        </p:sp>
      </p:grpSp>
      <p:grpSp>
        <p:nvGrpSpPr>
          <p:cNvPr name="Group 22" id="22"/>
          <p:cNvGrpSpPr/>
          <p:nvPr/>
        </p:nvGrpSpPr>
        <p:grpSpPr>
          <a:xfrm rot="0">
            <a:off x="962025" y="1419682"/>
            <a:ext cx="113843" cy="614477"/>
            <a:chOff x="0" y="0"/>
            <a:chExt cx="151790" cy="819302"/>
          </a:xfrm>
        </p:grpSpPr>
        <p:sp>
          <p:nvSpPr>
            <p:cNvPr name="Freeform 23" id="23"/>
            <p:cNvSpPr/>
            <p:nvPr/>
          </p:nvSpPr>
          <p:spPr>
            <a:xfrm flipH="false" flipV="false" rot="0">
              <a:off x="0" y="0"/>
              <a:ext cx="151765" cy="819277"/>
            </a:xfrm>
            <a:custGeom>
              <a:avLst/>
              <a:gdLst/>
              <a:ahLst/>
              <a:cxnLst/>
              <a:rect r="r" b="b" t="t" l="l"/>
              <a:pathLst>
                <a:path h="819277" w="151765">
                  <a:moveTo>
                    <a:pt x="0" y="0"/>
                  </a:moveTo>
                  <a:lnTo>
                    <a:pt x="151765" y="0"/>
                  </a:lnTo>
                  <a:lnTo>
                    <a:pt x="151765" y="819277"/>
                  </a:lnTo>
                  <a:lnTo>
                    <a:pt x="0" y="819277"/>
                  </a:lnTo>
                  <a:close/>
                </a:path>
              </a:pathLst>
            </a:custGeom>
            <a:solidFill>
              <a:srgbClr val="88E555"/>
            </a:solidFill>
          </p:spPr>
        </p:sp>
      </p:grpSp>
      <p:grpSp>
        <p:nvGrpSpPr>
          <p:cNvPr name="Group 24" id="24"/>
          <p:cNvGrpSpPr/>
          <p:nvPr/>
        </p:nvGrpSpPr>
        <p:grpSpPr>
          <a:xfrm rot="0">
            <a:off x="1137533" y="1225525"/>
            <a:ext cx="15803741" cy="967969"/>
            <a:chOff x="0" y="0"/>
            <a:chExt cx="21071654" cy="1290625"/>
          </a:xfrm>
        </p:grpSpPr>
        <p:sp>
          <p:nvSpPr>
            <p:cNvPr name="Freeform 25" id="25"/>
            <p:cNvSpPr/>
            <p:nvPr/>
          </p:nvSpPr>
          <p:spPr>
            <a:xfrm flipH="false" flipV="false" rot="0">
              <a:off x="0" y="0"/>
              <a:ext cx="21071655" cy="1290624"/>
            </a:xfrm>
            <a:custGeom>
              <a:avLst/>
              <a:gdLst/>
              <a:ahLst/>
              <a:cxnLst/>
              <a:rect r="r" b="b" t="t" l="l"/>
              <a:pathLst>
                <a:path h="1290624" w="21071655">
                  <a:moveTo>
                    <a:pt x="0" y="0"/>
                  </a:moveTo>
                  <a:lnTo>
                    <a:pt x="21071655" y="0"/>
                  </a:lnTo>
                  <a:lnTo>
                    <a:pt x="21071655" y="1290624"/>
                  </a:lnTo>
                  <a:lnTo>
                    <a:pt x="0" y="1290624"/>
                  </a:lnTo>
                  <a:close/>
                </a:path>
              </a:pathLst>
            </a:custGeom>
            <a:blipFill>
              <a:blip r:embed="rId6">
                <a:alphaModFix amt="0"/>
              </a:blip>
              <a:stretch>
                <a:fillRect l="0" t="-103420" r="56110" b="-75828"/>
              </a:stretch>
            </a:blipFill>
          </p:spPr>
        </p:sp>
        <p:sp>
          <p:nvSpPr>
            <p:cNvPr name="TextBox 26" id="26"/>
            <p:cNvSpPr txBox="true"/>
            <p:nvPr/>
          </p:nvSpPr>
          <p:spPr>
            <a:xfrm>
              <a:off x="0" y="-38100"/>
              <a:ext cx="21071654" cy="1328725"/>
            </a:xfrm>
            <a:prstGeom prst="rect">
              <a:avLst/>
            </a:prstGeom>
          </p:spPr>
          <p:txBody>
            <a:bodyPr anchor="ctr" rtlCol="false" tIns="0" lIns="0" bIns="0" rIns="0"/>
            <a:lstStyle/>
            <a:p>
              <a:pPr algn="l">
                <a:lnSpc>
                  <a:spcPts val="4680"/>
                </a:lnSpc>
              </a:pPr>
              <a:r>
                <a:rPr lang="en-US" sz="3900" b="true">
                  <a:solidFill>
                    <a:srgbClr val="FFFFFF"/>
                  </a:solidFill>
                  <a:latin typeface="Poppins Bold"/>
                  <a:ea typeface="Poppins Bold"/>
                  <a:cs typeface="Poppins Bold"/>
                  <a:sym typeface="Poppins Bold"/>
                </a:rPr>
                <a:t>ROBUSTNESS &amp; METHOD COMPARISON</a:t>
              </a:r>
            </a:p>
          </p:txBody>
        </p:sp>
      </p:grpSp>
      <p:grpSp>
        <p:nvGrpSpPr>
          <p:cNvPr name="Group 27" id="27"/>
          <p:cNvGrpSpPr/>
          <p:nvPr/>
        </p:nvGrpSpPr>
        <p:grpSpPr>
          <a:xfrm rot="0">
            <a:off x="866775" y="2107997"/>
            <a:ext cx="16899384" cy="8058046"/>
            <a:chOff x="0" y="0"/>
            <a:chExt cx="22532513" cy="10744061"/>
          </a:xfrm>
        </p:grpSpPr>
        <p:sp>
          <p:nvSpPr>
            <p:cNvPr name="Freeform 28" id="28"/>
            <p:cNvSpPr/>
            <p:nvPr/>
          </p:nvSpPr>
          <p:spPr>
            <a:xfrm flipH="false" flipV="false" rot="0">
              <a:off x="0" y="0"/>
              <a:ext cx="22532614" cy="10744163"/>
            </a:xfrm>
            <a:custGeom>
              <a:avLst/>
              <a:gdLst/>
              <a:ahLst/>
              <a:cxnLst/>
              <a:rect r="r" b="b" t="t" l="l"/>
              <a:pathLst>
                <a:path h="10744163" w="22532614">
                  <a:moveTo>
                    <a:pt x="0" y="66552"/>
                  </a:moveTo>
                  <a:cubicBezTo>
                    <a:pt x="0" y="29834"/>
                    <a:pt x="26905" y="0"/>
                    <a:pt x="60019" y="0"/>
                  </a:cubicBezTo>
                  <a:lnTo>
                    <a:pt x="22472596" y="0"/>
                  </a:lnTo>
                  <a:cubicBezTo>
                    <a:pt x="22505712" y="0"/>
                    <a:pt x="22532614" y="29834"/>
                    <a:pt x="22532614" y="66552"/>
                  </a:cubicBezTo>
                  <a:lnTo>
                    <a:pt x="22532614" y="10677623"/>
                  </a:lnTo>
                  <a:cubicBezTo>
                    <a:pt x="22532614" y="10714342"/>
                    <a:pt x="22505712" y="10744163"/>
                    <a:pt x="22472596" y="10744163"/>
                  </a:cubicBezTo>
                  <a:lnTo>
                    <a:pt x="60019" y="10744163"/>
                  </a:lnTo>
                  <a:cubicBezTo>
                    <a:pt x="26905" y="10744033"/>
                    <a:pt x="0" y="10714342"/>
                    <a:pt x="0" y="10677623"/>
                  </a:cubicBezTo>
                  <a:close/>
                </a:path>
              </a:pathLst>
            </a:custGeom>
            <a:solidFill>
              <a:srgbClr val="FFFFFF">
                <a:alpha val="0"/>
              </a:srgbClr>
            </a:solidFill>
            <a:ln w="19050" cap="sq">
              <a:solidFill>
                <a:srgbClr val="88E555"/>
              </a:solidFill>
              <a:prstDash val="solid"/>
              <a:miter/>
            </a:ln>
          </p:spPr>
        </p:sp>
      </p:grpSp>
      <p:grpSp>
        <p:nvGrpSpPr>
          <p:cNvPr name="Group 29" id="29"/>
          <p:cNvGrpSpPr/>
          <p:nvPr/>
        </p:nvGrpSpPr>
        <p:grpSpPr>
          <a:xfrm rot="0">
            <a:off x="838200" y="2107997"/>
            <a:ext cx="342443" cy="342443"/>
            <a:chOff x="0" y="0"/>
            <a:chExt cx="456590" cy="456590"/>
          </a:xfrm>
        </p:grpSpPr>
        <p:sp>
          <p:nvSpPr>
            <p:cNvPr name="Freeform 30" id="30"/>
            <p:cNvSpPr/>
            <p:nvPr/>
          </p:nvSpPr>
          <p:spPr>
            <a:xfrm flipH="false" flipV="false" rot="0">
              <a:off x="0" y="0"/>
              <a:ext cx="456565" cy="456565"/>
            </a:xfrm>
            <a:custGeom>
              <a:avLst/>
              <a:gdLst/>
              <a:ahLst/>
              <a:cxnLst/>
              <a:rect r="r" b="b" t="t" l="l"/>
              <a:pathLst>
                <a:path h="456565" w="456565">
                  <a:moveTo>
                    <a:pt x="0" y="228346"/>
                  </a:moveTo>
                  <a:cubicBezTo>
                    <a:pt x="0" y="102235"/>
                    <a:pt x="102235" y="0"/>
                    <a:pt x="228346" y="0"/>
                  </a:cubicBezTo>
                  <a:cubicBezTo>
                    <a:pt x="354457" y="0"/>
                    <a:pt x="456565" y="102235"/>
                    <a:pt x="456565" y="228346"/>
                  </a:cubicBezTo>
                  <a:cubicBezTo>
                    <a:pt x="456565" y="354457"/>
                    <a:pt x="354330" y="456565"/>
                    <a:pt x="228346" y="456565"/>
                  </a:cubicBezTo>
                  <a:cubicBezTo>
                    <a:pt x="102362" y="456565"/>
                    <a:pt x="0" y="354330"/>
                    <a:pt x="0" y="228346"/>
                  </a:cubicBezTo>
                  <a:close/>
                </a:path>
              </a:pathLst>
            </a:custGeom>
            <a:blipFill>
              <a:blip r:embed="rId6">
                <a:alphaModFix amt="0"/>
              </a:blip>
              <a:stretch>
                <a:fillRect l="-78307" t="0" r="-78313" b="-5"/>
              </a:stretch>
            </a:blipFill>
            <a:ln w="57150" cap="sq">
              <a:solidFill>
                <a:srgbClr val="88E555"/>
              </a:solidFill>
              <a:prstDash val="solid"/>
              <a:miter/>
            </a:ln>
          </p:spPr>
        </p:sp>
      </p:grpSp>
      <p:grpSp>
        <p:nvGrpSpPr>
          <p:cNvPr name="Group 31" id="31"/>
          <p:cNvGrpSpPr/>
          <p:nvPr/>
        </p:nvGrpSpPr>
        <p:grpSpPr>
          <a:xfrm rot="0">
            <a:off x="17116425" y="2364943"/>
            <a:ext cx="342443" cy="342443"/>
            <a:chOff x="0" y="0"/>
            <a:chExt cx="456590" cy="456590"/>
          </a:xfrm>
        </p:grpSpPr>
        <p:sp>
          <p:nvSpPr>
            <p:cNvPr name="Freeform 32" id="32"/>
            <p:cNvSpPr/>
            <p:nvPr/>
          </p:nvSpPr>
          <p:spPr>
            <a:xfrm flipH="false" flipV="false" rot="0">
              <a:off x="0" y="0"/>
              <a:ext cx="456565" cy="456565"/>
            </a:xfrm>
            <a:custGeom>
              <a:avLst/>
              <a:gdLst/>
              <a:ahLst/>
              <a:cxnLst/>
              <a:rect r="r" b="b" t="t" l="l"/>
              <a:pathLst>
                <a:path h="456565" w="456565">
                  <a:moveTo>
                    <a:pt x="0" y="0"/>
                  </a:moveTo>
                  <a:lnTo>
                    <a:pt x="456565" y="0"/>
                  </a:lnTo>
                  <a:lnTo>
                    <a:pt x="456565" y="456565"/>
                  </a:lnTo>
                  <a:lnTo>
                    <a:pt x="0" y="456565"/>
                  </a:lnTo>
                  <a:close/>
                </a:path>
              </a:pathLst>
            </a:custGeom>
            <a:blipFill>
              <a:blip r:embed="rId6">
                <a:alphaModFix amt="0"/>
              </a:blip>
              <a:stretch>
                <a:fillRect l="-78307" t="0" r="-78313" b="-5"/>
              </a:stretch>
            </a:blipFill>
            <a:ln w="57150" cap="sq">
              <a:solidFill>
                <a:srgbClr val="88E555"/>
              </a:solidFill>
              <a:prstDash val="solid"/>
              <a:miter/>
            </a:ln>
          </p:spPr>
        </p:sp>
      </p:grpSp>
      <p:grpSp>
        <p:nvGrpSpPr>
          <p:cNvPr name="Group 33" id="33"/>
          <p:cNvGrpSpPr/>
          <p:nvPr/>
        </p:nvGrpSpPr>
        <p:grpSpPr>
          <a:xfrm rot="0">
            <a:off x="857479" y="9806912"/>
            <a:ext cx="342443" cy="342443"/>
            <a:chOff x="0" y="0"/>
            <a:chExt cx="456590" cy="456590"/>
          </a:xfrm>
        </p:grpSpPr>
        <p:sp>
          <p:nvSpPr>
            <p:cNvPr name="Freeform 34" id="34"/>
            <p:cNvSpPr/>
            <p:nvPr/>
          </p:nvSpPr>
          <p:spPr>
            <a:xfrm flipH="false" flipV="false" rot="0">
              <a:off x="0" y="0"/>
              <a:ext cx="456565" cy="456565"/>
            </a:xfrm>
            <a:custGeom>
              <a:avLst/>
              <a:gdLst/>
              <a:ahLst/>
              <a:cxnLst/>
              <a:rect r="r" b="b" t="t" l="l"/>
              <a:pathLst>
                <a:path h="456565" w="456565">
                  <a:moveTo>
                    <a:pt x="0" y="0"/>
                  </a:moveTo>
                  <a:lnTo>
                    <a:pt x="456565" y="0"/>
                  </a:lnTo>
                  <a:lnTo>
                    <a:pt x="456565" y="456565"/>
                  </a:lnTo>
                  <a:lnTo>
                    <a:pt x="0" y="456565"/>
                  </a:lnTo>
                  <a:close/>
                </a:path>
              </a:pathLst>
            </a:custGeom>
            <a:blipFill>
              <a:blip r:embed="rId6">
                <a:alphaModFix amt="0"/>
              </a:blip>
              <a:stretch>
                <a:fillRect l="-78307" t="0" r="-78313" b="-5"/>
              </a:stretch>
            </a:blipFill>
            <a:ln w="57150" cap="sq">
              <a:solidFill>
                <a:srgbClr val="88E555"/>
              </a:solidFill>
              <a:prstDash val="solid"/>
              <a:miter/>
            </a:ln>
          </p:spPr>
        </p:sp>
      </p:grpSp>
      <p:grpSp>
        <p:nvGrpSpPr>
          <p:cNvPr name="Group 35" id="35"/>
          <p:cNvGrpSpPr/>
          <p:nvPr/>
        </p:nvGrpSpPr>
        <p:grpSpPr>
          <a:xfrm rot="0">
            <a:off x="17087850" y="9816437"/>
            <a:ext cx="342443" cy="342443"/>
            <a:chOff x="0" y="0"/>
            <a:chExt cx="456590" cy="456590"/>
          </a:xfrm>
        </p:grpSpPr>
        <p:sp>
          <p:nvSpPr>
            <p:cNvPr name="Freeform 36" id="36"/>
            <p:cNvSpPr/>
            <p:nvPr/>
          </p:nvSpPr>
          <p:spPr>
            <a:xfrm flipH="false" flipV="false" rot="0">
              <a:off x="0" y="0"/>
              <a:ext cx="456565" cy="456565"/>
            </a:xfrm>
            <a:custGeom>
              <a:avLst/>
              <a:gdLst/>
              <a:ahLst/>
              <a:cxnLst/>
              <a:rect r="r" b="b" t="t" l="l"/>
              <a:pathLst>
                <a:path h="456565" w="456565">
                  <a:moveTo>
                    <a:pt x="0" y="0"/>
                  </a:moveTo>
                  <a:lnTo>
                    <a:pt x="456565" y="0"/>
                  </a:lnTo>
                  <a:lnTo>
                    <a:pt x="456565" y="456565"/>
                  </a:lnTo>
                  <a:lnTo>
                    <a:pt x="0" y="456565"/>
                  </a:lnTo>
                  <a:close/>
                </a:path>
              </a:pathLst>
            </a:custGeom>
            <a:blipFill>
              <a:blip r:embed="rId6">
                <a:alphaModFix amt="0"/>
              </a:blip>
              <a:stretch>
                <a:fillRect l="-78307" t="0" r="-78313" b="-5"/>
              </a:stretch>
            </a:blipFill>
            <a:ln w="57150" cap="sq">
              <a:solidFill>
                <a:srgbClr val="88E555"/>
              </a:solidFill>
              <a:prstDash val="solid"/>
              <a:miter/>
            </a:ln>
          </p:spPr>
        </p:sp>
      </p:grpSp>
      <p:grpSp>
        <p:nvGrpSpPr>
          <p:cNvPr name="Group 37" id="37"/>
          <p:cNvGrpSpPr/>
          <p:nvPr/>
        </p:nvGrpSpPr>
        <p:grpSpPr>
          <a:xfrm rot="0">
            <a:off x="2685593" y="7848295"/>
            <a:ext cx="13916254" cy="13716"/>
            <a:chOff x="0" y="0"/>
            <a:chExt cx="18555005" cy="18288"/>
          </a:xfrm>
        </p:grpSpPr>
        <p:sp>
          <p:nvSpPr>
            <p:cNvPr name="Freeform 38" id="38"/>
            <p:cNvSpPr/>
            <p:nvPr/>
          </p:nvSpPr>
          <p:spPr>
            <a:xfrm flipH="false" flipV="false" rot="0">
              <a:off x="0" y="0"/>
              <a:ext cx="18554954" cy="18288"/>
            </a:xfrm>
            <a:custGeom>
              <a:avLst/>
              <a:gdLst/>
              <a:ahLst/>
              <a:cxnLst/>
              <a:rect r="r" b="b" t="t" l="l"/>
              <a:pathLst>
                <a:path h="18288" w="18554954">
                  <a:moveTo>
                    <a:pt x="0" y="0"/>
                  </a:moveTo>
                  <a:lnTo>
                    <a:pt x="18554954" y="0"/>
                  </a:lnTo>
                  <a:lnTo>
                    <a:pt x="18554954" y="18288"/>
                  </a:lnTo>
                  <a:lnTo>
                    <a:pt x="0" y="18288"/>
                  </a:lnTo>
                  <a:close/>
                </a:path>
              </a:pathLst>
            </a:custGeom>
            <a:solidFill>
              <a:srgbClr val="1E40AF">
                <a:alpha val="8627"/>
              </a:srgbClr>
            </a:solidFill>
          </p:spPr>
        </p:sp>
      </p:grpSp>
      <p:grpSp>
        <p:nvGrpSpPr>
          <p:cNvPr name="Group 39" id="39"/>
          <p:cNvGrpSpPr/>
          <p:nvPr/>
        </p:nvGrpSpPr>
        <p:grpSpPr>
          <a:xfrm rot="0">
            <a:off x="2685593" y="8491576"/>
            <a:ext cx="13916254" cy="13716"/>
            <a:chOff x="0" y="0"/>
            <a:chExt cx="18555005" cy="18288"/>
          </a:xfrm>
        </p:grpSpPr>
        <p:sp>
          <p:nvSpPr>
            <p:cNvPr name="Freeform 40" id="40"/>
            <p:cNvSpPr/>
            <p:nvPr/>
          </p:nvSpPr>
          <p:spPr>
            <a:xfrm flipH="false" flipV="false" rot="0">
              <a:off x="0" y="0"/>
              <a:ext cx="18554954" cy="18288"/>
            </a:xfrm>
            <a:custGeom>
              <a:avLst/>
              <a:gdLst/>
              <a:ahLst/>
              <a:cxnLst/>
              <a:rect r="r" b="b" t="t" l="l"/>
              <a:pathLst>
                <a:path h="18288" w="18554954">
                  <a:moveTo>
                    <a:pt x="0" y="0"/>
                  </a:moveTo>
                  <a:lnTo>
                    <a:pt x="18554954" y="0"/>
                  </a:lnTo>
                  <a:lnTo>
                    <a:pt x="18554954" y="18288"/>
                  </a:lnTo>
                  <a:lnTo>
                    <a:pt x="0" y="18288"/>
                  </a:lnTo>
                  <a:close/>
                </a:path>
              </a:pathLst>
            </a:custGeom>
            <a:solidFill>
              <a:srgbClr val="1E40AF">
                <a:alpha val="8627"/>
              </a:srgbClr>
            </a:solidFill>
          </p:spPr>
        </p:sp>
      </p:grpSp>
      <p:grpSp>
        <p:nvGrpSpPr>
          <p:cNvPr name="Group 41" id="41"/>
          <p:cNvGrpSpPr/>
          <p:nvPr/>
        </p:nvGrpSpPr>
        <p:grpSpPr>
          <a:xfrm rot="0">
            <a:off x="7938249" y="341566"/>
            <a:ext cx="2411054" cy="1175385"/>
            <a:chOff x="0" y="0"/>
            <a:chExt cx="3214738" cy="1567180"/>
          </a:xfrm>
        </p:grpSpPr>
        <p:sp>
          <p:nvSpPr>
            <p:cNvPr name="Freeform 42" id="42"/>
            <p:cNvSpPr/>
            <p:nvPr/>
          </p:nvSpPr>
          <p:spPr>
            <a:xfrm flipH="false" flipV="false" rot="0">
              <a:off x="0" y="0"/>
              <a:ext cx="3214751" cy="1567180"/>
            </a:xfrm>
            <a:custGeom>
              <a:avLst/>
              <a:gdLst/>
              <a:ahLst/>
              <a:cxnLst/>
              <a:rect r="r" b="b" t="t" l="l"/>
              <a:pathLst>
                <a:path h="1567180" w="3214751">
                  <a:moveTo>
                    <a:pt x="0" y="0"/>
                  </a:moveTo>
                  <a:lnTo>
                    <a:pt x="3214751" y="0"/>
                  </a:lnTo>
                  <a:lnTo>
                    <a:pt x="3214751" y="1567180"/>
                  </a:lnTo>
                  <a:lnTo>
                    <a:pt x="0" y="1567180"/>
                  </a:lnTo>
                  <a:lnTo>
                    <a:pt x="0" y="0"/>
                  </a:lnTo>
                  <a:close/>
                </a:path>
              </a:pathLst>
            </a:custGeom>
            <a:blipFill>
              <a:blip r:embed="rId7"/>
              <a:stretch>
                <a:fillRect l="0" t="0" r="0" b="0"/>
              </a:stretch>
            </a:blipFill>
          </p:spPr>
        </p:sp>
      </p:grpSp>
      <p:grpSp>
        <p:nvGrpSpPr>
          <p:cNvPr name="Group 43" id="43"/>
          <p:cNvGrpSpPr/>
          <p:nvPr/>
        </p:nvGrpSpPr>
        <p:grpSpPr>
          <a:xfrm rot="0">
            <a:off x="857250" y="64732"/>
            <a:ext cx="16573043" cy="1286561"/>
            <a:chOff x="0" y="0"/>
            <a:chExt cx="22097390" cy="1715414"/>
          </a:xfrm>
        </p:grpSpPr>
        <p:sp>
          <p:nvSpPr>
            <p:cNvPr name="Freeform 44" id="44"/>
            <p:cNvSpPr/>
            <p:nvPr/>
          </p:nvSpPr>
          <p:spPr>
            <a:xfrm flipH="false" flipV="false" rot="0">
              <a:off x="0" y="0"/>
              <a:ext cx="22097366" cy="1715389"/>
            </a:xfrm>
            <a:custGeom>
              <a:avLst/>
              <a:gdLst/>
              <a:ahLst/>
              <a:cxnLst/>
              <a:rect r="r" b="b" t="t" l="l"/>
              <a:pathLst>
                <a:path h="1715389" w="22097366">
                  <a:moveTo>
                    <a:pt x="0" y="162560"/>
                  </a:moveTo>
                  <a:cubicBezTo>
                    <a:pt x="0" y="72771"/>
                    <a:pt x="72771" y="0"/>
                    <a:pt x="162560" y="0"/>
                  </a:cubicBezTo>
                  <a:lnTo>
                    <a:pt x="21934805" y="0"/>
                  </a:lnTo>
                  <a:cubicBezTo>
                    <a:pt x="22024594" y="0"/>
                    <a:pt x="22097366" y="72771"/>
                    <a:pt x="22097366" y="162560"/>
                  </a:cubicBezTo>
                  <a:lnTo>
                    <a:pt x="22097366" y="1552829"/>
                  </a:lnTo>
                  <a:cubicBezTo>
                    <a:pt x="22097366" y="1642618"/>
                    <a:pt x="22024594" y="1715389"/>
                    <a:pt x="21934805" y="1715389"/>
                  </a:cubicBezTo>
                  <a:lnTo>
                    <a:pt x="162560" y="1715389"/>
                  </a:lnTo>
                  <a:cubicBezTo>
                    <a:pt x="72771" y="1715389"/>
                    <a:pt x="0" y="1642618"/>
                    <a:pt x="0" y="1552829"/>
                  </a:cubicBezTo>
                  <a:close/>
                </a:path>
              </a:pathLst>
            </a:custGeom>
            <a:solidFill>
              <a:srgbClr val="FFFFFF">
                <a:alpha val="90196"/>
              </a:srgbClr>
            </a:solidFill>
          </p:spPr>
        </p:sp>
      </p:grpSp>
      <p:grpSp>
        <p:nvGrpSpPr>
          <p:cNvPr name="Group 45" id="45"/>
          <p:cNvGrpSpPr/>
          <p:nvPr/>
        </p:nvGrpSpPr>
        <p:grpSpPr>
          <a:xfrm rot="0">
            <a:off x="2271151" y="260185"/>
            <a:ext cx="13745232" cy="879653"/>
            <a:chOff x="0" y="0"/>
            <a:chExt cx="18326976" cy="1172870"/>
          </a:xfrm>
        </p:grpSpPr>
        <p:sp>
          <p:nvSpPr>
            <p:cNvPr name="Freeform 46" id="46"/>
            <p:cNvSpPr/>
            <p:nvPr/>
          </p:nvSpPr>
          <p:spPr>
            <a:xfrm flipH="false" flipV="false" rot="0">
              <a:off x="0" y="0"/>
              <a:ext cx="18326988" cy="1172845"/>
            </a:xfrm>
            <a:custGeom>
              <a:avLst/>
              <a:gdLst/>
              <a:ahLst/>
              <a:cxnLst/>
              <a:rect r="r" b="b" t="t" l="l"/>
              <a:pathLst>
                <a:path h="1172845" w="18326988">
                  <a:moveTo>
                    <a:pt x="0" y="0"/>
                  </a:moveTo>
                  <a:lnTo>
                    <a:pt x="18326988" y="0"/>
                  </a:lnTo>
                  <a:lnTo>
                    <a:pt x="18326988" y="1172845"/>
                  </a:lnTo>
                  <a:lnTo>
                    <a:pt x="0" y="1172845"/>
                  </a:lnTo>
                  <a:lnTo>
                    <a:pt x="0" y="0"/>
                  </a:lnTo>
                  <a:close/>
                </a:path>
              </a:pathLst>
            </a:custGeom>
            <a:blipFill>
              <a:blip r:embed="rId8"/>
              <a:stretch>
                <a:fillRect l="0" t="-2" r="0" b="-4"/>
              </a:stretch>
            </a:blipFill>
          </p:spPr>
        </p:sp>
      </p:grpSp>
      <p:sp>
        <p:nvSpPr>
          <p:cNvPr name="TextBox 47" id="47"/>
          <p:cNvSpPr txBox="true"/>
          <p:nvPr/>
        </p:nvSpPr>
        <p:spPr>
          <a:xfrm rot="0">
            <a:off x="1643710" y="2920672"/>
            <a:ext cx="4412615" cy="6115050"/>
          </a:xfrm>
          <a:prstGeom prst="rect">
            <a:avLst/>
          </a:prstGeom>
        </p:spPr>
        <p:txBody>
          <a:bodyPr anchor="t" rtlCol="false" tIns="0" lIns="0" bIns="0" rIns="0">
            <a:spAutoFit/>
          </a:bodyPr>
          <a:lstStyle/>
          <a:p>
            <a:pPr algn="ctr">
              <a:lnSpc>
                <a:spcPts val="2460"/>
              </a:lnSpc>
            </a:pPr>
          </a:p>
          <a:p>
            <a:pPr algn="ctr">
              <a:lnSpc>
                <a:spcPts val="2460"/>
              </a:lnSpc>
            </a:pPr>
            <a:r>
              <a:rPr lang="en-US" sz="2050" b="true">
                <a:solidFill>
                  <a:srgbClr val="FFFFFF"/>
                </a:solidFill>
                <a:latin typeface="Poppins Bold"/>
                <a:ea typeface="Poppins Bold"/>
                <a:cs typeface="Poppins Bold"/>
                <a:sym typeface="Poppins Bold"/>
              </a:rPr>
              <a:t>Pyramidal Search</a:t>
            </a:r>
          </a:p>
          <a:p>
            <a:pPr algn="ctr">
              <a:lnSpc>
                <a:spcPts val="2460"/>
              </a:lnSpc>
            </a:pPr>
            <a:r>
              <a:rPr lang="en-US" sz="2050" b="true">
                <a:solidFill>
                  <a:srgbClr val="FFFFFF"/>
                </a:solidFill>
                <a:latin typeface="Poppins Bold"/>
                <a:ea typeface="Poppins Bold"/>
                <a:cs typeface="Poppins Bold"/>
                <a:sym typeface="Poppins Bold"/>
              </a:rPr>
              <a:t>      ↓</a:t>
            </a:r>
          </a:p>
          <a:p>
            <a:pPr algn="ctr">
              <a:lnSpc>
                <a:spcPts val="2460"/>
              </a:lnSpc>
            </a:pPr>
            <a:r>
              <a:rPr lang="en-US" sz="2050" b="true">
                <a:solidFill>
                  <a:srgbClr val="FFFFFF"/>
                </a:solidFill>
                <a:latin typeface="Poppins Bold"/>
                <a:ea typeface="Poppins Bold"/>
                <a:cs typeface="Poppins Bold"/>
                <a:sym typeface="Poppins Bold"/>
              </a:rPr>
              <a:t>Fast candidate localization</a:t>
            </a:r>
          </a:p>
          <a:p>
            <a:pPr algn="ctr">
              <a:lnSpc>
                <a:spcPts val="2460"/>
              </a:lnSpc>
            </a:pPr>
            <a:r>
              <a:rPr lang="en-US" sz="2050" b="true">
                <a:solidFill>
                  <a:srgbClr val="FFFFFF"/>
                </a:solidFill>
                <a:latin typeface="Poppins Bold"/>
                <a:ea typeface="Poppins Bold"/>
                <a:cs typeface="Poppins Bold"/>
                <a:sym typeface="Poppins Bold"/>
              </a:rPr>
              <a:t>      ↓</a:t>
            </a:r>
          </a:p>
          <a:p>
            <a:pPr algn="ctr">
              <a:lnSpc>
                <a:spcPts val="2460"/>
              </a:lnSpc>
            </a:pPr>
            <a:r>
              <a:rPr lang="en-US" sz="2050" b="true">
                <a:solidFill>
                  <a:srgbClr val="FFFFFF"/>
                </a:solidFill>
                <a:latin typeface="Poppins Bold"/>
                <a:ea typeface="Poppins Bold"/>
                <a:cs typeface="Poppins Bold"/>
                <a:sym typeface="Poppins Bold"/>
              </a:rPr>
              <a:t>Pose Sampling</a:t>
            </a:r>
          </a:p>
          <a:p>
            <a:pPr algn="ctr">
              <a:lnSpc>
                <a:spcPts val="2460"/>
              </a:lnSpc>
            </a:pPr>
            <a:r>
              <a:rPr lang="en-US" sz="2050" b="true">
                <a:solidFill>
                  <a:srgbClr val="FFFFFF"/>
                </a:solidFill>
                <a:latin typeface="Poppins Bold"/>
                <a:ea typeface="Poppins Bold"/>
                <a:cs typeface="Poppins Bold"/>
                <a:sym typeface="Poppins Bold"/>
              </a:rPr>
              <a:t>      ↓</a:t>
            </a:r>
          </a:p>
          <a:p>
            <a:pPr algn="ctr">
              <a:lnSpc>
                <a:spcPts val="2460"/>
              </a:lnSpc>
            </a:pPr>
            <a:r>
              <a:rPr lang="en-US" sz="2050" b="true">
                <a:solidFill>
                  <a:srgbClr val="FFFFFF"/>
                </a:solidFill>
                <a:latin typeface="Poppins Bold"/>
                <a:ea typeface="Poppins Bold"/>
                <a:cs typeface="Poppins Bold"/>
                <a:sym typeface="Poppins Bold"/>
              </a:rPr>
              <a:t>Handles rotation + scale</a:t>
            </a:r>
          </a:p>
          <a:p>
            <a:pPr algn="ctr">
              <a:lnSpc>
                <a:spcPts val="2460"/>
              </a:lnSpc>
            </a:pPr>
            <a:r>
              <a:rPr lang="en-US" sz="2050" b="true">
                <a:solidFill>
                  <a:srgbClr val="FFFFFF"/>
                </a:solidFill>
                <a:latin typeface="Poppins Bold"/>
                <a:ea typeface="Poppins Bold"/>
                <a:cs typeface="Poppins Bold"/>
                <a:sym typeface="Poppins Bold"/>
              </a:rPr>
              <a:t>      ↓</a:t>
            </a:r>
          </a:p>
          <a:p>
            <a:pPr algn="ctr">
              <a:lnSpc>
                <a:spcPts val="2460"/>
              </a:lnSpc>
            </a:pPr>
            <a:r>
              <a:rPr lang="en-US" sz="2050" b="true">
                <a:solidFill>
                  <a:srgbClr val="FFFFFF"/>
                </a:solidFill>
                <a:latin typeface="Poppins Bold"/>
                <a:ea typeface="Poppins Bold"/>
                <a:cs typeface="Poppins Bold"/>
                <a:sym typeface="Poppins Bold"/>
              </a:rPr>
              <a:t>Sub-Pixel Refinement</a:t>
            </a:r>
          </a:p>
          <a:p>
            <a:pPr algn="ctr">
              <a:lnSpc>
                <a:spcPts val="2460"/>
              </a:lnSpc>
            </a:pPr>
            <a:r>
              <a:rPr lang="en-US" sz="2050" b="true">
                <a:solidFill>
                  <a:srgbClr val="FFFFFF"/>
                </a:solidFill>
                <a:latin typeface="Poppins Bold"/>
                <a:ea typeface="Poppins Bold"/>
                <a:cs typeface="Poppins Bold"/>
                <a:sym typeface="Poppins Bold"/>
              </a:rPr>
              <a:t>      ↓</a:t>
            </a:r>
          </a:p>
          <a:p>
            <a:pPr algn="ctr">
              <a:lnSpc>
                <a:spcPts val="2460"/>
              </a:lnSpc>
            </a:pPr>
            <a:r>
              <a:rPr lang="en-US" sz="2050" b="true">
                <a:solidFill>
                  <a:srgbClr val="FFFFFF"/>
                </a:solidFill>
                <a:latin typeface="Poppins Bold"/>
                <a:ea typeface="Poppins Bold"/>
                <a:cs typeface="Poppins Bold"/>
                <a:sym typeface="Poppins Bold"/>
              </a:rPr>
              <a:t>Higher localization precision</a:t>
            </a:r>
          </a:p>
          <a:p>
            <a:pPr algn="ctr">
              <a:lnSpc>
                <a:spcPts val="2460"/>
              </a:lnSpc>
            </a:pPr>
            <a:r>
              <a:rPr lang="en-US" sz="2050" b="true">
                <a:solidFill>
                  <a:srgbClr val="FFFFFF"/>
                </a:solidFill>
                <a:latin typeface="Poppins Bold"/>
                <a:ea typeface="Poppins Bold"/>
                <a:cs typeface="Poppins Bold"/>
                <a:sym typeface="Poppins Bold"/>
              </a:rPr>
              <a:t>      ↓</a:t>
            </a:r>
          </a:p>
          <a:p>
            <a:pPr algn="ctr">
              <a:lnSpc>
                <a:spcPts val="2460"/>
              </a:lnSpc>
            </a:pPr>
            <a:r>
              <a:rPr lang="en-US" sz="2050" b="true">
                <a:solidFill>
                  <a:srgbClr val="FFFFFF"/>
                </a:solidFill>
                <a:latin typeface="Poppins Bold"/>
                <a:ea typeface="Poppins Bold"/>
                <a:cs typeface="Poppins Bold"/>
                <a:sym typeface="Poppins Bold"/>
              </a:rPr>
              <a:t>Selective Siamese Verification</a:t>
            </a:r>
          </a:p>
          <a:p>
            <a:pPr algn="ctr">
              <a:lnSpc>
                <a:spcPts val="2460"/>
              </a:lnSpc>
            </a:pPr>
            <a:r>
              <a:rPr lang="en-US" sz="2050" b="true">
                <a:solidFill>
                  <a:srgbClr val="FFFFFF"/>
                </a:solidFill>
                <a:latin typeface="Poppins Bold"/>
                <a:ea typeface="Poppins Bold"/>
                <a:cs typeface="Poppins Bold"/>
                <a:sym typeface="Poppins Bold"/>
              </a:rPr>
              <a:t>      ↓</a:t>
            </a:r>
          </a:p>
          <a:p>
            <a:pPr algn="ctr">
              <a:lnSpc>
                <a:spcPts val="2460"/>
              </a:lnSpc>
            </a:pPr>
            <a:r>
              <a:rPr lang="en-US" sz="2050" b="true">
                <a:solidFill>
                  <a:srgbClr val="FFFFFF"/>
                </a:solidFill>
                <a:latin typeface="Poppins Bold"/>
                <a:ea typeface="Poppins Bold"/>
                <a:cs typeface="Poppins Bold"/>
                <a:sym typeface="Poppins Bold"/>
              </a:rPr>
              <a:t>Periodic ambiguity resolution</a:t>
            </a:r>
          </a:p>
          <a:p>
            <a:pPr algn="ctr">
              <a:lnSpc>
                <a:spcPts val="2460"/>
              </a:lnSpc>
            </a:pPr>
            <a:r>
              <a:rPr lang="en-US" sz="2050" b="true">
                <a:solidFill>
                  <a:srgbClr val="FFFFFF"/>
                </a:solidFill>
                <a:latin typeface="Poppins Bold"/>
                <a:ea typeface="Poppins Bold"/>
                <a:cs typeface="Poppins Bold"/>
                <a:sym typeface="Poppins Bold"/>
              </a:rPr>
              <a:t>      ↓</a:t>
            </a:r>
          </a:p>
          <a:p>
            <a:pPr algn="ctr">
              <a:lnSpc>
                <a:spcPts val="2460"/>
              </a:lnSpc>
            </a:pPr>
            <a:r>
              <a:rPr lang="en-US" sz="2050" b="true">
                <a:solidFill>
                  <a:srgbClr val="FFFFFF"/>
                </a:solidFill>
                <a:latin typeface="Poppins Bold"/>
                <a:ea typeface="Poppins Bold"/>
                <a:cs typeface="Poppins Bold"/>
                <a:sym typeface="Poppins Bold"/>
              </a:rPr>
              <a:t>Platt Calibration</a:t>
            </a:r>
          </a:p>
          <a:p>
            <a:pPr algn="ctr">
              <a:lnSpc>
                <a:spcPts val="2460"/>
              </a:lnSpc>
            </a:pPr>
            <a:r>
              <a:rPr lang="en-US" sz="2050" b="true">
                <a:solidFill>
                  <a:srgbClr val="FFFFFF"/>
                </a:solidFill>
                <a:latin typeface="Poppins Bold"/>
                <a:ea typeface="Poppins Bold"/>
                <a:cs typeface="Poppins Bold"/>
                <a:sym typeface="Poppins Bold"/>
              </a:rPr>
              <a:t>      ↓</a:t>
            </a:r>
          </a:p>
          <a:p>
            <a:pPr algn="ctr">
              <a:lnSpc>
                <a:spcPts val="2460"/>
              </a:lnSpc>
              <a:spcBef>
                <a:spcPct val="0"/>
              </a:spcBef>
            </a:pPr>
            <a:r>
              <a:rPr lang="en-US" b="true" sz="2050">
                <a:solidFill>
                  <a:srgbClr val="FFFFFF"/>
                </a:solidFill>
                <a:latin typeface="Poppins Bold"/>
                <a:ea typeface="Poppins Bold"/>
                <a:cs typeface="Poppins Bold"/>
                <a:sym typeface="Poppins Bold"/>
              </a:rPr>
              <a:t>Present / Absent decision</a:t>
            </a:r>
          </a:p>
        </p:txBody>
      </p:sp>
      <p:graphicFrame>
        <p:nvGraphicFramePr>
          <p:cNvPr name="Table 48" id="48"/>
          <p:cNvGraphicFramePr>
            <a:graphicFrameLocks noGrp="true"/>
          </p:cNvGraphicFramePr>
          <p:nvPr/>
        </p:nvGraphicFramePr>
        <p:xfrm>
          <a:off x="6855430" y="3073072"/>
          <a:ext cx="6205908" cy="6545383"/>
        </p:xfrm>
        <a:graphic>
          <a:graphicData uri="http://schemas.openxmlformats.org/drawingml/2006/table">
            <a:tbl>
              <a:tblPr/>
              <a:tblGrid>
                <a:gridCol w="2053529"/>
                <a:gridCol w="2076190"/>
                <a:gridCol w="2076190"/>
              </a:tblGrid>
              <a:tr h="961707">
                <a:tc>
                  <a:txBody>
                    <a:bodyPr anchor="t" rtlCol="false"/>
                    <a:lstStyle/>
                    <a:p>
                      <a:pPr algn="ctr">
                        <a:lnSpc>
                          <a:spcPts val="2100"/>
                        </a:lnSpc>
                        <a:defRPr/>
                      </a:pPr>
                      <a:r>
                        <a:rPr lang="en-US" b="true" sz="1500">
                          <a:solidFill>
                            <a:srgbClr val="000000"/>
                          </a:solidFill>
                          <a:latin typeface="Canva Sans Bold"/>
                          <a:ea typeface="Canva Sans Bold"/>
                          <a:cs typeface="Canva Sans Bold"/>
                          <a:sym typeface="Canva Sans Bold"/>
                        </a:rPr>
                        <a:t>ASPECT</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solidFill>
                      <a:srgbClr val="F2F2F2"/>
                    </a:solidFill>
                  </a:tcPr>
                </a:tc>
                <a:tc>
                  <a:txBody>
                    <a:bodyPr anchor="t" rtlCol="false"/>
                    <a:lstStyle/>
                    <a:p>
                      <a:pPr algn="ctr">
                        <a:lnSpc>
                          <a:spcPts val="2100"/>
                        </a:lnSpc>
                        <a:defRPr/>
                      </a:pPr>
                      <a:r>
                        <a:rPr lang="en-US" b="true" sz="1500">
                          <a:solidFill>
                            <a:srgbClr val="000000"/>
                          </a:solidFill>
                          <a:latin typeface="Canva Sans Bold"/>
                          <a:ea typeface="Canva Sans Bold"/>
                          <a:cs typeface="Canva Sans Bold"/>
                          <a:sym typeface="Canva Sans Bold"/>
                        </a:rPr>
                        <a:t>NAIVE ZNCC BASELINE</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solidFill>
                      <a:srgbClr val="F2F2F2"/>
                    </a:solidFill>
                  </a:tcPr>
                </a:tc>
                <a:tc>
                  <a:txBody>
                    <a:bodyPr anchor="t" rtlCol="false"/>
                    <a:lstStyle/>
                    <a:p>
                      <a:pPr algn="ctr">
                        <a:lnSpc>
                          <a:spcPts val="2100"/>
                        </a:lnSpc>
                        <a:defRPr/>
                      </a:pPr>
                      <a:r>
                        <a:rPr lang="en-US" b="true" sz="1500">
                          <a:solidFill>
                            <a:srgbClr val="000000"/>
                          </a:solidFill>
                          <a:latin typeface="Canva Sans Bold"/>
                          <a:ea typeface="Canva Sans Bold"/>
                          <a:cs typeface="Canva Sans Bold"/>
                          <a:sym typeface="Canva Sans Bold"/>
                        </a:rPr>
                        <a:t>DRIFT-SENSE PHASE 2</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solidFill>
                      <a:srgbClr val="F2F2F2"/>
                    </a:solidFill>
                  </a:tcPr>
                </a:tc>
              </a:tr>
              <a:tr h="816407">
                <a:tc>
                  <a:txBody>
                    <a:bodyPr anchor="t" rtlCol="false"/>
                    <a:lstStyle/>
                    <a:p>
                      <a:pPr algn="l">
                        <a:lnSpc>
                          <a:spcPts val="2100"/>
                        </a:lnSpc>
                        <a:defRPr/>
                      </a:pPr>
                      <a:r>
                        <a:rPr lang="en-US" sz="1500">
                          <a:solidFill>
                            <a:srgbClr val="FFFFFF"/>
                          </a:solidFill>
                          <a:latin typeface="Canva Sans"/>
                          <a:ea typeface="Canva Sans"/>
                          <a:cs typeface="Canva Sans"/>
                          <a:sym typeface="Canva Sans"/>
                        </a:rPr>
                        <a:t>Search</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Single correlation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Multi-resolution pyramidal search</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734494">
                <a:tc>
                  <a:txBody>
                    <a:bodyPr anchor="t" rtlCol="false"/>
                    <a:lstStyle/>
                    <a:p>
                      <a:pPr algn="l">
                        <a:lnSpc>
                          <a:spcPts val="2100"/>
                        </a:lnSpc>
                        <a:defRPr/>
                      </a:pPr>
                      <a:r>
                        <a:rPr lang="en-US" sz="1500">
                          <a:solidFill>
                            <a:srgbClr val="FFFFFF"/>
                          </a:solidFill>
                          <a:latin typeface="Canva Sans"/>
                          <a:ea typeface="Canva Sans"/>
                          <a:cs typeface="Canva Sans"/>
                          <a:sym typeface="Canva Sans"/>
                        </a:rPr>
                        <a:t>Pose</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Limited</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Rotation + scale sampling</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734494">
                <a:tc>
                  <a:txBody>
                    <a:bodyPr anchor="t" rtlCol="false"/>
                    <a:lstStyle/>
                    <a:p>
                      <a:pPr algn="l">
                        <a:lnSpc>
                          <a:spcPts val="2100"/>
                        </a:lnSpc>
                        <a:defRPr/>
                      </a:pPr>
                      <a:r>
                        <a:rPr lang="en-US" sz="1500">
                          <a:solidFill>
                            <a:srgbClr val="FFFFFF"/>
                          </a:solidFill>
                          <a:latin typeface="Canva Sans"/>
                          <a:ea typeface="Canva Sans"/>
                          <a:cs typeface="Canva Sans"/>
                          <a:sym typeface="Canva Sans"/>
                        </a:rPr>
                        <a:t>Precision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Pixel-level peak</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Sub-pixel refinement</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802777">
                <a:tc>
                  <a:txBody>
                    <a:bodyPr anchor="t" rtlCol="false"/>
                    <a:lstStyle/>
                    <a:p>
                      <a:pPr algn="l">
                        <a:lnSpc>
                          <a:spcPts val="2100"/>
                        </a:lnSpc>
                        <a:defRPr/>
                      </a:pPr>
                      <a:r>
                        <a:rPr lang="en-US" sz="1500">
                          <a:solidFill>
                            <a:srgbClr val="FFFFFF"/>
                          </a:solidFill>
                          <a:latin typeface="Canva Sans"/>
                          <a:ea typeface="Canva Sans"/>
                          <a:cs typeface="Canva Sans"/>
                          <a:sym typeface="Canva Sans"/>
                        </a:rPr>
                        <a:t>Periodic Ambiguity</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Vulnerable to false peaks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Siamese re-ranking</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906515">
                <a:tc>
                  <a:txBody>
                    <a:bodyPr anchor="t" rtlCol="false"/>
                    <a:lstStyle/>
                    <a:p>
                      <a:pPr algn="l">
                        <a:lnSpc>
                          <a:spcPts val="2100"/>
                        </a:lnSpc>
                        <a:defRPr/>
                      </a:pPr>
                      <a:r>
                        <a:rPr lang="en-US" sz="1500">
                          <a:solidFill>
                            <a:srgbClr val="FFFFFF"/>
                          </a:solidFill>
                          <a:latin typeface="Canva Sans"/>
                          <a:ea typeface="Canva Sans"/>
                          <a:cs typeface="Canva Sans"/>
                          <a:sym typeface="Canva Sans"/>
                        </a:rPr>
                        <a:t>Target Absent</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Match-oriented</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Calibrated rejection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852804">
                <a:tc>
                  <a:txBody>
                    <a:bodyPr anchor="t" rtlCol="false"/>
                    <a:lstStyle/>
                    <a:p>
                      <a:pPr algn="l">
                        <a:lnSpc>
                          <a:spcPts val="2100"/>
                        </a:lnSpc>
                        <a:defRPr/>
                      </a:pPr>
                      <a:r>
                        <a:rPr lang="en-US" sz="1500">
                          <a:solidFill>
                            <a:srgbClr val="FFFFFF"/>
                          </a:solidFill>
                          <a:latin typeface="Canva Sans"/>
                          <a:ea typeface="Canva Sans"/>
                          <a:cs typeface="Canva Sans"/>
                          <a:sym typeface="Canva Sans"/>
                        </a:rPr>
                        <a:t>Input</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Grayscale matching</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SEM + Optical RGB</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736185">
                <a:tc>
                  <a:txBody>
                    <a:bodyPr anchor="t" rtlCol="false"/>
                    <a:lstStyle/>
                    <a:p>
                      <a:pPr algn="l">
                        <a:lnSpc>
                          <a:spcPts val="2100"/>
                        </a:lnSpc>
                        <a:defRPr/>
                      </a:pPr>
                      <a:r>
                        <a:rPr lang="en-US" sz="1500">
                          <a:solidFill>
                            <a:srgbClr val="FFFFFF"/>
                          </a:solidFill>
                          <a:latin typeface="Canva Sans"/>
                          <a:ea typeface="Canva Sans"/>
                          <a:cs typeface="Canva Sans"/>
                          <a:sym typeface="Canva Sans"/>
                        </a:rPr>
                        <a:t>Output</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Location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X, Y, θ, α + confidence</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bl>
          </a:graphicData>
        </a:graphic>
      </p:graphicFrame>
      <p:sp>
        <p:nvSpPr>
          <p:cNvPr name="TextBox 49" id="49"/>
          <p:cNvSpPr txBox="true"/>
          <p:nvPr/>
        </p:nvSpPr>
        <p:spPr>
          <a:xfrm rot="0">
            <a:off x="1841830" y="2587297"/>
            <a:ext cx="4016375" cy="352425"/>
          </a:xfrm>
          <a:prstGeom prst="rect">
            <a:avLst/>
          </a:prstGeom>
        </p:spPr>
        <p:txBody>
          <a:bodyPr anchor="t" rtlCol="false" tIns="0" lIns="0" bIns="0" rIns="0">
            <a:spAutoFit/>
          </a:bodyPr>
          <a:lstStyle/>
          <a:p>
            <a:pPr algn="ctr">
              <a:lnSpc>
                <a:spcPts val="2639"/>
              </a:lnSpc>
              <a:spcBef>
                <a:spcPct val="0"/>
              </a:spcBef>
            </a:pPr>
            <a:r>
              <a:rPr lang="en-US" b="true" sz="2199">
                <a:solidFill>
                  <a:srgbClr val="FFFFFF"/>
                </a:solidFill>
                <a:latin typeface="Poppins Bold"/>
                <a:ea typeface="Poppins Bold"/>
                <a:cs typeface="Poppins Bold"/>
                <a:sym typeface="Poppins Bold"/>
              </a:rPr>
              <a:t>ROBUSTNESS CONTRIBUTION</a:t>
            </a:r>
          </a:p>
        </p:txBody>
      </p:sp>
      <p:grpSp>
        <p:nvGrpSpPr>
          <p:cNvPr name="Group 50" id="50"/>
          <p:cNvGrpSpPr/>
          <p:nvPr/>
        </p:nvGrpSpPr>
        <p:grpSpPr>
          <a:xfrm rot="0">
            <a:off x="1028700" y="3073072"/>
            <a:ext cx="5548299" cy="6465189"/>
            <a:chOff x="0" y="0"/>
            <a:chExt cx="7397732" cy="8620252"/>
          </a:xfrm>
        </p:grpSpPr>
        <p:sp>
          <p:nvSpPr>
            <p:cNvPr name="Freeform 51" id="51"/>
            <p:cNvSpPr/>
            <p:nvPr/>
          </p:nvSpPr>
          <p:spPr>
            <a:xfrm flipH="false" flipV="false" rot="0">
              <a:off x="0" y="0"/>
              <a:ext cx="7397723" cy="8620181"/>
            </a:xfrm>
            <a:custGeom>
              <a:avLst/>
              <a:gdLst/>
              <a:ahLst/>
              <a:cxnLst/>
              <a:rect r="r" b="b" t="t" l="l"/>
              <a:pathLst>
                <a:path h="8620181" w="7397723">
                  <a:moveTo>
                    <a:pt x="0" y="57910"/>
                  </a:moveTo>
                  <a:cubicBezTo>
                    <a:pt x="0" y="25898"/>
                    <a:pt x="9173" y="0"/>
                    <a:pt x="20512" y="0"/>
                  </a:cubicBezTo>
                  <a:lnTo>
                    <a:pt x="7377211" y="0"/>
                  </a:lnTo>
                  <a:cubicBezTo>
                    <a:pt x="7388551" y="0"/>
                    <a:pt x="7397723" y="25898"/>
                    <a:pt x="7397723" y="57910"/>
                  </a:cubicBezTo>
                  <a:lnTo>
                    <a:pt x="7397723" y="8562270"/>
                  </a:lnTo>
                  <a:cubicBezTo>
                    <a:pt x="7397723" y="8594282"/>
                    <a:pt x="7388551" y="8620181"/>
                    <a:pt x="7377211" y="8620181"/>
                  </a:cubicBezTo>
                  <a:lnTo>
                    <a:pt x="20512" y="8620181"/>
                  </a:lnTo>
                  <a:cubicBezTo>
                    <a:pt x="9173" y="8620181"/>
                    <a:pt x="0" y="8594282"/>
                    <a:pt x="0" y="8562270"/>
                  </a:cubicBezTo>
                  <a:close/>
                </a:path>
              </a:pathLst>
            </a:custGeom>
            <a:solidFill>
              <a:srgbClr val="FFFFFF">
                <a:alpha val="0"/>
              </a:srgbClr>
            </a:solidFill>
            <a:ln w="19050" cap="sq">
              <a:solidFill>
                <a:srgbClr val="88E555"/>
              </a:solidFill>
              <a:prstDash val="solid"/>
              <a:miter/>
            </a:ln>
          </p:spPr>
        </p:sp>
      </p:grpSp>
      <p:sp>
        <p:nvSpPr>
          <p:cNvPr name="TextBox 52" id="52"/>
          <p:cNvSpPr txBox="true"/>
          <p:nvPr/>
        </p:nvSpPr>
        <p:spPr>
          <a:xfrm rot="0">
            <a:off x="13863645" y="4854207"/>
            <a:ext cx="3298349" cy="314325"/>
          </a:xfrm>
          <a:prstGeom prst="rect">
            <a:avLst/>
          </a:prstGeom>
        </p:spPr>
        <p:txBody>
          <a:bodyPr anchor="t" rtlCol="false" tIns="0" lIns="0" bIns="0" rIns="0">
            <a:spAutoFit/>
          </a:bodyPr>
          <a:lstStyle/>
          <a:p>
            <a:pPr algn="ctr">
              <a:lnSpc>
                <a:spcPts val="2399"/>
              </a:lnSpc>
              <a:spcBef>
                <a:spcPct val="0"/>
              </a:spcBef>
            </a:pPr>
            <a:r>
              <a:rPr lang="en-US" b="true" sz="1999">
                <a:solidFill>
                  <a:srgbClr val="FFFFFF"/>
                </a:solidFill>
                <a:latin typeface="Poppins Bold"/>
                <a:ea typeface="Poppins Bold"/>
                <a:cs typeface="Poppins Bold"/>
                <a:sym typeface="Poppins Bold"/>
              </a:rPr>
              <a:t>WHAT THE RESULTS SHOW</a:t>
            </a:r>
          </a:p>
        </p:txBody>
      </p:sp>
      <p:sp>
        <p:nvSpPr>
          <p:cNvPr name="TextBox 53" id="53"/>
          <p:cNvSpPr txBox="true"/>
          <p:nvPr/>
        </p:nvSpPr>
        <p:spPr>
          <a:xfrm rot="0">
            <a:off x="13339770" y="5665825"/>
            <a:ext cx="4308723" cy="2825750"/>
          </a:xfrm>
          <a:prstGeom prst="rect">
            <a:avLst/>
          </a:prstGeom>
        </p:spPr>
        <p:txBody>
          <a:bodyPr anchor="t" rtlCol="false" tIns="0" lIns="0" bIns="0" rIns="0">
            <a:spAutoFit/>
          </a:bodyPr>
          <a:lstStyle/>
          <a:p>
            <a:pPr algn="l" marL="431799" indent="-215899" lvl="1">
              <a:lnSpc>
                <a:spcPts val="2799"/>
              </a:lnSpc>
              <a:buFont typeface="Arial"/>
              <a:buChar char="•"/>
            </a:pPr>
            <a:r>
              <a:rPr lang="en-US" b="true" sz="1999">
                <a:solidFill>
                  <a:srgbClr val="FFFFFF"/>
                </a:solidFill>
                <a:latin typeface="Poppins Bold"/>
                <a:ea typeface="Poppins Bold"/>
                <a:cs typeface="Poppins Bold"/>
                <a:sym typeface="Poppins Bold"/>
              </a:rPr>
              <a:t>REFERENCE: 90.6% SUB-1 PX PRECISION</a:t>
            </a:r>
          </a:p>
          <a:p>
            <a:pPr algn="l" marL="431799" indent="-215899" lvl="1">
              <a:lnSpc>
                <a:spcPts val="2799"/>
              </a:lnSpc>
              <a:buFont typeface="Arial"/>
              <a:buChar char="•"/>
            </a:pPr>
            <a:r>
              <a:rPr lang="en-US" b="true" sz="1999">
                <a:solidFill>
                  <a:srgbClr val="FFFFFF"/>
                </a:solidFill>
                <a:latin typeface="Poppins Bold"/>
                <a:ea typeface="Poppins Bold"/>
                <a:cs typeface="Poppins Bold"/>
                <a:sym typeface="Poppins Bold"/>
              </a:rPr>
              <a:t>HEAVY STRESS: 86.2% SUB-1 PX PRECISION</a:t>
            </a:r>
          </a:p>
          <a:p>
            <a:pPr algn="l" marL="431799" indent="-215899" lvl="1">
              <a:lnSpc>
                <a:spcPts val="2799"/>
              </a:lnSpc>
              <a:buFont typeface="Arial"/>
              <a:buChar char="•"/>
            </a:pPr>
            <a:r>
              <a:rPr lang="en-US" b="true" sz="1999">
                <a:solidFill>
                  <a:srgbClr val="FFFFFF"/>
                </a:solidFill>
                <a:latin typeface="Poppins Bold"/>
                <a:ea typeface="Poppins Bold"/>
                <a:cs typeface="Poppins Bold"/>
                <a:sym typeface="Poppins Bold"/>
              </a:rPr>
              <a:t>REFERENCE: 98.91 / 100</a:t>
            </a:r>
          </a:p>
          <a:p>
            <a:pPr algn="l" marL="431799" indent="-215899" lvl="1">
              <a:lnSpc>
                <a:spcPts val="2799"/>
              </a:lnSpc>
              <a:buFont typeface="Arial"/>
              <a:buChar char="•"/>
            </a:pPr>
            <a:r>
              <a:rPr lang="en-US" b="true" sz="1999">
                <a:solidFill>
                  <a:srgbClr val="FFFFFF"/>
                </a:solidFill>
                <a:latin typeface="Poppins Bold"/>
                <a:ea typeface="Poppins Bold"/>
                <a:cs typeface="Poppins Bold"/>
                <a:sym typeface="Poppins Bold"/>
              </a:rPr>
              <a:t>HEAVY STRESS: 97.85 / 100</a:t>
            </a:r>
          </a:p>
          <a:p>
            <a:pPr algn="l" marL="431799" indent="-215899" lvl="1">
              <a:lnSpc>
                <a:spcPts val="2799"/>
              </a:lnSpc>
              <a:buFont typeface="Arial"/>
              <a:buChar char="•"/>
            </a:pPr>
            <a:r>
              <a:rPr lang="en-US" b="true" sz="1999">
                <a:solidFill>
                  <a:srgbClr val="FFFFFF"/>
                </a:solidFill>
                <a:latin typeface="Poppins Bold"/>
                <a:ea typeface="Poppins Bold"/>
                <a:cs typeface="Poppins Bold"/>
                <a:sym typeface="Poppins Bold"/>
              </a:rPr>
              <a:t>LATENCY: 0.964 S → 0.985 S/PAIR</a:t>
            </a:r>
          </a:p>
        </p:txBody>
      </p:sp>
      <p:sp>
        <p:nvSpPr>
          <p:cNvPr name="TextBox 54" id="54"/>
          <p:cNvSpPr txBox="true"/>
          <p:nvPr/>
        </p:nvSpPr>
        <p:spPr>
          <a:xfrm rot="0">
            <a:off x="8634648" y="2517115"/>
            <a:ext cx="2647474" cy="285750"/>
          </a:xfrm>
          <a:prstGeom prst="rect">
            <a:avLst/>
          </a:prstGeom>
        </p:spPr>
        <p:txBody>
          <a:bodyPr anchor="t" rtlCol="false" tIns="0" lIns="0" bIns="0" rIns="0">
            <a:spAutoFit/>
          </a:bodyPr>
          <a:lstStyle/>
          <a:p>
            <a:pPr algn="ctr">
              <a:lnSpc>
                <a:spcPts val="2160"/>
              </a:lnSpc>
              <a:spcBef>
                <a:spcPct val="0"/>
              </a:spcBef>
            </a:pPr>
            <a:r>
              <a:rPr lang="en-US" b="true" sz="1800">
                <a:solidFill>
                  <a:srgbClr val="FFFFFF"/>
                </a:solidFill>
                <a:latin typeface="Poppins Bold"/>
                <a:ea typeface="Poppins Bold"/>
                <a:cs typeface="Poppins Bold"/>
                <a:sym typeface="Poppins Bold"/>
              </a:rPr>
              <a:t>BASELINE vs PROPOSED</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543" cy="10287000"/>
            <a:chOff x="0" y="0"/>
            <a:chExt cx="24383390" cy="13716000"/>
          </a:xfrm>
        </p:grpSpPr>
        <p:sp>
          <p:nvSpPr>
            <p:cNvPr name="Freeform 3" id="3"/>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close/>
                </a:path>
              </a:pathLst>
            </a:custGeom>
            <a:solidFill>
              <a:srgbClr val="000036"/>
            </a:solidFill>
          </p:spPr>
        </p:sp>
      </p:grpSp>
      <p:grpSp>
        <p:nvGrpSpPr>
          <p:cNvPr name="Group 4" id="4"/>
          <p:cNvGrpSpPr/>
          <p:nvPr/>
        </p:nvGrpSpPr>
        <p:grpSpPr>
          <a:xfrm rot="0">
            <a:off x="0" y="0"/>
            <a:ext cx="18287543" cy="10287000"/>
            <a:chOff x="0" y="0"/>
            <a:chExt cx="24383390" cy="13716000"/>
          </a:xfrm>
        </p:grpSpPr>
        <p:sp>
          <p:nvSpPr>
            <p:cNvPr name="Freeform 5" id="5" descr="preencoded.png"/>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lnTo>
                    <a:pt x="0" y="0"/>
                  </a:lnTo>
                  <a:close/>
                </a:path>
              </a:pathLst>
            </a:custGeom>
            <a:blipFill>
              <a:blip r:embed="rId2">
                <a:alphaModFix amt="15000"/>
              </a:blip>
              <a:stretch>
                <a:fillRect l="-16360" t="0" r="-16361" b="0"/>
              </a:stretch>
            </a:blipFill>
          </p:spPr>
        </p:sp>
      </p:grpSp>
      <p:grpSp>
        <p:nvGrpSpPr>
          <p:cNvPr name="Group 6" id="6"/>
          <p:cNvGrpSpPr/>
          <p:nvPr/>
        </p:nvGrpSpPr>
        <p:grpSpPr>
          <a:xfrm rot="0">
            <a:off x="857250" y="429311"/>
            <a:ext cx="16573043" cy="999896"/>
            <a:chOff x="0" y="0"/>
            <a:chExt cx="22097390" cy="1333195"/>
          </a:xfrm>
        </p:grpSpPr>
        <p:sp>
          <p:nvSpPr>
            <p:cNvPr name="Freeform 7" id="7"/>
            <p:cNvSpPr/>
            <p:nvPr/>
          </p:nvSpPr>
          <p:spPr>
            <a:xfrm flipH="false" flipV="false" rot="0">
              <a:off x="0" y="0"/>
              <a:ext cx="22097364" cy="1333246"/>
            </a:xfrm>
            <a:custGeom>
              <a:avLst/>
              <a:gdLst/>
              <a:ahLst/>
              <a:cxnLst/>
              <a:rect r="r" b="b" t="t" l="l"/>
              <a:pathLst>
                <a:path h="1333246" w="22097364">
                  <a:moveTo>
                    <a:pt x="0" y="209042"/>
                  </a:moveTo>
                  <a:cubicBezTo>
                    <a:pt x="0" y="93599"/>
                    <a:pt x="93599" y="0"/>
                    <a:pt x="209042" y="0"/>
                  </a:cubicBezTo>
                  <a:lnTo>
                    <a:pt x="21888323" y="0"/>
                  </a:lnTo>
                  <a:cubicBezTo>
                    <a:pt x="22003765" y="0"/>
                    <a:pt x="22097364" y="93599"/>
                    <a:pt x="22097364" y="209042"/>
                  </a:cubicBezTo>
                  <a:lnTo>
                    <a:pt x="22097364" y="1124204"/>
                  </a:lnTo>
                  <a:cubicBezTo>
                    <a:pt x="22097364" y="1239647"/>
                    <a:pt x="22003765" y="1333246"/>
                    <a:pt x="21888323" y="1333246"/>
                  </a:cubicBezTo>
                  <a:lnTo>
                    <a:pt x="209042" y="1333246"/>
                  </a:lnTo>
                  <a:cubicBezTo>
                    <a:pt x="93599" y="1333246"/>
                    <a:pt x="0" y="1239647"/>
                    <a:pt x="0" y="1124204"/>
                  </a:cubicBezTo>
                  <a:close/>
                </a:path>
              </a:pathLst>
            </a:custGeom>
            <a:solidFill>
              <a:srgbClr val="FFFFFF">
                <a:alpha val="90196"/>
              </a:srgbClr>
            </a:solidFill>
          </p:spPr>
        </p:sp>
      </p:grpSp>
      <p:grpSp>
        <p:nvGrpSpPr>
          <p:cNvPr name="Group 8" id="8"/>
          <p:cNvGrpSpPr/>
          <p:nvPr/>
        </p:nvGrpSpPr>
        <p:grpSpPr>
          <a:xfrm rot="0">
            <a:off x="16287750" y="571957"/>
            <a:ext cx="714604" cy="714604"/>
            <a:chOff x="0" y="0"/>
            <a:chExt cx="952805" cy="952805"/>
          </a:xfrm>
        </p:grpSpPr>
        <p:sp>
          <p:nvSpPr>
            <p:cNvPr name="Freeform 9" id="9" descr="preencoded.png"/>
            <p:cNvSpPr/>
            <p:nvPr/>
          </p:nvSpPr>
          <p:spPr>
            <a:xfrm flipH="false" flipV="false" rot="0">
              <a:off x="0" y="0"/>
              <a:ext cx="952754" cy="952754"/>
            </a:xfrm>
            <a:custGeom>
              <a:avLst/>
              <a:gdLst/>
              <a:ahLst/>
              <a:cxnLst/>
              <a:rect r="r" b="b" t="t" l="l"/>
              <a:pathLst>
                <a:path h="952754" w="952754">
                  <a:moveTo>
                    <a:pt x="0" y="0"/>
                  </a:moveTo>
                  <a:lnTo>
                    <a:pt x="952754" y="0"/>
                  </a:lnTo>
                  <a:lnTo>
                    <a:pt x="952754" y="952754"/>
                  </a:lnTo>
                  <a:lnTo>
                    <a:pt x="0" y="952754"/>
                  </a:lnTo>
                  <a:lnTo>
                    <a:pt x="0" y="0"/>
                  </a:lnTo>
                  <a:close/>
                </a:path>
              </a:pathLst>
            </a:custGeom>
            <a:blipFill>
              <a:blip r:embed="rId3"/>
              <a:stretch>
                <a:fillRect l="0" t="0" r="-5" b="-5"/>
              </a:stretch>
            </a:blipFill>
          </p:spPr>
        </p:sp>
      </p:grpSp>
      <p:grpSp>
        <p:nvGrpSpPr>
          <p:cNvPr name="Group 10" id="10"/>
          <p:cNvGrpSpPr/>
          <p:nvPr/>
        </p:nvGrpSpPr>
        <p:grpSpPr>
          <a:xfrm rot="0">
            <a:off x="1137533" y="571957"/>
            <a:ext cx="8618220" cy="701040"/>
            <a:chOff x="0" y="0"/>
            <a:chExt cx="11490960" cy="934720"/>
          </a:xfrm>
        </p:grpSpPr>
        <p:sp>
          <p:nvSpPr>
            <p:cNvPr name="Freeform 11" id="11"/>
            <p:cNvSpPr/>
            <p:nvPr/>
          </p:nvSpPr>
          <p:spPr>
            <a:xfrm flipH="false" flipV="false" rot="0">
              <a:off x="0" y="0"/>
              <a:ext cx="11490960" cy="934720"/>
            </a:xfrm>
            <a:custGeom>
              <a:avLst/>
              <a:gdLst/>
              <a:ahLst/>
              <a:cxnLst/>
              <a:rect r="r" b="b" t="t" l="l"/>
              <a:pathLst>
                <a:path h="934720" w="11490960">
                  <a:moveTo>
                    <a:pt x="0" y="0"/>
                  </a:moveTo>
                  <a:lnTo>
                    <a:pt x="11490960" y="0"/>
                  </a:lnTo>
                  <a:lnTo>
                    <a:pt x="11490960" y="934720"/>
                  </a:lnTo>
                  <a:lnTo>
                    <a:pt x="0" y="934720"/>
                  </a:lnTo>
                  <a:lnTo>
                    <a:pt x="0" y="0"/>
                  </a:lnTo>
                  <a:close/>
                </a:path>
              </a:pathLst>
            </a:custGeom>
            <a:blipFill>
              <a:blip r:embed="rId4"/>
              <a:stretch>
                <a:fillRect l="-11" t="0" r="-11" b="0"/>
              </a:stretch>
            </a:blipFill>
          </p:spPr>
        </p:sp>
      </p:grpSp>
      <p:grpSp>
        <p:nvGrpSpPr>
          <p:cNvPr name="Group 12" id="12"/>
          <p:cNvGrpSpPr/>
          <p:nvPr/>
        </p:nvGrpSpPr>
        <p:grpSpPr>
          <a:xfrm rot="0">
            <a:off x="0" y="0"/>
            <a:ext cx="18287543" cy="10287000"/>
            <a:chOff x="0" y="0"/>
            <a:chExt cx="24383390" cy="13716000"/>
          </a:xfrm>
        </p:grpSpPr>
        <p:sp>
          <p:nvSpPr>
            <p:cNvPr name="Freeform 13" id="13"/>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close/>
                </a:path>
              </a:pathLst>
            </a:custGeom>
            <a:solidFill>
              <a:srgbClr val="000036"/>
            </a:solidFill>
          </p:spPr>
        </p:sp>
      </p:grpSp>
      <p:grpSp>
        <p:nvGrpSpPr>
          <p:cNvPr name="Group 14" id="14"/>
          <p:cNvGrpSpPr/>
          <p:nvPr/>
        </p:nvGrpSpPr>
        <p:grpSpPr>
          <a:xfrm rot="0">
            <a:off x="19050" y="0"/>
            <a:ext cx="18287543" cy="10287000"/>
            <a:chOff x="0" y="0"/>
            <a:chExt cx="24383390" cy="13716000"/>
          </a:xfrm>
        </p:grpSpPr>
        <p:sp>
          <p:nvSpPr>
            <p:cNvPr name="Freeform 15" id="15" descr="preencoded.png"/>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lnTo>
                    <a:pt x="0" y="0"/>
                  </a:lnTo>
                  <a:close/>
                </a:path>
              </a:pathLst>
            </a:custGeom>
            <a:blipFill>
              <a:blip r:embed="rId2">
                <a:alphaModFix amt="9999"/>
              </a:blip>
              <a:stretch>
                <a:fillRect l="-16360" t="0" r="-16361" b="0"/>
              </a:stretch>
            </a:blipFill>
          </p:spPr>
        </p:sp>
      </p:grpSp>
      <p:grpSp>
        <p:nvGrpSpPr>
          <p:cNvPr name="Group 16" id="16"/>
          <p:cNvGrpSpPr/>
          <p:nvPr/>
        </p:nvGrpSpPr>
        <p:grpSpPr>
          <a:xfrm rot="0">
            <a:off x="857250" y="429311"/>
            <a:ext cx="16573043" cy="921982"/>
            <a:chOff x="0" y="0"/>
            <a:chExt cx="22097390" cy="1229309"/>
          </a:xfrm>
        </p:grpSpPr>
        <p:sp>
          <p:nvSpPr>
            <p:cNvPr name="Freeform 17" id="17"/>
            <p:cNvSpPr/>
            <p:nvPr/>
          </p:nvSpPr>
          <p:spPr>
            <a:xfrm flipH="false" flipV="false" rot="0">
              <a:off x="0" y="0"/>
              <a:ext cx="22097364" cy="1229360"/>
            </a:xfrm>
            <a:custGeom>
              <a:avLst/>
              <a:gdLst/>
              <a:ahLst/>
              <a:cxnLst/>
              <a:rect r="r" b="b" t="t" l="l"/>
              <a:pathLst>
                <a:path h="1229360" w="22097364">
                  <a:moveTo>
                    <a:pt x="0" y="192753"/>
                  </a:moveTo>
                  <a:cubicBezTo>
                    <a:pt x="0" y="86306"/>
                    <a:pt x="93599" y="0"/>
                    <a:pt x="209042" y="0"/>
                  </a:cubicBezTo>
                  <a:lnTo>
                    <a:pt x="21888323" y="0"/>
                  </a:lnTo>
                  <a:cubicBezTo>
                    <a:pt x="22003765" y="0"/>
                    <a:pt x="22097364" y="86306"/>
                    <a:pt x="22097364" y="192753"/>
                  </a:cubicBezTo>
                  <a:lnTo>
                    <a:pt x="22097364" y="1036603"/>
                  </a:lnTo>
                  <a:cubicBezTo>
                    <a:pt x="22097364" y="1143050"/>
                    <a:pt x="22003765" y="1229360"/>
                    <a:pt x="21888323" y="1229360"/>
                  </a:cubicBezTo>
                  <a:lnTo>
                    <a:pt x="209042" y="1229360"/>
                  </a:lnTo>
                  <a:cubicBezTo>
                    <a:pt x="93599" y="1229360"/>
                    <a:pt x="0" y="1143050"/>
                    <a:pt x="0" y="1036603"/>
                  </a:cubicBezTo>
                  <a:close/>
                </a:path>
              </a:pathLst>
            </a:custGeom>
            <a:solidFill>
              <a:srgbClr val="FFFFFF">
                <a:alpha val="90196"/>
              </a:srgbClr>
            </a:solidFill>
          </p:spPr>
        </p:sp>
      </p:grpSp>
      <p:grpSp>
        <p:nvGrpSpPr>
          <p:cNvPr name="Group 18" id="18"/>
          <p:cNvGrpSpPr/>
          <p:nvPr/>
        </p:nvGrpSpPr>
        <p:grpSpPr>
          <a:xfrm rot="0">
            <a:off x="1286561" y="571957"/>
            <a:ext cx="1899666" cy="714604"/>
            <a:chOff x="0" y="0"/>
            <a:chExt cx="2532888" cy="952805"/>
          </a:xfrm>
        </p:grpSpPr>
        <p:sp>
          <p:nvSpPr>
            <p:cNvPr name="Freeform 19" id="19" descr="preencoded.png"/>
            <p:cNvSpPr/>
            <p:nvPr/>
          </p:nvSpPr>
          <p:spPr>
            <a:xfrm flipH="false" flipV="false" rot="0">
              <a:off x="0" y="0"/>
              <a:ext cx="2532888" cy="952754"/>
            </a:xfrm>
            <a:custGeom>
              <a:avLst/>
              <a:gdLst/>
              <a:ahLst/>
              <a:cxnLst/>
              <a:rect r="r" b="b" t="t" l="l"/>
              <a:pathLst>
                <a:path h="952754" w="2532888">
                  <a:moveTo>
                    <a:pt x="0" y="0"/>
                  </a:moveTo>
                  <a:lnTo>
                    <a:pt x="2532888" y="0"/>
                  </a:lnTo>
                  <a:lnTo>
                    <a:pt x="2532888" y="952754"/>
                  </a:lnTo>
                  <a:lnTo>
                    <a:pt x="0" y="952754"/>
                  </a:lnTo>
                  <a:lnTo>
                    <a:pt x="0" y="0"/>
                  </a:lnTo>
                  <a:close/>
                </a:path>
              </a:pathLst>
            </a:custGeom>
            <a:blipFill>
              <a:blip r:embed="rId5"/>
              <a:stretch>
                <a:fillRect l="0" t="-10" r="0" b="-14"/>
              </a:stretch>
            </a:blipFill>
          </p:spPr>
        </p:sp>
      </p:grpSp>
      <p:grpSp>
        <p:nvGrpSpPr>
          <p:cNvPr name="Group 20" id="20"/>
          <p:cNvGrpSpPr/>
          <p:nvPr/>
        </p:nvGrpSpPr>
        <p:grpSpPr>
          <a:xfrm rot="0">
            <a:off x="16287750" y="571957"/>
            <a:ext cx="714604" cy="714604"/>
            <a:chOff x="0" y="0"/>
            <a:chExt cx="952805" cy="952805"/>
          </a:xfrm>
        </p:grpSpPr>
        <p:sp>
          <p:nvSpPr>
            <p:cNvPr name="Freeform 21" id="21" descr="preencoded.png"/>
            <p:cNvSpPr/>
            <p:nvPr/>
          </p:nvSpPr>
          <p:spPr>
            <a:xfrm flipH="false" flipV="false" rot="0">
              <a:off x="0" y="0"/>
              <a:ext cx="952754" cy="952754"/>
            </a:xfrm>
            <a:custGeom>
              <a:avLst/>
              <a:gdLst/>
              <a:ahLst/>
              <a:cxnLst/>
              <a:rect r="r" b="b" t="t" l="l"/>
              <a:pathLst>
                <a:path h="952754" w="952754">
                  <a:moveTo>
                    <a:pt x="0" y="0"/>
                  </a:moveTo>
                  <a:lnTo>
                    <a:pt x="952754" y="0"/>
                  </a:lnTo>
                  <a:lnTo>
                    <a:pt x="952754" y="952754"/>
                  </a:lnTo>
                  <a:lnTo>
                    <a:pt x="0" y="952754"/>
                  </a:lnTo>
                  <a:lnTo>
                    <a:pt x="0" y="0"/>
                  </a:lnTo>
                  <a:close/>
                </a:path>
              </a:pathLst>
            </a:custGeom>
            <a:blipFill>
              <a:blip r:embed="rId3"/>
              <a:stretch>
                <a:fillRect l="0" t="0" r="-5" b="-5"/>
              </a:stretch>
            </a:blipFill>
          </p:spPr>
        </p:sp>
      </p:grpSp>
      <p:grpSp>
        <p:nvGrpSpPr>
          <p:cNvPr name="Group 22" id="22"/>
          <p:cNvGrpSpPr/>
          <p:nvPr/>
        </p:nvGrpSpPr>
        <p:grpSpPr>
          <a:xfrm rot="0">
            <a:off x="1018946" y="1429207"/>
            <a:ext cx="113843" cy="614477"/>
            <a:chOff x="0" y="0"/>
            <a:chExt cx="151790" cy="819302"/>
          </a:xfrm>
        </p:grpSpPr>
        <p:sp>
          <p:nvSpPr>
            <p:cNvPr name="Freeform 23" id="23"/>
            <p:cNvSpPr/>
            <p:nvPr/>
          </p:nvSpPr>
          <p:spPr>
            <a:xfrm flipH="false" flipV="false" rot="0">
              <a:off x="0" y="0"/>
              <a:ext cx="151765" cy="819277"/>
            </a:xfrm>
            <a:custGeom>
              <a:avLst/>
              <a:gdLst/>
              <a:ahLst/>
              <a:cxnLst/>
              <a:rect r="r" b="b" t="t" l="l"/>
              <a:pathLst>
                <a:path h="819277" w="151765">
                  <a:moveTo>
                    <a:pt x="0" y="0"/>
                  </a:moveTo>
                  <a:lnTo>
                    <a:pt x="151765" y="0"/>
                  </a:lnTo>
                  <a:lnTo>
                    <a:pt x="151765" y="819277"/>
                  </a:lnTo>
                  <a:lnTo>
                    <a:pt x="0" y="819277"/>
                  </a:lnTo>
                  <a:close/>
                </a:path>
              </a:pathLst>
            </a:custGeom>
            <a:solidFill>
              <a:srgbClr val="88E555"/>
            </a:solidFill>
          </p:spPr>
        </p:sp>
      </p:grpSp>
      <p:grpSp>
        <p:nvGrpSpPr>
          <p:cNvPr name="Group 24" id="24"/>
          <p:cNvGrpSpPr/>
          <p:nvPr/>
        </p:nvGrpSpPr>
        <p:grpSpPr>
          <a:xfrm rot="0">
            <a:off x="1137533" y="1351293"/>
            <a:ext cx="15803741" cy="967969"/>
            <a:chOff x="0" y="0"/>
            <a:chExt cx="21071654" cy="1290625"/>
          </a:xfrm>
        </p:grpSpPr>
        <p:sp>
          <p:nvSpPr>
            <p:cNvPr name="Freeform 25" id="25"/>
            <p:cNvSpPr/>
            <p:nvPr/>
          </p:nvSpPr>
          <p:spPr>
            <a:xfrm flipH="false" flipV="false" rot="0">
              <a:off x="0" y="0"/>
              <a:ext cx="21071655" cy="1290624"/>
            </a:xfrm>
            <a:custGeom>
              <a:avLst/>
              <a:gdLst/>
              <a:ahLst/>
              <a:cxnLst/>
              <a:rect r="r" b="b" t="t" l="l"/>
              <a:pathLst>
                <a:path h="1290624" w="21071655">
                  <a:moveTo>
                    <a:pt x="0" y="0"/>
                  </a:moveTo>
                  <a:lnTo>
                    <a:pt x="21071655" y="0"/>
                  </a:lnTo>
                  <a:lnTo>
                    <a:pt x="21071655" y="1290624"/>
                  </a:lnTo>
                  <a:lnTo>
                    <a:pt x="0" y="1290624"/>
                  </a:lnTo>
                  <a:close/>
                </a:path>
              </a:pathLst>
            </a:custGeom>
            <a:blipFill>
              <a:blip r:embed="rId6">
                <a:alphaModFix amt="0"/>
              </a:blip>
              <a:stretch>
                <a:fillRect l="0" t="-103420" r="56110" b="-75828"/>
              </a:stretch>
            </a:blipFill>
          </p:spPr>
        </p:sp>
        <p:sp>
          <p:nvSpPr>
            <p:cNvPr name="TextBox 26" id="26"/>
            <p:cNvSpPr txBox="true"/>
            <p:nvPr/>
          </p:nvSpPr>
          <p:spPr>
            <a:xfrm>
              <a:off x="0" y="-38100"/>
              <a:ext cx="21071654" cy="1328725"/>
            </a:xfrm>
            <a:prstGeom prst="rect">
              <a:avLst/>
            </a:prstGeom>
          </p:spPr>
          <p:txBody>
            <a:bodyPr anchor="ctr" rtlCol="false" tIns="0" lIns="0" bIns="0" rIns="0"/>
            <a:lstStyle/>
            <a:p>
              <a:pPr algn="l">
                <a:lnSpc>
                  <a:spcPts val="4680"/>
                </a:lnSpc>
              </a:pPr>
              <a:r>
                <a:rPr lang="en-US" sz="3900" b="true">
                  <a:solidFill>
                    <a:srgbClr val="FFFFFF"/>
                  </a:solidFill>
                  <a:latin typeface="Poppins Bold"/>
                  <a:ea typeface="Poppins Bold"/>
                  <a:cs typeface="Poppins Bold"/>
                  <a:sym typeface="Poppins Bold"/>
                </a:rPr>
                <a:t> </a:t>
              </a:r>
              <a:r>
                <a:rPr lang="en-US" sz="3900" b="true">
                  <a:solidFill>
                    <a:srgbClr val="FFFFFF"/>
                  </a:solidFill>
                  <a:latin typeface="Poppins Bold"/>
                  <a:ea typeface="Poppins Bold"/>
                  <a:cs typeface="Poppins Bold"/>
                  <a:sym typeface="Poppins Bold"/>
                </a:rPr>
                <a:t>FAILURE ANALYSIS &amp; LIMITATIONS</a:t>
              </a:r>
            </a:p>
          </p:txBody>
        </p:sp>
      </p:grpSp>
      <p:grpSp>
        <p:nvGrpSpPr>
          <p:cNvPr name="Group 27" id="27"/>
          <p:cNvGrpSpPr/>
          <p:nvPr/>
        </p:nvGrpSpPr>
        <p:grpSpPr>
          <a:xfrm rot="0">
            <a:off x="710921" y="2161182"/>
            <a:ext cx="16884752" cy="7959592"/>
            <a:chOff x="0" y="0"/>
            <a:chExt cx="22513002" cy="10612789"/>
          </a:xfrm>
        </p:grpSpPr>
        <p:sp>
          <p:nvSpPr>
            <p:cNvPr name="Freeform 28" id="28"/>
            <p:cNvSpPr/>
            <p:nvPr/>
          </p:nvSpPr>
          <p:spPr>
            <a:xfrm flipH="false" flipV="false" rot="0">
              <a:off x="0" y="0"/>
              <a:ext cx="22513103" cy="10612891"/>
            </a:xfrm>
            <a:custGeom>
              <a:avLst/>
              <a:gdLst/>
              <a:ahLst/>
              <a:cxnLst/>
              <a:rect r="r" b="b" t="t" l="l"/>
              <a:pathLst>
                <a:path h="10612891" w="22513103">
                  <a:moveTo>
                    <a:pt x="0" y="65739"/>
                  </a:moveTo>
                  <a:cubicBezTo>
                    <a:pt x="0" y="29469"/>
                    <a:pt x="26882" y="0"/>
                    <a:pt x="59967" y="0"/>
                  </a:cubicBezTo>
                  <a:lnTo>
                    <a:pt x="22453138" y="0"/>
                  </a:lnTo>
                  <a:cubicBezTo>
                    <a:pt x="22486224" y="0"/>
                    <a:pt x="22513103" y="29469"/>
                    <a:pt x="22513103" y="65739"/>
                  </a:cubicBezTo>
                  <a:lnTo>
                    <a:pt x="22513103" y="10547164"/>
                  </a:lnTo>
                  <a:cubicBezTo>
                    <a:pt x="22513103" y="10583433"/>
                    <a:pt x="22486224" y="10612891"/>
                    <a:pt x="22453138" y="10612891"/>
                  </a:cubicBezTo>
                  <a:lnTo>
                    <a:pt x="59967" y="10612891"/>
                  </a:lnTo>
                  <a:cubicBezTo>
                    <a:pt x="26882" y="10612761"/>
                    <a:pt x="0" y="10583433"/>
                    <a:pt x="0" y="10547164"/>
                  </a:cubicBezTo>
                  <a:close/>
                </a:path>
              </a:pathLst>
            </a:custGeom>
            <a:solidFill>
              <a:srgbClr val="FFFFFF">
                <a:alpha val="0"/>
              </a:srgbClr>
            </a:solidFill>
            <a:ln w="19050" cap="sq">
              <a:solidFill>
                <a:srgbClr val="88E555"/>
              </a:solidFill>
              <a:prstDash val="solid"/>
              <a:miter/>
            </a:ln>
          </p:spPr>
        </p:sp>
      </p:grpSp>
      <p:grpSp>
        <p:nvGrpSpPr>
          <p:cNvPr name="Group 29" id="29"/>
          <p:cNvGrpSpPr/>
          <p:nvPr/>
        </p:nvGrpSpPr>
        <p:grpSpPr>
          <a:xfrm rot="0">
            <a:off x="733425" y="2364943"/>
            <a:ext cx="342443" cy="342443"/>
            <a:chOff x="0" y="0"/>
            <a:chExt cx="456590" cy="456590"/>
          </a:xfrm>
        </p:grpSpPr>
        <p:sp>
          <p:nvSpPr>
            <p:cNvPr name="Freeform 30" id="30"/>
            <p:cNvSpPr/>
            <p:nvPr/>
          </p:nvSpPr>
          <p:spPr>
            <a:xfrm flipH="false" flipV="false" rot="0">
              <a:off x="0" y="0"/>
              <a:ext cx="456565" cy="456565"/>
            </a:xfrm>
            <a:custGeom>
              <a:avLst/>
              <a:gdLst/>
              <a:ahLst/>
              <a:cxnLst/>
              <a:rect r="r" b="b" t="t" l="l"/>
              <a:pathLst>
                <a:path h="456565" w="456565">
                  <a:moveTo>
                    <a:pt x="0" y="228346"/>
                  </a:moveTo>
                  <a:cubicBezTo>
                    <a:pt x="0" y="102235"/>
                    <a:pt x="102235" y="0"/>
                    <a:pt x="228346" y="0"/>
                  </a:cubicBezTo>
                  <a:cubicBezTo>
                    <a:pt x="354457" y="0"/>
                    <a:pt x="456565" y="102235"/>
                    <a:pt x="456565" y="228346"/>
                  </a:cubicBezTo>
                  <a:cubicBezTo>
                    <a:pt x="456565" y="354457"/>
                    <a:pt x="354330" y="456565"/>
                    <a:pt x="228346" y="456565"/>
                  </a:cubicBezTo>
                  <a:cubicBezTo>
                    <a:pt x="102362" y="456565"/>
                    <a:pt x="0" y="354330"/>
                    <a:pt x="0" y="228346"/>
                  </a:cubicBezTo>
                  <a:close/>
                </a:path>
              </a:pathLst>
            </a:custGeom>
            <a:blipFill>
              <a:blip r:embed="rId6">
                <a:alphaModFix amt="0"/>
              </a:blip>
              <a:stretch>
                <a:fillRect l="-78307" t="0" r="-78313" b="-5"/>
              </a:stretch>
            </a:blipFill>
            <a:ln w="57150" cap="sq">
              <a:solidFill>
                <a:srgbClr val="88E555"/>
              </a:solidFill>
              <a:prstDash val="solid"/>
              <a:miter/>
            </a:ln>
          </p:spPr>
        </p:sp>
      </p:grpSp>
      <p:grpSp>
        <p:nvGrpSpPr>
          <p:cNvPr name="Group 31" id="31"/>
          <p:cNvGrpSpPr/>
          <p:nvPr/>
        </p:nvGrpSpPr>
        <p:grpSpPr>
          <a:xfrm rot="0">
            <a:off x="17087850" y="2364943"/>
            <a:ext cx="371018" cy="342443"/>
            <a:chOff x="0" y="0"/>
            <a:chExt cx="494690" cy="456590"/>
          </a:xfrm>
        </p:grpSpPr>
        <p:sp>
          <p:nvSpPr>
            <p:cNvPr name="Freeform 32" id="32"/>
            <p:cNvSpPr/>
            <p:nvPr/>
          </p:nvSpPr>
          <p:spPr>
            <a:xfrm flipH="false" flipV="false" rot="0">
              <a:off x="0" y="0"/>
              <a:ext cx="494663" cy="456565"/>
            </a:xfrm>
            <a:custGeom>
              <a:avLst/>
              <a:gdLst/>
              <a:ahLst/>
              <a:cxnLst/>
              <a:rect r="r" b="b" t="t" l="l"/>
              <a:pathLst>
                <a:path h="456565" w="494663">
                  <a:moveTo>
                    <a:pt x="0" y="0"/>
                  </a:moveTo>
                  <a:lnTo>
                    <a:pt x="494663" y="0"/>
                  </a:lnTo>
                  <a:lnTo>
                    <a:pt x="494663" y="456565"/>
                  </a:lnTo>
                  <a:lnTo>
                    <a:pt x="0" y="456565"/>
                  </a:lnTo>
                  <a:close/>
                </a:path>
              </a:pathLst>
            </a:custGeom>
            <a:blipFill>
              <a:blip r:embed="rId6">
                <a:alphaModFix amt="0"/>
              </a:blip>
              <a:stretch>
                <a:fillRect l="-72276" t="0" r="-64580" b="-5"/>
              </a:stretch>
            </a:blipFill>
            <a:ln w="57150" cap="sq">
              <a:solidFill>
                <a:srgbClr val="88E555"/>
              </a:solidFill>
              <a:prstDash val="solid"/>
              <a:miter/>
            </a:ln>
          </p:spPr>
        </p:sp>
      </p:grpSp>
      <p:grpSp>
        <p:nvGrpSpPr>
          <p:cNvPr name="Group 33" id="33"/>
          <p:cNvGrpSpPr/>
          <p:nvPr/>
        </p:nvGrpSpPr>
        <p:grpSpPr>
          <a:xfrm rot="0">
            <a:off x="733425" y="9583729"/>
            <a:ext cx="342443" cy="342443"/>
            <a:chOff x="0" y="0"/>
            <a:chExt cx="456590" cy="456590"/>
          </a:xfrm>
        </p:grpSpPr>
        <p:sp>
          <p:nvSpPr>
            <p:cNvPr name="Freeform 34" id="34"/>
            <p:cNvSpPr/>
            <p:nvPr/>
          </p:nvSpPr>
          <p:spPr>
            <a:xfrm flipH="false" flipV="false" rot="0">
              <a:off x="0" y="0"/>
              <a:ext cx="456565" cy="456565"/>
            </a:xfrm>
            <a:custGeom>
              <a:avLst/>
              <a:gdLst/>
              <a:ahLst/>
              <a:cxnLst/>
              <a:rect r="r" b="b" t="t" l="l"/>
              <a:pathLst>
                <a:path h="456565" w="456565">
                  <a:moveTo>
                    <a:pt x="0" y="0"/>
                  </a:moveTo>
                  <a:lnTo>
                    <a:pt x="456565" y="0"/>
                  </a:lnTo>
                  <a:lnTo>
                    <a:pt x="456565" y="456565"/>
                  </a:lnTo>
                  <a:lnTo>
                    <a:pt x="0" y="456565"/>
                  </a:lnTo>
                  <a:close/>
                </a:path>
              </a:pathLst>
            </a:custGeom>
            <a:blipFill>
              <a:blip r:embed="rId6">
                <a:alphaModFix amt="0"/>
              </a:blip>
              <a:stretch>
                <a:fillRect l="-78307" t="0" r="-78313" b="-5"/>
              </a:stretch>
            </a:blipFill>
            <a:ln w="57150" cap="sq">
              <a:solidFill>
                <a:srgbClr val="88E555"/>
              </a:solidFill>
              <a:prstDash val="solid"/>
              <a:miter/>
            </a:ln>
          </p:spPr>
        </p:sp>
      </p:grpSp>
      <p:grpSp>
        <p:nvGrpSpPr>
          <p:cNvPr name="Group 35" id="35"/>
          <p:cNvGrpSpPr/>
          <p:nvPr/>
        </p:nvGrpSpPr>
        <p:grpSpPr>
          <a:xfrm rot="0">
            <a:off x="17243700" y="9632002"/>
            <a:ext cx="342443" cy="342443"/>
            <a:chOff x="0" y="0"/>
            <a:chExt cx="456590" cy="456590"/>
          </a:xfrm>
        </p:grpSpPr>
        <p:sp>
          <p:nvSpPr>
            <p:cNvPr name="Freeform 36" id="36"/>
            <p:cNvSpPr/>
            <p:nvPr/>
          </p:nvSpPr>
          <p:spPr>
            <a:xfrm flipH="false" flipV="false" rot="0">
              <a:off x="0" y="0"/>
              <a:ext cx="456565" cy="456565"/>
            </a:xfrm>
            <a:custGeom>
              <a:avLst/>
              <a:gdLst/>
              <a:ahLst/>
              <a:cxnLst/>
              <a:rect r="r" b="b" t="t" l="l"/>
              <a:pathLst>
                <a:path h="456565" w="456565">
                  <a:moveTo>
                    <a:pt x="0" y="0"/>
                  </a:moveTo>
                  <a:lnTo>
                    <a:pt x="456565" y="0"/>
                  </a:lnTo>
                  <a:lnTo>
                    <a:pt x="456565" y="456565"/>
                  </a:lnTo>
                  <a:lnTo>
                    <a:pt x="0" y="456565"/>
                  </a:lnTo>
                  <a:close/>
                </a:path>
              </a:pathLst>
            </a:custGeom>
            <a:blipFill>
              <a:blip r:embed="rId6">
                <a:alphaModFix amt="0"/>
              </a:blip>
              <a:stretch>
                <a:fillRect l="-78307" t="0" r="-78313" b="-5"/>
              </a:stretch>
            </a:blipFill>
            <a:ln w="57150" cap="sq">
              <a:solidFill>
                <a:srgbClr val="88E555"/>
              </a:solidFill>
              <a:prstDash val="solid"/>
              <a:miter/>
            </a:ln>
          </p:spPr>
        </p:sp>
      </p:grpSp>
      <p:grpSp>
        <p:nvGrpSpPr>
          <p:cNvPr name="Group 37" id="37"/>
          <p:cNvGrpSpPr/>
          <p:nvPr/>
        </p:nvGrpSpPr>
        <p:grpSpPr>
          <a:xfrm rot="0">
            <a:off x="2685593" y="7848295"/>
            <a:ext cx="13916254" cy="13716"/>
            <a:chOff x="0" y="0"/>
            <a:chExt cx="18555005" cy="18288"/>
          </a:xfrm>
        </p:grpSpPr>
        <p:sp>
          <p:nvSpPr>
            <p:cNvPr name="Freeform 38" id="38"/>
            <p:cNvSpPr/>
            <p:nvPr/>
          </p:nvSpPr>
          <p:spPr>
            <a:xfrm flipH="false" flipV="false" rot="0">
              <a:off x="0" y="0"/>
              <a:ext cx="18554954" cy="18288"/>
            </a:xfrm>
            <a:custGeom>
              <a:avLst/>
              <a:gdLst/>
              <a:ahLst/>
              <a:cxnLst/>
              <a:rect r="r" b="b" t="t" l="l"/>
              <a:pathLst>
                <a:path h="18288" w="18554954">
                  <a:moveTo>
                    <a:pt x="0" y="0"/>
                  </a:moveTo>
                  <a:lnTo>
                    <a:pt x="18554954" y="0"/>
                  </a:lnTo>
                  <a:lnTo>
                    <a:pt x="18554954" y="18288"/>
                  </a:lnTo>
                  <a:lnTo>
                    <a:pt x="0" y="18288"/>
                  </a:lnTo>
                  <a:close/>
                </a:path>
              </a:pathLst>
            </a:custGeom>
            <a:solidFill>
              <a:srgbClr val="1E40AF">
                <a:alpha val="8627"/>
              </a:srgbClr>
            </a:solidFill>
          </p:spPr>
        </p:sp>
      </p:grpSp>
      <p:grpSp>
        <p:nvGrpSpPr>
          <p:cNvPr name="Group 39" id="39"/>
          <p:cNvGrpSpPr/>
          <p:nvPr/>
        </p:nvGrpSpPr>
        <p:grpSpPr>
          <a:xfrm rot="0">
            <a:off x="2685593" y="8491576"/>
            <a:ext cx="13916254" cy="13716"/>
            <a:chOff x="0" y="0"/>
            <a:chExt cx="18555005" cy="18288"/>
          </a:xfrm>
        </p:grpSpPr>
        <p:sp>
          <p:nvSpPr>
            <p:cNvPr name="Freeform 40" id="40"/>
            <p:cNvSpPr/>
            <p:nvPr/>
          </p:nvSpPr>
          <p:spPr>
            <a:xfrm flipH="false" flipV="false" rot="0">
              <a:off x="0" y="0"/>
              <a:ext cx="18554954" cy="18288"/>
            </a:xfrm>
            <a:custGeom>
              <a:avLst/>
              <a:gdLst/>
              <a:ahLst/>
              <a:cxnLst/>
              <a:rect r="r" b="b" t="t" l="l"/>
              <a:pathLst>
                <a:path h="18288" w="18554954">
                  <a:moveTo>
                    <a:pt x="0" y="0"/>
                  </a:moveTo>
                  <a:lnTo>
                    <a:pt x="18554954" y="0"/>
                  </a:lnTo>
                  <a:lnTo>
                    <a:pt x="18554954" y="18288"/>
                  </a:lnTo>
                  <a:lnTo>
                    <a:pt x="0" y="18288"/>
                  </a:lnTo>
                  <a:close/>
                </a:path>
              </a:pathLst>
            </a:custGeom>
            <a:solidFill>
              <a:srgbClr val="1E40AF">
                <a:alpha val="8627"/>
              </a:srgbClr>
            </a:solidFill>
          </p:spPr>
        </p:sp>
      </p:grpSp>
      <p:grpSp>
        <p:nvGrpSpPr>
          <p:cNvPr name="Group 41" id="41"/>
          <p:cNvGrpSpPr/>
          <p:nvPr/>
        </p:nvGrpSpPr>
        <p:grpSpPr>
          <a:xfrm rot="0">
            <a:off x="7938249" y="341566"/>
            <a:ext cx="2411054" cy="1175385"/>
            <a:chOff x="0" y="0"/>
            <a:chExt cx="3214738" cy="1567180"/>
          </a:xfrm>
        </p:grpSpPr>
        <p:sp>
          <p:nvSpPr>
            <p:cNvPr name="Freeform 42" id="42"/>
            <p:cNvSpPr/>
            <p:nvPr/>
          </p:nvSpPr>
          <p:spPr>
            <a:xfrm flipH="false" flipV="false" rot="0">
              <a:off x="0" y="0"/>
              <a:ext cx="3214751" cy="1567180"/>
            </a:xfrm>
            <a:custGeom>
              <a:avLst/>
              <a:gdLst/>
              <a:ahLst/>
              <a:cxnLst/>
              <a:rect r="r" b="b" t="t" l="l"/>
              <a:pathLst>
                <a:path h="1567180" w="3214751">
                  <a:moveTo>
                    <a:pt x="0" y="0"/>
                  </a:moveTo>
                  <a:lnTo>
                    <a:pt x="3214751" y="0"/>
                  </a:lnTo>
                  <a:lnTo>
                    <a:pt x="3214751" y="1567180"/>
                  </a:lnTo>
                  <a:lnTo>
                    <a:pt x="0" y="1567180"/>
                  </a:lnTo>
                  <a:lnTo>
                    <a:pt x="0" y="0"/>
                  </a:lnTo>
                  <a:close/>
                </a:path>
              </a:pathLst>
            </a:custGeom>
            <a:blipFill>
              <a:blip r:embed="rId7"/>
              <a:stretch>
                <a:fillRect l="0" t="0" r="0" b="0"/>
              </a:stretch>
            </a:blipFill>
          </p:spPr>
        </p:sp>
      </p:grpSp>
      <p:grpSp>
        <p:nvGrpSpPr>
          <p:cNvPr name="Group 43" id="43"/>
          <p:cNvGrpSpPr/>
          <p:nvPr/>
        </p:nvGrpSpPr>
        <p:grpSpPr>
          <a:xfrm rot="0">
            <a:off x="857250" y="64732"/>
            <a:ext cx="16573043" cy="1286561"/>
            <a:chOff x="0" y="0"/>
            <a:chExt cx="22097390" cy="1715414"/>
          </a:xfrm>
        </p:grpSpPr>
        <p:sp>
          <p:nvSpPr>
            <p:cNvPr name="Freeform 44" id="44"/>
            <p:cNvSpPr/>
            <p:nvPr/>
          </p:nvSpPr>
          <p:spPr>
            <a:xfrm flipH="false" flipV="false" rot="0">
              <a:off x="0" y="0"/>
              <a:ext cx="22097366" cy="1715389"/>
            </a:xfrm>
            <a:custGeom>
              <a:avLst/>
              <a:gdLst/>
              <a:ahLst/>
              <a:cxnLst/>
              <a:rect r="r" b="b" t="t" l="l"/>
              <a:pathLst>
                <a:path h="1715389" w="22097366">
                  <a:moveTo>
                    <a:pt x="0" y="162560"/>
                  </a:moveTo>
                  <a:cubicBezTo>
                    <a:pt x="0" y="72771"/>
                    <a:pt x="72771" y="0"/>
                    <a:pt x="162560" y="0"/>
                  </a:cubicBezTo>
                  <a:lnTo>
                    <a:pt x="21934805" y="0"/>
                  </a:lnTo>
                  <a:cubicBezTo>
                    <a:pt x="22024594" y="0"/>
                    <a:pt x="22097366" y="72771"/>
                    <a:pt x="22097366" y="162560"/>
                  </a:cubicBezTo>
                  <a:lnTo>
                    <a:pt x="22097366" y="1552829"/>
                  </a:lnTo>
                  <a:cubicBezTo>
                    <a:pt x="22097366" y="1642618"/>
                    <a:pt x="22024594" y="1715389"/>
                    <a:pt x="21934805" y="1715389"/>
                  </a:cubicBezTo>
                  <a:lnTo>
                    <a:pt x="162560" y="1715389"/>
                  </a:lnTo>
                  <a:cubicBezTo>
                    <a:pt x="72771" y="1715389"/>
                    <a:pt x="0" y="1642618"/>
                    <a:pt x="0" y="1552829"/>
                  </a:cubicBezTo>
                  <a:close/>
                </a:path>
              </a:pathLst>
            </a:custGeom>
            <a:solidFill>
              <a:srgbClr val="FFFFFF">
                <a:alpha val="90196"/>
              </a:srgbClr>
            </a:solidFill>
          </p:spPr>
        </p:sp>
      </p:grpSp>
      <p:grpSp>
        <p:nvGrpSpPr>
          <p:cNvPr name="Group 45" id="45"/>
          <p:cNvGrpSpPr/>
          <p:nvPr/>
        </p:nvGrpSpPr>
        <p:grpSpPr>
          <a:xfrm rot="0">
            <a:off x="2271151" y="260185"/>
            <a:ext cx="13745232" cy="879653"/>
            <a:chOff x="0" y="0"/>
            <a:chExt cx="18326976" cy="1172870"/>
          </a:xfrm>
        </p:grpSpPr>
        <p:sp>
          <p:nvSpPr>
            <p:cNvPr name="Freeform 46" id="46"/>
            <p:cNvSpPr/>
            <p:nvPr/>
          </p:nvSpPr>
          <p:spPr>
            <a:xfrm flipH="false" flipV="false" rot="0">
              <a:off x="0" y="0"/>
              <a:ext cx="18326988" cy="1172845"/>
            </a:xfrm>
            <a:custGeom>
              <a:avLst/>
              <a:gdLst/>
              <a:ahLst/>
              <a:cxnLst/>
              <a:rect r="r" b="b" t="t" l="l"/>
              <a:pathLst>
                <a:path h="1172845" w="18326988">
                  <a:moveTo>
                    <a:pt x="0" y="0"/>
                  </a:moveTo>
                  <a:lnTo>
                    <a:pt x="18326988" y="0"/>
                  </a:lnTo>
                  <a:lnTo>
                    <a:pt x="18326988" y="1172845"/>
                  </a:lnTo>
                  <a:lnTo>
                    <a:pt x="0" y="1172845"/>
                  </a:lnTo>
                  <a:lnTo>
                    <a:pt x="0" y="0"/>
                  </a:lnTo>
                  <a:close/>
                </a:path>
              </a:pathLst>
            </a:custGeom>
            <a:blipFill>
              <a:blip r:embed="rId8"/>
              <a:stretch>
                <a:fillRect l="0" t="-2" r="0" b="-4"/>
              </a:stretch>
            </a:blipFill>
          </p:spPr>
        </p:sp>
      </p:grpSp>
      <p:graphicFrame>
        <p:nvGraphicFramePr>
          <p:cNvPr name="Table 47" id="47"/>
          <p:cNvGraphicFramePr>
            <a:graphicFrameLocks noGrp="true"/>
          </p:cNvGraphicFramePr>
          <p:nvPr/>
        </p:nvGraphicFramePr>
        <p:xfrm>
          <a:off x="9643720" y="2848430"/>
          <a:ext cx="7170722" cy="7080018"/>
        </p:xfrm>
        <a:graphic>
          <a:graphicData uri="http://schemas.openxmlformats.org/drawingml/2006/table">
            <a:tbl>
              <a:tblPr/>
              <a:tblGrid>
                <a:gridCol w="2390241"/>
                <a:gridCol w="2390241"/>
                <a:gridCol w="2390241"/>
              </a:tblGrid>
              <a:tr h="753895">
                <a:tc>
                  <a:txBody>
                    <a:bodyPr anchor="t" rtlCol="false"/>
                    <a:lstStyle/>
                    <a:p>
                      <a:pPr algn="ctr">
                        <a:lnSpc>
                          <a:spcPts val="2100"/>
                        </a:lnSpc>
                        <a:defRPr/>
                      </a:pPr>
                      <a:r>
                        <a:rPr lang="en-US" b="true" sz="1500">
                          <a:solidFill>
                            <a:srgbClr val="000000"/>
                          </a:solidFill>
                          <a:latin typeface="Canva Sans Bold"/>
                          <a:ea typeface="Canva Sans Bold"/>
                          <a:cs typeface="Canva Sans Bold"/>
                          <a:sym typeface="Canva Sans Bold"/>
                        </a:rPr>
                        <a:t>FAILURE MODE</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solidFill>
                      <a:srgbClr val="F2F2F2"/>
                    </a:solidFill>
                  </a:tcPr>
                </a:tc>
                <a:tc>
                  <a:txBody>
                    <a:bodyPr anchor="t" rtlCol="false"/>
                    <a:lstStyle/>
                    <a:p>
                      <a:pPr algn="ctr">
                        <a:lnSpc>
                          <a:spcPts val="2100"/>
                        </a:lnSpc>
                        <a:defRPr/>
                      </a:pPr>
                      <a:r>
                        <a:rPr lang="en-US" b="true" sz="1500">
                          <a:solidFill>
                            <a:srgbClr val="000000"/>
                          </a:solidFill>
                          <a:latin typeface="Canva Sans Bold"/>
                          <a:ea typeface="Canva Sans Bold"/>
                          <a:cs typeface="Canva Sans Bold"/>
                          <a:sym typeface="Canva Sans Bold"/>
                        </a:rPr>
                        <a:t>OBSERVED ISSUE</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solidFill>
                      <a:srgbClr val="F2F2F2"/>
                    </a:solidFill>
                  </a:tcPr>
                </a:tc>
                <a:tc>
                  <a:txBody>
                    <a:bodyPr anchor="t" rtlCol="false"/>
                    <a:lstStyle/>
                    <a:p>
                      <a:pPr algn="ctr">
                        <a:lnSpc>
                          <a:spcPts val="2100"/>
                        </a:lnSpc>
                        <a:defRPr/>
                      </a:pPr>
                      <a:r>
                        <a:rPr lang="en-US" b="true" sz="1500">
                          <a:solidFill>
                            <a:srgbClr val="000000"/>
                          </a:solidFill>
                          <a:latin typeface="Canva Sans Bold"/>
                          <a:ea typeface="Canva Sans Bold"/>
                          <a:cs typeface="Canva Sans Bold"/>
                          <a:sym typeface="Canva Sans Bold"/>
                        </a:rPr>
                        <a:t>ALGORITHMIC RESPONSE</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solidFill>
                      <a:srgbClr val="F2F2F2"/>
                    </a:solidFill>
                  </a:tcPr>
                </a:tc>
              </a:tr>
              <a:tr h="867278">
                <a:tc>
                  <a:txBody>
                    <a:bodyPr anchor="t" rtlCol="false"/>
                    <a:lstStyle/>
                    <a:p>
                      <a:pPr algn="l">
                        <a:lnSpc>
                          <a:spcPts val="2100"/>
                        </a:lnSpc>
                        <a:defRPr/>
                      </a:pPr>
                      <a:r>
                        <a:rPr lang="en-US" sz="1500">
                          <a:solidFill>
                            <a:srgbClr val="FFFFFF"/>
                          </a:solidFill>
                          <a:latin typeface="Canva Sans"/>
                          <a:ea typeface="Canva Sans"/>
                          <a:cs typeface="Canva Sans"/>
                          <a:sym typeface="Canva Sans"/>
                        </a:rPr>
                        <a:t>Periodic Pitch Trap</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False correlation peak at repeated pitch</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Siamese re-ranking</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806205">
                <a:tc>
                  <a:txBody>
                    <a:bodyPr anchor="t" rtlCol="false"/>
                    <a:lstStyle/>
                    <a:p>
                      <a:pPr algn="l">
                        <a:lnSpc>
                          <a:spcPts val="2100"/>
                        </a:lnSpc>
                        <a:defRPr/>
                      </a:pPr>
                      <a:r>
                        <a:rPr lang="en-US" sz="1500">
                          <a:solidFill>
                            <a:srgbClr val="FFFFFF"/>
                          </a:solidFill>
                          <a:latin typeface="Canva Sans"/>
                          <a:ea typeface="Canva Sans"/>
                          <a:cs typeface="Canva Sans"/>
                          <a:sym typeface="Canva Sans"/>
                        </a:rPr>
                        <a:t>Vertical Grating Ambiguity</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Repeated multi-layer fin structures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Pyramidal search + center prior</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864837">
                <a:tc>
                  <a:txBody>
                    <a:bodyPr anchor="t" rtlCol="false"/>
                    <a:lstStyle/>
                    <a:p>
                      <a:pPr algn="l">
                        <a:lnSpc>
                          <a:spcPts val="2100"/>
                        </a:lnSpc>
                        <a:defRPr/>
                      </a:pPr>
                      <a:r>
                        <a:rPr lang="en-US" sz="1500">
                          <a:solidFill>
                            <a:srgbClr val="FFFFFF"/>
                          </a:solidFill>
                          <a:latin typeface="Canva Sans"/>
                          <a:ea typeface="Canva Sans"/>
                          <a:cs typeface="Canva Sans"/>
                          <a:sym typeface="Canva Sans"/>
                        </a:rPr>
                        <a:t>Low-Dose SEM Noise</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Corrupted peak / localization error</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CLAHE + bilateral filtering</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497843">
                <a:tc>
                  <a:txBody>
                    <a:bodyPr anchor="t" rtlCol="false"/>
                    <a:lstStyle/>
                    <a:p>
                      <a:pPr algn="l">
                        <a:lnSpc>
                          <a:spcPts val="2100"/>
                        </a:lnSpc>
                        <a:defRPr/>
                      </a:pPr>
                      <a:r>
                        <a:rPr lang="en-US" sz="1500">
                          <a:solidFill>
                            <a:srgbClr val="FFFFFF"/>
                          </a:solidFill>
                          <a:latin typeface="Canva Sans"/>
                          <a:ea typeface="Canva Sans"/>
                          <a:cs typeface="Canva Sans"/>
                          <a:sym typeface="Canva Sans"/>
                        </a:rPr>
                        <a:t>Charging Streaks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DC/raster shift bias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DC-invariant ZNCC</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881931">
                <a:tc>
                  <a:txBody>
                    <a:bodyPr anchor="t" rtlCol="false"/>
                    <a:lstStyle/>
                    <a:p>
                      <a:pPr algn="l">
                        <a:lnSpc>
                          <a:spcPts val="2100"/>
                        </a:lnSpc>
                        <a:defRPr/>
                      </a:pPr>
                      <a:r>
                        <a:rPr lang="en-US" sz="1500">
                          <a:solidFill>
                            <a:srgbClr val="FFFFFF"/>
                          </a:solidFill>
                          <a:latin typeface="Canva Sans"/>
                          <a:ea typeface="Canva Sans"/>
                          <a:cs typeface="Canva Sans"/>
                          <a:sym typeface="Canva Sans"/>
                        </a:rPr>
                        <a:t>Extreme Rotation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Edge smearing / pose mismatch</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Multi-angle pose search</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755192">
                <a:tc>
                  <a:txBody>
                    <a:bodyPr anchor="t" rtlCol="false"/>
                    <a:lstStyle/>
                    <a:p>
                      <a:pPr algn="l">
                        <a:lnSpc>
                          <a:spcPts val="2100"/>
                        </a:lnSpc>
                        <a:defRPr/>
                      </a:pPr>
                      <a:r>
                        <a:rPr lang="en-US" sz="1500">
                          <a:solidFill>
                            <a:srgbClr val="FFFFFF"/>
                          </a:solidFill>
                          <a:latin typeface="Canva Sans"/>
                          <a:ea typeface="Canva Sans"/>
                          <a:cs typeface="Canva Sans"/>
                          <a:sym typeface="Canva Sans"/>
                        </a:rPr>
                        <a:t>Featureless Lattice</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Low contrast / weak boundaries</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Directional gradient weighting</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833080">
                <a:tc>
                  <a:txBody>
                    <a:bodyPr anchor="t" rtlCol="false"/>
                    <a:lstStyle/>
                    <a:p>
                      <a:pPr algn="l">
                        <a:lnSpc>
                          <a:spcPts val="2100"/>
                        </a:lnSpc>
                        <a:defRPr/>
                      </a:pPr>
                      <a:r>
                        <a:rPr lang="en-US" sz="1500">
                          <a:solidFill>
                            <a:srgbClr val="FFFFFF"/>
                          </a:solidFill>
                          <a:latin typeface="Canva Sans"/>
                          <a:ea typeface="Canva Sans"/>
                          <a:cs typeface="Canva Sans"/>
                          <a:sym typeface="Canva Sans"/>
                        </a:rPr>
                        <a:t>Optical Chromatic Variation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Spectral localization drift</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BT.601 luminance conversion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r h="819757">
                <a:tc>
                  <a:txBody>
                    <a:bodyPr anchor="t" rtlCol="false"/>
                    <a:lstStyle/>
                    <a:p>
                      <a:pPr algn="l">
                        <a:lnSpc>
                          <a:spcPts val="2100"/>
                        </a:lnSpc>
                        <a:defRPr/>
                      </a:pPr>
                      <a:r>
                        <a:rPr lang="en-US" sz="1500">
                          <a:solidFill>
                            <a:srgbClr val="FFFFFF"/>
                          </a:solidFill>
                          <a:latin typeface="Canva Sans"/>
                          <a:ea typeface="Canva Sans"/>
                          <a:cs typeface="Canva Sans"/>
                          <a:sym typeface="Canva Sans"/>
                        </a:rPr>
                        <a:t>Target-Absent Decoy</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False alarm on background texture</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c>
                  <a:txBody>
                    <a:bodyPr anchor="t" rtlCol="false"/>
                    <a:lstStyle/>
                    <a:p>
                      <a:pPr algn="l">
                        <a:lnSpc>
                          <a:spcPts val="2100"/>
                        </a:lnSpc>
                        <a:defRPr/>
                      </a:pPr>
                      <a:r>
                        <a:rPr lang="en-US" sz="1500">
                          <a:solidFill>
                            <a:srgbClr val="FFFFFF"/>
                          </a:solidFill>
                          <a:latin typeface="Canva Sans"/>
                          <a:ea typeface="Canva Sans"/>
                          <a:cs typeface="Canva Sans"/>
                          <a:sym typeface="Canva Sans"/>
                        </a:rPr>
                        <a:t>Platt probability calibration</a:t>
                      </a:r>
                      <a:endParaRPr lang="en-US" sz="1100"/>
                    </a:p>
                  </a:txBody>
                  <a:tcPr marL="76200" marR="76200" marT="76200" marB="76200" anchor="ctr">
                    <a:lnL cmpd="sng" algn="ctr" cap="flat" w="9525">
                      <a:solidFill>
                        <a:srgbClr val="DDDDDD"/>
                      </a:solidFill>
                      <a:prstDash val="solid"/>
                      <a:round/>
                      <a:headEnd type="none" w="med" len="med"/>
                      <a:tailEnd type="none" w="med" len="med"/>
                    </a:lnL>
                    <a:lnR cmpd="sng" algn="ctr" cap="flat" w="9525">
                      <a:solidFill>
                        <a:srgbClr val="DDDDDD"/>
                      </a:solidFill>
                      <a:prstDash val="solid"/>
                      <a:round/>
                      <a:headEnd type="none" w="med" len="med"/>
                      <a:tailEnd type="none" w="med" len="med"/>
                    </a:lnR>
                    <a:lnT cmpd="sng" algn="ctr" cap="flat" w="9525">
                      <a:solidFill>
                        <a:srgbClr val="DDDDDD"/>
                      </a:solidFill>
                      <a:prstDash val="solid"/>
                      <a:round/>
                      <a:headEnd type="none" w="med" len="med"/>
                      <a:tailEnd type="none" w="med" len="med"/>
                    </a:lnT>
                    <a:lnB cmpd="sng" algn="ctr" cap="flat" w="9525">
                      <a:solidFill>
                        <a:srgbClr val="DDDDDD"/>
                      </a:solidFill>
                      <a:prstDash val="solid"/>
                      <a:round/>
                      <a:headEnd type="none" w="med" len="med"/>
                      <a:tailEnd type="none" w="med" len="med"/>
                    </a:lnB>
                  </a:tcPr>
                </a:tc>
              </a:tr>
            </a:tbl>
          </a:graphicData>
        </a:graphic>
      </p:graphicFrame>
      <p:sp>
        <p:nvSpPr>
          <p:cNvPr name="TextBox 48" id="48"/>
          <p:cNvSpPr txBox="true"/>
          <p:nvPr/>
        </p:nvSpPr>
        <p:spPr>
          <a:xfrm rot="0">
            <a:off x="1410686" y="2345893"/>
            <a:ext cx="3028633" cy="285750"/>
          </a:xfrm>
          <a:prstGeom prst="rect">
            <a:avLst/>
          </a:prstGeom>
        </p:spPr>
        <p:txBody>
          <a:bodyPr anchor="t" rtlCol="false" tIns="0" lIns="0" bIns="0" rIns="0">
            <a:spAutoFit/>
          </a:bodyPr>
          <a:lstStyle/>
          <a:p>
            <a:pPr algn="ctr">
              <a:lnSpc>
                <a:spcPts val="2160"/>
              </a:lnSpc>
              <a:spcBef>
                <a:spcPct val="0"/>
              </a:spcBef>
            </a:pPr>
            <a:r>
              <a:rPr lang="en-US" b="true" sz="1800">
                <a:solidFill>
                  <a:srgbClr val="FFFFFF"/>
                </a:solidFill>
                <a:latin typeface="Poppins Bold"/>
                <a:ea typeface="Poppins Bold"/>
                <a:cs typeface="Poppins Bold"/>
                <a:sym typeface="Poppins Bold"/>
              </a:rPr>
              <a:t>ROOT-CAUSE CATEGORIES</a:t>
            </a:r>
          </a:p>
        </p:txBody>
      </p:sp>
      <p:grpSp>
        <p:nvGrpSpPr>
          <p:cNvPr name="Group 49" id="49"/>
          <p:cNvGrpSpPr/>
          <p:nvPr/>
        </p:nvGrpSpPr>
        <p:grpSpPr>
          <a:xfrm rot="0">
            <a:off x="1075868" y="2848430"/>
            <a:ext cx="7255807" cy="2257425"/>
            <a:chOff x="0" y="0"/>
            <a:chExt cx="9674410" cy="3009900"/>
          </a:xfrm>
        </p:grpSpPr>
        <p:sp>
          <p:nvSpPr>
            <p:cNvPr name="Freeform 50" id="50"/>
            <p:cNvSpPr/>
            <p:nvPr/>
          </p:nvSpPr>
          <p:spPr>
            <a:xfrm flipH="false" flipV="false" rot="0">
              <a:off x="0" y="0"/>
              <a:ext cx="9674372" cy="3009841"/>
            </a:xfrm>
            <a:custGeom>
              <a:avLst/>
              <a:gdLst/>
              <a:ahLst/>
              <a:cxnLst/>
              <a:rect r="r" b="b" t="t" l="l"/>
              <a:pathLst>
                <a:path h="3009841" w="9674372">
                  <a:moveTo>
                    <a:pt x="0" y="128684"/>
                  </a:moveTo>
                  <a:cubicBezTo>
                    <a:pt x="0" y="57671"/>
                    <a:pt x="25207" y="0"/>
                    <a:pt x="56246" y="0"/>
                  </a:cubicBezTo>
                  <a:lnTo>
                    <a:pt x="9618125" y="0"/>
                  </a:lnTo>
                  <a:cubicBezTo>
                    <a:pt x="9649230" y="0"/>
                    <a:pt x="9674372" y="57671"/>
                    <a:pt x="9674372" y="128684"/>
                  </a:cubicBezTo>
                  <a:lnTo>
                    <a:pt x="9674372" y="2881157"/>
                  </a:lnTo>
                  <a:cubicBezTo>
                    <a:pt x="9674372" y="2952318"/>
                    <a:pt x="9649165" y="3009841"/>
                    <a:pt x="9618125" y="3009841"/>
                  </a:cubicBezTo>
                  <a:lnTo>
                    <a:pt x="56246" y="3009841"/>
                  </a:lnTo>
                  <a:cubicBezTo>
                    <a:pt x="25142" y="3009841"/>
                    <a:pt x="0" y="2952170"/>
                    <a:pt x="0" y="2881157"/>
                  </a:cubicBezTo>
                  <a:close/>
                </a:path>
              </a:pathLst>
            </a:custGeom>
            <a:solidFill>
              <a:srgbClr val="1E3A8A">
                <a:alpha val="15686"/>
              </a:srgbClr>
            </a:solidFill>
            <a:ln w="19050" cap="sq">
              <a:solidFill>
                <a:srgbClr val="1D4ED8"/>
              </a:solidFill>
              <a:prstDash val="solid"/>
              <a:miter/>
            </a:ln>
          </p:spPr>
        </p:sp>
      </p:grpSp>
      <p:sp>
        <p:nvSpPr>
          <p:cNvPr name="TextBox 51" id="51"/>
          <p:cNvSpPr txBox="true"/>
          <p:nvPr/>
        </p:nvSpPr>
        <p:spPr>
          <a:xfrm rot="0">
            <a:off x="1286561" y="2953205"/>
            <a:ext cx="6575586" cy="2152650"/>
          </a:xfrm>
          <a:prstGeom prst="rect">
            <a:avLst/>
          </a:prstGeom>
        </p:spPr>
        <p:txBody>
          <a:bodyPr anchor="t" rtlCol="false" tIns="0" lIns="0" bIns="0" rIns="0">
            <a:spAutoFit/>
          </a:bodyPr>
          <a:lstStyle/>
          <a:p>
            <a:pPr algn="ctr">
              <a:lnSpc>
                <a:spcPts val="2160"/>
              </a:lnSpc>
            </a:pPr>
            <a:r>
              <a:rPr lang="en-US" sz="1800" b="true">
                <a:solidFill>
                  <a:srgbClr val="FFFFFF"/>
                </a:solidFill>
                <a:latin typeface="Poppins Bold"/>
                <a:ea typeface="Poppins Bold"/>
                <a:cs typeface="Poppins Bold"/>
                <a:sym typeface="Poppins Bold"/>
              </a:rPr>
              <a:t>Failure sources</a:t>
            </a:r>
          </a:p>
          <a:p>
            <a:pPr algn="ctr">
              <a:lnSpc>
                <a:spcPts val="2160"/>
              </a:lnSpc>
            </a:pPr>
          </a:p>
          <a:p>
            <a:pPr algn="l" marL="388620" indent="-194310" lvl="1">
              <a:lnSpc>
                <a:spcPts val="2160"/>
              </a:lnSpc>
              <a:buFont typeface="Arial"/>
              <a:buChar char="•"/>
            </a:pPr>
            <a:r>
              <a:rPr lang="en-US" b="true" sz="1800">
                <a:solidFill>
                  <a:srgbClr val="FFFFFF"/>
                </a:solidFill>
                <a:latin typeface="Poppins Bold"/>
                <a:ea typeface="Poppins Bold"/>
                <a:cs typeface="Poppins Bold"/>
                <a:sym typeface="Poppins Bold"/>
              </a:rPr>
              <a:t>Geometric: rotation / pose mismatch</a:t>
            </a:r>
          </a:p>
          <a:p>
            <a:pPr algn="l" marL="388620" indent="-194310" lvl="1">
              <a:lnSpc>
                <a:spcPts val="2160"/>
              </a:lnSpc>
              <a:buFont typeface="Arial"/>
              <a:buChar char="•"/>
            </a:pPr>
            <a:r>
              <a:rPr lang="en-US" b="true" sz="1800">
                <a:solidFill>
                  <a:srgbClr val="FFFFFF"/>
                </a:solidFill>
                <a:latin typeface="Poppins Bold"/>
                <a:ea typeface="Poppins Bold"/>
                <a:cs typeface="Poppins Bold"/>
                <a:sym typeface="Poppins Bold"/>
              </a:rPr>
              <a:t>Periodic: repeated pitch &amp; grating ambiguity</a:t>
            </a:r>
          </a:p>
          <a:p>
            <a:pPr algn="l" marL="388620" indent="-194310" lvl="1">
              <a:lnSpc>
                <a:spcPts val="2160"/>
              </a:lnSpc>
              <a:buFont typeface="Arial"/>
              <a:buChar char="•"/>
            </a:pPr>
            <a:r>
              <a:rPr lang="en-US" b="true" sz="1800">
                <a:solidFill>
                  <a:srgbClr val="FFFFFF"/>
                </a:solidFill>
                <a:latin typeface="Poppins Bold"/>
                <a:ea typeface="Poppins Bold"/>
                <a:cs typeface="Poppins Bold"/>
                <a:sym typeface="Poppins Bold"/>
              </a:rPr>
              <a:t>Imaging: noise, blur &amp; charging artifacts</a:t>
            </a:r>
          </a:p>
          <a:p>
            <a:pPr algn="l" marL="388620" indent="-194310" lvl="1">
              <a:lnSpc>
                <a:spcPts val="2160"/>
              </a:lnSpc>
              <a:buFont typeface="Arial"/>
              <a:buChar char="•"/>
            </a:pPr>
            <a:r>
              <a:rPr lang="en-US" b="true" sz="1800">
                <a:solidFill>
                  <a:srgbClr val="FFFFFF"/>
                </a:solidFill>
                <a:latin typeface="Poppins Bold"/>
                <a:ea typeface="Poppins Bold"/>
                <a:cs typeface="Poppins Bold"/>
                <a:sym typeface="Poppins Bold"/>
              </a:rPr>
              <a:t>Optical: chromatic variation</a:t>
            </a:r>
          </a:p>
          <a:p>
            <a:pPr algn="l" marL="388620" indent="-194310" lvl="1">
              <a:lnSpc>
                <a:spcPts val="2160"/>
              </a:lnSpc>
              <a:buFont typeface="Arial"/>
              <a:buChar char="•"/>
            </a:pPr>
            <a:r>
              <a:rPr lang="en-US" b="true" sz="1800">
                <a:solidFill>
                  <a:srgbClr val="FFFFFF"/>
                </a:solidFill>
                <a:latin typeface="Poppins Bold"/>
                <a:ea typeface="Poppins Bold"/>
                <a:cs typeface="Poppins Bold"/>
                <a:sym typeface="Poppins Bold"/>
              </a:rPr>
              <a:t>Decision: target-absent false alarms</a:t>
            </a:r>
          </a:p>
          <a:p>
            <a:pPr algn="ctr">
              <a:lnSpc>
                <a:spcPts val="2160"/>
              </a:lnSpc>
              <a:spcBef>
                <a:spcPct val="0"/>
              </a:spcBef>
            </a:pPr>
          </a:p>
        </p:txBody>
      </p:sp>
      <p:grpSp>
        <p:nvGrpSpPr>
          <p:cNvPr name="Group 52" id="52"/>
          <p:cNvGrpSpPr/>
          <p:nvPr/>
        </p:nvGrpSpPr>
        <p:grpSpPr>
          <a:xfrm rot="0">
            <a:off x="1107066" y="5648780"/>
            <a:ext cx="7224609" cy="2447653"/>
            <a:chOff x="0" y="0"/>
            <a:chExt cx="9632812" cy="3263538"/>
          </a:xfrm>
        </p:grpSpPr>
        <p:sp>
          <p:nvSpPr>
            <p:cNvPr name="Freeform 53" id="53"/>
            <p:cNvSpPr/>
            <p:nvPr/>
          </p:nvSpPr>
          <p:spPr>
            <a:xfrm flipH="false" flipV="false" rot="0">
              <a:off x="0" y="0"/>
              <a:ext cx="9632774" cy="3263473"/>
            </a:xfrm>
            <a:custGeom>
              <a:avLst/>
              <a:gdLst/>
              <a:ahLst/>
              <a:cxnLst/>
              <a:rect r="r" b="b" t="t" l="l"/>
              <a:pathLst>
                <a:path h="3263473" w="9632774">
                  <a:moveTo>
                    <a:pt x="0" y="139528"/>
                  </a:moveTo>
                  <a:cubicBezTo>
                    <a:pt x="0" y="62530"/>
                    <a:pt x="25099" y="0"/>
                    <a:pt x="56004" y="0"/>
                  </a:cubicBezTo>
                  <a:lnTo>
                    <a:pt x="9576770" y="0"/>
                  </a:lnTo>
                  <a:cubicBezTo>
                    <a:pt x="9607740" y="0"/>
                    <a:pt x="9632774" y="62530"/>
                    <a:pt x="9632774" y="139528"/>
                  </a:cubicBezTo>
                  <a:lnTo>
                    <a:pt x="9632774" y="3123945"/>
                  </a:lnTo>
                  <a:cubicBezTo>
                    <a:pt x="9632774" y="3201104"/>
                    <a:pt x="9607676" y="3263473"/>
                    <a:pt x="9576770" y="3263473"/>
                  </a:cubicBezTo>
                  <a:lnTo>
                    <a:pt x="56004" y="3263473"/>
                  </a:lnTo>
                  <a:cubicBezTo>
                    <a:pt x="25034" y="3263473"/>
                    <a:pt x="0" y="3200943"/>
                    <a:pt x="0" y="3123945"/>
                  </a:cubicBezTo>
                  <a:close/>
                </a:path>
              </a:pathLst>
            </a:custGeom>
            <a:solidFill>
              <a:srgbClr val="1E3A8A">
                <a:alpha val="15686"/>
              </a:srgbClr>
            </a:solidFill>
            <a:ln w="19050" cap="sq">
              <a:solidFill>
                <a:srgbClr val="1D4ED8"/>
              </a:solidFill>
              <a:prstDash val="solid"/>
              <a:miter/>
            </a:ln>
          </p:spPr>
        </p:sp>
      </p:grpSp>
      <p:sp>
        <p:nvSpPr>
          <p:cNvPr name="TextBox 54" id="54"/>
          <p:cNvSpPr txBox="true"/>
          <p:nvPr/>
        </p:nvSpPr>
        <p:spPr>
          <a:xfrm rot="0">
            <a:off x="1137533" y="5258255"/>
            <a:ext cx="4645977" cy="285750"/>
          </a:xfrm>
          <a:prstGeom prst="rect">
            <a:avLst/>
          </a:prstGeom>
        </p:spPr>
        <p:txBody>
          <a:bodyPr anchor="t" rtlCol="false" tIns="0" lIns="0" bIns="0" rIns="0">
            <a:spAutoFit/>
          </a:bodyPr>
          <a:lstStyle/>
          <a:p>
            <a:pPr algn="ctr">
              <a:lnSpc>
                <a:spcPts val="2160"/>
              </a:lnSpc>
              <a:spcBef>
                <a:spcPct val="0"/>
              </a:spcBef>
            </a:pPr>
            <a:r>
              <a:rPr lang="en-US" b="true" sz="1800">
                <a:solidFill>
                  <a:srgbClr val="FFFFFF"/>
                </a:solidFill>
                <a:latin typeface="Poppins Bold"/>
                <a:ea typeface="Poppins Bold"/>
                <a:cs typeface="Poppins Bold"/>
                <a:sym typeface="Poppins Bold"/>
              </a:rPr>
              <a:t>WHAT THE FAILURE ANALYSIS TAUGHT US</a:t>
            </a:r>
          </a:p>
        </p:txBody>
      </p:sp>
      <p:sp>
        <p:nvSpPr>
          <p:cNvPr name="TextBox 55" id="55"/>
          <p:cNvSpPr txBox="true"/>
          <p:nvPr/>
        </p:nvSpPr>
        <p:spPr>
          <a:xfrm rot="0">
            <a:off x="1169462" y="5753555"/>
            <a:ext cx="6588847" cy="2152650"/>
          </a:xfrm>
          <a:prstGeom prst="rect">
            <a:avLst/>
          </a:prstGeom>
        </p:spPr>
        <p:txBody>
          <a:bodyPr anchor="t" rtlCol="false" tIns="0" lIns="0" bIns="0" rIns="0">
            <a:spAutoFit/>
          </a:bodyPr>
          <a:lstStyle/>
          <a:p>
            <a:pPr algn="l" marL="388620" indent="-194310" lvl="1">
              <a:lnSpc>
                <a:spcPts val="2160"/>
              </a:lnSpc>
              <a:buFont typeface="Arial"/>
              <a:buChar char="•"/>
            </a:pPr>
            <a:r>
              <a:rPr lang="en-US" b="true" sz="1800">
                <a:solidFill>
                  <a:srgbClr val="FFFFFF"/>
                </a:solidFill>
                <a:latin typeface="Poppins Bold"/>
                <a:ea typeface="Poppins Bold"/>
                <a:cs typeface="Poppins Bold"/>
                <a:sym typeface="Poppins Bold"/>
              </a:rPr>
              <a:t>High correlation ≠ correct localization</a:t>
            </a:r>
          </a:p>
          <a:p>
            <a:pPr algn="l" marL="388620" indent="-194310" lvl="1">
              <a:lnSpc>
                <a:spcPts val="2160"/>
              </a:lnSpc>
              <a:buFont typeface="Arial"/>
              <a:buChar char="•"/>
            </a:pPr>
            <a:r>
              <a:rPr lang="en-US" b="true" sz="1800">
                <a:solidFill>
                  <a:srgbClr val="FFFFFF"/>
                </a:solidFill>
                <a:latin typeface="Poppins Bold"/>
                <a:ea typeface="Poppins Bold"/>
                <a:cs typeface="Poppins Bold"/>
                <a:sym typeface="Poppins Bold"/>
              </a:rPr>
              <a:t>Local similarity can produce false peaks in periodic layouts.</a:t>
            </a:r>
          </a:p>
          <a:p>
            <a:pPr algn="l" marL="388620" indent="-194310" lvl="1">
              <a:lnSpc>
                <a:spcPts val="2160"/>
              </a:lnSpc>
              <a:buFont typeface="Arial"/>
              <a:buChar char="•"/>
            </a:pPr>
            <a:r>
              <a:rPr lang="en-US" b="true" sz="1800">
                <a:solidFill>
                  <a:srgbClr val="FFFFFF"/>
                </a:solidFill>
                <a:latin typeface="Poppins Bold"/>
                <a:ea typeface="Poppins Bold"/>
                <a:cs typeface="Poppins Bold"/>
                <a:sym typeface="Poppins Bold"/>
              </a:rPr>
              <a:t>Context and candidate verification are necessary.</a:t>
            </a:r>
          </a:p>
          <a:p>
            <a:pPr algn="l" marL="388620" indent="-194310" lvl="1">
              <a:lnSpc>
                <a:spcPts val="2160"/>
              </a:lnSpc>
              <a:buFont typeface="Arial"/>
              <a:buChar char="•"/>
            </a:pPr>
            <a:r>
              <a:rPr lang="en-US" b="true" sz="1800">
                <a:solidFill>
                  <a:srgbClr val="FFFFFF"/>
                </a:solidFill>
                <a:latin typeface="Poppins Bold"/>
                <a:ea typeface="Poppins Bold"/>
                <a:cs typeface="Poppins Bold"/>
                <a:sym typeface="Poppins Bold"/>
              </a:rPr>
              <a:t>Preprocessing must be matched to the imaging artifact.</a:t>
            </a:r>
          </a:p>
          <a:p>
            <a:pPr algn="l" marL="388620" indent="-194310" lvl="1">
              <a:lnSpc>
                <a:spcPts val="2160"/>
              </a:lnSpc>
              <a:buFont typeface="Arial"/>
              <a:buChar char="•"/>
            </a:pPr>
            <a:r>
              <a:rPr lang="en-US" b="true" sz="1800">
                <a:solidFill>
                  <a:srgbClr val="FFFFFF"/>
                </a:solidFill>
                <a:latin typeface="Poppins Bold"/>
                <a:ea typeface="Poppins Bold"/>
                <a:cs typeface="Poppins Bold"/>
                <a:sym typeface="Poppins Bold"/>
              </a:rPr>
              <a:t>Localization accuracy and target rejection must be evaluated separately.</a:t>
            </a:r>
          </a:p>
        </p:txBody>
      </p:sp>
      <p:grpSp>
        <p:nvGrpSpPr>
          <p:cNvPr name="Group 56" id="56"/>
          <p:cNvGrpSpPr/>
          <p:nvPr/>
        </p:nvGrpSpPr>
        <p:grpSpPr>
          <a:xfrm rot="0">
            <a:off x="1138264" y="8273071"/>
            <a:ext cx="7193411" cy="1701373"/>
            <a:chOff x="0" y="0"/>
            <a:chExt cx="9591215" cy="2268498"/>
          </a:xfrm>
        </p:grpSpPr>
        <p:sp>
          <p:nvSpPr>
            <p:cNvPr name="Freeform 57" id="57"/>
            <p:cNvSpPr/>
            <p:nvPr/>
          </p:nvSpPr>
          <p:spPr>
            <a:xfrm flipH="false" flipV="false" rot="0">
              <a:off x="0" y="0"/>
              <a:ext cx="9591177" cy="2268453"/>
            </a:xfrm>
            <a:custGeom>
              <a:avLst/>
              <a:gdLst/>
              <a:ahLst/>
              <a:cxnLst/>
              <a:rect r="r" b="b" t="t" l="l"/>
              <a:pathLst>
                <a:path h="2268453" w="9591177">
                  <a:moveTo>
                    <a:pt x="0" y="96986"/>
                  </a:moveTo>
                  <a:cubicBezTo>
                    <a:pt x="0" y="43465"/>
                    <a:pt x="24990" y="0"/>
                    <a:pt x="55762" y="0"/>
                  </a:cubicBezTo>
                  <a:lnTo>
                    <a:pt x="9535414" y="0"/>
                  </a:lnTo>
                  <a:cubicBezTo>
                    <a:pt x="9566251" y="0"/>
                    <a:pt x="9591177" y="43465"/>
                    <a:pt x="9591177" y="96986"/>
                  </a:cubicBezTo>
                  <a:lnTo>
                    <a:pt x="9591177" y="2171467"/>
                  </a:lnTo>
                  <a:cubicBezTo>
                    <a:pt x="9591177" y="2225100"/>
                    <a:pt x="9566187" y="2268453"/>
                    <a:pt x="9535414" y="2268453"/>
                  </a:cubicBezTo>
                  <a:lnTo>
                    <a:pt x="55762" y="2268453"/>
                  </a:lnTo>
                  <a:cubicBezTo>
                    <a:pt x="24926" y="2268453"/>
                    <a:pt x="0" y="2224988"/>
                    <a:pt x="0" y="2171467"/>
                  </a:cubicBezTo>
                  <a:close/>
                </a:path>
              </a:pathLst>
            </a:custGeom>
            <a:solidFill>
              <a:srgbClr val="1E3A8A">
                <a:alpha val="15686"/>
              </a:srgbClr>
            </a:solidFill>
            <a:ln w="19050" cap="sq">
              <a:solidFill>
                <a:srgbClr val="1D4ED8"/>
              </a:solidFill>
              <a:prstDash val="solid"/>
              <a:miter/>
            </a:ln>
          </p:spPr>
        </p:sp>
      </p:grpSp>
      <p:sp>
        <p:nvSpPr>
          <p:cNvPr name="TextBox 58" id="58"/>
          <p:cNvSpPr txBox="true"/>
          <p:nvPr/>
        </p:nvSpPr>
        <p:spPr>
          <a:xfrm rot="0">
            <a:off x="1404712" y="8414469"/>
            <a:ext cx="6822516" cy="1362075"/>
          </a:xfrm>
          <a:prstGeom prst="rect">
            <a:avLst/>
          </a:prstGeom>
        </p:spPr>
        <p:txBody>
          <a:bodyPr anchor="t" rtlCol="false" tIns="0" lIns="0" bIns="0" rIns="0">
            <a:spAutoFit/>
          </a:bodyPr>
          <a:lstStyle/>
          <a:p>
            <a:pPr algn="l" marL="388620" indent="-194310" lvl="1">
              <a:lnSpc>
                <a:spcPts val="2160"/>
              </a:lnSpc>
              <a:buFont typeface="Arial"/>
              <a:buChar char="•"/>
            </a:pPr>
            <a:r>
              <a:rPr lang="en-US" b="true" sz="1800">
                <a:solidFill>
                  <a:srgbClr val="FFFFFF"/>
                </a:solidFill>
                <a:latin typeface="Poppins Bold"/>
                <a:ea typeface="Poppins Bold"/>
                <a:cs typeface="Poppins Bold"/>
                <a:sym typeface="Poppins Bold"/>
              </a:rPr>
              <a:t>Hardest pattern: FINFET_FULL_CELL</a:t>
            </a:r>
          </a:p>
          <a:p>
            <a:pPr algn="l">
              <a:lnSpc>
                <a:spcPts val="2160"/>
              </a:lnSpc>
            </a:pPr>
          </a:p>
          <a:p>
            <a:pPr algn="l" marL="388620" indent="-194310" lvl="1">
              <a:lnSpc>
                <a:spcPts val="2160"/>
              </a:lnSpc>
              <a:buFont typeface="Arial"/>
              <a:buChar char="•"/>
            </a:pPr>
            <a:r>
              <a:rPr lang="en-US" b="true" sz="1800">
                <a:solidFill>
                  <a:srgbClr val="FFFFFF"/>
                </a:solidFill>
                <a:latin typeface="Poppins Bold"/>
                <a:ea typeface="Poppins Bold"/>
                <a:cs typeface="Poppins Bold"/>
                <a:sym typeface="Poppins Bold"/>
              </a:rPr>
              <a:t>63.3% → Sub-1 px</a:t>
            </a:r>
          </a:p>
          <a:p>
            <a:pPr algn="l" marL="388620" indent="-194310" lvl="1">
              <a:lnSpc>
                <a:spcPts val="2160"/>
              </a:lnSpc>
              <a:buFont typeface="Arial"/>
              <a:buChar char="•"/>
            </a:pPr>
            <a:r>
              <a:rPr lang="en-US" b="true" sz="1800">
                <a:solidFill>
                  <a:srgbClr val="FFFFFF"/>
                </a:solidFill>
                <a:latin typeface="Poppins Bold"/>
                <a:ea typeface="Poppins Bold"/>
                <a:cs typeface="Poppins Bold"/>
                <a:sym typeface="Poppins Bold"/>
              </a:rPr>
              <a:t>65.0% → Sub-2 px</a:t>
            </a:r>
          </a:p>
          <a:p>
            <a:pPr algn="l" marL="388620" indent="-194310" lvl="1">
              <a:lnSpc>
                <a:spcPts val="2160"/>
              </a:lnSpc>
              <a:buFont typeface="Arial"/>
              <a:buChar char="•"/>
            </a:pPr>
            <a:r>
              <a:rPr lang="en-US" b="true" sz="1800">
                <a:solidFill>
                  <a:srgbClr val="FFFFFF"/>
                </a:solidFill>
                <a:latin typeface="Poppins Bold"/>
                <a:ea typeface="Poppins Bold"/>
                <a:cs typeface="Poppins Bold"/>
                <a:sym typeface="Poppins Bold"/>
              </a:rPr>
              <a:t>0.386 px → Median error</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543" cy="10287000"/>
            <a:chOff x="0" y="0"/>
            <a:chExt cx="24383390" cy="13716000"/>
          </a:xfrm>
        </p:grpSpPr>
        <p:sp>
          <p:nvSpPr>
            <p:cNvPr name="Freeform 3" id="3"/>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close/>
                </a:path>
              </a:pathLst>
            </a:custGeom>
            <a:solidFill>
              <a:srgbClr val="000036"/>
            </a:solidFill>
          </p:spPr>
        </p:sp>
      </p:grpSp>
      <p:grpSp>
        <p:nvGrpSpPr>
          <p:cNvPr name="Group 4" id="4"/>
          <p:cNvGrpSpPr/>
          <p:nvPr/>
        </p:nvGrpSpPr>
        <p:grpSpPr>
          <a:xfrm rot="0">
            <a:off x="0" y="0"/>
            <a:ext cx="18287543" cy="10287000"/>
            <a:chOff x="0" y="0"/>
            <a:chExt cx="24383390" cy="13716000"/>
          </a:xfrm>
        </p:grpSpPr>
        <p:sp>
          <p:nvSpPr>
            <p:cNvPr name="Freeform 5" id="5" descr="preencoded.png"/>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lnTo>
                    <a:pt x="0" y="0"/>
                  </a:lnTo>
                  <a:close/>
                </a:path>
              </a:pathLst>
            </a:custGeom>
            <a:blipFill>
              <a:blip r:embed="rId2">
                <a:alphaModFix amt="15000"/>
              </a:blip>
              <a:stretch>
                <a:fillRect l="-16360" t="0" r="-16361" b="0"/>
              </a:stretch>
            </a:blipFill>
          </p:spPr>
        </p:sp>
      </p:grpSp>
      <p:grpSp>
        <p:nvGrpSpPr>
          <p:cNvPr name="Group 6" id="6"/>
          <p:cNvGrpSpPr/>
          <p:nvPr/>
        </p:nvGrpSpPr>
        <p:grpSpPr>
          <a:xfrm rot="0">
            <a:off x="857250" y="429311"/>
            <a:ext cx="16573043" cy="999896"/>
            <a:chOff x="0" y="0"/>
            <a:chExt cx="22097390" cy="1333195"/>
          </a:xfrm>
        </p:grpSpPr>
        <p:sp>
          <p:nvSpPr>
            <p:cNvPr name="Freeform 7" id="7"/>
            <p:cNvSpPr/>
            <p:nvPr/>
          </p:nvSpPr>
          <p:spPr>
            <a:xfrm flipH="false" flipV="false" rot="0">
              <a:off x="0" y="0"/>
              <a:ext cx="22097364" cy="1333246"/>
            </a:xfrm>
            <a:custGeom>
              <a:avLst/>
              <a:gdLst/>
              <a:ahLst/>
              <a:cxnLst/>
              <a:rect r="r" b="b" t="t" l="l"/>
              <a:pathLst>
                <a:path h="1333246" w="22097364">
                  <a:moveTo>
                    <a:pt x="0" y="209042"/>
                  </a:moveTo>
                  <a:cubicBezTo>
                    <a:pt x="0" y="93599"/>
                    <a:pt x="93599" y="0"/>
                    <a:pt x="209042" y="0"/>
                  </a:cubicBezTo>
                  <a:lnTo>
                    <a:pt x="21888323" y="0"/>
                  </a:lnTo>
                  <a:cubicBezTo>
                    <a:pt x="22003765" y="0"/>
                    <a:pt x="22097364" y="93599"/>
                    <a:pt x="22097364" y="209042"/>
                  </a:cubicBezTo>
                  <a:lnTo>
                    <a:pt x="22097364" y="1124204"/>
                  </a:lnTo>
                  <a:cubicBezTo>
                    <a:pt x="22097364" y="1239647"/>
                    <a:pt x="22003765" y="1333246"/>
                    <a:pt x="21888323" y="1333246"/>
                  </a:cubicBezTo>
                  <a:lnTo>
                    <a:pt x="209042" y="1333246"/>
                  </a:lnTo>
                  <a:cubicBezTo>
                    <a:pt x="93599" y="1333246"/>
                    <a:pt x="0" y="1239647"/>
                    <a:pt x="0" y="1124204"/>
                  </a:cubicBezTo>
                  <a:close/>
                </a:path>
              </a:pathLst>
            </a:custGeom>
            <a:solidFill>
              <a:srgbClr val="FFFFFF">
                <a:alpha val="90196"/>
              </a:srgbClr>
            </a:solidFill>
          </p:spPr>
        </p:sp>
      </p:grpSp>
      <p:grpSp>
        <p:nvGrpSpPr>
          <p:cNvPr name="Group 8" id="8"/>
          <p:cNvGrpSpPr/>
          <p:nvPr/>
        </p:nvGrpSpPr>
        <p:grpSpPr>
          <a:xfrm rot="0">
            <a:off x="16287750" y="571957"/>
            <a:ext cx="714604" cy="714604"/>
            <a:chOff x="0" y="0"/>
            <a:chExt cx="952805" cy="952805"/>
          </a:xfrm>
        </p:grpSpPr>
        <p:sp>
          <p:nvSpPr>
            <p:cNvPr name="Freeform 9" id="9" descr="preencoded.png"/>
            <p:cNvSpPr/>
            <p:nvPr/>
          </p:nvSpPr>
          <p:spPr>
            <a:xfrm flipH="false" flipV="false" rot="0">
              <a:off x="0" y="0"/>
              <a:ext cx="952754" cy="952754"/>
            </a:xfrm>
            <a:custGeom>
              <a:avLst/>
              <a:gdLst/>
              <a:ahLst/>
              <a:cxnLst/>
              <a:rect r="r" b="b" t="t" l="l"/>
              <a:pathLst>
                <a:path h="952754" w="952754">
                  <a:moveTo>
                    <a:pt x="0" y="0"/>
                  </a:moveTo>
                  <a:lnTo>
                    <a:pt x="952754" y="0"/>
                  </a:lnTo>
                  <a:lnTo>
                    <a:pt x="952754" y="952754"/>
                  </a:lnTo>
                  <a:lnTo>
                    <a:pt x="0" y="952754"/>
                  </a:lnTo>
                  <a:lnTo>
                    <a:pt x="0" y="0"/>
                  </a:lnTo>
                  <a:close/>
                </a:path>
              </a:pathLst>
            </a:custGeom>
            <a:blipFill>
              <a:blip r:embed="rId3"/>
              <a:stretch>
                <a:fillRect l="0" t="0" r="-5" b="-5"/>
              </a:stretch>
            </a:blipFill>
          </p:spPr>
        </p:sp>
      </p:grpSp>
      <p:grpSp>
        <p:nvGrpSpPr>
          <p:cNvPr name="Group 10" id="10"/>
          <p:cNvGrpSpPr/>
          <p:nvPr/>
        </p:nvGrpSpPr>
        <p:grpSpPr>
          <a:xfrm rot="0">
            <a:off x="1137533" y="571957"/>
            <a:ext cx="8618220" cy="701040"/>
            <a:chOff x="0" y="0"/>
            <a:chExt cx="11490960" cy="934720"/>
          </a:xfrm>
        </p:grpSpPr>
        <p:sp>
          <p:nvSpPr>
            <p:cNvPr name="Freeform 11" id="11"/>
            <p:cNvSpPr/>
            <p:nvPr/>
          </p:nvSpPr>
          <p:spPr>
            <a:xfrm flipH="false" flipV="false" rot="0">
              <a:off x="0" y="0"/>
              <a:ext cx="11490960" cy="934720"/>
            </a:xfrm>
            <a:custGeom>
              <a:avLst/>
              <a:gdLst/>
              <a:ahLst/>
              <a:cxnLst/>
              <a:rect r="r" b="b" t="t" l="l"/>
              <a:pathLst>
                <a:path h="934720" w="11490960">
                  <a:moveTo>
                    <a:pt x="0" y="0"/>
                  </a:moveTo>
                  <a:lnTo>
                    <a:pt x="11490960" y="0"/>
                  </a:lnTo>
                  <a:lnTo>
                    <a:pt x="11490960" y="934720"/>
                  </a:lnTo>
                  <a:lnTo>
                    <a:pt x="0" y="934720"/>
                  </a:lnTo>
                  <a:lnTo>
                    <a:pt x="0" y="0"/>
                  </a:lnTo>
                  <a:close/>
                </a:path>
              </a:pathLst>
            </a:custGeom>
            <a:blipFill>
              <a:blip r:embed="rId4"/>
              <a:stretch>
                <a:fillRect l="-11" t="0" r="-11" b="0"/>
              </a:stretch>
            </a:blipFill>
          </p:spPr>
        </p:sp>
      </p:grpSp>
      <p:grpSp>
        <p:nvGrpSpPr>
          <p:cNvPr name="Group 12" id="12"/>
          <p:cNvGrpSpPr/>
          <p:nvPr/>
        </p:nvGrpSpPr>
        <p:grpSpPr>
          <a:xfrm rot="0">
            <a:off x="0" y="0"/>
            <a:ext cx="18287543" cy="10287000"/>
            <a:chOff x="0" y="0"/>
            <a:chExt cx="24383390" cy="13716000"/>
          </a:xfrm>
        </p:grpSpPr>
        <p:sp>
          <p:nvSpPr>
            <p:cNvPr name="Freeform 13" id="13"/>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close/>
                </a:path>
              </a:pathLst>
            </a:custGeom>
            <a:solidFill>
              <a:srgbClr val="000036"/>
            </a:solidFill>
          </p:spPr>
        </p:sp>
      </p:grpSp>
      <p:grpSp>
        <p:nvGrpSpPr>
          <p:cNvPr name="Group 14" id="14"/>
          <p:cNvGrpSpPr/>
          <p:nvPr/>
        </p:nvGrpSpPr>
        <p:grpSpPr>
          <a:xfrm rot="0">
            <a:off x="0" y="0"/>
            <a:ext cx="18287543" cy="10287000"/>
            <a:chOff x="0" y="0"/>
            <a:chExt cx="24383390" cy="13716000"/>
          </a:xfrm>
        </p:grpSpPr>
        <p:sp>
          <p:nvSpPr>
            <p:cNvPr name="Freeform 15" id="15" descr="preencoded.png"/>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lnTo>
                    <a:pt x="0" y="0"/>
                  </a:lnTo>
                  <a:close/>
                </a:path>
              </a:pathLst>
            </a:custGeom>
            <a:blipFill>
              <a:blip r:embed="rId2">
                <a:alphaModFix amt="9999"/>
              </a:blip>
              <a:stretch>
                <a:fillRect l="-16360" t="0" r="-16361" b="0"/>
              </a:stretch>
            </a:blipFill>
          </p:spPr>
        </p:sp>
      </p:grpSp>
      <p:grpSp>
        <p:nvGrpSpPr>
          <p:cNvPr name="Group 16" id="16"/>
          <p:cNvGrpSpPr/>
          <p:nvPr/>
        </p:nvGrpSpPr>
        <p:grpSpPr>
          <a:xfrm rot="0">
            <a:off x="857250" y="429311"/>
            <a:ext cx="16573043" cy="999896"/>
            <a:chOff x="0" y="0"/>
            <a:chExt cx="22097390" cy="1333195"/>
          </a:xfrm>
        </p:grpSpPr>
        <p:sp>
          <p:nvSpPr>
            <p:cNvPr name="Freeform 17" id="17"/>
            <p:cNvSpPr/>
            <p:nvPr/>
          </p:nvSpPr>
          <p:spPr>
            <a:xfrm flipH="false" flipV="false" rot="0">
              <a:off x="0" y="0"/>
              <a:ext cx="22097364" cy="1333246"/>
            </a:xfrm>
            <a:custGeom>
              <a:avLst/>
              <a:gdLst/>
              <a:ahLst/>
              <a:cxnLst/>
              <a:rect r="r" b="b" t="t" l="l"/>
              <a:pathLst>
                <a:path h="1333246" w="22097364">
                  <a:moveTo>
                    <a:pt x="0" y="209042"/>
                  </a:moveTo>
                  <a:cubicBezTo>
                    <a:pt x="0" y="93599"/>
                    <a:pt x="93599" y="0"/>
                    <a:pt x="209042" y="0"/>
                  </a:cubicBezTo>
                  <a:lnTo>
                    <a:pt x="21888323" y="0"/>
                  </a:lnTo>
                  <a:cubicBezTo>
                    <a:pt x="22003765" y="0"/>
                    <a:pt x="22097364" y="93599"/>
                    <a:pt x="22097364" y="209042"/>
                  </a:cubicBezTo>
                  <a:lnTo>
                    <a:pt x="22097364" y="1124204"/>
                  </a:lnTo>
                  <a:cubicBezTo>
                    <a:pt x="22097364" y="1239647"/>
                    <a:pt x="22003765" y="1333246"/>
                    <a:pt x="21888323" y="1333246"/>
                  </a:cubicBezTo>
                  <a:lnTo>
                    <a:pt x="209042" y="1333246"/>
                  </a:lnTo>
                  <a:cubicBezTo>
                    <a:pt x="93599" y="1333246"/>
                    <a:pt x="0" y="1239647"/>
                    <a:pt x="0" y="1124204"/>
                  </a:cubicBezTo>
                  <a:close/>
                </a:path>
              </a:pathLst>
            </a:custGeom>
            <a:solidFill>
              <a:srgbClr val="FFFFFF">
                <a:alpha val="90196"/>
              </a:srgbClr>
            </a:solidFill>
          </p:spPr>
        </p:sp>
      </p:grpSp>
      <p:grpSp>
        <p:nvGrpSpPr>
          <p:cNvPr name="Group 18" id="18"/>
          <p:cNvGrpSpPr/>
          <p:nvPr/>
        </p:nvGrpSpPr>
        <p:grpSpPr>
          <a:xfrm rot="0">
            <a:off x="1286561" y="571957"/>
            <a:ext cx="1899666" cy="714604"/>
            <a:chOff x="0" y="0"/>
            <a:chExt cx="2532888" cy="952805"/>
          </a:xfrm>
        </p:grpSpPr>
        <p:sp>
          <p:nvSpPr>
            <p:cNvPr name="Freeform 19" id="19" descr="preencoded.png"/>
            <p:cNvSpPr/>
            <p:nvPr/>
          </p:nvSpPr>
          <p:spPr>
            <a:xfrm flipH="false" flipV="false" rot="0">
              <a:off x="0" y="0"/>
              <a:ext cx="2532888" cy="952754"/>
            </a:xfrm>
            <a:custGeom>
              <a:avLst/>
              <a:gdLst/>
              <a:ahLst/>
              <a:cxnLst/>
              <a:rect r="r" b="b" t="t" l="l"/>
              <a:pathLst>
                <a:path h="952754" w="2532888">
                  <a:moveTo>
                    <a:pt x="0" y="0"/>
                  </a:moveTo>
                  <a:lnTo>
                    <a:pt x="2532888" y="0"/>
                  </a:lnTo>
                  <a:lnTo>
                    <a:pt x="2532888" y="952754"/>
                  </a:lnTo>
                  <a:lnTo>
                    <a:pt x="0" y="952754"/>
                  </a:lnTo>
                  <a:lnTo>
                    <a:pt x="0" y="0"/>
                  </a:lnTo>
                  <a:close/>
                </a:path>
              </a:pathLst>
            </a:custGeom>
            <a:blipFill>
              <a:blip r:embed="rId5"/>
              <a:stretch>
                <a:fillRect l="0" t="-10" r="0" b="-14"/>
              </a:stretch>
            </a:blipFill>
          </p:spPr>
        </p:sp>
      </p:grpSp>
      <p:grpSp>
        <p:nvGrpSpPr>
          <p:cNvPr name="Group 20" id="20"/>
          <p:cNvGrpSpPr/>
          <p:nvPr/>
        </p:nvGrpSpPr>
        <p:grpSpPr>
          <a:xfrm rot="0">
            <a:off x="16287750" y="571957"/>
            <a:ext cx="714604" cy="714604"/>
            <a:chOff x="0" y="0"/>
            <a:chExt cx="952805" cy="952805"/>
          </a:xfrm>
        </p:grpSpPr>
        <p:sp>
          <p:nvSpPr>
            <p:cNvPr name="Freeform 21" id="21" descr="preencoded.png"/>
            <p:cNvSpPr/>
            <p:nvPr/>
          </p:nvSpPr>
          <p:spPr>
            <a:xfrm flipH="false" flipV="false" rot="0">
              <a:off x="0" y="0"/>
              <a:ext cx="952754" cy="952754"/>
            </a:xfrm>
            <a:custGeom>
              <a:avLst/>
              <a:gdLst/>
              <a:ahLst/>
              <a:cxnLst/>
              <a:rect r="r" b="b" t="t" l="l"/>
              <a:pathLst>
                <a:path h="952754" w="952754">
                  <a:moveTo>
                    <a:pt x="0" y="0"/>
                  </a:moveTo>
                  <a:lnTo>
                    <a:pt x="952754" y="0"/>
                  </a:lnTo>
                  <a:lnTo>
                    <a:pt x="952754" y="952754"/>
                  </a:lnTo>
                  <a:lnTo>
                    <a:pt x="0" y="952754"/>
                  </a:lnTo>
                  <a:lnTo>
                    <a:pt x="0" y="0"/>
                  </a:lnTo>
                  <a:close/>
                </a:path>
              </a:pathLst>
            </a:custGeom>
            <a:blipFill>
              <a:blip r:embed="rId3"/>
              <a:stretch>
                <a:fillRect l="0" t="0" r="-5" b="-5"/>
              </a:stretch>
            </a:blipFill>
          </p:spPr>
        </p:sp>
      </p:grpSp>
      <p:grpSp>
        <p:nvGrpSpPr>
          <p:cNvPr name="Group 22" id="22"/>
          <p:cNvGrpSpPr/>
          <p:nvPr/>
        </p:nvGrpSpPr>
        <p:grpSpPr>
          <a:xfrm rot="0">
            <a:off x="914857" y="1593662"/>
            <a:ext cx="113843" cy="614477"/>
            <a:chOff x="0" y="0"/>
            <a:chExt cx="151790" cy="819302"/>
          </a:xfrm>
        </p:grpSpPr>
        <p:sp>
          <p:nvSpPr>
            <p:cNvPr name="Freeform 23" id="23"/>
            <p:cNvSpPr/>
            <p:nvPr/>
          </p:nvSpPr>
          <p:spPr>
            <a:xfrm flipH="false" flipV="false" rot="0">
              <a:off x="0" y="0"/>
              <a:ext cx="151765" cy="819277"/>
            </a:xfrm>
            <a:custGeom>
              <a:avLst/>
              <a:gdLst/>
              <a:ahLst/>
              <a:cxnLst/>
              <a:rect r="r" b="b" t="t" l="l"/>
              <a:pathLst>
                <a:path h="819277" w="151765">
                  <a:moveTo>
                    <a:pt x="0" y="0"/>
                  </a:moveTo>
                  <a:lnTo>
                    <a:pt x="151765" y="0"/>
                  </a:lnTo>
                  <a:lnTo>
                    <a:pt x="151765" y="819277"/>
                  </a:lnTo>
                  <a:lnTo>
                    <a:pt x="0" y="819277"/>
                  </a:lnTo>
                  <a:close/>
                </a:path>
              </a:pathLst>
            </a:custGeom>
            <a:solidFill>
              <a:srgbClr val="88E555"/>
            </a:solidFill>
          </p:spPr>
        </p:sp>
      </p:grpSp>
      <p:grpSp>
        <p:nvGrpSpPr>
          <p:cNvPr name="Group 24" id="24"/>
          <p:cNvGrpSpPr/>
          <p:nvPr/>
        </p:nvGrpSpPr>
        <p:grpSpPr>
          <a:xfrm rot="0">
            <a:off x="1171118" y="1402283"/>
            <a:ext cx="10250349" cy="997234"/>
            <a:chOff x="0" y="0"/>
            <a:chExt cx="13667132" cy="1329646"/>
          </a:xfrm>
        </p:grpSpPr>
        <p:sp>
          <p:nvSpPr>
            <p:cNvPr name="Freeform 25" id="25"/>
            <p:cNvSpPr/>
            <p:nvPr/>
          </p:nvSpPr>
          <p:spPr>
            <a:xfrm flipH="false" flipV="false" rot="0">
              <a:off x="0" y="0"/>
              <a:ext cx="13667132" cy="1329645"/>
            </a:xfrm>
            <a:custGeom>
              <a:avLst/>
              <a:gdLst/>
              <a:ahLst/>
              <a:cxnLst/>
              <a:rect r="r" b="b" t="t" l="l"/>
              <a:pathLst>
                <a:path h="1329645" w="13667132">
                  <a:moveTo>
                    <a:pt x="0" y="0"/>
                  </a:moveTo>
                  <a:lnTo>
                    <a:pt x="13667132" y="0"/>
                  </a:lnTo>
                  <a:lnTo>
                    <a:pt x="13667132" y="1329645"/>
                  </a:lnTo>
                  <a:lnTo>
                    <a:pt x="0" y="1329645"/>
                  </a:lnTo>
                  <a:close/>
                </a:path>
              </a:pathLst>
            </a:custGeom>
            <a:blipFill>
              <a:blip r:embed="rId6">
                <a:alphaModFix amt="0"/>
              </a:blip>
              <a:stretch>
                <a:fillRect l="0" t="-70503" r="47252" b="-40786"/>
              </a:stretch>
            </a:blipFill>
          </p:spPr>
        </p:sp>
        <p:sp>
          <p:nvSpPr>
            <p:cNvPr name="TextBox 26" id="26"/>
            <p:cNvSpPr txBox="true"/>
            <p:nvPr/>
          </p:nvSpPr>
          <p:spPr>
            <a:xfrm>
              <a:off x="0" y="-38100"/>
              <a:ext cx="13667132" cy="1367746"/>
            </a:xfrm>
            <a:prstGeom prst="rect">
              <a:avLst/>
            </a:prstGeom>
          </p:spPr>
          <p:txBody>
            <a:bodyPr anchor="ctr" rtlCol="false" tIns="0" lIns="0" bIns="0" rIns="0"/>
            <a:lstStyle/>
            <a:p>
              <a:pPr algn="l">
                <a:lnSpc>
                  <a:spcPts val="4680"/>
                </a:lnSpc>
              </a:pPr>
              <a:r>
                <a:rPr lang="en-US" sz="3900" b="true">
                  <a:solidFill>
                    <a:srgbClr val="FFFFFF"/>
                  </a:solidFill>
                  <a:latin typeface="Poppins Bold"/>
                  <a:ea typeface="Poppins Bold"/>
                  <a:cs typeface="Poppins Bold"/>
                  <a:sym typeface="Poppins Bold"/>
                </a:rPr>
                <a:t>CONCLUSION</a:t>
              </a:r>
            </a:p>
          </p:txBody>
        </p:sp>
      </p:grpSp>
      <p:grpSp>
        <p:nvGrpSpPr>
          <p:cNvPr name="Group 27" id="27"/>
          <p:cNvGrpSpPr/>
          <p:nvPr/>
        </p:nvGrpSpPr>
        <p:grpSpPr>
          <a:xfrm rot="0">
            <a:off x="533345" y="2418568"/>
            <a:ext cx="17221309" cy="7448438"/>
            <a:chOff x="0" y="0"/>
            <a:chExt cx="22961745" cy="9931251"/>
          </a:xfrm>
        </p:grpSpPr>
        <p:sp>
          <p:nvSpPr>
            <p:cNvPr name="Freeform 28" id="28"/>
            <p:cNvSpPr/>
            <p:nvPr/>
          </p:nvSpPr>
          <p:spPr>
            <a:xfrm flipH="false" flipV="false" rot="0">
              <a:off x="0" y="0"/>
              <a:ext cx="22961718" cy="9931168"/>
            </a:xfrm>
            <a:custGeom>
              <a:avLst/>
              <a:gdLst/>
              <a:ahLst/>
              <a:cxnLst/>
              <a:rect r="r" b="b" t="t" l="l"/>
              <a:pathLst>
                <a:path h="9931168" w="22961718">
                  <a:moveTo>
                    <a:pt x="0" y="66717"/>
                  </a:moveTo>
                  <a:cubicBezTo>
                    <a:pt x="0" y="29836"/>
                    <a:pt x="28472" y="0"/>
                    <a:pt x="63667" y="0"/>
                  </a:cubicBezTo>
                  <a:lnTo>
                    <a:pt x="22898052" y="0"/>
                  </a:lnTo>
                  <a:cubicBezTo>
                    <a:pt x="22933247" y="0"/>
                    <a:pt x="22961718" y="29836"/>
                    <a:pt x="22961718" y="66717"/>
                  </a:cubicBezTo>
                  <a:lnTo>
                    <a:pt x="22961718" y="9864451"/>
                  </a:lnTo>
                  <a:cubicBezTo>
                    <a:pt x="22961718" y="9901332"/>
                    <a:pt x="22933247" y="9931168"/>
                    <a:pt x="22898052" y="9931168"/>
                  </a:cubicBezTo>
                  <a:lnTo>
                    <a:pt x="63667" y="9931168"/>
                  </a:lnTo>
                  <a:cubicBezTo>
                    <a:pt x="28472" y="9931168"/>
                    <a:pt x="0" y="9901332"/>
                    <a:pt x="0" y="9864451"/>
                  </a:cubicBezTo>
                  <a:close/>
                </a:path>
              </a:pathLst>
            </a:custGeom>
            <a:solidFill>
              <a:srgbClr val="FFFFFF">
                <a:alpha val="0"/>
              </a:srgbClr>
            </a:solidFill>
            <a:ln w="19050" cap="sq">
              <a:solidFill>
                <a:srgbClr val="88E555"/>
              </a:solidFill>
              <a:prstDash val="solid"/>
              <a:miter/>
            </a:ln>
          </p:spPr>
        </p:sp>
      </p:grpSp>
      <p:grpSp>
        <p:nvGrpSpPr>
          <p:cNvPr name="Group 29" id="29"/>
          <p:cNvGrpSpPr/>
          <p:nvPr/>
        </p:nvGrpSpPr>
        <p:grpSpPr>
          <a:xfrm rot="0">
            <a:off x="7938249" y="341566"/>
            <a:ext cx="2411054" cy="1175385"/>
            <a:chOff x="0" y="0"/>
            <a:chExt cx="3214738" cy="1567180"/>
          </a:xfrm>
        </p:grpSpPr>
        <p:sp>
          <p:nvSpPr>
            <p:cNvPr name="Freeform 30" id="30"/>
            <p:cNvSpPr/>
            <p:nvPr/>
          </p:nvSpPr>
          <p:spPr>
            <a:xfrm flipH="false" flipV="false" rot="0">
              <a:off x="0" y="0"/>
              <a:ext cx="3214751" cy="1567180"/>
            </a:xfrm>
            <a:custGeom>
              <a:avLst/>
              <a:gdLst/>
              <a:ahLst/>
              <a:cxnLst/>
              <a:rect r="r" b="b" t="t" l="l"/>
              <a:pathLst>
                <a:path h="1567180" w="3214751">
                  <a:moveTo>
                    <a:pt x="0" y="0"/>
                  </a:moveTo>
                  <a:lnTo>
                    <a:pt x="3214751" y="0"/>
                  </a:lnTo>
                  <a:lnTo>
                    <a:pt x="3214751" y="1567180"/>
                  </a:lnTo>
                  <a:lnTo>
                    <a:pt x="0" y="1567180"/>
                  </a:lnTo>
                  <a:lnTo>
                    <a:pt x="0" y="0"/>
                  </a:lnTo>
                  <a:close/>
                </a:path>
              </a:pathLst>
            </a:custGeom>
            <a:blipFill>
              <a:blip r:embed="rId7"/>
              <a:stretch>
                <a:fillRect l="0" t="0" r="0" b="0"/>
              </a:stretch>
            </a:blipFill>
          </p:spPr>
        </p:sp>
      </p:grpSp>
      <p:grpSp>
        <p:nvGrpSpPr>
          <p:cNvPr name="Group 31" id="31"/>
          <p:cNvGrpSpPr/>
          <p:nvPr/>
        </p:nvGrpSpPr>
        <p:grpSpPr>
          <a:xfrm rot="0">
            <a:off x="857250" y="92349"/>
            <a:ext cx="16573043" cy="1286561"/>
            <a:chOff x="0" y="0"/>
            <a:chExt cx="22097390" cy="1715414"/>
          </a:xfrm>
        </p:grpSpPr>
        <p:sp>
          <p:nvSpPr>
            <p:cNvPr name="Freeform 32" id="32"/>
            <p:cNvSpPr/>
            <p:nvPr/>
          </p:nvSpPr>
          <p:spPr>
            <a:xfrm flipH="false" flipV="false" rot="0">
              <a:off x="0" y="0"/>
              <a:ext cx="22097366" cy="1715389"/>
            </a:xfrm>
            <a:custGeom>
              <a:avLst/>
              <a:gdLst/>
              <a:ahLst/>
              <a:cxnLst/>
              <a:rect r="r" b="b" t="t" l="l"/>
              <a:pathLst>
                <a:path h="1715389" w="22097366">
                  <a:moveTo>
                    <a:pt x="0" y="162560"/>
                  </a:moveTo>
                  <a:cubicBezTo>
                    <a:pt x="0" y="72771"/>
                    <a:pt x="72771" y="0"/>
                    <a:pt x="162560" y="0"/>
                  </a:cubicBezTo>
                  <a:lnTo>
                    <a:pt x="21934805" y="0"/>
                  </a:lnTo>
                  <a:cubicBezTo>
                    <a:pt x="22024594" y="0"/>
                    <a:pt x="22097366" y="72771"/>
                    <a:pt x="22097366" y="162560"/>
                  </a:cubicBezTo>
                  <a:lnTo>
                    <a:pt x="22097366" y="1552829"/>
                  </a:lnTo>
                  <a:cubicBezTo>
                    <a:pt x="22097366" y="1642618"/>
                    <a:pt x="22024594" y="1715389"/>
                    <a:pt x="21934805" y="1715389"/>
                  </a:cubicBezTo>
                  <a:lnTo>
                    <a:pt x="162560" y="1715389"/>
                  </a:lnTo>
                  <a:cubicBezTo>
                    <a:pt x="72771" y="1715389"/>
                    <a:pt x="0" y="1642618"/>
                    <a:pt x="0" y="1552829"/>
                  </a:cubicBezTo>
                  <a:close/>
                </a:path>
              </a:pathLst>
            </a:custGeom>
            <a:solidFill>
              <a:srgbClr val="FFFFFF">
                <a:alpha val="90196"/>
              </a:srgbClr>
            </a:solidFill>
          </p:spPr>
        </p:sp>
      </p:grpSp>
      <p:grpSp>
        <p:nvGrpSpPr>
          <p:cNvPr name="Group 33" id="33"/>
          <p:cNvGrpSpPr/>
          <p:nvPr/>
        </p:nvGrpSpPr>
        <p:grpSpPr>
          <a:xfrm rot="0">
            <a:off x="2271151" y="286202"/>
            <a:ext cx="13745232" cy="879653"/>
            <a:chOff x="0" y="0"/>
            <a:chExt cx="18326976" cy="1172870"/>
          </a:xfrm>
        </p:grpSpPr>
        <p:sp>
          <p:nvSpPr>
            <p:cNvPr name="Freeform 34" id="34"/>
            <p:cNvSpPr/>
            <p:nvPr/>
          </p:nvSpPr>
          <p:spPr>
            <a:xfrm flipH="false" flipV="false" rot="0">
              <a:off x="0" y="0"/>
              <a:ext cx="18326988" cy="1172845"/>
            </a:xfrm>
            <a:custGeom>
              <a:avLst/>
              <a:gdLst/>
              <a:ahLst/>
              <a:cxnLst/>
              <a:rect r="r" b="b" t="t" l="l"/>
              <a:pathLst>
                <a:path h="1172845" w="18326988">
                  <a:moveTo>
                    <a:pt x="0" y="0"/>
                  </a:moveTo>
                  <a:lnTo>
                    <a:pt x="18326988" y="0"/>
                  </a:lnTo>
                  <a:lnTo>
                    <a:pt x="18326988" y="1172845"/>
                  </a:lnTo>
                  <a:lnTo>
                    <a:pt x="0" y="1172845"/>
                  </a:lnTo>
                  <a:lnTo>
                    <a:pt x="0" y="0"/>
                  </a:lnTo>
                  <a:close/>
                </a:path>
              </a:pathLst>
            </a:custGeom>
            <a:blipFill>
              <a:blip r:embed="rId8"/>
              <a:stretch>
                <a:fillRect l="0" t="-2" r="0" b="-4"/>
              </a:stretch>
            </a:blipFill>
          </p:spPr>
        </p:sp>
      </p:grpSp>
      <p:grpSp>
        <p:nvGrpSpPr>
          <p:cNvPr name="Group 35" id="35"/>
          <p:cNvGrpSpPr/>
          <p:nvPr/>
        </p:nvGrpSpPr>
        <p:grpSpPr>
          <a:xfrm rot="0">
            <a:off x="1286561" y="8529475"/>
            <a:ext cx="596847" cy="596847"/>
            <a:chOff x="0" y="0"/>
            <a:chExt cx="1383995" cy="1383995"/>
          </a:xfrm>
        </p:grpSpPr>
        <p:sp>
          <p:nvSpPr>
            <p:cNvPr name="Freeform 36" id="36"/>
            <p:cNvSpPr/>
            <p:nvPr/>
          </p:nvSpPr>
          <p:spPr>
            <a:xfrm flipH="false" flipV="false" rot="0">
              <a:off x="0" y="0"/>
              <a:ext cx="1384046" cy="1384046"/>
            </a:xfrm>
            <a:custGeom>
              <a:avLst/>
              <a:gdLst/>
              <a:ahLst/>
              <a:cxnLst/>
              <a:rect r="r" b="b" t="t" l="l"/>
              <a:pathLst>
                <a:path h="1384046" w="1384046">
                  <a:moveTo>
                    <a:pt x="0" y="692023"/>
                  </a:moveTo>
                  <a:cubicBezTo>
                    <a:pt x="0" y="309880"/>
                    <a:pt x="309880" y="0"/>
                    <a:pt x="692023" y="0"/>
                  </a:cubicBezTo>
                  <a:cubicBezTo>
                    <a:pt x="1074166" y="0"/>
                    <a:pt x="1384046" y="309880"/>
                    <a:pt x="1384046" y="692023"/>
                  </a:cubicBezTo>
                  <a:cubicBezTo>
                    <a:pt x="1384046" y="1074166"/>
                    <a:pt x="1074166" y="1384046"/>
                    <a:pt x="692023" y="1384046"/>
                  </a:cubicBezTo>
                  <a:cubicBezTo>
                    <a:pt x="309880" y="1384046"/>
                    <a:pt x="0" y="1074166"/>
                    <a:pt x="0" y="692023"/>
                  </a:cubicBezTo>
                  <a:close/>
                </a:path>
              </a:pathLst>
            </a:custGeom>
            <a:solidFill>
              <a:srgbClr val="273383">
                <a:alpha val="35686"/>
              </a:srgbClr>
            </a:solidFill>
            <a:ln w="38100" cap="sq">
              <a:solidFill>
                <a:srgbClr val="AEFF82"/>
              </a:solidFill>
              <a:prstDash val="solid"/>
              <a:miter/>
            </a:ln>
          </p:spPr>
        </p:sp>
      </p:grpSp>
      <p:grpSp>
        <p:nvGrpSpPr>
          <p:cNvPr name="Group 37" id="37"/>
          <p:cNvGrpSpPr/>
          <p:nvPr/>
        </p:nvGrpSpPr>
        <p:grpSpPr>
          <a:xfrm rot="0">
            <a:off x="1441082" y="8680023"/>
            <a:ext cx="287864" cy="295751"/>
            <a:chOff x="0" y="0"/>
            <a:chExt cx="667512" cy="685800"/>
          </a:xfrm>
        </p:grpSpPr>
        <p:sp>
          <p:nvSpPr>
            <p:cNvPr name="Freeform 38" id="38" descr="preencoded.png"/>
            <p:cNvSpPr/>
            <p:nvPr/>
          </p:nvSpPr>
          <p:spPr>
            <a:xfrm flipH="false" flipV="false" rot="0">
              <a:off x="0" y="0"/>
              <a:ext cx="667512" cy="685800"/>
            </a:xfrm>
            <a:custGeom>
              <a:avLst/>
              <a:gdLst/>
              <a:ahLst/>
              <a:cxnLst/>
              <a:rect r="r" b="b" t="t" l="l"/>
              <a:pathLst>
                <a:path h="685800" w="667512">
                  <a:moveTo>
                    <a:pt x="0" y="0"/>
                  </a:moveTo>
                  <a:lnTo>
                    <a:pt x="667512" y="0"/>
                  </a:lnTo>
                  <a:lnTo>
                    <a:pt x="667512" y="685800"/>
                  </a:lnTo>
                  <a:lnTo>
                    <a:pt x="0" y="685800"/>
                  </a:lnTo>
                  <a:lnTo>
                    <a:pt x="0" y="0"/>
                  </a:lnTo>
                  <a:close/>
                </a:path>
              </a:pathLst>
            </a:custGeom>
            <a:blipFill>
              <a:blip r:embed="rId9"/>
              <a:stretch>
                <a:fillRect l="237" t="0" r="-249" b="0"/>
              </a:stretch>
            </a:blipFill>
          </p:spPr>
        </p:sp>
      </p:grpSp>
      <p:grpSp>
        <p:nvGrpSpPr>
          <p:cNvPr name="Group 39" id="39"/>
          <p:cNvGrpSpPr/>
          <p:nvPr/>
        </p:nvGrpSpPr>
        <p:grpSpPr>
          <a:xfrm rot="0">
            <a:off x="1376782" y="9345638"/>
            <a:ext cx="416463" cy="334372"/>
            <a:chOff x="0" y="0"/>
            <a:chExt cx="380390" cy="305410"/>
          </a:xfrm>
        </p:grpSpPr>
        <p:sp>
          <p:nvSpPr>
            <p:cNvPr name="Freeform 40" id="40" descr="preencoded.png"/>
            <p:cNvSpPr/>
            <p:nvPr/>
          </p:nvSpPr>
          <p:spPr>
            <a:xfrm flipH="false" flipV="false" rot="0">
              <a:off x="0" y="0"/>
              <a:ext cx="380365" cy="305435"/>
            </a:xfrm>
            <a:custGeom>
              <a:avLst/>
              <a:gdLst/>
              <a:ahLst/>
              <a:cxnLst/>
              <a:rect r="r" b="b" t="t" l="l"/>
              <a:pathLst>
                <a:path h="305435" w="380365">
                  <a:moveTo>
                    <a:pt x="0" y="0"/>
                  </a:moveTo>
                  <a:lnTo>
                    <a:pt x="380365" y="0"/>
                  </a:lnTo>
                  <a:lnTo>
                    <a:pt x="380365" y="305435"/>
                  </a:lnTo>
                  <a:lnTo>
                    <a:pt x="0" y="305435"/>
                  </a:lnTo>
                  <a:lnTo>
                    <a:pt x="0" y="0"/>
                  </a:lnTo>
                  <a:close/>
                </a:path>
              </a:pathLst>
            </a:custGeom>
            <a:blipFill>
              <a:blip r:embed="rId10"/>
              <a:stretch>
                <a:fillRect l="0" t="178" r="-808" b="187"/>
              </a:stretch>
            </a:blipFill>
          </p:spPr>
        </p:sp>
      </p:grpSp>
      <p:grpSp>
        <p:nvGrpSpPr>
          <p:cNvPr name="Group 41" id="41"/>
          <p:cNvGrpSpPr/>
          <p:nvPr/>
        </p:nvGrpSpPr>
        <p:grpSpPr>
          <a:xfrm rot="0">
            <a:off x="2336137" y="8529475"/>
            <a:ext cx="10706061" cy="692929"/>
            <a:chOff x="0" y="0"/>
            <a:chExt cx="14274748" cy="923905"/>
          </a:xfrm>
        </p:grpSpPr>
        <p:sp>
          <p:nvSpPr>
            <p:cNvPr name="Freeform 42" id="42"/>
            <p:cNvSpPr/>
            <p:nvPr/>
          </p:nvSpPr>
          <p:spPr>
            <a:xfrm flipH="false" flipV="false" rot="0">
              <a:off x="0" y="0"/>
              <a:ext cx="14274749" cy="923905"/>
            </a:xfrm>
            <a:custGeom>
              <a:avLst/>
              <a:gdLst/>
              <a:ahLst/>
              <a:cxnLst/>
              <a:rect r="r" b="b" t="t" l="l"/>
              <a:pathLst>
                <a:path h="923905" w="14274749">
                  <a:moveTo>
                    <a:pt x="0" y="0"/>
                  </a:moveTo>
                  <a:lnTo>
                    <a:pt x="14274749" y="0"/>
                  </a:lnTo>
                  <a:lnTo>
                    <a:pt x="14274749" y="923905"/>
                  </a:lnTo>
                  <a:lnTo>
                    <a:pt x="0" y="923905"/>
                  </a:lnTo>
                  <a:close/>
                </a:path>
              </a:pathLst>
            </a:custGeom>
            <a:blipFill>
              <a:blip r:embed="rId6">
                <a:alphaModFix amt="0"/>
              </a:blip>
              <a:stretch>
                <a:fillRect l="0" t="-314298" r="-22579" b="-323760"/>
              </a:stretch>
            </a:blipFill>
          </p:spPr>
        </p:sp>
        <p:sp>
          <p:nvSpPr>
            <p:cNvPr name="TextBox 43" id="43"/>
            <p:cNvSpPr txBox="true"/>
            <p:nvPr/>
          </p:nvSpPr>
          <p:spPr>
            <a:xfrm>
              <a:off x="0" y="-19050"/>
              <a:ext cx="14274748" cy="942955"/>
            </a:xfrm>
            <a:prstGeom prst="rect">
              <a:avLst/>
            </a:prstGeom>
          </p:spPr>
          <p:txBody>
            <a:bodyPr anchor="ctr" rtlCol="false" tIns="0" lIns="0" bIns="0" rIns="0"/>
            <a:lstStyle/>
            <a:p>
              <a:pPr algn="l">
                <a:lnSpc>
                  <a:spcPts val="2220"/>
                </a:lnSpc>
              </a:pPr>
              <a:r>
                <a:rPr lang="en-US" sz="1850" b="true">
                  <a:solidFill>
                    <a:srgbClr val="FFFFFF"/>
                  </a:solidFill>
                  <a:latin typeface="Poppins Bold"/>
                  <a:ea typeface="Poppins Bold"/>
                  <a:cs typeface="Poppins Bold"/>
                  <a:sym typeface="Poppins Bold"/>
                </a:rPr>
                <a:t>GITHUB LINK:</a:t>
              </a:r>
              <a:r>
                <a:rPr lang="en-US" sz="1850">
                  <a:solidFill>
                    <a:srgbClr val="FFFFFF"/>
                  </a:solidFill>
                  <a:latin typeface="Poppins"/>
                  <a:ea typeface="Poppins"/>
                  <a:cs typeface="Poppins"/>
                  <a:sym typeface="Poppins"/>
                </a:rPr>
                <a:t> </a:t>
              </a:r>
              <a:r>
                <a:rPr lang="en-US" sz="1850" u="sng">
                  <a:solidFill>
                    <a:srgbClr val="AEFF82"/>
                  </a:solidFill>
                  <a:latin typeface="Poppins"/>
                  <a:ea typeface="Poppins"/>
                  <a:cs typeface="Poppins"/>
                  <a:sym typeface="Poppins"/>
                  <a:hlinkClick r:id="rId11" tooltip="https://github.com/DK-A/Techtonics_Drift-Sense_Wafer_Inspection_PS2"/>
                </a:rPr>
                <a:t>https://github.com/DK-A/Techtonics_Drift-Sense_Wafer_Inspection_PS2</a:t>
              </a:r>
            </a:p>
          </p:txBody>
        </p:sp>
      </p:grpSp>
      <p:grpSp>
        <p:nvGrpSpPr>
          <p:cNvPr name="Group 44" id="44"/>
          <p:cNvGrpSpPr/>
          <p:nvPr/>
        </p:nvGrpSpPr>
        <p:grpSpPr>
          <a:xfrm rot="0">
            <a:off x="2336137" y="9126322"/>
            <a:ext cx="13193660" cy="692929"/>
            <a:chOff x="0" y="0"/>
            <a:chExt cx="17591547" cy="923905"/>
          </a:xfrm>
        </p:grpSpPr>
        <p:sp>
          <p:nvSpPr>
            <p:cNvPr name="Freeform 45" id="45"/>
            <p:cNvSpPr/>
            <p:nvPr/>
          </p:nvSpPr>
          <p:spPr>
            <a:xfrm flipH="false" flipV="false" rot="0">
              <a:off x="0" y="0"/>
              <a:ext cx="17591548" cy="923905"/>
            </a:xfrm>
            <a:custGeom>
              <a:avLst/>
              <a:gdLst/>
              <a:ahLst/>
              <a:cxnLst/>
              <a:rect r="r" b="b" t="t" l="l"/>
              <a:pathLst>
                <a:path h="923905" w="17591548">
                  <a:moveTo>
                    <a:pt x="0" y="0"/>
                  </a:moveTo>
                  <a:lnTo>
                    <a:pt x="17591548" y="0"/>
                  </a:lnTo>
                  <a:lnTo>
                    <a:pt x="17591548" y="923905"/>
                  </a:lnTo>
                  <a:lnTo>
                    <a:pt x="0" y="923905"/>
                  </a:lnTo>
                  <a:close/>
                </a:path>
              </a:pathLst>
            </a:custGeom>
            <a:blipFill>
              <a:blip r:embed="rId6">
                <a:alphaModFix amt="0"/>
              </a:blip>
              <a:stretch>
                <a:fillRect l="0" t="-314298" r="532" b="-323760"/>
              </a:stretch>
            </a:blipFill>
          </p:spPr>
        </p:sp>
        <p:sp>
          <p:nvSpPr>
            <p:cNvPr name="TextBox 46" id="46"/>
            <p:cNvSpPr txBox="true"/>
            <p:nvPr/>
          </p:nvSpPr>
          <p:spPr>
            <a:xfrm>
              <a:off x="0" y="-19050"/>
              <a:ext cx="17591547" cy="942955"/>
            </a:xfrm>
            <a:prstGeom prst="rect">
              <a:avLst/>
            </a:prstGeom>
          </p:spPr>
          <p:txBody>
            <a:bodyPr anchor="ctr" rtlCol="false" tIns="0" lIns="0" bIns="0" rIns="0"/>
            <a:lstStyle/>
            <a:p>
              <a:pPr algn="l">
                <a:lnSpc>
                  <a:spcPts val="2220"/>
                </a:lnSpc>
              </a:pPr>
              <a:r>
                <a:rPr lang="en-US" b="true" sz="1850" u="sng">
                  <a:solidFill>
                    <a:srgbClr val="FFFFFF"/>
                  </a:solidFill>
                  <a:latin typeface="Poppins Bold"/>
                  <a:ea typeface="Poppins Bold"/>
                  <a:cs typeface="Poppins Bold"/>
                  <a:sym typeface="Poppins Bold"/>
                  <a:hlinkClick r:id="rId12" tooltip="https://drive.google.com/file/d/1IpV5T-GZXj9lnhrSX11ILHWhSjWDhQc0/view?usp=sharing"/>
                </a:rPr>
                <a:t>DEMO VIDEO LINK:</a:t>
              </a:r>
              <a:r>
                <a:rPr lang="en-US" sz="1850" u="sng">
                  <a:solidFill>
                    <a:srgbClr val="FFFFFF"/>
                  </a:solidFill>
                  <a:latin typeface="Poppins"/>
                  <a:ea typeface="Poppins"/>
                  <a:cs typeface="Poppins"/>
                  <a:sym typeface="Poppins"/>
                  <a:hlinkClick r:id="rId13" tooltip="https://drive.google.com/file/d/1IpV5T-GZXj9lnhrSX11ILHWhSjWDhQc0/view?usp=sharing"/>
                </a:rPr>
                <a:t> </a:t>
              </a:r>
              <a:r>
                <a:rPr lang="en-US" sz="1850" u="sng">
                  <a:solidFill>
                    <a:srgbClr val="AEFF82"/>
                  </a:solidFill>
                  <a:latin typeface="Poppins"/>
                  <a:ea typeface="Poppins"/>
                  <a:cs typeface="Poppins"/>
                  <a:sym typeface="Poppins"/>
                  <a:hlinkClick r:id="rId14" tooltip="https://drive.google.com/file/d/1IpV5T-GZXj9lnhrSX11ILHWhSjWDhQc0/view?usp=sharing"/>
                </a:rPr>
                <a:t>https://drive.google.com/file/d/1sxvBWdj1c7RfX7oeG66R8FJaaMt8o1iI/view?usp=sharing</a:t>
              </a:r>
            </a:p>
          </p:txBody>
        </p:sp>
      </p:grpSp>
      <p:sp>
        <p:nvSpPr>
          <p:cNvPr name="TextBox 47" id="47"/>
          <p:cNvSpPr txBox="true"/>
          <p:nvPr/>
        </p:nvSpPr>
        <p:spPr>
          <a:xfrm rot="0">
            <a:off x="8691088" y="2928097"/>
            <a:ext cx="7862729" cy="5302955"/>
          </a:xfrm>
          <a:prstGeom prst="rect">
            <a:avLst/>
          </a:prstGeom>
        </p:spPr>
        <p:txBody>
          <a:bodyPr anchor="t" rtlCol="false" tIns="0" lIns="0" bIns="0" rIns="0">
            <a:spAutoFit/>
          </a:bodyPr>
          <a:lstStyle/>
          <a:p>
            <a:pPr algn="ctr">
              <a:lnSpc>
                <a:spcPts val="2377"/>
              </a:lnSpc>
            </a:pPr>
            <a:r>
              <a:rPr lang="en-US" sz="1981">
                <a:solidFill>
                  <a:srgbClr val="AEFF82"/>
                </a:solidFill>
                <a:latin typeface="Poppins"/>
                <a:ea typeface="Poppins"/>
                <a:cs typeface="Poppins"/>
                <a:sym typeface="Poppins"/>
              </a:rPr>
              <a:t>FINAL OUTCOME</a:t>
            </a:r>
          </a:p>
          <a:p>
            <a:pPr algn="l">
              <a:lnSpc>
                <a:spcPts val="2377"/>
              </a:lnSpc>
            </a:pPr>
          </a:p>
          <a:p>
            <a:pPr algn="l" marL="427745" indent="-213872" lvl="1">
              <a:lnSpc>
                <a:spcPts val="2377"/>
              </a:lnSpc>
              <a:buFont typeface="Arial"/>
              <a:buChar char="•"/>
            </a:pPr>
            <a:r>
              <a:rPr lang="en-US" sz="1981">
                <a:solidFill>
                  <a:srgbClr val="FFFFFF"/>
                </a:solidFill>
                <a:latin typeface="Poppins"/>
                <a:ea typeface="Poppins"/>
                <a:cs typeface="Poppins"/>
                <a:sym typeface="Poppins"/>
              </a:rPr>
              <a:t>DRIFT-SENSE Phase 2 delivers a hybrid registration engine for unknown-pose semiconductor localization, combining classical correlation, sub-pixel refinement, and selective deep-learning verification.</a:t>
            </a:r>
          </a:p>
          <a:p>
            <a:pPr algn="l">
              <a:lnSpc>
                <a:spcPts val="2377"/>
              </a:lnSpc>
            </a:pPr>
          </a:p>
          <a:p>
            <a:pPr algn="ctr">
              <a:lnSpc>
                <a:spcPts val="2377"/>
              </a:lnSpc>
            </a:pPr>
            <a:r>
              <a:rPr lang="en-US" sz="1981">
                <a:solidFill>
                  <a:srgbClr val="AEFF82"/>
                </a:solidFill>
                <a:latin typeface="Poppins"/>
                <a:ea typeface="Poppins"/>
                <a:cs typeface="Poppins"/>
                <a:sym typeface="Poppins"/>
              </a:rPr>
              <a:t>KEY ACHIEVEMENTS</a:t>
            </a:r>
          </a:p>
          <a:p>
            <a:pPr algn="l" marL="427745" indent="-213872" lvl="1">
              <a:lnSpc>
                <a:spcPts val="2377"/>
              </a:lnSpc>
              <a:buFont typeface="Arial"/>
              <a:buChar char="•"/>
            </a:pPr>
            <a:r>
              <a:rPr lang="en-US" sz="1981">
                <a:solidFill>
                  <a:srgbClr val="FFFFFF"/>
                </a:solidFill>
                <a:latin typeface="Poppins"/>
                <a:ea typeface="Poppins"/>
                <a:cs typeface="Poppins"/>
                <a:sym typeface="Poppins"/>
              </a:rPr>
              <a:t>0.3764 px — median localization error</a:t>
            </a:r>
          </a:p>
          <a:p>
            <a:pPr algn="l" marL="427745" indent="-213872" lvl="1">
              <a:lnSpc>
                <a:spcPts val="2377"/>
              </a:lnSpc>
              <a:buFont typeface="Arial"/>
              <a:buChar char="•"/>
            </a:pPr>
            <a:r>
              <a:rPr lang="en-US" sz="1981">
                <a:solidFill>
                  <a:srgbClr val="FFFFFF"/>
                </a:solidFill>
                <a:latin typeface="Poppins"/>
                <a:ea typeface="Poppins"/>
                <a:cs typeface="Poppins"/>
                <a:sym typeface="Poppins"/>
              </a:rPr>
              <a:t>90.6% — sub-1 px precision</a:t>
            </a:r>
          </a:p>
          <a:p>
            <a:pPr algn="l" marL="427745" indent="-213872" lvl="1">
              <a:lnSpc>
                <a:spcPts val="2377"/>
              </a:lnSpc>
              <a:buFont typeface="Arial"/>
              <a:buChar char="•"/>
            </a:pPr>
            <a:r>
              <a:rPr lang="en-US" sz="1981">
                <a:solidFill>
                  <a:srgbClr val="FFFFFF"/>
                </a:solidFill>
                <a:latin typeface="Poppins"/>
                <a:ea typeface="Poppins"/>
                <a:cs typeface="Poppins"/>
                <a:sym typeface="Poppins"/>
              </a:rPr>
              <a:t>98.1% — sub-2 px accuracy</a:t>
            </a:r>
          </a:p>
          <a:p>
            <a:pPr algn="l" marL="427745" indent="-213872" lvl="1">
              <a:lnSpc>
                <a:spcPts val="2377"/>
              </a:lnSpc>
              <a:buFont typeface="Arial"/>
              <a:buChar char="•"/>
            </a:pPr>
            <a:r>
              <a:rPr lang="en-US" sz="1981">
                <a:solidFill>
                  <a:srgbClr val="FFFFFF"/>
                </a:solidFill>
                <a:latin typeface="Poppins"/>
                <a:ea typeface="Poppins"/>
                <a:cs typeface="Poppins"/>
                <a:sym typeface="Poppins"/>
              </a:rPr>
              <a:t>96.05% — decoy rejection F1</a:t>
            </a:r>
          </a:p>
          <a:p>
            <a:pPr algn="l" marL="427745" indent="-213872" lvl="1">
              <a:lnSpc>
                <a:spcPts val="2377"/>
              </a:lnSpc>
              <a:buFont typeface="Arial"/>
              <a:buChar char="•"/>
            </a:pPr>
            <a:r>
              <a:rPr lang="en-US" sz="1981">
                <a:solidFill>
                  <a:srgbClr val="FFFFFF"/>
                </a:solidFill>
                <a:latin typeface="Poppins"/>
                <a:ea typeface="Poppins"/>
                <a:cs typeface="Poppins"/>
                <a:sym typeface="Poppins"/>
              </a:rPr>
              <a:t>0.964 s/pair — single-core CPU latency</a:t>
            </a:r>
          </a:p>
          <a:p>
            <a:pPr algn="l" marL="427745" indent="-213872" lvl="1">
              <a:lnSpc>
                <a:spcPts val="2377"/>
              </a:lnSpc>
              <a:buFont typeface="Arial"/>
              <a:buChar char="•"/>
            </a:pPr>
            <a:r>
              <a:rPr lang="en-US" sz="1981">
                <a:solidFill>
                  <a:srgbClr val="FFFFFF"/>
                </a:solidFill>
                <a:latin typeface="Poppins"/>
                <a:ea typeface="Poppins"/>
                <a:cs typeface="Poppins"/>
                <a:sym typeface="Poppins"/>
              </a:rPr>
              <a:t>98.91 / 100 — estimated competition score</a:t>
            </a:r>
          </a:p>
          <a:p>
            <a:pPr algn="ctr">
              <a:lnSpc>
                <a:spcPts val="2377"/>
              </a:lnSpc>
            </a:pPr>
          </a:p>
          <a:p>
            <a:pPr algn="ctr">
              <a:lnSpc>
                <a:spcPts val="2377"/>
              </a:lnSpc>
            </a:pPr>
            <a:r>
              <a:rPr lang="en-US" sz="1981">
                <a:solidFill>
                  <a:srgbClr val="AEFF82"/>
                </a:solidFill>
                <a:latin typeface="Poppins"/>
                <a:ea typeface="Poppins"/>
                <a:cs typeface="Poppins"/>
                <a:sym typeface="Poppins"/>
              </a:rPr>
              <a:t>CORE INNOVATION</a:t>
            </a:r>
          </a:p>
          <a:p>
            <a:pPr algn="l" marL="427745" indent="-213872" lvl="1">
              <a:lnSpc>
                <a:spcPts val="2377"/>
              </a:lnSpc>
              <a:buFont typeface="Arial"/>
              <a:buChar char="•"/>
            </a:pPr>
            <a:r>
              <a:rPr lang="en-US" sz="1981">
                <a:solidFill>
                  <a:srgbClr val="FFFFFF"/>
                </a:solidFill>
                <a:latin typeface="Poppins"/>
                <a:ea typeface="Poppins"/>
                <a:cs typeface="Poppins"/>
                <a:sym typeface="Poppins"/>
              </a:rPr>
              <a:t>Classical Vision → Sub-Pixel Mathematics → Selective AI → Calibrated Decision</a:t>
            </a:r>
          </a:p>
        </p:txBody>
      </p:sp>
      <p:sp>
        <p:nvSpPr>
          <p:cNvPr name="TextBox 48" id="48"/>
          <p:cNvSpPr txBox="true"/>
          <p:nvPr/>
        </p:nvSpPr>
        <p:spPr>
          <a:xfrm rot="0">
            <a:off x="1315060" y="3748337"/>
            <a:ext cx="6328251" cy="3857625"/>
          </a:xfrm>
          <a:prstGeom prst="rect">
            <a:avLst/>
          </a:prstGeom>
        </p:spPr>
        <p:txBody>
          <a:bodyPr anchor="t" rtlCol="false" tIns="0" lIns="0" bIns="0" rIns="0">
            <a:spAutoFit/>
          </a:bodyPr>
          <a:lstStyle/>
          <a:p>
            <a:pPr algn="ctr">
              <a:lnSpc>
                <a:spcPts val="2399"/>
              </a:lnSpc>
              <a:spcBef>
                <a:spcPct val="0"/>
              </a:spcBef>
            </a:pPr>
            <a:r>
              <a:rPr lang="en-US" b="true" sz="1999">
                <a:solidFill>
                  <a:srgbClr val="AEFF82"/>
                </a:solidFill>
                <a:latin typeface="Poppins Bold"/>
                <a:ea typeface="Poppins Bold"/>
                <a:cs typeface="Poppins Bold"/>
                <a:sym typeface="Poppins Bold"/>
              </a:rPr>
              <a:t>FROM SYNTHETIC DATA → VERIFIED LOCALIZATION</a:t>
            </a:r>
          </a:p>
          <a:p>
            <a:pPr algn="ctr">
              <a:lnSpc>
                <a:spcPts val="2399"/>
              </a:lnSpc>
              <a:spcBef>
                <a:spcPct val="0"/>
              </a:spcBef>
            </a:pPr>
          </a:p>
          <a:p>
            <a:pPr algn="l" marL="431799" indent="-215899" lvl="1">
              <a:lnSpc>
                <a:spcPts val="2399"/>
              </a:lnSpc>
              <a:buFont typeface="Arial"/>
              <a:buChar char="•"/>
            </a:pPr>
            <a:r>
              <a:rPr lang="en-US" sz="1999">
                <a:solidFill>
                  <a:srgbClr val="FFFFFF"/>
                </a:solidFill>
                <a:latin typeface="Poppins"/>
                <a:ea typeface="Poppins"/>
                <a:cs typeface="Poppins"/>
                <a:sym typeface="Poppins"/>
              </a:rPr>
              <a:t>Unknown-pose recovery</a:t>
            </a:r>
          </a:p>
          <a:p>
            <a:pPr algn="l">
              <a:lnSpc>
                <a:spcPts val="2399"/>
              </a:lnSpc>
            </a:pPr>
            <a:r>
              <a:rPr lang="en-US" sz="1999">
                <a:solidFill>
                  <a:srgbClr val="FFFFFF"/>
                </a:solidFill>
                <a:latin typeface="Poppins"/>
                <a:ea typeface="Poppins"/>
                <a:cs typeface="Poppins"/>
                <a:sym typeface="Poppins"/>
              </a:rPr>
              <a:t>       Translation + Rotation + Scale</a:t>
            </a:r>
          </a:p>
          <a:p>
            <a:pPr algn="l">
              <a:lnSpc>
                <a:spcPts val="2399"/>
              </a:lnSpc>
            </a:pPr>
          </a:p>
          <a:p>
            <a:pPr algn="l" marL="431799" indent="-215899" lvl="1">
              <a:lnSpc>
                <a:spcPts val="2399"/>
              </a:lnSpc>
              <a:buFont typeface="Arial"/>
              <a:buChar char="•"/>
            </a:pPr>
            <a:r>
              <a:rPr lang="en-US" sz="1999">
                <a:solidFill>
                  <a:srgbClr val="FFFFFF"/>
                </a:solidFill>
                <a:latin typeface="Poppins"/>
                <a:ea typeface="Poppins"/>
                <a:cs typeface="Poppins"/>
                <a:sym typeface="Poppins"/>
              </a:rPr>
              <a:t> Sub-pixel precision</a:t>
            </a:r>
          </a:p>
          <a:p>
            <a:pPr algn="l">
              <a:lnSpc>
                <a:spcPts val="2399"/>
              </a:lnSpc>
            </a:pPr>
            <a:r>
              <a:rPr lang="en-US" sz="1999">
                <a:solidFill>
                  <a:srgbClr val="FFFFFF"/>
                </a:solidFill>
                <a:latin typeface="Poppins"/>
                <a:ea typeface="Poppins"/>
                <a:cs typeface="Poppins"/>
                <a:sym typeface="Poppins"/>
              </a:rPr>
              <a:t>       0.3764 px median error</a:t>
            </a:r>
          </a:p>
          <a:p>
            <a:pPr algn="l">
              <a:lnSpc>
                <a:spcPts val="2399"/>
              </a:lnSpc>
            </a:pPr>
          </a:p>
          <a:p>
            <a:pPr algn="l" marL="431799" indent="-215899" lvl="1">
              <a:lnSpc>
                <a:spcPts val="2399"/>
              </a:lnSpc>
              <a:buFont typeface="Arial"/>
              <a:buChar char="•"/>
            </a:pPr>
            <a:r>
              <a:rPr lang="en-US" sz="1999">
                <a:solidFill>
                  <a:srgbClr val="FFFFFF"/>
                </a:solidFill>
                <a:latin typeface="Poppins"/>
                <a:ea typeface="Poppins"/>
                <a:cs typeface="Poppins"/>
                <a:sym typeface="Poppins"/>
              </a:rPr>
              <a:t> Robust rejection</a:t>
            </a:r>
          </a:p>
          <a:p>
            <a:pPr algn="l">
              <a:lnSpc>
                <a:spcPts val="2399"/>
              </a:lnSpc>
            </a:pPr>
            <a:r>
              <a:rPr lang="en-US" sz="1999">
                <a:solidFill>
                  <a:srgbClr val="FFFFFF"/>
                </a:solidFill>
                <a:latin typeface="Poppins"/>
                <a:ea typeface="Poppins"/>
                <a:cs typeface="Poppins"/>
                <a:sym typeface="Poppins"/>
              </a:rPr>
              <a:t>       96.05% decoy F1</a:t>
            </a:r>
          </a:p>
          <a:p>
            <a:pPr algn="l">
              <a:lnSpc>
                <a:spcPts val="2399"/>
              </a:lnSpc>
            </a:pPr>
          </a:p>
          <a:p>
            <a:pPr algn="l" marL="431799" indent="-215899" lvl="1">
              <a:lnSpc>
                <a:spcPts val="2399"/>
              </a:lnSpc>
              <a:buFont typeface="Arial"/>
              <a:buChar char="•"/>
            </a:pPr>
            <a:r>
              <a:rPr lang="en-US" sz="1999">
                <a:solidFill>
                  <a:srgbClr val="FFFFFF"/>
                </a:solidFill>
                <a:latin typeface="Poppins"/>
                <a:ea typeface="Poppins"/>
                <a:cs typeface="Poppins"/>
                <a:sym typeface="Poppins"/>
              </a:rPr>
              <a:t> CPU-capable execution</a:t>
            </a:r>
          </a:p>
          <a:p>
            <a:pPr algn="l">
              <a:lnSpc>
                <a:spcPts val="2399"/>
              </a:lnSpc>
            </a:pPr>
            <a:r>
              <a:rPr lang="en-US" sz="1999">
                <a:solidFill>
                  <a:srgbClr val="FFFFFF"/>
                </a:solidFill>
                <a:latin typeface="Poppins"/>
                <a:ea typeface="Poppins"/>
                <a:cs typeface="Poppins"/>
                <a:sym typeface="Poppins"/>
              </a:rPr>
              <a:t>       0.964 s / pair</a:t>
            </a:r>
          </a:p>
        </p:txBody>
      </p:sp>
      <p:grpSp>
        <p:nvGrpSpPr>
          <p:cNvPr name="Group 49" id="49"/>
          <p:cNvGrpSpPr/>
          <p:nvPr/>
        </p:nvGrpSpPr>
        <p:grpSpPr>
          <a:xfrm rot="0">
            <a:off x="857250" y="3302434"/>
            <a:ext cx="7128656" cy="4855566"/>
            <a:chOff x="0" y="0"/>
            <a:chExt cx="9504875" cy="6474088"/>
          </a:xfrm>
        </p:grpSpPr>
        <p:sp>
          <p:nvSpPr>
            <p:cNvPr name="Freeform 50" id="50"/>
            <p:cNvSpPr/>
            <p:nvPr/>
          </p:nvSpPr>
          <p:spPr>
            <a:xfrm flipH="false" flipV="false" rot="0">
              <a:off x="0" y="0"/>
              <a:ext cx="9504863" cy="6474034"/>
            </a:xfrm>
            <a:custGeom>
              <a:avLst/>
              <a:gdLst/>
              <a:ahLst/>
              <a:cxnLst/>
              <a:rect r="r" b="b" t="t" l="l"/>
              <a:pathLst>
                <a:path h="6474034" w="9504863">
                  <a:moveTo>
                    <a:pt x="0" y="43492"/>
                  </a:moveTo>
                  <a:cubicBezTo>
                    <a:pt x="0" y="19450"/>
                    <a:pt x="11786" y="0"/>
                    <a:pt x="26355" y="0"/>
                  </a:cubicBezTo>
                  <a:lnTo>
                    <a:pt x="9478509" y="0"/>
                  </a:lnTo>
                  <a:cubicBezTo>
                    <a:pt x="9493078" y="0"/>
                    <a:pt x="9504863" y="19450"/>
                    <a:pt x="9504863" y="43492"/>
                  </a:cubicBezTo>
                  <a:lnTo>
                    <a:pt x="9504863" y="6430542"/>
                  </a:lnTo>
                  <a:cubicBezTo>
                    <a:pt x="9504863" y="6454584"/>
                    <a:pt x="9493078" y="6474034"/>
                    <a:pt x="9478509" y="6474034"/>
                  </a:cubicBezTo>
                  <a:lnTo>
                    <a:pt x="26355" y="6474034"/>
                  </a:lnTo>
                  <a:cubicBezTo>
                    <a:pt x="11786" y="6474034"/>
                    <a:pt x="0" y="6454584"/>
                    <a:pt x="0" y="6430542"/>
                  </a:cubicBezTo>
                  <a:close/>
                </a:path>
              </a:pathLst>
            </a:custGeom>
            <a:solidFill>
              <a:srgbClr val="FFFFFF">
                <a:alpha val="0"/>
              </a:srgbClr>
            </a:solidFill>
            <a:ln w="19050" cap="sq">
              <a:solidFill>
                <a:srgbClr val="88E555"/>
              </a:solidFill>
              <a:prstDash val="solid"/>
              <a:miter/>
            </a:ln>
          </p:spPr>
        </p:sp>
      </p:grpSp>
      <p:grpSp>
        <p:nvGrpSpPr>
          <p:cNvPr name="Group 51" id="51"/>
          <p:cNvGrpSpPr/>
          <p:nvPr/>
        </p:nvGrpSpPr>
        <p:grpSpPr>
          <a:xfrm rot="0">
            <a:off x="8647318" y="2637643"/>
            <a:ext cx="8355036" cy="5786821"/>
            <a:chOff x="0" y="0"/>
            <a:chExt cx="11140048" cy="7715762"/>
          </a:xfrm>
        </p:grpSpPr>
        <p:sp>
          <p:nvSpPr>
            <p:cNvPr name="Freeform 52" id="52"/>
            <p:cNvSpPr/>
            <p:nvPr/>
          </p:nvSpPr>
          <p:spPr>
            <a:xfrm flipH="false" flipV="false" rot="0">
              <a:off x="0" y="0"/>
              <a:ext cx="11140035" cy="7715698"/>
            </a:xfrm>
            <a:custGeom>
              <a:avLst/>
              <a:gdLst/>
              <a:ahLst/>
              <a:cxnLst/>
              <a:rect r="r" b="b" t="t" l="l"/>
              <a:pathLst>
                <a:path h="7715698" w="11140035">
                  <a:moveTo>
                    <a:pt x="0" y="51834"/>
                  </a:moveTo>
                  <a:cubicBezTo>
                    <a:pt x="0" y="23180"/>
                    <a:pt x="13814" y="0"/>
                    <a:pt x="30889" y="0"/>
                  </a:cubicBezTo>
                  <a:lnTo>
                    <a:pt x="11109147" y="0"/>
                  </a:lnTo>
                  <a:cubicBezTo>
                    <a:pt x="11126222" y="0"/>
                    <a:pt x="11140035" y="23180"/>
                    <a:pt x="11140035" y="51834"/>
                  </a:cubicBezTo>
                  <a:lnTo>
                    <a:pt x="11140035" y="7663864"/>
                  </a:lnTo>
                  <a:cubicBezTo>
                    <a:pt x="11140035" y="7692517"/>
                    <a:pt x="11126222" y="7715698"/>
                    <a:pt x="11109147" y="7715698"/>
                  </a:cubicBezTo>
                  <a:lnTo>
                    <a:pt x="30889" y="7715698"/>
                  </a:lnTo>
                  <a:cubicBezTo>
                    <a:pt x="13814" y="7715698"/>
                    <a:pt x="0" y="7692517"/>
                    <a:pt x="0" y="7663864"/>
                  </a:cubicBezTo>
                  <a:close/>
                </a:path>
              </a:pathLst>
            </a:custGeom>
            <a:solidFill>
              <a:srgbClr val="FFFFFF">
                <a:alpha val="0"/>
              </a:srgbClr>
            </a:solidFill>
            <a:ln w="19050" cap="sq">
              <a:solidFill>
                <a:srgbClr val="88E555"/>
              </a:solidFill>
              <a:prstDash val="solid"/>
              <a:miter/>
            </a:ln>
          </p:spPr>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DAHSowaaIJU</dc:identifier>
  <dcterms:modified xsi:type="dcterms:W3CDTF">2011-08-01T06:04:30Z</dcterms:modified>
  <cp:revision>1</cp:revision>
  <dc:title>TECHTONICS_PS02</dc:title>
</cp:coreProperties>
</file>